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21.xml" ContentType="application/vnd.openxmlformats-officedocument.presentationml.slide+xml"/>
  <Override PartName="/ppt/slides/slide22.xml" ContentType="application/vnd.openxmlformats-officedocument.presentationml.slide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saveSubsetFonts="1" autoCompressPictures="0">
  <p:sldMasterIdLst>
    <p:sldMasterId id="2147483659" r:id="rId1"/>
  </p:sldMasterIdLst>
  <p:notesMasterIdLst>
    <p:notesMasterId r:id="rId22"/>
  </p:notesMasterIdLst>
  <p:sldIdLst>
    <p:sldId id="256" r:id="rId2"/>
    <p:sldId id="257" r:id="rId3"/>
    <p:sldId id="258" r:id="rId4"/>
    <p:sldId id="259" r:id="rId5"/>
    <p:sldId id="260" r:id="rId6"/>
    <p:sldId id="276" r:id="rId29"/>
    <p:sldId id="261" r:id="rId7"/>
    <p:sldId id="273" r:id="rId8"/>
    <p:sldId id="274" r:id="rId9"/>
    <p:sldId id="275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7" r:id="rId30"/>
    <p:sldId id="272" r:id="rId21"/>
  </p:sldIdLst>
  <p:sldSz cx="9144000" cy="6858000" type="screen4x3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04EFEF9-CCEB-4B13-BAC7-551948160362}" v="22" dt="2026-10-16T07:38:37.212"/>
  </p1510:revLst>
</p1510:revInfo>
</file>

<file path=ppt/tableStyles.xml><?xml version="1.0" encoding="utf-8"?>
<a:tblStyleLst xmlns:a="http://schemas.openxmlformats.org/drawingml/2006/main" def="{98077A5B-8C0D-40D8-8557-44EC33DBB8F6}">
  <a:tblStyle styleId="{98077A5B-8C0D-40D8-8557-44EC33DBB8F6}" styleName="Table_0">
    <a:wholeTbl>
      <a:tcTxStyle b="off" i="off">
        <a:font>
          <a:latin typeface="Times New Roman"/>
          <a:ea typeface="Times New Roman"/>
          <a:cs typeface="Times New Roman"/>
        </a:font>
        <a:schemeClr val="dk1"/>
      </a:tcTxStyle>
      <a:tcStyle>
        <a:tcBdr>
          <a:left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/>
      <a:tcStyle>
        <a:tcBdr>
          <a:top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a:bottom>
        </a:tcBdr>
      </a:tcStyle>
    </a:band1H>
    <a:band2H>
      <a:tcTxStyle/>
      <a:tcStyle>
        <a:tcBdr/>
      </a:tcStyle>
    </a:band2H>
    <a:band1V>
      <a:tcTxStyle/>
      <a:tcStyle>
        <a:tcBdr>
          <a:left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a:right>
        </a:tcBdr>
      </a:tcStyle>
    </a:band1V>
    <a:band2V>
      <a:tcTxStyle/>
      <a:tcStyle>
        <a:tcBdr>
          <a:left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a:right>
        </a:tcBdr>
      </a:tcStyle>
    </a:band2V>
    <a:lastCol>
      <a:tcTxStyle b="on" i="off"/>
      <a:tcStyle>
        <a:tcBdr/>
      </a:tcStyle>
    </a:lastCol>
    <a:firstCol>
      <a:tcTxStyle b="on" i="off"/>
      <a:tcStyle>
        <a:tcBdr/>
      </a:tcStyle>
    </a:firstCol>
    <a:lastRow>
      <a:tcTxStyle b="on" i="off"/>
      <a:tcStyle>
        <a:tcBdr>
          <a:top>
            <a:ln w="5080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a:top>
        </a:tcBdr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Times New Roman"/>
          <a:ea typeface="Times New Roman"/>
          <a:cs typeface="Times New Roman"/>
        </a:font>
        <a:schemeClr val="lt1"/>
      </a:tcTxStyle>
      <a:tcStyle>
        <a:tcBdr/>
        <a:fill>
          <a:solidFill>
            <a:schemeClr val="accent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4" d="100"/>
          <a:sy n="84" d="100"/>
        </p:scale>
        <p:origin x="1426" y="9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28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Relationship Id="rId27" Type="http://schemas.microsoft.com/office/2016/11/relationships/changesInfo" Target="changesInfos/changesInfo1.xml"/>  <Relationship Id="rId29" Type="http://schemas.openxmlformats.org/officeDocument/2006/relationships/slide" Target="slides/slide21.xml"/>
  <Relationship Id="rId30" Type="http://schemas.openxmlformats.org/officeDocument/2006/relationships/slide" Target="slides/slide22.xml"/>
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anish Patil" userId="5c2b0e6b9c81eb74" providerId="LiveId" clId="{9C6D779D-7064-44AC-AEE1-AE927C3A5968}"/>
    <pc:docChg chg="undo custSel modSld">
      <pc:chgData name="Manish Patil" userId="5c2b0e6b9c81eb74" providerId="LiveId" clId="{9C6D779D-7064-44AC-AEE1-AE927C3A5968}" dt="2026-10-16T07:39:23.361" v="130" actId="20577"/>
      <pc:docMkLst>
        <pc:docMk/>
      </pc:docMkLst>
      <pc:sldChg chg="modSp mod">
        <pc:chgData name="Manish Patil" userId="5c2b0e6b9c81eb74" providerId="LiveId" clId="{9C6D779D-7064-44AC-AEE1-AE927C3A5968}" dt="2026-10-16T07:26:58.861" v="63" actId="20577"/>
        <pc:sldMkLst>
          <pc:docMk/>
          <pc:sldMk cId="0" sldId="256"/>
        </pc:sldMkLst>
        <pc:graphicFrameChg chg="modGraphic">
          <ac:chgData name="Manish Patil" userId="5c2b0e6b9c81eb74" providerId="LiveId" clId="{9C6D779D-7064-44AC-AEE1-AE927C3A5968}" dt="2026-10-16T07:26:58.861" v="63" actId="20577"/>
          <ac:graphicFrameMkLst>
            <pc:docMk/>
            <pc:sldMk cId="0" sldId="256"/>
            <ac:graphicFrameMk id="504" creationId="{00000000-0000-0000-0000-000000000000}"/>
          </ac:graphicFrameMkLst>
        </pc:graphicFrameChg>
      </pc:sldChg>
      <pc:sldChg chg="modSp mod">
        <pc:chgData name="Manish Patil" userId="5c2b0e6b9c81eb74" providerId="LiveId" clId="{9C6D779D-7064-44AC-AEE1-AE927C3A5968}" dt="2026-10-16T07:30:33.381" v="78" actId="20577"/>
        <pc:sldMkLst>
          <pc:docMk/>
          <pc:sldMk cId="0" sldId="257"/>
        </pc:sldMkLst>
        <pc:spChg chg="mod">
          <ac:chgData name="Manish Patil" userId="5c2b0e6b9c81eb74" providerId="LiveId" clId="{9C6D779D-7064-44AC-AEE1-AE927C3A5968}" dt="2026-10-16T07:30:33.381" v="78" actId="20577"/>
          <ac:spMkLst>
            <pc:docMk/>
            <pc:sldMk cId="0" sldId="257"/>
            <ac:spMk id="510" creationId="{00000000-0000-0000-0000-000000000000}"/>
          </ac:spMkLst>
        </pc:spChg>
      </pc:sldChg>
      <pc:sldChg chg="modSp mod">
        <pc:chgData name="Manish Patil" userId="5c2b0e6b9c81eb74" providerId="LiveId" clId="{9C6D779D-7064-44AC-AEE1-AE927C3A5968}" dt="2026-10-16T07:39:23.361" v="130" actId="20577"/>
        <pc:sldMkLst>
          <pc:docMk/>
          <pc:sldMk cId="0" sldId="260"/>
        </pc:sldMkLst>
        <pc:spChg chg="mod">
          <ac:chgData name="Manish Patil" userId="5c2b0e6b9c81eb74" providerId="LiveId" clId="{9C6D779D-7064-44AC-AEE1-AE927C3A5968}" dt="2026-10-16T07:39:23.361" v="130" actId="20577"/>
          <ac:spMkLst>
            <pc:docMk/>
            <pc:sldMk cId="0" sldId="260"/>
            <ac:spMk id="531" creationId="{00000000-0000-0000-0000-000000000000}"/>
          </ac:spMkLst>
        </pc:spChg>
      </pc:sldChg>
      <pc:sldChg chg="delSp modSp mod">
        <pc:chgData name="Manish Patil" userId="5c2b0e6b9c81eb74" providerId="LiveId" clId="{9C6D779D-7064-44AC-AEE1-AE927C3A5968}" dt="2026-10-16T07:31:19.193" v="91" actId="478"/>
        <pc:sldMkLst>
          <pc:docMk/>
          <pc:sldMk cId="0" sldId="267"/>
        </pc:sldMkLst>
        <pc:spChg chg="del mod">
          <ac:chgData name="Manish Patil" userId="5c2b0e6b9c81eb74" providerId="LiveId" clId="{9C6D779D-7064-44AC-AEE1-AE927C3A5968}" dt="2026-10-16T07:31:19.193" v="91" actId="478"/>
          <ac:spMkLst>
            <pc:docMk/>
            <pc:sldMk cId="0" sldId="267"/>
            <ac:spMk id="581" creationId="{00000000-0000-0000-0000-000000000000}"/>
          </ac:spMkLst>
        </pc:spChg>
        <pc:graphicFrameChg chg="mod">
          <ac:chgData name="Manish Patil" userId="5c2b0e6b9c81eb74" providerId="LiveId" clId="{9C6D779D-7064-44AC-AEE1-AE927C3A5968}" dt="2026-10-16T07:31:05.471" v="89" actId="1036"/>
          <ac:graphicFrameMkLst>
            <pc:docMk/>
            <pc:sldMk cId="0" sldId="267"/>
            <ac:graphicFrameMk id="914" creationId="{00000000-0000-0000-0000-000000000000}"/>
          </ac:graphicFrameMkLst>
        </pc:graphicFrameChg>
      </pc:sldChg>
      <pc:sldChg chg="delSp mod">
        <pc:chgData name="Manish Patil" userId="5c2b0e6b9c81eb74" providerId="LiveId" clId="{9C6D779D-7064-44AC-AEE1-AE927C3A5968}" dt="2026-10-16T07:32:33.078" v="92" actId="478"/>
        <pc:sldMkLst>
          <pc:docMk/>
          <pc:sldMk cId="0" sldId="268"/>
        </pc:sldMkLst>
        <pc:spChg chg="del">
          <ac:chgData name="Manish Patil" userId="5c2b0e6b9c81eb74" providerId="LiveId" clId="{9C6D779D-7064-44AC-AEE1-AE927C3A5968}" dt="2026-10-16T07:32:33.078" v="92" actId="478"/>
          <ac:spMkLst>
            <pc:docMk/>
            <pc:sldMk cId="0" sldId="268"/>
            <ac:spMk id="588" creationId="{00000000-0000-0000-0000-000000000000}"/>
          </ac:spMkLst>
        </pc:spChg>
      </pc:sldChg>
      <pc:sldChg chg="modSp mod">
        <pc:chgData name="Manish Patil" userId="5c2b0e6b9c81eb74" providerId="LiveId" clId="{9C6D779D-7064-44AC-AEE1-AE927C3A5968}" dt="2026-10-16T07:25:28.038" v="59" actId="2710"/>
        <pc:sldMkLst>
          <pc:docMk/>
          <pc:sldMk cId="0" sldId="270"/>
        </pc:sldMkLst>
        <pc:spChg chg="mod">
          <ac:chgData name="Manish Patil" userId="5c2b0e6b9c81eb74" providerId="LiveId" clId="{9C6D779D-7064-44AC-AEE1-AE927C3A5968}" dt="2026-10-16T07:25:28.038" v="59" actId="2710"/>
          <ac:spMkLst>
            <pc:docMk/>
            <pc:sldMk cId="0" sldId="270"/>
            <ac:spMk id="602" creationId="{00000000-0000-0000-0000-000000000000}"/>
          </ac:spMkLst>
        </pc:spChg>
      </pc:sldChg>
      <pc:sldChg chg="modSp mod">
        <pc:chgData name="Manish Patil" userId="5c2b0e6b9c81eb74" providerId="LiveId" clId="{9C6D779D-7064-44AC-AEE1-AE927C3A5968}" dt="2026-10-16T07:38:44.561" v="118" actId="11"/>
        <pc:sldMkLst>
          <pc:docMk/>
          <pc:sldMk cId="0" sldId="271"/>
        </pc:sldMkLst>
        <pc:spChg chg="mod">
          <ac:chgData name="Manish Patil" userId="5c2b0e6b9c81eb74" providerId="LiveId" clId="{9C6D779D-7064-44AC-AEE1-AE927C3A5968}" dt="2026-10-16T07:38:44.561" v="118" actId="11"/>
          <ac:spMkLst>
            <pc:docMk/>
            <pc:sldMk cId="0" sldId="271"/>
            <ac:spMk id="609" creationId="{00000000-0000-0000-0000-000000000000}"/>
          </ac:spMkLst>
        </pc:spChg>
      </pc:sldChg>
      <pc:sldChg chg="modSp mod">
        <pc:chgData name="Manish Patil" userId="5c2b0e6b9c81eb74" providerId="LiveId" clId="{9C6D779D-7064-44AC-AEE1-AE927C3A5968}" dt="2026-10-16T07:19:15.556" v="7" actId="27636"/>
        <pc:sldMkLst>
          <pc:docMk/>
          <pc:sldMk cId="0" sldId="274"/>
        </pc:sldMkLst>
        <pc:spChg chg="mod">
          <ac:chgData name="Manish Patil" userId="5c2b0e6b9c81eb74" providerId="LiveId" clId="{9C6D779D-7064-44AC-AEE1-AE927C3A5968}" dt="2026-10-16T07:19:15.524" v="4" actId="27636"/>
          <ac:spMkLst>
            <pc:docMk/>
            <pc:sldMk cId="0" sldId="274"/>
            <ac:spMk id="907" creationId="{00000000-0000-0000-0000-000000000000}"/>
          </ac:spMkLst>
        </pc:spChg>
        <pc:spChg chg="mod">
          <ac:chgData name="Manish Patil" userId="5c2b0e6b9c81eb74" providerId="LiveId" clId="{9C6D779D-7064-44AC-AEE1-AE927C3A5968}" dt="2026-10-16T07:19:15.556" v="7" actId="27636"/>
          <ac:spMkLst>
            <pc:docMk/>
            <pc:sldMk cId="0" sldId="274"/>
            <ac:spMk id="908" creationId="{00000000-0000-0000-0000-000000000000}"/>
          </ac:spMkLst>
        </pc:spChg>
        <pc:spChg chg="mod">
          <ac:chgData name="Manish Patil" userId="5c2b0e6b9c81eb74" providerId="LiveId" clId="{9C6D779D-7064-44AC-AEE1-AE927C3A5968}" dt="2026-10-16T07:19:15.545" v="6" actId="27636"/>
          <ac:spMkLst>
            <pc:docMk/>
            <pc:sldMk cId="0" sldId="274"/>
            <ac:spMk id="910" creationId="{00000000-0000-0000-0000-000000000000}"/>
          </ac:spMkLst>
        </pc:spChg>
        <pc:spChg chg="mod">
          <ac:chgData name="Manish Patil" userId="5c2b0e6b9c81eb74" providerId="LiveId" clId="{9C6D779D-7064-44AC-AEE1-AE927C3A5968}" dt="2026-10-16T07:19:15.535" v="5" actId="27636"/>
          <ac:spMkLst>
            <pc:docMk/>
            <pc:sldMk cId="0" sldId="274"/>
            <ac:spMk id="911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4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" name="Google Shape;419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20" name="Google Shape;420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21" name="Google Shape;421;n"/>
          <p:cNvSpPr>
            <a:spLocks noGrp="1" noRot="1" noChangeAspect="1"/>
          </p:cNvSpPr>
          <p:nvPr>
            <p:ph type="sldImg" idx="3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22" name="Google Shape;422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23" name="Google Shape;423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24" name="Google Shape;424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" name="Google Shape;501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2" name="Google Shape;50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7" name="Google Shape;507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8" name="Google Shape;508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4" name="Google Shape;514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5" name="Google Shape;515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1" name="Google Shape;521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2" name="Google Shape;522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8" name="Google Shape;528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9" name="Google Shape;529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5" name="Google Shape;535;p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6" name="Google Shape;536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" name="Google Shape;542;p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3" name="Google Shape;543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9" name="Google Shape;549;p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50" name="Google Shape;550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6" name="Google Shape;556;p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57" name="Google Shape;557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" name="Google Shape;563;p1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64" name="Google Shape;564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0" name="Google Shape;570;p1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71" name="Google Shape;571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7" name="Google Shape;577;p1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78" name="Google Shape;578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4" name="Google Shape;584;p1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85" name="Google Shape;585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1" name="Google Shape;591;g5ae31baec559f25e_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92" name="Google Shape;592;g5ae31baec559f25e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8" name="Google Shape;598;p1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99" name="Google Shape;599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5" name="Google Shape;605;p1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06" name="Google Shape;606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2" name="Google Shape;612;p1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13" name="Google Shape;613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4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2" name="Google Shape;432;p2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3" name="Google Shape;433;p2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 rtl="0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 rtl="0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 rtl="0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434" name="Google Shape;434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5" name="Google Shape;435;p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6" name="Google Shape;436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4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8" name="Google Shape;438;p3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868500"/>
          </a:xfrm>
          <a:prstGeom prst="rect">
            <a:avLst/>
          </a:prstGeom>
          <a:solidFill>
            <a:schemeClr val="lt1"/>
          </a:solidFill>
          <a:ln w="2540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4400"/>
              <a:buFont typeface="Arial"/>
              <a:buNone/>
              <a:defRPr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9" name="Google Shape;439;p3"/>
          <p:cNvSpPr txBox="1">
            <a:spLocks noGrp="1"/>
          </p:cNvSpPr>
          <p:nvPr>
            <p:ph type="body" idx="1"/>
          </p:nvPr>
        </p:nvSpPr>
        <p:spPr>
          <a:xfrm>
            <a:off x="457200" y="1219200"/>
            <a:ext cx="8229600" cy="5334000"/>
          </a:xfrm>
          <a:prstGeom prst="rect">
            <a:avLst/>
          </a:prstGeom>
          <a:solidFill>
            <a:schemeClr val="lt1"/>
          </a:solidFill>
          <a:ln w="2540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40" name="Google Shape;440;p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solidFill>
            <a:schemeClr val="lt1"/>
          </a:solidFill>
          <a:ln w="2540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1" name="Google Shape;441;p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solidFill>
            <a:schemeClr val="lt1"/>
          </a:solidFill>
          <a:ln w="2540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2" name="Google Shape;442;p3"/>
          <p:cNvSpPr txBox="1">
            <a:spLocks noGrp="1"/>
          </p:cNvSpPr>
          <p:nvPr>
            <p:ph type="sldNum" idx="12"/>
          </p:nvPr>
        </p:nvSpPr>
        <p:spPr>
          <a:xfrm>
            <a:off x="8411428" y="6356350"/>
            <a:ext cx="548700" cy="365100"/>
          </a:xfrm>
          <a:prstGeom prst="rect">
            <a:avLst/>
          </a:prstGeom>
          <a:solidFill>
            <a:schemeClr val="lt1"/>
          </a:solidFill>
          <a:ln w="2540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ct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0" lvl="1" indent="0" algn="ct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0" lvl="2" indent="0" algn="ct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0" lvl="3" indent="0" algn="ct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0" lvl="4" indent="0" algn="ct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0" lvl="5" indent="0" algn="ct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0" lvl="6" indent="0" algn="ct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0" lvl="7" indent="0" algn="ct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0" lvl="8" indent="0" algn="ct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4" name="Google Shape;444;p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5" name="Google Shape;445;p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6" name="Google Shape;446;p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4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8" name="Google Shape;448;p5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  <a:defRPr sz="4000" b="1" cap="none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9" name="Google Shape;449;p5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 rtl="0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 rtl="0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 rtl="0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 rtl="0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 rtl="0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 rtl="0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 rtl="0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 rtl="0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450" name="Google Shape;450;p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51" name="Google Shape;451;p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52" name="Google Shape;452;p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4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4" name="Google Shape;454;p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71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55" name="Google Shape;455;p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456" name="Google Shape;456;p6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457" name="Google Shape;457;p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58" name="Google Shape;458;p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59" name="Google Shape;459;p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1" name="Google Shape;461;p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71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62" name="Google Shape;462;p7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00" cy="63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63" name="Google Shape;463;p7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00" cy="395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4" name="Google Shape;464;p7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900" cy="63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65" name="Google Shape;465;p7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900" cy="395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6" name="Google Shape;466;p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67" name="Google Shape;467;p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68" name="Google Shape;468;p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0" name="Google Shape;470;p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71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1" name="Google Shape;471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2" name="Google Shape;472;p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3" name="Google Shape;473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4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5" name="Google Shape;475;p9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400" cy="116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1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6" name="Google Shape;476;p9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00" cy="58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477" name="Google Shape;477;p9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400" cy="469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 rtl="0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 rtl="0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478" name="Google Shape;478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9" name="Google Shape;479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0" name="Google Shape;480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4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2" name="Google Shape;482;p10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1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3" name="Google Shape;483;p10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484" name="Google Shape;484;p10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 rtl="0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 rtl="0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485" name="Google Shape;485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6" name="Google Shape;486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7" name="Google Shape;487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4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9" name="Google Shape;489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71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0" name="Google Shape;490;p11"/>
          <p:cNvSpPr txBox="1">
            <a:spLocks noGrp="1"/>
          </p:cNvSpPr>
          <p:nvPr>
            <p:ph type="body" idx="1"/>
          </p:nvPr>
        </p:nvSpPr>
        <p:spPr>
          <a:xfrm rot="5400000">
            <a:off x="1981200" y="-457200"/>
            <a:ext cx="5181600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91" name="Google Shape;491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2" name="Google Shape;492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3" name="Google Shape;493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4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5" name="Google Shape;495;p12"/>
          <p:cNvSpPr txBox="1">
            <a:spLocks noGrp="1"/>
          </p:cNvSpPr>
          <p:nvPr>
            <p:ph type="title"/>
          </p:nvPr>
        </p:nvSpPr>
        <p:spPr>
          <a:xfrm rot="5400000">
            <a:off x="4732350" y="2171688"/>
            <a:ext cx="5851500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6" name="Google Shape;496;p12"/>
          <p:cNvSpPr txBox="1">
            <a:spLocks noGrp="1"/>
          </p:cNvSpPr>
          <p:nvPr>
            <p:ph type="body" idx="1"/>
          </p:nvPr>
        </p:nvSpPr>
        <p:spPr>
          <a:xfrm rot="5400000">
            <a:off x="541350" y="190488"/>
            <a:ext cx="5851500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97" name="Google Shape;497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8" name="Google Shape;498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9" name="Google Shape;499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4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6" name="Google Shape;426;p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71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427" name="Google Shape;427;p1"/>
          <p:cNvSpPr txBox="1">
            <a:spLocks noGrp="1"/>
          </p:cNvSpPr>
          <p:nvPr>
            <p:ph type="body" idx="1"/>
          </p:nvPr>
        </p:nvSpPr>
        <p:spPr>
          <a:xfrm>
            <a:off x="457200" y="1066800"/>
            <a:ext cx="8229600" cy="518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428" name="Google Shape;428;p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429" name="Google Shape;429;p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430" name="Google Shape;430;p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hyperlink" Target="https://easydmarc.com/tools/phishing-url" TargetMode="External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zvelo.com/phishing-detection-in-depth/https:/en.wikipedia.org/wiki/Phishing" TargetMode="External"/><Relationship Id="rId4" Type="http://schemas.openxmlformats.org/officeDocument/2006/relationships/hyperlink" Target="https://zvelo.com/phishing-detection-in-depth/" TargetMode="Externa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04" name="Google Shape;504;p13"/>
          <p:cNvGraphicFramePr/>
          <p:nvPr>
            <p:extLst>
              <p:ext uri="{D42A27DB-BD31-4B8C-83A1-F6EECF244321}">
                <p14:modId xmlns:p14="http://schemas.microsoft.com/office/powerpoint/2010/main" val="13705927"/>
              </p:ext>
            </p:extLst>
          </p:nvPr>
        </p:nvGraphicFramePr>
        <p:xfrm>
          <a:off x="228600" y="304800"/>
          <a:ext cx="8639525" cy="5994285"/>
        </p:xfrm>
        <a:graphic>
          <a:graphicData uri="http://schemas.openxmlformats.org/drawingml/2006/table">
            <a:tbl>
              <a:tblPr firstRow="1" bandRow="1">
                <a:noFill/>
                <a:tableStyleId>{98077A5B-8C0D-40D8-8557-44EC33DBB8F6}</a:tableStyleId>
              </a:tblPr>
              <a:tblGrid>
                <a:gridCol w="14767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520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191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6197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7526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200" u="none" strike="noStrike" cap="none">
                        <a:solidFill>
                          <a:schemeClr val="lt1"/>
                        </a:solidFill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800" u="none" strike="noStrike" cap="none" dirty="0">
                          <a:solidFill>
                            <a:schemeClr val="lt1"/>
                          </a:solidFill>
                        </a:rPr>
                        <a:t>S.S.V.P.S’s B. S. </a:t>
                      </a:r>
                      <a:r>
                        <a:rPr lang="en-US" sz="2800" u="none" strike="noStrike" cap="none" dirty="0" err="1">
                          <a:solidFill>
                            <a:schemeClr val="lt1"/>
                          </a:solidFill>
                        </a:rPr>
                        <a:t>Deore</a:t>
                      </a:r>
                      <a:r>
                        <a:rPr lang="en-US" sz="2800" u="none" strike="noStrike" cap="none" dirty="0">
                          <a:solidFill>
                            <a:schemeClr val="lt1"/>
                          </a:solidFill>
                        </a:rPr>
                        <a:t> Polytechnic, Dhule</a:t>
                      </a:r>
                      <a:endParaRPr sz="2800" u="none" strike="noStrike" cap="none" dirty="0">
                        <a:solidFill>
                          <a:schemeClr val="lt1"/>
                        </a:solidFill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3200"/>
                        <a:buFont typeface="Times New Roman"/>
                        <a:buNone/>
                      </a:pPr>
                      <a:r>
                        <a:rPr lang="en-US" sz="3200" u="none" strike="noStrike" cap="none" dirty="0">
                          <a:solidFill>
                            <a:schemeClr val="lt1"/>
                          </a:solidFill>
                        </a:rPr>
                        <a:t>Department of Computer Engineering</a:t>
                      </a:r>
                      <a:endParaRPr dirty="0"/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sz="3200" b="0" i="1" u="none" strike="noStrike" cap="none" dirty="0">
                        <a:solidFill>
                          <a:schemeClr val="lt1"/>
                        </a:solidFill>
                      </a:endParaRP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3200" b="0" i="1" u="none" strike="noStrike" cap="none" dirty="0">
                          <a:solidFill>
                            <a:schemeClr val="lt1"/>
                          </a:solidFill>
                        </a:rPr>
                        <a:t>Academic Year : </a:t>
                      </a:r>
                      <a:r>
                        <a:rPr lang="en-US" sz="3200" b="0" i="1" dirty="0"/>
                        <a:t>2026-2027</a:t>
                      </a:r>
                      <a:endParaRPr sz="3200" b="0" i="1" u="none" strike="noStrike" cap="none" dirty="0">
                        <a:solidFill>
                          <a:schemeClr val="lt1"/>
                        </a:solidFill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93225">
                <a:tc gridSpan="4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800" b="1" u="none" strike="noStrike" cap="non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SEMINAR AND PROJECT INITIATION COURSE</a:t>
                      </a:r>
                      <a:endParaRPr/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88550">
                <a:tc gridSpan="2"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2100"/>
                        <a:buFont typeface="Times New Roman"/>
                        <a:buNone/>
                      </a:pPr>
                      <a:r>
                        <a:rPr lang="en-US" sz="2100" b="1" u="none" strike="noStrike" cap="none">
                          <a:solidFill>
                            <a:srgbClr val="FF0000"/>
                          </a:solidFill>
                        </a:rPr>
                        <a:t>Sem : CO 5 K</a:t>
                      </a:r>
                      <a:endParaRPr sz="2100" b="1" u="none" strike="noStrike" cap="none">
                        <a:solidFill>
                          <a:srgbClr val="FF0000"/>
                        </a:solidFill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2060"/>
                        </a:buClr>
                        <a:buSzPts val="2400"/>
                        <a:buFont typeface="Times New Roman"/>
                        <a:buNone/>
                      </a:pPr>
                      <a:r>
                        <a:rPr lang="en-US" sz="2400" b="1" u="none" strike="noStrike" cap="non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SPI – 315003</a:t>
                      </a:r>
                      <a:endParaRPr sz="1800" u="none" strike="noStrike" cap="none"/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2100"/>
                        <a:buFont typeface="Times New Roman"/>
                        <a:buNone/>
                      </a:pPr>
                      <a:r>
                        <a:rPr lang="en-US" sz="2100" b="1" i="0" dirty="0">
                          <a:solidFill>
                            <a:srgbClr val="FF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Date  : 17/10/2026</a:t>
                      </a:r>
                      <a:endParaRPr sz="2100" b="1" u="none" strike="noStrike" cap="none" dirty="0">
                        <a:solidFill>
                          <a:srgbClr val="FF0000"/>
                        </a:solidFill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88550">
                <a:tc gridSpan="4"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b="1" u="none" strike="noStrike" cap="none" dirty="0">
                          <a:solidFill>
                            <a:schemeClr val="dk2"/>
                          </a:solidFill>
                        </a:rPr>
                        <a:t>Topic :</a:t>
                      </a:r>
                      <a:r>
                        <a:rPr lang="en-US" sz="2400" b="1" i="0" dirty="0">
                          <a:solidFill>
                            <a:srgbClr val="1F386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 Phishing Website Detection System</a:t>
                      </a:r>
                      <a:endParaRPr sz="2400" b="1" u="none" strike="noStrike" cap="none" dirty="0">
                        <a:solidFill>
                          <a:srgbClr val="0070C0"/>
                        </a:solidFill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88550"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b="1" u="none" strike="noStrike" cap="none"/>
                        <a:t>Roll No.</a:t>
                      </a:r>
                      <a:endParaRPr sz="2400" b="1" u="none" strike="noStrike" cap="none"/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Times New Roman"/>
                        <a:buNone/>
                      </a:pPr>
                      <a:r>
                        <a:rPr lang="en-US" sz="2400" b="1" u="none" strike="noStrike" cap="none"/>
                        <a:t>Name of Student</a:t>
                      </a:r>
                      <a:endParaRPr sz="2400" b="1" u="none" strike="noStrike" cap="none"/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88550"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200" b="0" i="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48</a:t>
                      </a:r>
                      <a:endParaRPr sz="2000" dirty="0"/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200" b="0" i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Mehul Pagare</a:t>
                      </a:r>
                      <a:endParaRPr sz="1800"/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88550"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200" b="0" i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47</a:t>
                      </a:r>
                      <a:endParaRPr sz="2000"/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200" b="0" i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Ishan Pagar</a:t>
                      </a:r>
                      <a:endParaRPr sz="1800"/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88550"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200" b="0" i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41</a:t>
                      </a:r>
                      <a:endParaRPr sz="2200" b="1">
                        <a:solidFill>
                          <a:schemeClr val="dk2"/>
                        </a:solidFill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200" b="0" i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Manish Patil</a:t>
                      </a:r>
                      <a:endParaRPr sz="1800"/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88550"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200" b="0" i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30</a:t>
                      </a:r>
                      <a:endParaRPr sz="2200" b="1">
                        <a:solidFill>
                          <a:schemeClr val="dk2"/>
                        </a:solidFill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200" b="0" i="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Sarang Jathar</a:t>
                      </a:r>
                      <a:endParaRPr sz="1800" dirty="0"/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pic>
        <p:nvPicPr>
          <p:cNvPr id="505" name="Google Shape;505;p13" descr="ssvpslogo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81000" y="457200"/>
            <a:ext cx="1219200" cy="162723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0" name="Google Shape;510;p14"/>
          <p:cNvSpPr txBox="1">
            <a:spLocks noGrp="1"/>
          </p:cNvSpPr>
          <p:nvPr>
            <p:ph type="body" idx="1"/>
          </p:nvPr>
        </p:nvSpPr>
        <p:spPr>
          <a:xfrm>
            <a:off x="457200" y="1219200"/>
            <a:ext cx="8229600" cy="5334000"/>
          </a:xfrm>
          <a:prstGeom prst="rect">
            <a:avLst/>
          </a:prstGeom>
          <a:solidFill>
            <a:schemeClr val="lt1"/>
          </a:solidFill>
          <a:ln w="2540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rmAutofit fontScale="77500" lnSpcReduction="20000"/>
          </a:bodyPr>
          <a:lstStyle/>
          <a:p>
            <a:pPr marL="514350" lvl="0" indent="-483870" algn="l" rtl="0">
              <a:spcBef>
                <a:spcPts val="496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 dirty="0"/>
              <a:t>Abstract </a:t>
            </a:r>
            <a:endParaRPr dirty="0"/>
          </a:p>
          <a:p>
            <a:pPr marL="514350" lvl="0" indent="-483870" algn="l" rtl="0">
              <a:spcBef>
                <a:spcPts val="496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AutoNum type="arabicPeriod"/>
            </a:pPr>
            <a:r>
              <a:rPr lang="en-US" dirty="0"/>
              <a:t>Introduction</a:t>
            </a:r>
            <a:endParaRPr dirty="0"/>
          </a:p>
          <a:p>
            <a:pPr marL="514350" lvl="0" indent="-483870" algn="l" rtl="0">
              <a:spcBef>
                <a:spcPts val="496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AutoNum type="arabicPeriod"/>
            </a:pPr>
            <a:r>
              <a:rPr lang="en-US" dirty="0"/>
              <a:t>Literature Survey</a:t>
            </a:r>
            <a:endParaRPr dirty="0"/>
          </a:p>
          <a:p>
            <a:pPr marL="514350" lvl="0" indent="-483870" algn="l" rtl="0">
              <a:spcBef>
                <a:spcPts val="496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AutoNum type="arabicPeriod"/>
            </a:pPr>
            <a:r>
              <a:rPr lang="en-US" dirty="0"/>
              <a:t>Information to Seminar topic</a:t>
            </a:r>
            <a:endParaRPr dirty="0"/>
          </a:p>
          <a:p>
            <a:pPr marL="514350" lvl="0" indent="-483870" algn="l" rtl="0">
              <a:spcBef>
                <a:spcPts val="496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AutoNum type="arabicPeriod"/>
            </a:pPr>
            <a:r>
              <a:rPr lang="en-US" dirty="0"/>
              <a:t>Advantages and Disadvantages</a:t>
            </a:r>
            <a:endParaRPr dirty="0"/>
          </a:p>
          <a:p>
            <a:pPr marL="514350" lvl="0" indent="-483870" algn="l" rtl="0">
              <a:spcBef>
                <a:spcPts val="496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AutoNum type="arabicPeriod"/>
            </a:pPr>
            <a:r>
              <a:rPr lang="en-US" dirty="0"/>
              <a:t>Conclusion</a:t>
            </a:r>
            <a:endParaRPr dirty="0"/>
          </a:p>
          <a:p>
            <a:pPr marL="514350" lvl="0" indent="-483870" algn="l" rtl="0">
              <a:spcBef>
                <a:spcPts val="496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AutoNum type="arabicPeriod"/>
            </a:pPr>
            <a:r>
              <a:rPr lang="en-US" dirty="0"/>
              <a:t>Project Initiation : </a:t>
            </a:r>
            <a:endParaRPr dirty="0"/>
          </a:p>
          <a:p>
            <a:pPr marL="742950" lvl="0" indent="0" algn="l" rtl="0">
              <a:spcBef>
                <a:spcPts val="434"/>
              </a:spcBef>
              <a:spcAft>
                <a:spcPts val="0"/>
              </a:spcAft>
              <a:buNone/>
            </a:pPr>
            <a:r>
              <a:rPr lang="en-US" sz="2800" dirty="0"/>
              <a:t>6. 1 Description of problem statement.</a:t>
            </a:r>
            <a:endParaRPr sz="2800" dirty="0"/>
          </a:p>
          <a:p>
            <a:pPr marL="742950" lvl="0" indent="0" algn="l" rtl="0">
              <a:spcBef>
                <a:spcPts val="434"/>
              </a:spcBef>
              <a:spcAft>
                <a:spcPts val="0"/>
              </a:spcAft>
              <a:buNone/>
            </a:pPr>
            <a:r>
              <a:rPr lang="en-US" sz="2800" dirty="0"/>
              <a:t>6. 2 Scope and objectives.</a:t>
            </a:r>
            <a:endParaRPr sz="2800" dirty="0"/>
          </a:p>
          <a:p>
            <a:pPr marL="742950" lvl="0" indent="0" algn="l" rtl="0">
              <a:spcBef>
                <a:spcPts val="434"/>
              </a:spcBef>
              <a:spcAft>
                <a:spcPts val="0"/>
              </a:spcAft>
              <a:buNone/>
            </a:pPr>
            <a:r>
              <a:rPr lang="en-US" sz="2800" dirty="0"/>
              <a:t>6. 3 Stake holder</a:t>
            </a:r>
            <a:endParaRPr sz="2800" dirty="0"/>
          </a:p>
          <a:p>
            <a:pPr marL="742950" lvl="0" indent="0" algn="l" rtl="0">
              <a:spcBef>
                <a:spcPts val="434"/>
              </a:spcBef>
              <a:spcAft>
                <a:spcPts val="0"/>
              </a:spcAft>
              <a:buNone/>
            </a:pPr>
            <a:r>
              <a:rPr lang="en-US" sz="2800" dirty="0"/>
              <a:t>6. 4 seminar </a:t>
            </a:r>
            <a:r>
              <a:rPr lang="en-US" sz="2800" dirty="0" err="1"/>
              <a:t>exsicussion</a:t>
            </a:r>
            <a:r>
              <a:rPr lang="en-US" sz="2800" dirty="0"/>
              <a:t>  plan</a:t>
            </a:r>
            <a:endParaRPr sz="2800" dirty="0"/>
          </a:p>
          <a:p>
            <a:pPr marL="742950" lvl="0" indent="0" algn="l" rtl="0">
              <a:spcBef>
                <a:spcPts val="434"/>
              </a:spcBef>
              <a:spcAft>
                <a:spcPts val="0"/>
              </a:spcAft>
              <a:buNone/>
            </a:pPr>
            <a:r>
              <a:rPr lang="en-US" sz="2800" dirty="0"/>
              <a:t>6.5 Platform/ Equipment/ Resources identification.</a:t>
            </a:r>
            <a:endParaRPr sz="2800" dirty="0"/>
          </a:p>
          <a:p>
            <a:pPr marL="514350" lvl="0" indent="-483870" algn="l" rtl="0">
              <a:spcBef>
                <a:spcPts val="496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AutoNum type="arabicPeriod"/>
            </a:pPr>
            <a:r>
              <a:rPr lang="en-US" dirty="0"/>
              <a:t>Bibliography</a:t>
            </a:r>
            <a:endParaRPr dirty="0"/>
          </a:p>
          <a:p>
            <a:pPr marL="514350" lvl="0" indent="-483870" algn="l" rtl="0">
              <a:spcBef>
                <a:spcPts val="496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AutoNum type="arabicPeriod"/>
            </a:pPr>
            <a:r>
              <a:rPr lang="en-US" dirty="0"/>
              <a:t>References</a:t>
            </a:r>
            <a:endParaRPr dirty="0"/>
          </a:p>
          <a:p>
            <a:pPr marL="342900" lvl="0" indent="-185420" algn="l" rtl="0">
              <a:spcBef>
                <a:spcPts val="496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dirty="0"/>
          </a:p>
        </p:txBody>
      </p:sp>
      <p:sp>
        <p:nvSpPr>
          <p:cNvPr id="511" name="Google Shape;511;p1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868500"/>
          </a:xfrm>
          <a:prstGeom prst="rect">
            <a:avLst/>
          </a:prstGeom>
          <a:solidFill>
            <a:schemeClr val="lt1"/>
          </a:solidFill>
          <a:ln w="2857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4400"/>
              <a:buFont typeface="Arial"/>
              <a:buNone/>
            </a:pPr>
            <a:r>
              <a:rPr lang="en-US"/>
              <a:t>Contents</a:t>
            </a:r>
            <a:endParaRPr/>
          </a:p>
        </p:txBody>
      </p:sp>
      <p:sp>
        <p:nvSpPr>
          <p:cNvPr id="512" name="Google Shape;512;p14"/>
          <p:cNvSpPr txBox="1">
            <a:spLocks noGrp="1"/>
          </p:cNvSpPr>
          <p:nvPr>
            <p:ph type="sldNum" idx="12"/>
          </p:nvPr>
        </p:nvSpPr>
        <p:spPr>
          <a:xfrm>
            <a:off x="8411428" y="6356350"/>
            <a:ext cx="548700" cy="365100"/>
          </a:xfrm>
          <a:prstGeom prst="rect">
            <a:avLst/>
          </a:prstGeom>
          <a:solidFill>
            <a:schemeClr val="lt1"/>
          </a:solidFill>
          <a:ln w="2540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7" name="Google Shape;517;p15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868500"/>
          </a:xfrm>
          <a:prstGeom prst="rect">
            <a:avLst/>
          </a:prstGeom>
          <a:solidFill>
            <a:schemeClr val="lt1"/>
          </a:solidFill>
          <a:ln w="2540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4400"/>
              <a:buFont typeface="Arial"/>
              <a:buNone/>
            </a:pPr>
            <a:r>
              <a:rPr lang="en-US"/>
              <a:t>Abstract</a:t>
            </a:r>
            <a:endParaRPr/>
          </a:p>
        </p:txBody>
      </p:sp>
      <p:sp>
        <p:nvSpPr>
          <p:cNvPr id="518" name="Google Shape;518;p15"/>
          <p:cNvSpPr txBox="1">
            <a:spLocks noGrp="1"/>
          </p:cNvSpPr>
          <p:nvPr>
            <p:ph type="body" idx="1"/>
          </p:nvPr>
        </p:nvSpPr>
        <p:spPr>
          <a:xfrm>
            <a:off x="457200" y="1219200"/>
            <a:ext cx="8229600" cy="5334000"/>
          </a:xfrm>
          <a:prstGeom prst="rect">
            <a:avLst/>
          </a:prstGeom>
          <a:solidFill>
            <a:schemeClr val="lt1"/>
          </a:solidFill>
          <a:ln w="2540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85750" indent="-28575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•"/>
            </a:pPr>
            <a:r>
              <a:rPr lang="en-US" sz="2600" b="0" i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</a:rPr>
              <a:t>Phishing means making a fake website that looks like a real one (like a bank or Instagram) to steal passwords and money.</a:t>
            </a:r>
          </a:p>
          <a:p>
            <a:pPr marL="285750" indent="-28575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•"/>
            </a:pPr>
            <a:r>
              <a:rPr lang="en-US" sz="2600" b="0" i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</a:rPr>
              <a:t>Many people cannot tell a fake website from a real one.</a:t>
            </a:r>
          </a:p>
          <a:p>
            <a:pPr marL="285750" indent="-28575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•"/>
            </a:pPr>
            <a:r>
              <a:rPr lang="en-US" sz="2600" b="0" i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</a:rPr>
              <a:t>Our project checks a website link and tells the user if it is Safe or Phishing.</a:t>
            </a:r>
          </a:p>
          <a:p>
            <a:pPr marL="285750" indent="-28575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•"/>
            </a:pPr>
            <a:r>
              <a:rPr lang="en-US" sz="2600" b="0" i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</a:rPr>
              <a:t>It uses Machine Learning: the computer learns from many real and fake websites.</a:t>
            </a:r>
          </a:p>
        </p:txBody>
      </p:sp>
      <p:sp>
        <p:nvSpPr>
          <p:cNvPr id="519" name="Google Shape;519;p15"/>
          <p:cNvSpPr txBox="1">
            <a:spLocks noGrp="1"/>
          </p:cNvSpPr>
          <p:nvPr>
            <p:ph type="sldNum" idx="12"/>
          </p:nvPr>
        </p:nvSpPr>
        <p:spPr>
          <a:xfrm>
            <a:off x="8411428" y="6356350"/>
            <a:ext cx="548700" cy="365100"/>
          </a:xfrm>
          <a:prstGeom prst="rect">
            <a:avLst/>
          </a:prstGeom>
          <a:solidFill>
            <a:schemeClr val="lt1"/>
          </a:solidFill>
          <a:ln w="2540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</a:t>
            </a:fld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4" name="Google Shape;524;p1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868500"/>
          </a:xfrm>
          <a:prstGeom prst="rect">
            <a:avLst/>
          </a:prstGeom>
          <a:solidFill>
            <a:schemeClr val="lt1"/>
          </a:solidFill>
          <a:ln w="2540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4400"/>
              <a:buFont typeface="Arial"/>
              <a:buNone/>
            </a:pPr>
            <a:r>
              <a:rPr lang="en-US"/>
              <a:t>1. Introduction</a:t>
            </a:r>
            <a:endParaRPr/>
          </a:p>
        </p:txBody>
      </p:sp>
      <p:sp>
        <p:nvSpPr>
          <p:cNvPr id="525" name="Google Shape;525;p16"/>
          <p:cNvSpPr txBox="1">
            <a:spLocks noGrp="1"/>
          </p:cNvSpPr>
          <p:nvPr>
            <p:ph type="body" idx="1"/>
          </p:nvPr>
        </p:nvSpPr>
        <p:spPr>
          <a:xfrm>
            <a:off x="457200" y="1219200"/>
            <a:ext cx="8229600" cy="5334000"/>
          </a:xfrm>
          <a:prstGeom prst="rect">
            <a:avLst/>
          </a:prstGeom>
          <a:solidFill>
            <a:schemeClr val="lt1"/>
          </a:solidFill>
          <a:ln w="2540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85750" indent="-28575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•"/>
            </a:pPr>
            <a:r>
              <a:rPr lang="en-US" sz="2500" b="1" i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</a:rPr>
              <a:t>What is phishing? </a:t>
            </a:r>
            <a:r>
              <a:rPr lang="en-US" sz="2500" b="0" i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</a:rPr>
              <a:t>A trick to steal personal information by pretending to be a trusted website.</a:t>
            </a:r>
          </a:p>
          <a:p>
            <a:pPr marL="285750" indent="-28575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•"/>
            </a:pPr>
            <a:r>
              <a:rPr lang="en-US" sz="2500" b="1" i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</a:rPr>
              <a:t>How does it spread? </a:t>
            </a:r>
            <a:r>
              <a:rPr lang="en-US" sz="2500" b="0" i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</a:rPr>
              <a:t>Fake links come by SMS, WhatsApp, e-mail and social media.</a:t>
            </a:r>
          </a:p>
          <a:p>
            <a:pPr marL="285750" indent="-28575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•"/>
            </a:pPr>
            <a:r>
              <a:rPr lang="en-US" sz="2500" b="1" i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</a:rPr>
              <a:t>Example: </a:t>
            </a:r>
            <a:r>
              <a:rPr lang="en-US" sz="2500" b="0" i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</a:rPr>
              <a:t>A message says "Your bank account is blocked, click here". The link opens a fake bank page.</a:t>
            </a:r>
          </a:p>
          <a:p>
            <a:pPr marL="285750" indent="-28575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•"/>
            </a:pPr>
            <a:r>
              <a:rPr lang="en-US" sz="2500" b="1" i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</a:rPr>
              <a:t>Why is it dangerous? </a:t>
            </a:r>
            <a:r>
              <a:rPr lang="en-US" sz="2500" b="0" i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</a:rPr>
              <a:t>People lose money and their accounts get hacked.</a:t>
            </a:r>
          </a:p>
          <a:p>
            <a:pPr marL="285750" indent="-28575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•"/>
            </a:pPr>
            <a:r>
              <a:rPr lang="en-US" sz="2500" b="1" i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</a:rPr>
              <a:t>Our solution: </a:t>
            </a:r>
            <a:r>
              <a:rPr lang="en-US" sz="2500" b="0" i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</a:rPr>
              <a:t>A system that checks the link and warns the user.</a:t>
            </a:r>
          </a:p>
        </p:txBody>
      </p:sp>
      <p:sp>
        <p:nvSpPr>
          <p:cNvPr id="526" name="Google Shape;526;p16"/>
          <p:cNvSpPr txBox="1">
            <a:spLocks noGrp="1"/>
          </p:cNvSpPr>
          <p:nvPr>
            <p:ph type="sldNum" idx="12"/>
          </p:nvPr>
        </p:nvSpPr>
        <p:spPr>
          <a:xfrm>
            <a:off x="8411428" y="6356350"/>
            <a:ext cx="548700" cy="365100"/>
          </a:xfrm>
          <a:prstGeom prst="rect">
            <a:avLst/>
          </a:prstGeom>
          <a:solidFill>
            <a:schemeClr val="lt1"/>
          </a:solidFill>
          <a:ln w="2540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1" name="Google Shape;531;p1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868500"/>
          </a:xfrm>
          <a:prstGeom prst="rect">
            <a:avLst/>
          </a:prstGeom>
          <a:solidFill>
            <a:schemeClr val="lt1"/>
          </a:solidFill>
          <a:ln w="2540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4400"/>
              <a:buFont typeface="Arial"/>
              <a:buNone/>
            </a:pPr>
            <a:r>
              <a:rPr lang="en-US" dirty="0"/>
              <a:t>2. </a:t>
            </a:r>
            <a:r>
              <a:rPr lang="en-US"/>
              <a:t>Literature Survey (1 of 2)</a:t>
            </a:r>
            <a:endParaRPr/>
          </a:p>
        </p:txBody>
      </p:sp>
      <p:sp>
        <p:nvSpPr>
          <p:cNvPr id="532" name="Google Shape;532;p17"/>
          <p:cNvSpPr txBox="1">
            <a:spLocks noGrp="1"/>
          </p:cNvSpPr>
          <p:nvPr>
            <p:ph type="body" idx="1"/>
          </p:nvPr>
        </p:nvSpPr>
        <p:spPr>
          <a:xfrm>
            <a:off x="457200" y="1219200"/>
            <a:ext cx="8229600" cy="5334000"/>
          </a:xfrm>
          <a:prstGeom prst="rect">
            <a:avLst/>
          </a:prstGeom>
          <a:solidFill>
            <a:schemeClr val="lt1"/>
          </a:solidFill>
          <a:ln w="2540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endParaRPr lang="en-US" sz="1800"/>
          </a:p>
        </p:txBody>
      </p:sp>
      <p:sp>
        <p:nvSpPr>
          <p:cNvPr id="533" name="Google Shape;533;p17"/>
          <p:cNvSpPr txBox="1">
            <a:spLocks noGrp="1"/>
          </p:cNvSpPr>
          <p:nvPr>
            <p:ph type="sldNum" idx="12"/>
          </p:nvPr>
        </p:nvSpPr>
        <p:spPr>
          <a:xfrm>
            <a:off x="8411428" y="6356350"/>
            <a:ext cx="548700" cy="365100"/>
          </a:xfrm>
          <a:prstGeom prst="rect">
            <a:avLst/>
          </a:prstGeom>
          <a:solidFill>
            <a:schemeClr val="lt1"/>
          </a:solidFill>
          <a:ln w="2540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5</a:t>
            </a:fld>
            <a:endParaRPr/>
          </a:p>
        </p:txBody>
      </p:sp>
      <p:graphicFrame>
        <p:nvGraphicFramePr>
          <p:cNvPr id="901" name="Table 901"/>
          <p:cNvGraphicFramePr/>
          <p:nvPr/>
        </p:nvGraphicFramePr>
        <p:xfrm>
          <a:off x="457200" y="1400000"/>
          <a:ext cx="8229600" cy="4850000"/>
        </p:xfrm>
        <a:graphic>
          <a:graphicData uri="http://schemas.openxmlformats.org/drawingml/2006/table">
            <a:tbl>
              <a:tblPr firstRow="1"/>
              <a:tblGrid>
                <a:gridCol w="600000"/>
                <a:gridCol w="2200000"/>
                <a:gridCol w="2929600"/>
                <a:gridCol w="2500000"/>
              </a:tblGrid>
              <a:tr h="50000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500" b="1" i="0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Sr.</a:t>
                      </a:r>
                    </a:p>
                  </a:txBody>
                  <a:tcPr marL="91450" marR="91450" marT="45725" marB="45725" anchor="ctr">
                    <a:lnL w="12700">
                      <a:solidFill>
                        <a:schemeClr val="accent1"/>
                      </a:solidFill>
                    </a:lnL>
                    <a:lnR w="12700">
                      <a:solidFill>
                        <a:schemeClr val="accent1"/>
                      </a:solidFill>
                    </a:lnR>
                    <a:lnT w="12700">
                      <a:solidFill>
                        <a:schemeClr val="accent1"/>
                      </a:solidFill>
                    </a:lnT>
                    <a:lnB w="12700">
                      <a:solidFill>
                        <a:schemeClr val="accent1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500" b="1" i="0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Author and Year</a:t>
                      </a:r>
                    </a:p>
                  </a:txBody>
                  <a:tcPr marL="91450" marR="91450" marT="45725" marB="45725" anchor="ctr">
                    <a:lnL w="12700">
                      <a:solidFill>
                        <a:schemeClr val="accent1"/>
                      </a:solidFill>
                    </a:lnL>
                    <a:lnR w="12700">
                      <a:solidFill>
                        <a:schemeClr val="accent1"/>
                      </a:solidFill>
                    </a:lnR>
                    <a:lnT w="12700">
                      <a:solidFill>
                        <a:schemeClr val="accent1"/>
                      </a:solidFill>
                    </a:lnT>
                    <a:lnB w="12700">
                      <a:solidFill>
                        <a:schemeClr val="accent1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500" b="1" i="0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Method used</a:t>
                      </a:r>
                    </a:p>
                  </a:txBody>
                  <a:tcPr marL="91450" marR="91450" marT="45725" marB="45725" anchor="ctr">
                    <a:lnL w="12700">
                      <a:solidFill>
                        <a:schemeClr val="accent1"/>
                      </a:solidFill>
                    </a:lnL>
                    <a:lnR w="12700">
                      <a:solidFill>
                        <a:schemeClr val="accent1"/>
                      </a:solidFill>
                    </a:lnR>
                    <a:lnT w="12700">
                      <a:solidFill>
                        <a:schemeClr val="accent1"/>
                      </a:solidFill>
                    </a:lnT>
                    <a:lnB w="12700">
                      <a:solidFill>
                        <a:schemeClr val="accent1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500" b="1" i="0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Finding</a:t>
                      </a:r>
                    </a:p>
                  </a:txBody>
                  <a:tcPr marL="91450" marR="91450" marT="45725" marB="45725" anchor="ctr">
                    <a:lnL w="12700">
                      <a:solidFill>
                        <a:schemeClr val="accent1"/>
                      </a:solidFill>
                    </a:lnL>
                    <a:lnR w="12700">
                      <a:solidFill>
                        <a:schemeClr val="accent1"/>
                      </a:solidFill>
                    </a:lnR>
                    <a:lnT w="12700">
                      <a:solidFill>
                        <a:schemeClr val="accent1"/>
                      </a:solidFill>
                    </a:lnT>
                    <a:lnB w="12700">
                      <a:solidFill>
                        <a:schemeClr val="accent1"/>
                      </a:solidFill>
                    </a:lnB>
                    <a:solidFill>
                      <a:srgbClr val="1F3864"/>
                    </a:solidFill>
                  </a:tcPr>
                </a:tc>
              </a:tr>
              <a:tr h="72500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500" b="1" i="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</a:t>
                      </a:r>
                    </a:p>
                  </a:txBody>
                  <a:tcPr marL="91450" marR="91450" marT="45725" marB="45725" anchor="ctr">
                    <a:lnL w="12700">
                      <a:solidFill>
                        <a:schemeClr val="accent1"/>
                      </a:solidFill>
                    </a:lnL>
                    <a:lnR w="12700">
                      <a:solidFill>
                        <a:schemeClr val="accent1"/>
                      </a:solidFill>
                    </a:lnR>
                    <a:lnT w="12700">
                      <a:solidFill>
                        <a:schemeClr val="accent1"/>
                      </a:solidFill>
                    </a:lnT>
                    <a:lnB w="12700">
                      <a:solidFill>
                        <a:schemeClr val="accent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500" b="0" i="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Zhang, Hong and Cranor, 2007 [1]</a:t>
                      </a:r>
                    </a:p>
                  </a:txBody>
                  <a:tcPr marL="91450" marR="91450" marT="45725" marB="45725" anchor="ctr">
                    <a:lnL w="12700">
                      <a:solidFill>
                        <a:schemeClr val="accent1"/>
                      </a:solidFill>
                    </a:lnL>
                    <a:lnR w="12700">
                      <a:solidFill>
                        <a:schemeClr val="accent1"/>
                      </a:solidFill>
                    </a:lnR>
                    <a:lnT w="12700">
                      <a:solidFill>
                        <a:schemeClr val="accent1"/>
                      </a:solidFill>
                    </a:lnT>
                    <a:lnB w="12700">
                      <a:solidFill>
                        <a:schemeClr val="accent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500" b="0" i="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CANTINA: checks the words on the web page (TF-IDF) plus some extra clues</a:t>
                      </a:r>
                    </a:p>
                  </a:txBody>
                  <a:tcPr marL="91450" marR="91450" marT="45725" marB="45725" anchor="ctr">
                    <a:lnL w="12700">
                      <a:solidFill>
                        <a:schemeClr val="accent1"/>
                      </a:solidFill>
                    </a:lnL>
                    <a:lnR w="12700">
                      <a:solidFill>
                        <a:schemeClr val="accent1"/>
                      </a:solidFill>
                    </a:lnR>
                    <a:lnT w="12700">
                      <a:solidFill>
                        <a:schemeClr val="accent1"/>
                      </a:solidFill>
                    </a:lnT>
                    <a:lnB w="12700">
                      <a:solidFill>
                        <a:schemeClr val="accent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500" b="0" i="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Finds fake pages by their content</a:t>
                      </a:r>
                    </a:p>
                  </a:txBody>
                  <a:tcPr marL="91450" marR="91450" marT="45725" marB="45725" anchor="ctr">
                    <a:lnL w="12700">
                      <a:solidFill>
                        <a:schemeClr val="accent1"/>
                      </a:solidFill>
                    </a:lnL>
                    <a:lnR w="12700">
                      <a:solidFill>
                        <a:schemeClr val="accent1"/>
                      </a:solidFill>
                    </a:lnR>
                    <a:lnT w="12700">
                      <a:solidFill>
                        <a:schemeClr val="accent1"/>
                      </a:solidFill>
                    </a:lnT>
                    <a:lnB w="12700">
                      <a:solidFill>
                        <a:schemeClr val="accent1"/>
                      </a:solidFill>
                    </a:lnB>
                  </a:tcPr>
                </a:tc>
              </a:tr>
              <a:tr h="72500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500" b="1" i="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2</a:t>
                      </a:r>
                    </a:p>
                  </a:txBody>
                  <a:tcPr marL="91450" marR="91450" marT="45725" marB="45725" anchor="ctr">
                    <a:lnL w="12700">
                      <a:solidFill>
                        <a:schemeClr val="accent1"/>
                      </a:solidFill>
                    </a:lnL>
                    <a:lnR w="12700">
                      <a:solidFill>
                        <a:schemeClr val="accent1"/>
                      </a:solidFill>
                    </a:lnR>
                    <a:lnT w="12700">
                      <a:solidFill>
                        <a:schemeClr val="accent1"/>
                      </a:solidFill>
                    </a:lnT>
                    <a:lnB w="12700">
                      <a:solidFill>
                        <a:schemeClr val="accent1"/>
                      </a:solidFill>
                    </a:lnB>
                    <a:solidFill>
                      <a:srgbClr val="EAF0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500" b="0" i="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Ma et al., 2009 [2]</a:t>
                      </a:r>
                    </a:p>
                  </a:txBody>
                  <a:tcPr marL="91450" marR="91450" marT="45725" marB="45725" anchor="ctr">
                    <a:lnL w="12700">
                      <a:solidFill>
                        <a:schemeClr val="accent1"/>
                      </a:solidFill>
                    </a:lnL>
                    <a:lnR w="12700">
                      <a:solidFill>
                        <a:schemeClr val="accent1"/>
                      </a:solidFill>
                    </a:lnR>
                    <a:lnT w="12700">
                      <a:solidFill>
                        <a:schemeClr val="accent1"/>
                      </a:solidFill>
                    </a:lnT>
                    <a:lnB w="12700">
                      <a:solidFill>
                        <a:schemeClr val="accent1"/>
                      </a:solidFill>
                    </a:lnB>
                    <a:solidFill>
                      <a:srgbClr val="EAF0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500" b="0" i="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Checks the link (URL) and host details using machine learning</a:t>
                      </a:r>
                    </a:p>
                  </a:txBody>
                  <a:tcPr marL="91450" marR="91450" marT="45725" marB="45725" anchor="ctr">
                    <a:lnL w="12700">
                      <a:solidFill>
                        <a:schemeClr val="accent1"/>
                      </a:solidFill>
                    </a:lnL>
                    <a:lnR w="12700">
                      <a:solidFill>
                        <a:schemeClr val="accent1"/>
                      </a:solidFill>
                    </a:lnR>
                    <a:lnT w="12700">
                      <a:solidFill>
                        <a:schemeClr val="accent1"/>
                      </a:solidFill>
                    </a:lnT>
                    <a:lnB w="12700">
                      <a:solidFill>
                        <a:schemeClr val="accent1"/>
                      </a:solidFill>
                    </a:lnB>
                    <a:solidFill>
                      <a:srgbClr val="EAF0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500" b="0" i="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Finds bad websites without a blacklist</a:t>
                      </a:r>
                    </a:p>
                  </a:txBody>
                  <a:tcPr marL="91450" marR="91450" marT="45725" marB="45725" anchor="ctr">
                    <a:lnL w="12700">
                      <a:solidFill>
                        <a:schemeClr val="accent1"/>
                      </a:solidFill>
                    </a:lnL>
                    <a:lnR w="12700">
                      <a:solidFill>
                        <a:schemeClr val="accent1"/>
                      </a:solidFill>
                    </a:lnR>
                    <a:lnT w="12700">
                      <a:solidFill>
                        <a:schemeClr val="accent1"/>
                      </a:solidFill>
                    </a:lnT>
                    <a:lnB w="12700">
                      <a:solidFill>
                        <a:schemeClr val="accent1"/>
                      </a:solidFill>
                    </a:lnB>
                    <a:solidFill>
                      <a:srgbClr val="EAF0FA"/>
                    </a:solidFill>
                  </a:tcPr>
                </a:tc>
              </a:tr>
              <a:tr h="72500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500" b="1" i="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3</a:t>
                      </a:r>
                    </a:p>
                  </a:txBody>
                  <a:tcPr marL="91450" marR="91450" marT="45725" marB="45725" anchor="ctr">
                    <a:lnL w="12700">
                      <a:solidFill>
                        <a:schemeClr val="accent1"/>
                      </a:solidFill>
                    </a:lnL>
                    <a:lnR w="12700">
                      <a:solidFill>
                        <a:schemeClr val="accent1"/>
                      </a:solidFill>
                    </a:lnR>
                    <a:lnT w="12700">
                      <a:solidFill>
                        <a:schemeClr val="accent1"/>
                      </a:solidFill>
                    </a:lnT>
                    <a:lnB w="12700">
                      <a:solidFill>
                        <a:schemeClr val="accent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500" b="0" i="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Mohammad et al., 2014 [3]</a:t>
                      </a:r>
                    </a:p>
                  </a:txBody>
                  <a:tcPr marL="91450" marR="91450" marT="45725" marB="45725" anchor="ctr">
                    <a:lnL w="12700">
                      <a:solidFill>
                        <a:schemeClr val="accent1"/>
                      </a:solidFill>
                    </a:lnL>
                    <a:lnR w="12700">
                      <a:solidFill>
                        <a:schemeClr val="accent1"/>
                      </a:solidFill>
                    </a:lnR>
                    <a:lnT w="12700">
                      <a:solidFill>
                        <a:schemeClr val="accent1"/>
                      </a:solidFill>
                    </a:lnT>
                    <a:lnB w="12700">
                      <a:solidFill>
                        <a:schemeClr val="accent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500" b="0" i="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Neural network that learns from website features (UCI dataset)</a:t>
                      </a:r>
                    </a:p>
                  </a:txBody>
                  <a:tcPr marL="91450" marR="91450" marT="45725" marB="45725" anchor="ctr">
                    <a:lnL w="12700">
                      <a:solidFill>
                        <a:schemeClr val="accent1"/>
                      </a:solidFill>
                    </a:lnL>
                    <a:lnR w="12700">
                      <a:solidFill>
                        <a:schemeClr val="accent1"/>
                      </a:solidFill>
                    </a:lnR>
                    <a:lnT w="12700">
                      <a:solidFill>
                        <a:schemeClr val="accent1"/>
                      </a:solidFill>
                    </a:lnT>
                    <a:lnB w="12700">
                      <a:solidFill>
                        <a:schemeClr val="accent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500" b="0" i="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Network adjusts to new phishing patterns</a:t>
                      </a:r>
                    </a:p>
                  </a:txBody>
                  <a:tcPr marL="91450" marR="91450" marT="45725" marB="45725" anchor="ctr">
                    <a:lnL w="12700">
                      <a:solidFill>
                        <a:schemeClr val="accent1"/>
                      </a:solidFill>
                    </a:lnL>
                    <a:lnR w="12700">
                      <a:solidFill>
                        <a:schemeClr val="accent1"/>
                      </a:solidFill>
                    </a:lnR>
                    <a:lnT w="12700">
                      <a:solidFill>
                        <a:schemeClr val="accent1"/>
                      </a:solidFill>
                    </a:lnT>
                    <a:lnB w="12700">
                      <a:solidFill>
                        <a:schemeClr val="accent1"/>
                      </a:solidFill>
                    </a:lnB>
                  </a:tcPr>
                </a:tc>
              </a:tr>
              <a:tr h="72500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500" b="1" i="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4</a:t>
                      </a:r>
                    </a:p>
                  </a:txBody>
                  <a:tcPr marL="91450" marR="91450" marT="45725" marB="45725" anchor="ctr">
                    <a:lnL w="12700">
                      <a:solidFill>
                        <a:schemeClr val="accent1"/>
                      </a:solidFill>
                    </a:lnL>
                    <a:lnR w="12700">
                      <a:solidFill>
                        <a:schemeClr val="accent1"/>
                      </a:solidFill>
                    </a:lnR>
                    <a:lnT w="12700">
                      <a:solidFill>
                        <a:schemeClr val="accent1"/>
                      </a:solidFill>
                    </a:lnT>
                    <a:lnB w="12700">
                      <a:solidFill>
                        <a:schemeClr val="accent1"/>
                      </a:solidFill>
                    </a:lnB>
                    <a:solidFill>
                      <a:srgbClr val="EAF0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500" b="0" i="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Sahingoz et al., 2019 [4]</a:t>
                      </a:r>
                    </a:p>
                  </a:txBody>
                  <a:tcPr marL="91450" marR="91450" marT="45725" marB="45725" anchor="ctr">
                    <a:lnL w="12700">
                      <a:solidFill>
                        <a:schemeClr val="accent1"/>
                      </a:solidFill>
                    </a:lnL>
                    <a:lnR w="12700">
                      <a:solidFill>
                        <a:schemeClr val="accent1"/>
                      </a:solidFill>
                    </a:lnR>
                    <a:lnT w="12700">
                      <a:solidFill>
                        <a:schemeClr val="accent1"/>
                      </a:solidFill>
                    </a:lnT>
                    <a:lnB w="12700">
                      <a:solidFill>
                        <a:schemeClr val="accent1"/>
                      </a:solidFill>
                    </a:lnB>
                    <a:solidFill>
                      <a:srgbClr val="EAF0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500" b="0" i="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Compared 7 algorithms using words found in the URL</a:t>
                      </a:r>
                    </a:p>
                  </a:txBody>
                  <a:tcPr marL="91450" marR="91450" marT="45725" marB="45725" anchor="ctr">
                    <a:lnL w="12700">
                      <a:solidFill>
                        <a:schemeClr val="accent1"/>
                      </a:solidFill>
                    </a:lnL>
                    <a:lnR w="12700">
                      <a:solidFill>
                        <a:schemeClr val="accent1"/>
                      </a:solidFill>
                    </a:lnR>
                    <a:lnT w="12700">
                      <a:solidFill>
                        <a:schemeClr val="accent1"/>
                      </a:solidFill>
                    </a:lnT>
                    <a:lnB w="12700">
                      <a:solidFill>
                        <a:schemeClr val="accent1"/>
                      </a:solidFill>
                    </a:lnB>
                    <a:solidFill>
                      <a:srgbClr val="EAF0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500" b="0" i="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Random Forest was best: 97.98% accuracy</a:t>
                      </a:r>
                    </a:p>
                  </a:txBody>
                  <a:tcPr marL="91450" marR="91450" marT="45725" marB="45725" anchor="ctr">
                    <a:lnL w="12700">
                      <a:solidFill>
                        <a:schemeClr val="accent1"/>
                      </a:solidFill>
                    </a:lnL>
                    <a:lnR w="12700">
                      <a:solidFill>
                        <a:schemeClr val="accent1"/>
                      </a:solidFill>
                    </a:lnR>
                    <a:lnT w="12700">
                      <a:solidFill>
                        <a:schemeClr val="accent1"/>
                      </a:solidFill>
                    </a:lnT>
                    <a:lnB w="12700">
                      <a:solidFill>
                        <a:schemeClr val="accent1"/>
                      </a:solidFill>
                    </a:lnB>
                    <a:solidFill>
                      <a:srgbClr val="EAF0FA"/>
                    </a:solidFill>
                  </a:tcPr>
                </a:tc>
              </a:tr>
              <a:tr h="72500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500" b="1" i="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5</a:t>
                      </a:r>
                    </a:p>
                  </a:txBody>
                  <a:tcPr marL="91450" marR="91450" marT="45725" marB="45725" anchor="ctr">
                    <a:lnL w="12700">
                      <a:solidFill>
                        <a:schemeClr val="accent1"/>
                      </a:solidFill>
                    </a:lnL>
                    <a:lnR w="12700">
                      <a:solidFill>
                        <a:schemeClr val="accent1"/>
                      </a:solidFill>
                    </a:lnR>
                    <a:lnT w="12700">
                      <a:solidFill>
                        <a:schemeClr val="accent1"/>
                      </a:solidFill>
                    </a:lnT>
                    <a:lnB w="12700">
                      <a:solidFill>
                        <a:schemeClr val="accent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500" b="0" i="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Korkmaz et al., 2020 [5]</a:t>
                      </a:r>
                    </a:p>
                  </a:txBody>
                  <a:tcPr marL="91450" marR="91450" marT="45725" marB="45725" anchor="ctr">
                    <a:lnL w="12700">
                      <a:solidFill>
                        <a:schemeClr val="accent1"/>
                      </a:solidFill>
                    </a:lnL>
                    <a:lnR w="12700">
                      <a:solidFill>
                        <a:schemeClr val="accent1"/>
                      </a:solidFill>
                    </a:lnR>
                    <a:lnT w="12700">
                      <a:solidFill>
                        <a:schemeClr val="accent1"/>
                      </a:solidFill>
                    </a:lnT>
                    <a:lnB w="12700">
                      <a:solidFill>
                        <a:schemeClr val="accent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500" b="0" i="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Compared 8 algorithms on 3 datasets using URL analysis</a:t>
                      </a:r>
                    </a:p>
                  </a:txBody>
                  <a:tcPr marL="91450" marR="91450" marT="45725" marB="45725" anchor="ctr">
                    <a:lnL w="12700">
                      <a:solidFill>
                        <a:schemeClr val="accent1"/>
                      </a:solidFill>
                    </a:lnL>
                    <a:lnR w="12700">
                      <a:solidFill>
                        <a:schemeClr val="accent1"/>
                      </a:solidFill>
                    </a:lnR>
                    <a:lnT w="12700">
                      <a:solidFill>
                        <a:schemeClr val="accent1"/>
                      </a:solidFill>
                    </a:lnT>
                    <a:lnB w="12700">
                      <a:solidFill>
                        <a:schemeClr val="accent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500" b="0" i="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Machine learning is useful for new fake sites</a:t>
                      </a:r>
                    </a:p>
                  </a:txBody>
                  <a:tcPr marL="91450" marR="91450" marT="45725" marB="45725" anchor="ctr">
                    <a:lnL w="12700">
                      <a:solidFill>
                        <a:schemeClr val="accent1"/>
                      </a:solidFill>
                    </a:lnL>
                    <a:lnR w="12700">
                      <a:solidFill>
                        <a:schemeClr val="accent1"/>
                      </a:solidFill>
                    </a:lnR>
                    <a:lnT w="12700">
                      <a:solidFill>
                        <a:schemeClr val="accent1"/>
                      </a:solidFill>
                    </a:lnT>
                    <a:lnB w="12700">
                      <a:solidFill>
                        <a:schemeClr val="accent1"/>
                      </a:solidFill>
                    </a:lnB>
                  </a:tcPr>
                </a:tc>
              </a:tr>
              <a:tr h="72500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500" b="1" i="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6</a:t>
                      </a:r>
                    </a:p>
                  </a:txBody>
                  <a:tcPr marL="91450" marR="91450" marT="45725" marB="45725" anchor="ctr">
                    <a:lnL w="12700">
                      <a:solidFill>
                        <a:schemeClr val="accent1"/>
                      </a:solidFill>
                    </a:lnL>
                    <a:lnR w="12700">
                      <a:solidFill>
                        <a:schemeClr val="accent1"/>
                      </a:solidFill>
                    </a:lnR>
                    <a:lnT w="12700">
                      <a:solidFill>
                        <a:schemeClr val="accent1"/>
                      </a:solidFill>
                    </a:lnT>
                    <a:lnB w="12700">
                      <a:solidFill>
                        <a:schemeClr val="accent1"/>
                      </a:solidFill>
                    </a:lnB>
                    <a:solidFill>
                      <a:srgbClr val="EAF0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500" b="0" i="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Garera et al., 2007 [6]</a:t>
                      </a:r>
                    </a:p>
                  </a:txBody>
                  <a:tcPr marL="91450" marR="91450" marT="45725" marB="45725" anchor="ctr">
                    <a:lnL w="12700">
                      <a:solidFill>
                        <a:schemeClr val="accent1"/>
                      </a:solidFill>
                    </a:lnL>
                    <a:lnR w="12700">
                      <a:solidFill>
                        <a:schemeClr val="accent1"/>
                      </a:solidFill>
                    </a:lnR>
                    <a:lnT w="12700">
                      <a:solidFill>
                        <a:schemeClr val="accent1"/>
                      </a:solidFill>
                    </a:lnT>
                    <a:lnB w="12700">
                      <a:solidFill>
                        <a:schemeClr val="accent1"/>
                      </a:solidFill>
                    </a:lnB>
                    <a:solidFill>
                      <a:srgbClr val="EAF0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500" b="0" i="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Studied clues in phishing links and used logistic regression</a:t>
                      </a:r>
                    </a:p>
                  </a:txBody>
                  <a:tcPr marL="91450" marR="91450" marT="45725" marB="45725" anchor="ctr">
                    <a:lnL w="12700">
                      <a:solidFill>
                        <a:schemeClr val="accent1"/>
                      </a:solidFill>
                    </a:lnL>
                    <a:lnR w="12700">
                      <a:solidFill>
                        <a:schemeClr val="accent1"/>
                      </a:solidFill>
                    </a:lnR>
                    <a:lnT w="12700">
                      <a:solidFill>
                        <a:schemeClr val="accent1"/>
                      </a:solidFill>
                    </a:lnT>
                    <a:lnB w="12700">
                      <a:solidFill>
                        <a:schemeClr val="accent1"/>
                      </a:solidFill>
                    </a:lnB>
                    <a:solidFill>
                      <a:srgbClr val="EAF0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500" b="0" i="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Found about 97% of phishing links with few false alarms</a:t>
                      </a:r>
                    </a:p>
                  </a:txBody>
                  <a:tcPr marL="91450" marR="91450" marT="45725" marB="45725" anchor="ctr">
                    <a:lnL w="12700">
                      <a:solidFill>
                        <a:schemeClr val="accent1"/>
                      </a:solidFill>
                    </a:lnL>
                    <a:lnR w="12700">
                      <a:solidFill>
                        <a:schemeClr val="accent1"/>
                      </a:solidFill>
                    </a:lnR>
                    <a:lnT w="12700">
                      <a:solidFill>
                        <a:schemeClr val="accent1"/>
                      </a:solidFill>
                    </a:lnT>
                    <a:lnB w="12700">
                      <a:solidFill>
                        <a:schemeClr val="accent1"/>
                      </a:solidFill>
                    </a:lnB>
                    <a:solidFill>
                      <a:srgbClr val="EAF0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8" name="Google Shape;538;p1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868500"/>
          </a:xfrm>
          <a:prstGeom prst="rect">
            <a:avLst/>
          </a:prstGeom>
          <a:solidFill>
            <a:schemeClr val="lt1"/>
          </a:solidFill>
          <a:ln w="2540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4400"/>
              <a:buFont typeface="Arial"/>
              <a:buNone/>
            </a:pPr>
            <a:r>
              <a:rPr lang="en-US"/>
              <a:t>3. Information to seminar topic</a:t>
            </a:r>
            <a:endParaRPr/>
          </a:p>
        </p:txBody>
      </p:sp>
      <p:sp>
        <p:nvSpPr>
          <p:cNvPr id="539" name="Google Shape;539;p18"/>
          <p:cNvSpPr txBox="1">
            <a:spLocks noGrp="1"/>
          </p:cNvSpPr>
          <p:nvPr>
            <p:ph type="body" idx="1"/>
          </p:nvPr>
        </p:nvSpPr>
        <p:spPr>
          <a:xfrm>
            <a:off x="457200" y="1219200"/>
            <a:ext cx="8229600" cy="5334000"/>
          </a:xfrm>
          <a:prstGeom prst="rect">
            <a:avLst/>
          </a:prstGeom>
          <a:solidFill>
            <a:schemeClr val="lt1"/>
          </a:solidFill>
          <a:ln w="2540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i="0">
                <a:solidFill>
                  <a:srgbClr val="1F3864"/>
                </a:solidFill>
                <a:latin typeface="Times New Roman"/>
                <a:ea typeface="Times New Roman"/>
                <a:cs typeface="Times New Roman"/>
              </a:rPr>
              <a:t>How phishing works</a:t>
            </a:r>
          </a:p>
          <a:p>
            <a:pPr marL="0" indent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2500" b="0" i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</a:rPr>
              <a:t>1. Attacker copies a real website.</a:t>
            </a:r>
          </a:p>
          <a:p>
            <a:pPr marL="0" indent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2500" b="0" i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</a:rPr>
              <a:t>2. Sends the fake link to people.</a:t>
            </a:r>
          </a:p>
          <a:p>
            <a:pPr marL="0" indent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2500" b="0" i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</a:rPr>
              <a:t>3. Person enters password or card number.</a:t>
            </a:r>
          </a:p>
          <a:p>
            <a:pPr marL="0" indent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2500" b="0" i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</a:rPr>
              <a:t>4. Attacker steals the data.</a:t>
            </a:r>
          </a:p>
          <a:p>
            <a:pPr marL="0" indent="0" algn="l">
              <a:spcBef>
                <a:spcPts val="1100"/>
              </a:spcBef>
              <a:spcAft>
                <a:spcPts val="0"/>
              </a:spcAft>
              <a:buNone/>
            </a:pPr>
            <a:r>
              <a:rPr lang="en-US" sz="2800" b="1" i="0">
                <a:solidFill>
                  <a:srgbClr val="1F3864"/>
                </a:solidFill>
                <a:latin typeface="Times New Roman"/>
                <a:ea typeface="Times New Roman"/>
                <a:cs typeface="Times New Roman"/>
              </a:rPr>
              <a:t>Common types</a:t>
            </a:r>
          </a:p>
          <a:p>
            <a:pPr marL="285750" indent="-28575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•"/>
            </a:pPr>
            <a:r>
              <a:rPr lang="en-US" sz="2500" b="0" i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</a:rPr>
              <a:t>Email phishing – fake emails</a:t>
            </a:r>
          </a:p>
          <a:p>
            <a:pPr marL="285750" indent="-28575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•"/>
            </a:pPr>
            <a:r>
              <a:rPr lang="en-US" sz="2500" b="0" i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</a:rPr>
              <a:t>Smishing – fake SMS</a:t>
            </a:r>
          </a:p>
          <a:p>
            <a:pPr marL="285750" indent="-28575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•"/>
            </a:pPr>
            <a:r>
              <a:rPr lang="en-US" sz="2500" b="0" i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</a:rPr>
              <a:t>Vishing – fake phone calls</a:t>
            </a:r>
          </a:p>
        </p:txBody>
      </p:sp>
      <p:sp>
        <p:nvSpPr>
          <p:cNvPr id="540" name="Google Shape;540;p18"/>
          <p:cNvSpPr txBox="1">
            <a:spLocks noGrp="1"/>
          </p:cNvSpPr>
          <p:nvPr>
            <p:ph type="sldNum" idx="12"/>
          </p:nvPr>
        </p:nvSpPr>
        <p:spPr>
          <a:xfrm>
            <a:off x="8411428" y="6356350"/>
            <a:ext cx="548700" cy="365100"/>
          </a:xfrm>
          <a:prstGeom prst="rect">
            <a:avLst/>
          </a:prstGeom>
          <a:solidFill>
            <a:schemeClr val="lt1"/>
          </a:solidFill>
          <a:ln w="2540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6</a:t>
            </a:fld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8" name="Google Shape;538;p1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868500"/>
          </a:xfrm>
          <a:prstGeom prst="rect">
            <a:avLst/>
          </a:prstGeom>
          <a:solidFill>
            <a:schemeClr val="lt1"/>
          </a:solidFill>
          <a:ln w="2540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indent="0" algn="ctr">
              <a:buNone/>
            </a:pPr>
            <a:r>
              <a:rPr lang="en-US"/>
              <a:t>3.1 How we find fake websites</a:t>
            </a:r>
          </a:p>
        </p:txBody>
      </p:sp>
      <p:sp>
        <p:nvSpPr>
          <p:cNvPr id="539" name="Google Shape;539;p18"/>
          <p:cNvSpPr txBox="1">
            <a:spLocks noGrp="1"/>
          </p:cNvSpPr>
          <p:nvPr>
            <p:ph type="body" idx="1"/>
          </p:nvPr>
        </p:nvSpPr>
        <p:spPr>
          <a:xfrm>
            <a:off x="457200" y="1219200"/>
            <a:ext cx="8229600" cy="5334000"/>
          </a:xfrm>
          <a:prstGeom prst="rect">
            <a:avLst/>
          </a:prstGeom>
          <a:solidFill>
            <a:schemeClr val="lt1"/>
          </a:solidFill>
          <a:ln w="2540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00" b="0" i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</a:rPr>
              <a:t>We look at some clues in the link and website:</a:t>
            </a:r>
          </a:p>
          <a:p>
            <a:pPr marL="285750" indent="-285750" algn="l"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•"/>
            </a:pPr>
            <a:r>
              <a:rPr lang="en-US" sz="2500" b="1" i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</a:rPr>
              <a:t>Very long link </a:t>
            </a:r>
            <a:r>
              <a:rPr lang="en-US" sz="2500" b="0" i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</a:rPr>
              <a:t>– fake links are often long.</a:t>
            </a:r>
          </a:p>
          <a:p>
            <a:pPr marL="285750" indent="-285750" algn="l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•"/>
            </a:pPr>
            <a:r>
              <a:rPr lang="en-US" sz="2500" b="1" i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</a:rPr>
              <a:t>Has "@" symbol or IP address </a:t>
            </a:r>
            <a:r>
              <a:rPr lang="en-US" sz="2500" b="0" i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</a:rPr>
              <a:t>– real sites do not use these.</a:t>
            </a:r>
          </a:p>
          <a:p>
            <a:pPr marL="285750" indent="-285750" algn="l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•"/>
            </a:pPr>
            <a:r>
              <a:rPr lang="en-US" sz="2500" b="1" i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</a:rPr>
              <a:t>No HTTPS (no lock) </a:t>
            </a:r>
            <a:r>
              <a:rPr lang="en-US" sz="2500" b="0" i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</a:rPr>
              <a:t>– not secure.</a:t>
            </a:r>
          </a:p>
          <a:p>
            <a:pPr marL="285750" indent="-285750" algn="l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•"/>
            </a:pPr>
            <a:r>
              <a:rPr lang="en-US" sz="2500" b="1" i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</a:rPr>
              <a:t>Too many dots or "-" </a:t>
            </a:r>
            <a:r>
              <a:rPr lang="en-US" sz="2500" b="0" i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</a:rPr>
              <a:t>– like paypal-login-secure.com</a:t>
            </a:r>
          </a:p>
          <a:p>
            <a:pPr marL="285750" indent="-285750" algn="l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•"/>
            </a:pPr>
            <a:r>
              <a:rPr lang="en-US" sz="2500" b="1" i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</a:rPr>
              <a:t>New domain </a:t>
            </a:r>
            <a:r>
              <a:rPr lang="en-US" sz="2500" b="0" i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</a:rPr>
              <a:t>– fake sites are made only a few days ago.</a:t>
            </a:r>
          </a:p>
          <a:p>
            <a:pPr marL="0" indent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2500" b="0" i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</a:rPr>
              <a:t>Each clue is turned into a number and given to the computer.</a:t>
            </a:r>
          </a:p>
        </p:txBody>
      </p:sp>
      <p:sp>
        <p:nvSpPr>
          <p:cNvPr id="540" name="Google Shape;540;p18"/>
          <p:cNvSpPr txBox="1">
            <a:spLocks noGrp="1"/>
          </p:cNvSpPr>
          <p:nvPr>
            <p:ph type="sldNum" idx="12"/>
          </p:nvPr>
        </p:nvSpPr>
        <p:spPr>
          <a:xfrm>
            <a:off x="8411428" y="6356350"/>
            <a:ext cx="548700" cy="365100"/>
          </a:xfrm>
          <a:prstGeom prst="rect">
            <a:avLst/>
          </a:prstGeom>
          <a:solidFill>
            <a:schemeClr val="lt1"/>
          </a:solidFill>
          <a:ln w="2540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7</a:t>
            </a:fld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8" name="Google Shape;538;p1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868500"/>
          </a:xfrm>
          <a:prstGeom prst="rect">
            <a:avLst/>
          </a:prstGeom>
          <a:solidFill>
            <a:schemeClr val="lt1"/>
          </a:solidFill>
          <a:ln w="2540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indent="0" algn="ctr">
              <a:buNone/>
            </a:pPr>
            <a:r>
              <a:rPr lang="en-US"/>
              <a:t>3.2 How our system works</a:t>
            </a:r>
          </a:p>
        </p:txBody>
      </p:sp>
      <p:sp>
        <p:nvSpPr>
          <p:cNvPr id="539" name="Google Shape;539;p18"/>
          <p:cNvSpPr txBox="1">
            <a:spLocks noGrp="1"/>
          </p:cNvSpPr>
          <p:nvPr>
            <p:ph type="body" idx="1"/>
          </p:nvPr>
        </p:nvSpPr>
        <p:spPr>
          <a:xfrm>
            <a:off x="457200" y="1219200"/>
            <a:ext cx="8229600" cy="5334000"/>
          </a:xfrm>
          <a:prstGeom prst="rect">
            <a:avLst/>
          </a:prstGeom>
          <a:solidFill>
            <a:schemeClr val="lt1"/>
          </a:solidFill>
          <a:ln w="2540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 b="1" i="0">
                <a:solidFill>
                  <a:srgbClr val="1F3864"/>
                </a:solidFill>
                <a:latin typeface="Times New Roman"/>
                <a:ea typeface="Times New Roman"/>
                <a:cs typeface="Times New Roman"/>
              </a:rPr>
              <a:t>Steps of the system</a:t>
            </a:r>
          </a:p>
        </p:txBody>
      </p:sp>
      <p:sp>
        <p:nvSpPr>
          <p:cNvPr id="540" name="Google Shape;540;p18"/>
          <p:cNvSpPr txBox="1">
            <a:spLocks noGrp="1"/>
          </p:cNvSpPr>
          <p:nvPr>
            <p:ph type="sldNum" idx="12"/>
          </p:nvPr>
        </p:nvSpPr>
        <p:spPr>
          <a:xfrm>
            <a:off x="8411428" y="6356350"/>
            <a:ext cx="548700" cy="365100"/>
          </a:xfrm>
          <a:prstGeom prst="rect">
            <a:avLst/>
          </a:prstGeom>
          <a:solidFill>
            <a:schemeClr val="lt1"/>
          </a:solidFill>
          <a:ln w="2540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8</a:t>
            </a:fld>
            <a:endParaRPr/>
          </a:p>
        </p:txBody>
      </p:sp>
      <p:sp>
        <p:nvSpPr>
          <p:cNvPr id="901" name="Box 901"/>
          <p:cNvSpPr/>
          <p:nvPr/>
        </p:nvSpPr>
        <p:spPr>
          <a:xfrm>
            <a:off x="640000" y="2150000"/>
            <a:ext cx="2200000" cy="1000000"/>
          </a:xfrm>
          <a:prstGeom prst="roundRect">
            <a:avLst/>
          </a:prstGeom>
          <a:solidFill>
            <a:srgbClr val="1F3864"/>
          </a:solidFill>
          <a:ln>
            <a:noFill/>
          </a:ln>
        </p:spPr>
        <p:txBody>
          <a:bodyPr wrap="square" lIns="91425" tIns="45700" rIns="91425" bIns="45700" anchor="ctr">
            <a:norm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 b="1" i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1. Enter link</a:t>
            </a:r>
          </a:p>
          <a:p>
            <a:pPr marL="0" indent="0" algn="ctr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500" b="0" i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user types the URL</a:t>
            </a:r>
          </a:p>
        </p:txBody>
      </p:sp>
      <p:sp>
        <p:nvSpPr>
          <p:cNvPr id="902" name="Box 902"/>
          <p:cNvSpPr/>
          <p:nvPr/>
        </p:nvSpPr>
        <p:spPr>
          <a:xfrm>
            <a:off x="3472000" y="2150000"/>
            <a:ext cx="2200000" cy="1000000"/>
          </a:xfrm>
          <a:prstGeom prst="roundRect">
            <a:avLst/>
          </a:prstGeom>
          <a:solidFill>
            <a:srgbClr val="1F3864"/>
          </a:solidFill>
          <a:ln>
            <a:noFill/>
          </a:ln>
        </p:spPr>
        <p:txBody>
          <a:bodyPr wrap="square" lIns="91425" tIns="45700" rIns="91425" bIns="45700" anchor="ctr">
            <a:norm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 b="1" i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2. Get clues</a:t>
            </a:r>
          </a:p>
          <a:p>
            <a:pPr marL="0" indent="0" algn="ctr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500" b="0" i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length, HTTPS, "@" etc.</a:t>
            </a:r>
          </a:p>
        </p:txBody>
      </p:sp>
      <p:sp>
        <p:nvSpPr>
          <p:cNvPr id="903" name="Box 903"/>
          <p:cNvSpPr/>
          <p:nvPr/>
        </p:nvSpPr>
        <p:spPr>
          <a:xfrm>
            <a:off x="6304000" y="2150000"/>
            <a:ext cx="2200000" cy="1000000"/>
          </a:xfrm>
          <a:prstGeom prst="roundRect">
            <a:avLst/>
          </a:prstGeom>
          <a:solidFill>
            <a:srgbClr val="1F3864"/>
          </a:solidFill>
          <a:ln>
            <a:noFill/>
          </a:ln>
        </p:spPr>
        <p:txBody>
          <a:bodyPr wrap="square" lIns="91425" tIns="45700" rIns="91425" bIns="45700" anchor="ctr">
            <a:norm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 b="1" i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3. Model checks</a:t>
            </a:r>
          </a:p>
          <a:p>
            <a:pPr marL="0" indent="0" algn="ctr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500" b="0" i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Machine Learning model</a:t>
            </a:r>
          </a:p>
        </p:txBody>
      </p:sp>
      <p:sp>
        <p:nvSpPr>
          <p:cNvPr id="904" name="Box 904"/>
          <p:cNvSpPr/>
          <p:nvPr/>
        </p:nvSpPr>
        <p:spPr>
          <a:xfrm>
            <a:off x="640000" y="4000000"/>
            <a:ext cx="2200000" cy="1000000"/>
          </a:xfrm>
          <a:prstGeom prst="roundRect">
            <a:avLst/>
          </a:prstGeom>
          <a:solidFill>
            <a:srgbClr val="C00000"/>
          </a:solidFill>
          <a:ln>
            <a:noFill/>
          </a:ln>
        </p:spPr>
        <p:txBody>
          <a:bodyPr wrap="square" lIns="91425" tIns="45700" rIns="91425" bIns="45700" anchor="ctr">
            <a:norm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 b="1" i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6. Show result</a:t>
            </a:r>
          </a:p>
          <a:p>
            <a:pPr marL="0" indent="0" algn="ctr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500" b="0" i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Safe or Phishing</a:t>
            </a:r>
          </a:p>
        </p:txBody>
      </p:sp>
      <p:sp>
        <p:nvSpPr>
          <p:cNvPr id="905" name="Box 905"/>
          <p:cNvSpPr/>
          <p:nvPr/>
        </p:nvSpPr>
        <p:spPr>
          <a:xfrm>
            <a:off x="3472000" y="4000000"/>
            <a:ext cx="2200000" cy="1000000"/>
          </a:xfrm>
          <a:prstGeom prst="roundRect">
            <a:avLst/>
          </a:prstGeom>
          <a:solidFill>
            <a:srgbClr val="2F5597"/>
          </a:solidFill>
          <a:ln>
            <a:noFill/>
          </a:ln>
        </p:spPr>
        <p:txBody>
          <a:bodyPr wrap="square" lIns="91425" tIns="45700" rIns="91425" bIns="45700" anchor="ctr">
            <a:norm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 b="1" i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5. Decision</a:t>
            </a:r>
          </a:p>
          <a:p>
            <a:pPr marL="0" indent="0" algn="ctr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500" b="0" i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real or fake?</a:t>
            </a:r>
          </a:p>
        </p:txBody>
      </p:sp>
      <p:sp>
        <p:nvSpPr>
          <p:cNvPr id="906" name="Box 906"/>
          <p:cNvSpPr/>
          <p:nvPr/>
        </p:nvSpPr>
        <p:spPr>
          <a:xfrm>
            <a:off x="6304000" y="4000000"/>
            <a:ext cx="2200000" cy="1000000"/>
          </a:xfrm>
          <a:prstGeom prst="roundRect">
            <a:avLst/>
          </a:prstGeom>
          <a:solidFill>
            <a:srgbClr val="2F5597"/>
          </a:solidFill>
          <a:ln>
            <a:noFill/>
          </a:ln>
        </p:spPr>
        <p:txBody>
          <a:bodyPr wrap="square" lIns="91425" tIns="45700" rIns="91425" bIns="45700" anchor="ctr">
            <a:norm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 b="1" i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4. Learned data</a:t>
            </a:r>
          </a:p>
          <a:p>
            <a:pPr marL="0" indent="0" algn="ctr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500" b="0" i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trained on many websites</a:t>
            </a:r>
          </a:p>
        </p:txBody>
      </p:sp>
      <p:sp>
        <p:nvSpPr>
          <p:cNvPr id="907" name="Arrow 907"/>
          <p:cNvSpPr/>
          <p:nvPr/>
        </p:nvSpPr>
        <p:spPr>
          <a:xfrm>
            <a:off x="2930000" y="2500000"/>
            <a:ext cx="452000" cy="300000"/>
          </a:xfrm>
          <a:prstGeom prst="rightArrow">
            <a:avLst/>
          </a:prstGeom>
          <a:solidFill>
            <a:srgbClr val="7F7F7F"/>
          </a:solidFill>
          <a:ln>
            <a:noFill/>
          </a:ln>
        </p:spPr>
        <p:txBody>
          <a:bodyPr wrap="square" lIns="91425" tIns="45700" rIns="91425" bIns="45700" anchor="ctr">
            <a:normAutofit fontScale="25000" lnSpcReduction="20000"/>
          </a:bodyPr>
          <a:lstStyle/>
          <a:p>
            <a:endParaRPr/>
          </a:p>
        </p:txBody>
      </p:sp>
      <p:sp>
        <p:nvSpPr>
          <p:cNvPr id="908" name="Arrow 908"/>
          <p:cNvSpPr/>
          <p:nvPr/>
        </p:nvSpPr>
        <p:spPr>
          <a:xfrm>
            <a:off x="5762000" y="2500000"/>
            <a:ext cx="452000" cy="300000"/>
          </a:xfrm>
          <a:prstGeom prst="rightArrow">
            <a:avLst/>
          </a:prstGeom>
          <a:solidFill>
            <a:srgbClr val="7F7F7F"/>
          </a:solidFill>
          <a:ln>
            <a:noFill/>
          </a:ln>
        </p:spPr>
        <p:txBody>
          <a:bodyPr wrap="square" lIns="91425" tIns="45700" rIns="91425" bIns="45700" anchor="ctr">
            <a:normAutofit fontScale="25000" lnSpcReduction="20000"/>
          </a:bodyPr>
          <a:lstStyle/>
          <a:p>
            <a:endParaRPr/>
          </a:p>
        </p:txBody>
      </p:sp>
      <p:sp>
        <p:nvSpPr>
          <p:cNvPr id="909" name="Arrow 909"/>
          <p:cNvSpPr/>
          <p:nvPr/>
        </p:nvSpPr>
        <p:spPr>
          <a:xfrm>
            <a:off x="7254000" y="3240000"/>
            <a:ext cx="300000" cy="670000"/>
          </a:xfrm>
          <a:prstGeom prst="downArrow">
            <a:avLst/>
          </a:prstGeom>
          <a:solidFill>
            <a:srgbClr val="7F7F7F"/>
          </a:solidFill>
          <a:ln>
            <a:noFill/>
          </a:ln>
        </p:spPr>
        <p:txBody>
          <a:bodyPr wrap="square" lIns="91425" tIns="45700" rIns="91425" bIns="45700" anchor="ctr">
            <a:normAutofit/>
          </a:bodyPr>
          <a:lstStyle/>
          <a:p>
            <a:endParaRPr/>
          </a:p>
        </p:txBody>
      </p:sp>
      <p:sp>
        <p:nvSpPr>
          <p:cNvPr id="910" name="Arrow 910"/>
          <p:cNvSpPr/>
          <p:nvPr/>
        </p:nvSpPr>
        <p:spPr>
          <a:xfrm>
            <a:off x="5762000" y="4350000"/>
            <a:ext cx="452000" cy="300000"/>
          </a:xfrm>
          <a:prstGeom prst="leftArrow">
            <a:avLst/>
          </a:prstGeom>
          <a:solidFill>
            <a:srgbClr val="7F7F7F"/>
          </a:solidFill>
          <a:ln>
            <a:noFill/>
          </a:ln>
        </p:spPr>
        <p:txBody>
          <a:bodyPr wrap="square" lIns="91425" tIns="45700" rIns="91425" bIns="45700" anchor="ctr">
            <a:normAutofit fontScale="25000" lnSpcReduction="20000"/>
          </a:bodyPr>
          <a:lstStyle/>
          <a:p>
            <a:endParaRPr/>
          </a:p>
        </p:txBody>
      </p:sp>
      <p:sp>
        <p:nvSpPr>
          <p:cNvPr id="911" name="Arrow 911"/>
          <p:cNvSpPr/>
          <p:nvPr/>
        </p:nvSpPr>
        <p:spPr>
          <a:xfrm>
            <a:off x="2930000" y="4350000"/>
            <a:ext cx="452000" cy="300000"/>
          </a:xfrm>
          <a:prstGeom prst="leftArrow">
            <a:avLst/>
          </a:prstGeom>
          <a:solidFill>
            <a:srgbClr val="7F7F7F"/>
          </a:solidFill>
          <a:ln>
            <a:noFill/>
          </a:ln>
        </p:spPr>
        <p:txBody>
          <a:bodyPr wrap="square" lIns="91425" tIns="45700" rIns="91425" bIns="45700" anchor="ctr">
            <a:normAutofit fontScale="25000" lnSpcReduction="20000"/>
          </a:bodyPr>
          <a:lstStyle/>
          <a:p>
            <a:endParaRPr/>
          </a:p>
        </p:txBody>
      </p:sp>
      <p:sp>
        <p:nvSpPr>
          <p:cNvPr id="912" name="Note 912"/>
          <p:cNvSpPr/>
          <p:nvPr/>
        </p:nvSpPr>
        <p:spPr>
          <a:xfrm>
            <a:off x="640000" y="5300000"/>
            <a:ext cx="7864000" cy="900000"/>
          </a:xfrm>
          <a:prstGeom prst="rect">
            <a:avLst/>
          </a:prstGeom>
          <a:solidFill>
            <a:srgbClr val="EAF0FA"/>
          </a:solidFill>
          <a:ln>
            <a:noFill/>
          </a:ln>
        </p:spPr>
        <p:txBody>
          <a:bodyPr wrap="square" lIns="91425" tIns="45700" rIns="91425" bIns="45700" anchor="ctr">
            <a:norm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i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</a:rPr>
              <a:t>Training: </a:t>
            </a:r>
            <a:r>
              <a:rPr lang="en-US" sz="2000" b="0" i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</a:rPr>
              <a:t>first we give the computer many real and fake websites so it can learn.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8" name="Google Shape;538;p1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868500"/>
          </a:xfrm>
          <a:prstGeom prst="rect">
            <a:avLst/>
          </a:prstGeom>
          <a:solidFill>
            <a:schemeClr val="lt1"/>
          </a:solidFill>
          <a:ln w="2540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indent="0" algn="ctr">
              <a:buNone/>
            </a:pPr>
            <a:r>
              <a:rPr lang="en-US"/>
              <a:t>3.3 Machine Learning used</a:t>
            </a:r>
          </a:p>
        </p:txBody>
      </p:sp>
      <p:sp>
        <p:nvSpPr>
          <p:cNvPr id="539" name="Google Shape;539;p18"/>
          <p:cNvSpPr txBox="1">
            <a:spLocks noGrp="1"/>
          </p:cNvSpPr>
          <p:nvPr>
            <p:ph type="body" idx="1"/>
          </p:nvPr>
        </p:nvSpPr>
        <p:spPr>
          <a:xfrm>
            <a:off x="457200" y="1219200"/>
            <a:ext cx="8229600" cy="5334000"/>
          </a:xfrm>
          <a:prstGeom prst="rect">
            <a:avLst/>
          </a:prstGeom>
          <a:solidFill>
            <a:schemeClr val="lt1"/>
          </a:solidFill>
          <a:ln w="2540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i="0">
                <a:solidFill>
                  <a:srgbClr val="1F3864"/>
                </a:solidFill>
                <a:latin typeface="Times New Roman"/>
                <a:ea typeface="Times New Roman"/>
                <a:cs typeface="Times New Roman"/>
              </a:rPr>
              <a:t>Decision Tree</a:t>
            </a:r>
          </a:p>
          <a:p>
            <a:pPr marL="285750" indent="-285750" algn="l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•"/>
            </a:pPr>
            <a:r>
              <a:rPr lang="en-US" sz="2500" b="0" i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</a:rPr>
              <a:t>Asks yes/no questions, like a flow chart. Example: Is the link very long? Is there "@"?</a:t>
            </a:r>
          </a:p>
          <a:p>
            <a:pPr marL="0" indent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2800" b="1" i="0">
                <a:solidFill>
                  <a:srgbClr val="1F3864"/>
                </a:solidFill>
                <a:latin typeface="Times New Roman"/>
                <a:ea typeface="Times New Roman"/>
                <a:cs typeface="Times New Roman"/>
              </a:rPr>
              <a:t>Random Forest (we use this)</a:t>
            </a:r>
          </a:p>
          <a:p>
            <a:pPr marL="285750" indent="-285750" algn="l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•"/>
            </a:pPr>
            <a:r>
              <a:rPr lang="en-US" sz="2500" b="0" i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</a:rPr>
              <a:t>Many decision trees vote together. The answer with most votes wins, so result is more correct.</a:t>
            </a:r>
          </a:p>
          <a:p>
            <a:pPr marL="0" indent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2800" b="1" i="0">
                <a:solidFill>
                  <a:srgbClr val="1F3864"/>
                </a:solidFill>
                <a:latin typeface="Times New Roman"/>
                <a:ea typeface="Times New Roman"/>
                <a:cs typeface="Times New Roman"/>
              </a:rPr>
              <a:t>Accuracy</a:t>
            </a:r>
          </a:p>
          <a:p>
            <a:pPr marL="285750" indent="-285750" algn="l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•"/>
            </a:pPr>
            <a:r>
              <a:rPr lang="en-US" sz="2500" b="0" i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</a:rPr>
              <a:t>Out of 100 websites, how many are found correctly.</a:t>
            </a:r>
          </a:p>
        </p:txBody>
      </p:sp>
      <p:sp>
        <p:nvSpPr>
          <p:cNvPr id="540" name="Google Shape;540;p18"/>
          <p:cNvSpPr txBox="1">
            <a:spLocks noGrp="1"/>
          </p:cNvSpPr>
          <p:nvPr>
            <p:ph type="sldNum" idx="12"/>
          </p:nvPr>
        </p:nvSpPr>
        <p:spPr>
          <a:xfrm>
            <a:off x="8411428" y="6356350"/>
            <a:ext cx="548700" cy="365100"/>
          </a:xfrm>
          <a:prstGeom prst="rect">
            <a:avLst/>
          </a:prstGeom>
          <a:solidFill>
            <a:schemeClr val="lt1"/>
          </a:solidFill>
          <a:ln w="2540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9</a:t>
            </a:fld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5" name="Google Shape;545;p19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868500"/>
          </a:xfrm>
          <a:prstGeom prst="rect">
            <a:avLst/>
          </a:prstGeom>
          <a:solidFill>
            <a:schemeClr val="lt1"/>
          </a:solidFill>
          <a:ln w="2540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4400"/>
              <a:buFont typeface="Arial"/>
              <a:buNone/>
            </a:pPr>
            <a:r>
              <a:rPr lang="en-US"/>
              <a:t>4. Advantages / Disadvantages</a:t>
            </a:r>
            <a:endParaRPr/>
          </a:p>
        </p:txBody>
      </p:sp>
      <p:sp>
        <p:nvSpPr>
          <p:cNvPr id="546" name="Google Shape;546;p19"/>
          <p:cNvSpPr txBox="1">
            <a:spLocks noGrp="1"/>
          </p:cNvSpPr>
          <p:nvPr>
            <p:ph type="body" idx="1"/>
          </p:nvPr>
        </p:nvSpPr>
        <p:spPr>
          <a:xfrm>
            <a:off x="457200" y="1219200"/>
            <a:ext cx="4038600" cy="5000000"/>
          </a:xfrm>
          <a:prstGeom prst="rect">
            <a:avLst/>
          </a:prstGeom>
          <a:solidFill>
            <a:schemeClr val="lt1"/>
          </a:solidFill>
          <a:ln w="2540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i="0">
                <a:solidFill>
                  <a:srgbClr val="1F3864"/>
                </a:solidFill>
                <a:latin typeface="Times New Roman"/>
                <a:ea typeface="Times New Roman"/>
                <a:cs typeface="Times New Roman"/>
              </a:rPr>
              <a:t>Advantages</a:t>
            </a:r>
          </a:p>
          <a:p>
            <a:pPr marL="285750" indent="-285750" algn="l"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•"/>
            </a:pPr>
            <a:r>
              <a:rPr lang="en-US" sz="2400" b="0" i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</a:rPr>
              <a:t>Finds new fake websites.</a:t>
            </a:r>
          </a:p>
          <a:p>
            <a:pPr marL="285750" indent="-285750" algn="l"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•"/>
            </a:pPr>
            <a:r>
              <a:rPr lang="en-US" sz="2400" b="0" i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</a:rPr>
              <a:t>Gives result in seconds.</a:t>
            </a:r>
          </a:p>
          <a:p>
            <a:pPr marL="285750" indent="-285750" algn="l"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•"/>
            </a:pPr>
            <a:r>
              <a:rPr lang="en-US" sz="2400" b="0" i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</a:rPr>
              <a:t>Saves users from fraud.</a:t>
            </a:r>
          </a:p>
          <a:p>
            <a:pPr marL="285750" indent="-285750" algn="l"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•"/>
            </a:pPr>
            <a:r>
              <a:rPr lang="en-US" sz="2400" b="0" i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</a:rPr>
              <a:t>Easy to use.</a:t>
            </a:r>
          </a:p>
          <a:p>
            <a:pPr marL="285750" indent="-285750" algn="l"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•"/>
            </a:pPr>
            <a:r>
              <a:rPr lang="en-US" sz="2400" b="0" i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</a:rPr>
              <a:t>Can become a browser extension.</a:t>
            </a:r>
          </a:p>
        </p:txBody>
      </p:sp>
      <p:sp>
        <p:nvSpPr>
          <p:cNvPr id="547" name="Google Shape;547;p19"/>
          <p:cNvSpPr txBox="1">
            <a:spLocks noGrp="1"/>
          </p:cNvSpPr>
          <p:nvPr>
            <p:ph type="sldNum" idx="12"/>
          </p:nvPr>
        </p:nvSpPr>
        <p:spPr>
          <a:xfrm>
            <a:off x="8411428" y="6356350"/>
            <a:ext cx="548700" cy="365100"/>
          </a:xfrm>
          <a:prstGeom prst="rect">
            <a:avLst/>
          </a:prstGeom>
          <a:solidFill>
            <a:schemeClr val="lt1"/>
          </a:solidFill>
          <a:ln w="2540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10</a:t>
            </a:fld>
            <a:endParaRPr/>
          </a:p>
        </p:txBody>
      </p:sp>
      <p:sp>
        <p:nvSpPr>
          <p:cNvPr id="913" name="Disadvantages 913"/>
          <p:cNvSpPr/>
          <p:nvPr/>
        </p:nvSpPr>
        <p:spPr>
          <a:xfrm>
            <a:off x="4648200" y="1219200"/>
            <a:ext cx="4038600" cy="5000000"/>
          </a:xfrm>
          <a:prstGeom prst="rect">
            <a:avLst/>
          </a:prstGeom>
          <a:noFill/>
          <a:ln w="25400">
            <a:solidFill>
              <a:schemeClr val="accent1"/>
            </a:solidFill>
          </a:ln>
        </p:spPr>
        <p:txBody>
          <a:bodyPr wrap="square" lIns="91425" tIns="45700" rIns="91425" bIns="45700" anchor="t">
            <a:norm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i="0">
                <a:solidFill>
                  <a:srgbClr val="1F3864"/>
                </a:solidFill>
                <a:latin typeface="Times New Roman"/>
                <a:ea typeface="Times New Roman"/>
                <a:cs typeface="Times New Roman"/>
              </a:rPr>
              <a:t>Disadvantages</a:t>
            </a:r>
          </a:p>
          <a:p>
            <a:pPr marL="285750" indent="-285750" algn="l"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•"/>
            </a:pPr>
            <a:r>
              <a:rPr lang="en-US" sz="2400" b="0" i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</a:rPr>
              <a:t>Needs a lot of data to learn.</a:t>
            </a:r>
          </a:p>
          <a:p>
            <a:pPr marL="285750" indent="-285750" algn="l"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•"/>
            </a:pPr>
            <a:r>
              <a:rPr lang="en-US" sz="2400" b="0" i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</a:rPr>
              <a:t>Can make mistakes sometimes.</a:t>
            </a:r>
          </a:p>
          <a:p>
            <a:pPr marL="285750" indent="-285750" algn="l"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•"/>
            </a:pPr>
            <a:r>
              <a:rPr lang="en-US" sz="2400" b="0" i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</a:rPr>
              <a:t>Attackers keep changing tricks.</a:t>
            </a:r>
          </a:p>
          <a:p>
            <a:pPr marL="285750" indent="-285750" algn="l"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•"/>
            </a:pPr>
            <a:r>
              <a:rPr lang="en-US" sz="2400" b="0" i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</a:rPr>
              <a:t>Needs internet connection.</a:t>
            </a:r>
          </a:p>
          <a:p>
            <a:pPr marL="285750" indent="-285750" algn="l"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•"/>
            </a:pPr>
            <a:r>
              <a:rPr lang="en-US" sz="2400" b="0" i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</a:rPr>
              <a:t>Needs updating regularly.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" name="Google Shape;552;p20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868500"/>
          </a:xfrm>
          <a:prstGeom prst="rect">
            <a:avLst/>
          </a:prstGeom>
          <a:solidFill>
            <a:schemeClr val="lt1"/>
          </a:solidFill>
          <a:ln w="2540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4400"/>
              <a:buFont typeface="Arial"/>
              <a:buNone/>
            </a:pPr>
            <a:r>
              <a:rPr lang="en-US"/>
              <a:t>5. Conclusion</a:t>
            </a:r>
            <a:endParaRPr/>
          </a:p>
        </p:txBody>
      </p:sp>
      <p:sp>
        <p:nvSpPr>
          <p:cNvPr id="553" name="Google Shape;553;p20"/>
          <p:cNvSpPr txBox="1">
            <a:spLocks noGrp="1"/>
          </p:cNvSpPr>
          <p:nvPr>
            <p:ph type="body" idx="1"/>
          </p:nvPr>
        </p:nvSpPr>
        <p:spPr>
          <a:xfrm>
            <a:off x="457200" y="1219200"/>
            <a:ext cx="8229600" cy="5334000"/>
          </a:xfrm>
          <a:prstGeom prst="rect">
            <a:avLst/>
          </a:prstGeom>
          <a:solidFill>
            <a:schemeClr val="lt1"/>
          </a:solidFill>
          <a:ln w="2540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85750" indent="-28575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•"/>
            </a:pPr>
            <a:r>
              <a:rPr lang="en-US" sz="2600" b="0" i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</a:rPr>
              <a:t>Phishing websites are a big danger for online users.</a:t>
            </a:r>
          </a:p>
          <a:p>
            <a:pPr marL="285750" indent="-28575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•"/>
            </a:pPr>
            <a:r>
              <a:rPr lang="en-US" sz="2600" b="0" i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</a:rPr>
              <a:t>Our system checks a link and says Safe or Phishing.</a:t>
            </a:r>
          </a:p>
          <a:p>
            <a:pPr marL="285750" indent="-28575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•"/>
            </a:pPr>
            <a:r>
              <a:rPr lang="en-US" sz="2600" b="0" i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</a:rPr>
              <a:t>It uses Machine Learning (Random Forest) to learn from data.</a:t>
            </a:r>
          </a:p>
          <a:p>
            <a:pPr marL="285750" indent="-28575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•"/>
            </a:pPr>
            <a:r>
              <a:rPr lang="en-US" sz="2600" b="0" i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</a:rPr>
              <a:t>It can protect people from losing money and data.</a:t>
            </a:r>
          </a:p>
          <a:p>
            <a:pPr marL="285750" indent="-28575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•"/>
            </a:pPr>
            <a:r>
              <a:rPr lang="en-US" sz="2600" b="0" i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</a:rPr>
              <a:t>Future: make a Chrome extension and a mobile app.</a:t>
            </a:r>
          </a:p>
        </p:txBody>
      </p:sp>
      <p:sp>
        <p:nvSpPr>
          <p:cNvPr id="554" name="Google Shape;554;p20"/>
          <p:cNvSpPr txBox="1">
            <a:spLocks noGrp="1"/>
          </p:cNvSpPr>
          <p:nvPr>
            <p:ph type="sldNum" idx="12"/>
          </p:nvPr>
        </p:nvSpPr>
        <p:spPr>
          <a:xfrm>
            <a:off x="8411428" y="6356350"/>
            <a:ext cx="548700" cy="365100"/>
          </a:xfrm>
          <a:prstGeom prst="rect">
            <a:avLst/>
          </a:prstGeom>
          <a:solidFill>
            <a:schemeClr val="lt1"/>
          </a:solidFill>
          <a:ln w="2540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11</a:t>
            </a:fld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9" name="Google Shape;559;p2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868500"/>
          </a:xfrm>
          <a:prstGeom prst="rect">
            <a:avLst/>
          </a:prstGeom>
          <a:solidFill>
            <a:schemeClr val="lt1"/>
          </a:solidFill>
          <a:ln w="2540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4400"/>
              <a:buFont typeface="Arial"/>
              <a:buNone/>
            </a:pPr>
            <a:r>
              <a:rPr lang="en-US"/>
              <a:t>6. Project Initiation</a:t>
            </a:r>
            <a:endParaRPr/>
          </a:p>
        </p:txBody>
      </p:sp>
      <p:sp>
        <p:nvSpPr>
          <p:cNvPr id="560" name="Google Shape;560;p21"/>
          <p:cNvSpPr txBox="1">
            <a:spLocks noGrp="1"/>
          </p:cNvSpPr>
          <p:nvPr>
            <p:ph type="body" idx="1"/>
          </p:nvPr>
        </p:nvSpPr>
        <p:spPr>
          <a:xfrm>
            <a:off x="457200" y="1219200"/>
            <a:ext cx="8229600" cy="5334000"/>
          </a:xfrm>
          <a:prstGeom prst="rect">
            <a:avLst/>
          </a:prstGeom>
          <a:solidFill>
            <a:schemeClr val="lt1"/>
          </a:solidFill>
          <a:ln w="2540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85750" indent="-28575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•"/>
            </a:pPr>
            <a:r>
              <a:rPr lang="en-US" sz="2500" b="1" i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</a:rPr>
              <a:t>Project title: </a:t>
            </a:r>
            <a:r>
              <a:rPr lang="en-US" sz="2500" b="0" i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</a:rPr>
              <a:t>Phishing Website Detection System</a:t>
            </a:r>
          </a:p>
          <a:p>
            <a:pPr marL="285750" indent="-28575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•"/>
            </a:pPr>
            <a:r>
              <a:rPr lang="en-US" sz="2500" b="1" i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</a:rPr>
              <a:t>Subject: </a:t>
            </a:r>
            <a:r>
              <a:rPr lang="en-US" sz="2500" b="0" i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</a:rPr>
              <a:t>Seminar and Project Initiation (SPI – 315003)</a:t>
            </a:r>
          </a:p>
          <a:p>
            <a:pPr marL="285750" indent="-28575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•"/>
            </a:pPr>
            <a:r>
              <a:rPr lang="en-US" sz="2500" b="1" i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</a:rPr>
              <a:t>Group members: </a:t>
            </a:r>
            <a:r>
              <a:rPr lang="en-US" sz="2500" b="0" i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</a:rPr>
              <a:t>Mehul Pagare, Ishan Pagar, Manish Patil, Sarang Jathar</a:t>
            </a:r>
          </a:p>
          <a:p>
            <a:pPr marL="285750" indent="-28575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•"/>
            </a:pPr>
            <a:r>
              <a:rPr lang="en-US" sz="2500" b="1" i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</a:rPr>
              <a:t>Next slides: </a:t>
            </a:r>
            <a:r>
              <a:rPr lang="en-US" sz="2500" b="0" i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</a:rPr>
              <a:t>problem, scope, objectives, stakeholders, plan and resources.</a:t>
            </a:r>
          </a:p>
        </p:txBody>
      </p:sp>
      <p:sp>
        <p:nvSpPr>
          <p:cNvPr id="561" name="Google Shape;561;p21"/>
          <p:cNvSpPr txBox="1">
            <a:spLocks noGrp="1"/>
          </p:cNvSpPr>
          <p:nvPr>
            <p:ph type="sldNum" idx="12"/>
          </p:nvPr>
        </p:nvSpPr>
        <p:spPr>
          <a:xfrm>
            <a:off x="8411428" y="6356350"/>
            <a:ext cx="548700" cy="365100"/>
          </a:xfrm>
          <a:prstGeom prst="rect">
            <a:avLst/>
          </a:prstGeom>
          <a:solidFill>
            <a:schemeClr val="lt1"/>
          </a:solidFill>
          <a:ln w="2540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12</a:t>
            </a:fld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6" name="Google Shape;566;p22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868500"/>
          </a:xfrm>
          <a:prstGeom prst="rect">
            <a:avLst/>
          </a:prstGeom>
          <a:solidFill>
            <a:schemeClr val="lt1"/>
          </a:solidFill>
          <a:ln w="2540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indent="0" algn="ctr">
              <a:buNone/>
            </a:pPr>
            <a:r>
              <a:rPr lang="en-US" sz="3200"/>
              <a:t>6.1 Description of problem statement</a:t>
            </a:r>
          </a:p>
        </p:txBody>
      </p:sp>
      <p:sp>
        <p:nvSpPr>
          <p:cNvPr id="567" name="Google Shape;567;p22"/>
          <p:cNvSpPr txBox="1">
            <a:spLocks noGrp="1"/>
          </p:cNvSpPr>
          <p:nvPr>
            <p:ph type="body" idx="1"/>
          </p:nvPr>
        </p:nvSpPr>
        <p:spPr>
          <a:xfrm>
            <a:off x="457200" y="1219200"/>
            <a:ext cx="8229600" cy="5334000"/>
          </a:xfrm>
          <a:prstGeom prst="rect">
            <a:avLst/>
          </a:prstGeom>
          <a:solidFill>
            <a:schemeClr val="lt1"/>
          </a:solidFill>
          <a:ln w="2540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i="0">
                <a:solidFill>
                  <a:srgbClr val="1F3864"/>
                </a:solidFill>
                <a:latin typeface="Times New Roman"/>
                <a:ea typeface="Times New Roman"/>
                <a:cs typeface="Times New Roman"/>
              </a:rPr>
              <a:t>Problem</a:t>
            </a:r>
          </a:p>
          <a:p>
            <a:pPr marL="285750" indent="-285750" algn="l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•"/>
            </a:pPr>
            <a:r>
              <a:rPr lang="en-US" sz="2500" b="0" i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</a:rPr>
              <a:t>Fake websites look exactly like real ones.</a:t>
            </a:r>
          </a:p>
          <a:p>
            <a:pPr marL="285750" indent="-285750" algn="l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•"/>
            </a:pPr>
            <a:r>
              <a:rPr lang="en-US" sz="2500" b="0" i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</a:rPr>
              <a:t>Users click on them and lose money or data.</a:t>
            </a:r>
          </a:p>
          <a:p>
            <a:pPr marL="285750" indent="-285750" algn="l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•"/>
            </a:pPr>
            <a:r>
              <a:rPr lang="en-US" sz="2500" b="0" i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</a:rPr>
              <a:t>Old blacklist methods cannot catch new fake sites.</a:t>
            </a:r>
          </a:p>
          <a:p>
            <a:pPr marL="0" indent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2800" b="1" i="0">
                <a:solidFill>
                  <a:srgbClr val="1F3864"/>
                </a:solidFill>
                <a:latin typeface="Times New Roman"/>
                <a:ea typeface="Times New Roman"/>
                <a:cs typeface="Times New Roman"/>
              </a:rPr>
              <a:t>Problem statement</a:t>
            </a:r>
          </a:p>
          <a:p>
            <a:pPr marL="0" indent="0" algn="l">
              <a:spcBef>
                <a:spcPts val="500"/>
              </a:spcBef>
              <a:spcAft>
                <a:spcPts val="0"/>
              </a:spcAft>
              <a:buNone/>
            </a:pPr>
            <a:r>
              <a:rPr lang="en-US" sz="2500" b="0" i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</a:rPr>
              <a:t>To make a system that checks a website link and tells whether it is Safe or Phishing using Machine Learning.</a:t>
            </a:r>
          </a:p>
        </p:txBody>
      </p:sp>
      <p:sp>
        <p:nvSpPr>
          <p:cNvPr id="568" name="Google Shape;568;p22"/>
          <p:cNvSpPr txBox="1">
            <a:spLocks noGrp="1"/>
          </p:cNvSpPr>
          <p:nvPr>
            <p:ph type="sldNum" idx="12"/>
          </p:nvPr>
        </p:nvSpPr>
        <p:spPr>
          <a:xfrm>
            <a:off x="8411428" y="6356350"/>
            <a:ext cx="548700" cy="365100"/>
          </a:xfrm>
          <a:prstGeom prst="rect">
            <a:avLst/>
          </a:prstGeom>
          <a:solidFill>
            <a:schemeClr val="lt1"/>
          </a:solidFill>
          <a:ln w="2540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13</a:t>
            </a:fld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" name="Google Shape;573;p23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868500"/>
          </a:xfrm>
          <a:prstGeom prst="rect">
            <a:avLst/>
          </a:prstGeom>
          <a:solidFill>
            <a:schemeClr val="lt1"/>
          </a:solidFill>
          <a:ln w="2540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indent="0" algn="ctr">
              <a:buNone/>
            </a:pPr>
            <a:r>
              <a:rPr lang="en-US"/>
              <a:t>6.2 Scope and objectives</a:t>
            </a:r>
          </a:p>
        </p:txBody>
      </p:sp>
      <p:sp>
        <p:nvSpPr>
          <p:cNvPr id="574" name="Google Shape;574;p23"/>
          <p:cNvSpPr txBox="1">
            <a:spLocks noGrp="1"/>
          </p:cNvSpPr>
          <p:nvPr>
            <p:ph type="body" idx="1"/>
          </p:nvPr>
        </p:nvSpPr>
        <p:spPr>
          <a:xfrm>
            <a:off x="457200" y="1219200"/>
            <a:ext cx="8229600" cy="5334000"/>
          </a:xfrm>
          <a:prstGeom prst="rect">
            <a:avLst/>
          </a:prstGeom>
          <a:solidFill>
            <a:schemeClr val="lt1"/>
          </a:solidFill>
          <a:ln w="2540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i="0">
                <a:solidFill>
                  <a:srgbClr val="1F3864"/>
                </a:solidFill>
                <a:latin typeface="Times New Roman"/>
                <a:ea typeface="Times New Roman"/>
                <a:cs typeface="Times New Roman"/>
              </a:rPr>
              <a:t>Objectives</a:t>
            </a:r>
          </a:p>
          <a:p>
            <a:pPr marL="285750" indent="-285750" algn="l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•"/>
            </a:pPr>
            <a:r>
              <a:rPr lang="en-US" sz="2500" b="0" i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</a:rPr>
              <a:t>To understand what phishing is.</a:t>
            </a:r>
          </a:p>
          <a:p>
            <a:pPr marL="285750" indent="-285750" algn="l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•"/>
            </a:pPr>
            <a:r>
              <a:rPr lang="en-US" sz="2500" b="0" i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</a:rPr>
              <a:t>To collect data of real and fake websites.</a:t>
            </a:r>
          </a:p>
          <a:p>
            <a:pPr marL="285750" indent="-285750" algn="l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•"/>
            </a:pPr>
            <a:r>
              <a:rPr lang="en-US" sz="2500" b="0" i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</a:rPr>
              <a:t>To train a Machine Learning model.</a:t>
            </a:r>
          </a:p>
          <a:p>
            <a:pPr marL="285750" indent="-285750" algn="l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•"/>
            </a:pPr>
            <a:r>
              <a:rPr lang="en-US" sz="2500" b="0" i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</a:rPr>
              <a:t>To show result: Safe or Phishing.</a:t>
            </a:r>
          </a:p>
          <a:p>
            <a:pPr marL="0" indent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2800" b="1" i="0">
                <a:solidFill>
                  <a:srgbClr val="1F3864"/>
                </a:solidFill>
                <a:latin typeface="Times New Roman"/>
                <a:ea typeface="Times New Roman"/>
                <a:cs typeface="Times New Roman"/>
              </a:rPr>
              <a:t>Scope</a:t>
            </a:r>
          </a:p>
          <a:p>
            <a:pPr marL="285750" indent="-285750" algn="l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•"/>
            </a:pPr>
            <a:r>
              <a:rPr lang="en-US" sz="2500" b="0" i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</a:rPr>
              <a:t>Checks website links (URLs) given by the user.</a:t>
            </a:r>
          </a:p>
          <a:p>
            <a:pPr marL="285750" indent="-285750" algn="l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•"/>
            </a:pPr>
            <a:r>
              <a:rPr lang="en-US" sz="2500" b="0" i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</a:rPr>
              <a:t>Can be extended to a browser extension later.</a:t>
            </a:r>
          </a:p>
        </p:txBody>
      </p:sp>
      <p:sp>
        <p:nvSpPr>
          <p:cNvPr id="575" name="Google Shape;575;p23"/>
          <p:cNvSpPr txBox="1">
            <a:spLocks noGrp="1"/>
          </p:cNvSpPr>
          <p:nvPr>
            <p:ph type="sldNum" idx="12"/>
          </p:nvPr>
        </p:nvSpPr>
        <p:spPr>
          <a:xfrm>
            <a:off x="8411428" y="6356350"/>
            <a:ext cx="548700" cy="365100"/>
          </a:xfrm>
          <a:prstGeom prst="rect">
            <a:avLst/>
          </a:prstGeom>
          <a:solidFill>
            <a:schemeClr val="lt1"/>
          </a:solidFill>
          <a:ln w="2540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14</a:t>
            </a:fld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0" name="Google Shape;580;p2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868500"/>
          </a:xfrm>
          <a:prstGeom prst="rect">
            <a:avLst/>
          </a:prstGeom>
          <a:solidFill>
            <a:schemeClr val="lt1"/>
          </a:solidFill>
          <a:ln w="2540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indent="0" algn="ctr">
              <a:buNone/>
            </a:pPr>
            <a:r>
              <a:rPr lang="en-US"/>
              <a:t>6.3 Stake holder</a:t>
            </a:r>
          </a:p>
        </p:txBody>
      </p:sp>
      <p:sp>
        <p:nvSpPr>
          <p:cNvPr id="582" name="Google Shape;582;p24"/>
          <p:cNvSpPr txBox="1">
            <a:spLocks noGrp="1"/>
          </p:cNvSpPr>
          <p:nvPr>
            <p:ph type="sldNum" idx="12"/>
          </p:nvPr>
        </p:nvSpPr>
        <p:spPr>
          <a:xfrm>
            <a:off x="8411428" y="6356350"/>
            <a:ext cx="548700" cy="365100"/>
          </a:xfrm>
          <a:prstGeom prst="rect">
            <a:avLst/>
          </a:prstGeom>
          <a:solidFill>
            <a:schemeClr val="lt1"/>
          </a:solidFill>
          <a:ln w="2540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15</a:t>
            </a:fld>
            <a:endParaRPr/>
          </a:p>
        </p:txBody>
      </p:sp>
      <p:graphicFrame>
        <p:nvGraphicFramePr>
          <p:cNvPr id="914" name="Table 914"/>
          <p:cNvGraphicFramePr/>
          <p:nvPr>
            <p:extLst>
              <p:ext uri="{D42A27DB-BD31-4B8C-83A1-F6EECF244321}">
                <p14:modId xmlns:p14="http://schemas.microsoft.com/office/powerpoint/2010/main" val="2547298123"/>
              </p:ext>
            </p:extLst>
          </p:nvPr>
        </p:nvGraphicFramePr>
        <p:xfrm>
          <a:off x="640000" y="1582880"/>
          <a:ext cx="7864000" cy="4560000"/>
        </p:xfrm>
        <a:graphic>
          <a:graphicData uri="http://schemas.openxmlformats.org/drawingml/2006/table">
            <a:tbl>
              <a:tblPr firstRow="1"/>
              <a:tblGrid>
                <a:gridCol w="300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864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76000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2200" b="1" i="0" dirty="0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Stakeholder</a:t>
                      </a:r>
                    </a:p>
                  </a:txBody>
                  <a:tcPr marL="91450" marR="91450" marT="45725" marB="45725" anchor="ctr">
                    <a:lnL w="12700">
                      <a:solidFill>
                        <a:schemeClr val="accent1"/>
                      </a:solidFill>
                    </a:lnL>
                    <a:lnR w="12700">
                      <a:solidFill>
                        <a:schemeClr val="accent1"/>
                      </a:solidFill>
                    </a:lnR>
                    <a:lnT w="12700">
                      <a:solidFill>
                        <a:schemeClr val="accent1"/>
                      </a:solidFill>
                    </a:lnT>
                    <a:lnB w="12700">
                      <a:solidFill>
                        <a:schemeClr val="accent1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2200" b="1" i="0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How they are related</a:t>
                      </a:r>
                    </a:p>
                  </a:txBody>
                  <a:tcPr marL="91450" marR="91450" marT="45725" marB="45725" anchor="ctr">
                    <a:lnL w="12700">
                      <a:solidFill>
                        <a:schemeClr val="accent1"/>
                      </a:solidFill>
                    </a:lnL>
                    <a:lnR w="12700">
                      <a:solidFill>
                        <a:schemeClr val="accent1"/>
                      </a:solidFill>
                    </a:lnR>
                    <a:lnT w="12700">
                      <a:solidFill>
                        <a:schemeClr val="accent1"/>
                      </a:solidFill>
                    </a:lnT>
                    <a:lnB w="12700">
                      <a:solidFill>
                        <a:schemeClr val="accent1"/>
                      </a:solidFill>
                    </a:lnB>
                    <a:solidFill>
                      <a:srgbClr val="1F386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6000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2200" b="1" i="0" dirty="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Internet users</a:t>
                      </a:r>
                    </a:p>
                  </a:txBody>
                  <a:tcPr marL="91450" marR="91450" marT="45725" marB="45725" anchor="ctr">
                    <a:lnL w="12700">
                      <a:solidFill>
                        <a:schemeClr val="accent1"/>
                      </a:solidFill>
                    </a:lnL>
                    <a:lnR w="12700">
                      <a:solidFill>
                        <a:schemeClr val="accent1"/>
                      </a:solidFill>
                    </a:lnR>
                    <a:lnT w="12700">
                      <a:solidFill>
                        <a:schemeClr val="accent1"/>
                      </a:solidFill>
                    </a:lnT>
                    <a:lnB w="12700">
                      <a:solidFill>
                        <a:schemeClr val="accent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2200" b="0" i="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Use the system to check links</a:t>
                      </a:r>
                    </a:p>
                  </a:txBody>
                  <a:tcPr marL="91450" marR="91450" marT="45725" marB="45725" anchor="ctr">
                    <a:lnL w="12700">
                      <a:solidFill>
                        <a:schemeClr val="accent1"/>
                      </a:solidFill>
                    </a:lnL>
                    <a:lnR w="12700">
                      <a:solidFill>
                        <a:schemeClr val="accent1"/>
                      </a:solidFill>
                    </a:lnR>
                    <a:lnT w="12700">
                      <a:solidFill>
                        <a:schemeClr val="accent1"/>
                      </a:solidFill>
                    </a:lnT>
                    <a:lnB w="12700">
                      <a:solidFill>
                        <a:schemeClr val="accent1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6000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2200" b="1" i="0" dirty="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Students (our team)</a:t>
                      </a:r>
                    </a:p>
                  </a:txBody>
                  <a:tcPr marL="91450" marR="91450" marT="45725" marB="45725" anchor="ctr">
                    <a:lnL w="12700">
                      <a:solidFill>
                        <a:schemeClr val="accent1"/>
                      </a:solidFill>
                    </a:lnL>
                    <a:lnR w="12700">
                      <a:solidFill>
                        <a:schemeClr val="accent1"/>
                      </a:solidFill>
                    </a:lnR>
                    <a:lnT w="12700">
                      <a:solidFill>
                        <a:schemeClr val="accent1"/>
                      </a:solidFill>
                    </a:lnT>
                    <a:lnB w="12700">
                      <a:solidFill>
                        <a:schemeClr val="accent1"/>
                      </a:solidFill>
                    </a:lnB>
                    <a:solidFill>
                      <a:srgbClr val="EAF0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2200" b="0" i="0" dirty="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Make and present the project</a:t>
                      </a:r>
                    </a:p>
                  </a:txBody>
                  <a:tcPr marL="91450" marR="91450" marT="45725" marB="45725" anchor="ctr">
                    <a:lnL w="12700">
                      <a:solidFill>
                        <a:schemeClr val="accent1"/>
                      </a:solidFill>
                    </a:lnL>
                    <a:lnR w="12700">
                      <a:solidFill>
                        <a:schemeClr val="accent1"/>
                      </a:solidFill>
                    </a:lnR>
                    <a:lnT w="12700">
                      <a:solidFill>
                        <a:schemeClr val="accent1"/>
                      </a:solidFill>
                    </a:lnT>
                    <a:lnB w="12700">
                      <a:solidFill>
                        <a:schemeClr val="accent1"/>
                      </a:solidFill>
                    </a:lnB>
                    <a:solidFill>
                      <a:srgbClr val="EAF0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6000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2200" b="1" i="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Project guide / teacher</a:t>
                      </a:r>
                    </a:p>
                  </a:txBody>
                  <a:tcPr marL="91450" marR="91450" marT="45725" marB="45725" anchor="ctr">
                    <a:lnL w="12700">
                      <a:solidFill>
                        <a:schemeClr val="accent1"/>
                      </a:solidFill>
                    </a:lnL>
                    <a:lnR w="12700">
                      <a:solidFill>
                        <a:schemeClr val="accent1"/>
                      </a:solidFill>
                    </a:lnR>
                    <a:lnT w="12700">
                      <a:solidFill>
                        <a:schemeClr val="accent1"/>
                      </a:solidFill>
                    </a:lnT>
                    <a:lnB w="12700">
                      <a:solidFill>
                        <a:schemeClr val="accent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2200" b="0" i="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Guides and checks our work</a:t>
                      </a:r>
                    </a:p>
                  </a:txBody>
                  <a:tcPr marL="91450" marR="91450" marT="45725" marB="45725" anchor="ctr">
                    <a:lnL w="12700">
                      <a:solidFill>
                        <a:schemeClr val="accent1"/>
                      </a:solidFill>
                    </a:lnL>
                    <a:lnR w="12700">
                      <a:solidFill>
                        <a:schemeClr val="accent1"/>
                      </a:solidFill>
                    </a:lnR>
                    <a:lnT w="12700">
                      <a:solidFill>
                        <a:schemeClr val="accent1"/>
                      </a:solidFill>
                    </a:lnT>
                    <a:lnB w="12700">
                      <a:solidFill>
                        <a:schemeClr val="accent1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6000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2200" b="1" i="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HOD / Department</a:t>
                      </a:r>
                    </a:p>
                  </a:txBody>
                  <a:tcPr marL="91450" marR="91450" marT="45725" marB="45725" anchor="ctr">
                    <a:lnL w="12700">
                      <a:solidFill>
                        <a:schemeClr val="accent1"/>
                      </a:solidFill>
                    </a:lnL>
                    <a:lnR w="12700">
                      <a:solidFill>
                        <a:schemeClr val="accent1"/>
                      </a:solidFill>
                    </a:lnR>
                    <a:lnT w="12700">
                      <a:solidFill>
                        <a:schemeClr val="accent1"/>
                      </a:solidFill>
                    </a:lnT>
                    <a:lnB w="12700">
                      <a:solidFill>
                        <a:schemeClr val="accent1"/>
                      </a:solidFill>
                    </a:lnB>
                    <a:solidFill>
                      <a:srgbClr val="EAF0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2200" b="0" i="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Gives approval</a:t>
                      </a:r>
                    </a:p>
                  </a:txBody>
                  <a:tcPr marL="91450" marR="91450" marT="45725" marB="45725" anchor="ctr">
                    <a:lnL w="12700">
                      <a:solidFill>
                        <a:schemeClr val="accent1"/>
                      </a:solidFill>
                    </a:lnL>
                    <a:lnR w="12700">
                      <a:solidFill>
                        <a:schemeClr val="accent1"/>
                      </a:solidFill>
                    </a:lnR>
                    <a:lnT w="12700">
                      <a:solidFill>
                        <a:schemeClr val="accent1"/>
                      </a:solidFill>
                    </a:lnT>
                    <a:lnB w="12700">
                      <a:solidFill>
                        <a:schemeClr val="accent1"/>
                      </a:solidFill>
                    </a:lnB>
                    <a:solidFill>
                      <a:srgbClr val="EAF0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6000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2200" b="1" i="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Banks and shops</a:t>
                      </a:r>
                    </a:p>
                  </a:txBody>
                  <a:tcPr marL="91450" marR="91450" marT="45725" marB="45725" anchor="ctr">
                    <a:lnL w="12700">
                      <a:solidFill>
                        <a:schemeClr val="accent1"/>
                      </a:solidFill>
                    </a:lnL>
                    <a:lnR w="12700">
                      <a:solidFill>
                        <a:schemeClr val="accent1"/>
                      </a:solidFill>
                    </a:lnR>
                    <a:lnT w="12700">
                      <a:solidFill>
                        <a:schemeClr val="accent1"/>
                      </a:solidFill>
                    </a:lnT>
                    <a:lnB w="12700">
                      <a:solidFill>
                        <a:schemeClr val="accent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2200" b="0" i="0" dirty="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Safe from fake website fraud</a:t>
                      </a:r>
                    </a:p>
                  </a:txBody>
                  <a:tcPr marL="91450" marR="91450" marT="45725" marB="45725" anchor="ctr">
                    <a:lnL w="12700">
                      <a:solidFill>
                        <a:schemeClr val="accent1"/>
                      </a:solidFill>
                    </a:lnL>
                    <a:lnR w="12700">
                      <a:solidFill>
                        <a:schemeClr val="accent1"/>
                      </a:solidFill>
                    </a:lnR>
                    <a:lnT w="12700">
                      <a:solidFill>
                        <a:schemeClr val="accent1"/>
                      </a:solidFill>
                    </a:lnT>
                    <a:lnB w="12700">
                      <a:solidFill>
                        <a:schemeClr val="accent1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7" name="Google Shape;587;p25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868500"/>
          </a:xfrm>
          <a:prstGeom prst="rect">
            <a:avLst/>
          </a:prstGeom>
          <a:solidFill>
            <a:schemeClr val="lt1"/>
          </a:solidFill>
          <a:ln w="2540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indent="0" algn="ctr">
              <a:buNone/>
            </a:pPr>
            <a:r>
              <a:rPr lang="en-US"/>
              <a:t>6.4 Seminar execution plan</a:t>
            </a:r>
          </a:p>
        </p:txBody>
      </p:sp>
      <p:sp>
        <p:nvSpPr>
          <p:cNvPr id="589" name="Google Shape;589;p25"/>
          <p:cNvSpPr txBox="1">
            <a:spLocks noGrp="1"/>
          </p:cNvSpPr>
          <p:nvPr>
            <p:ph type="sldNum" idx="12"/>
          </p:nvPr>
        </p:nvSpPr>
        <p:spPr>
          <a:xfrm>
            <a:off x="8411428" y="6356350"/>
            <a:ext cx="548700" cy="365100"/>
          </a:xfrm>
          <a:prstGeom prst="rect">
            <a:avLst/>
          </a:prstGeom>
          <a:solidFill>
            <a:schemeClr val="lt1"/>
          </a:solidFill>
          <a:ln w="2540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16</a:t>
            </a:fld>
            <a:endParaRPr/>
          </a:p>
        </p:txBody>
      </p:sp>
      <p:graphicFrame>
        <p:nvGraphicFramePr>
          <p:cNvPr id="902" name="Table 902"/>
          <p:cNvGraphicFramePr/>
          <p:nvPr/>
        </p:nvGraphicFramePr>
        <p:xfrm>
          <a:off x="640000" y="1330000"/>
          <a:ext cx="7864000" cy="4950000"/>
        </p:xfrm>
        <a:graphic>
          <a:graphicData uri="http://schemas.openxmlformats.org/drawingml/2006/table">
            <a:tbl>
              <a:tblPr firstRow="1"/>
              <a:tblGrid>
                <a:gridCol w="1300000"/>
                <a:gridCol w="4964000"/>
                <a:gridCol w="1600000"/>
              </a:tblGrid>
              <a:tr h="45000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800" b="1" i="0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Step</a:t>
                      </a:r>
                    </a:p>
                  </a:txBody>
                  <a:tcPr marL="91450" marR="91450" marT="45725" marB="45725" anchor="ctr">
                    <a:lnL w="12700">
                      <a:solidFill>
                        <a:schemeClr val="accent1"/>
                      </a:solidFill>
                    </a:lnL>
                    <a:lnR w="12700">
                      <a:solidFill>
                        <a:schemeClr val="accent1"/>
                      </a:solidFill>
                    </a:lnR>
                    <a:lnT w="12700">
                      <a:solidFill>
                        <a:schemeClr val="accent1"/>
                      </a:solidFill>
                    </a:lnT>
                    <a:lnB w="12700">
                      <a:solidFill>
                        <a:schemeClr val="accent1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800" b="1" i="0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Work to do</a:t>
                      </a:r>
                    </a:p>
                  </a:txBody>
                  <a:tcPr marL="91450" marR="91450" marT="45725" marB="45725" anchor="ctr">
                    <a:lnL w="12700">
                      <a:solidFill>
                        <a:schemeClr val="accent1"/>
                      </a:solidFill>
                    </a:lnL>
                    <a:lnR w="12700">
                      <a:solidFill>
                        <a:schemeClr val="accent1"/>
                      </a:solidFill>
                    </a:lnR>
                    <a:lnT w="12700">
                      <a:solidFill>
                        <a:schemeClr val="accent1"/>
                      </a:solidFill>
                    </a:lnT>
                    <a:lnB w="12700">
                      <a:solidFill>
                        <a:schemeClr val="accent1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800" b="1" i="0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Time</a:t>
                      </a:r>
                    </a:p>
                  </a:txBody>
                  <a:tcPr marL="91450" marR="91450" marT="45725" marB="45725" anchor="ctr">
                    <a:lnL w="12700">
                      <a:solidFill>
                        <a:schemeClr val="accent1"/>
                      </a:solidFill>
                    </a:lnL>
                    <a:lnR w="12700">
                      <a:solidFill>
                        <a:schemeClr val="accent1"/>
                      </a:solidFill>
                    </a:lnR>
                    <a:lnT w="12700">
                      <a:solidFill>
                        <a:schemeClr val="accent1"/>
                      </a:solidFill>
                    </a:lnT>
                    <a:lnB w="12700">
                      <a:solidFill>
                        <a:schemeClr val="accent1"/>
                      </a:solidFill>
                    </a:lnB>
                    <a:solidFill>
                      <a:srgbClr val="1F3864"/>
                    </a:solidFill>
                  </a:tcPr>
                </a:tc>
              </a:tr>
              <a:tr h="45000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800" b="1" i="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</a:t>
                      </a:r>
                    </a:p>
                  </a:txBody>
                  <a:tcPr marL="91450" marR="91450" marT="45725" marB="45725" anchor="ctr">
                    <a:lnL w="12700">
                      <a:solidFill>
                        <a:schemeClr val="accent1"/>
                      </a:solidFill>
                    </a:lnL>
                    <a:lnR w="12700">
                      <a:solidFill>
                        <a:schemeClr val="accent1"/>
                      </a:solidFill>
                    </a:lnR>
                    <a:lnT w="12700">
                      <a:solidFill>
                        <a:schemeClr val="accent1"/>
                      </a:solidFill>
                    </a:lnT>
                    <a:lnB w="12700">
                      <a:solidFill>
                        <a:schemeClr val="accent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800" b="0" i="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Select topic and study phishing</a:t>
                      </a:r>
                    </a:p>
                  </a:txBody>
                  <a:tcPr marL="91450" marR="91450" marT="45725" marB="45725" anchor="ctr">
                    <a:lnL w="12700">
                      <a:solidFill>
                        <a:schemeClr val="accent1"/>
                      </a:solidFill>
                    </a:lnL>
                    <a:lnR w="12700">
                      <a:solidFill>
                        <a:schemeClr val="accent1"/>
                      </a:solidFill>
                    </a:lnR>
                    <a:lnT w="12700">
                      <a:solidFill>
                        <a:schemeClr val="accent1"/>
                      </a:solidFill>
                    </a:lnT>
                    <a:lnB w="12700">
                      <a:solidFill>
                        <a:schemeClr val="accent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800" b="0" i="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Week 1</a:t>
                      </a:r>
                    </a:p>
                  </a:txBody>
                  <a:tcPr marL="91450" marR="91450" marT="45725" marB="45725" anchor="ctr">
                    <a:lnL w="12700">
                      <a:solidFill>
                        <a:schemeClr val="accent1"/>
                      </a:solidFill>
                    </a:lnL>
                    <a:lnR w="12700">
                      <a:solidFill>
                        <a:schemeClr val="accent1"/>
                      </a:solidFill>
                    </a:lnR>
                    <a:lnT w="12700">
                      <a:solidFill>
                        <a:schemeClr val="accent1"/>
                      </a:solidFill>
                    </a:lnT>
                    <a:lnB w="12700">
                      <a:solidFill>
                        <a:schemeClr val="accent1"/>
                      </a:solidFill>
                    </a:lnB>
                  </a:tcPr>
                </a:tc>
              </a:tr>
              <a:tr h="45000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800" b="1" i="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2</a:t>
                      </a:r>
                    </a:p>
                  </a:txBody>
                  <a:tcPr marL="91450" marR="91450" marT="45725" marB="45725" anchor="ctr">
                    <a:lnL w="12700">
                      <a:solidFill>
                        <a:schemeClr val="accent1"/>
                      </a:solidFill>
                    </a:lnL>
                    <a:lnR w="12700">
                      <a:solidFill>
                        <a:schemeClr val="accent1"/>
                      </a:solidFill>
                    </a:lnR>
                    <a:lnT w="12700">
                      <a:solidFill>
                        <a:schemeClr val="accent1"/>
                      </a:solidFill>
                    </a:lnT>
                    <a:lnB w="12700">
                      <a:solidFill>
                        <a:schemeClr val="accent1"/>
                      </a:solidFill>
                    </a:lnB>
                    <a:solidFill>
                      <a:srgbClr val="EAF0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800" b="0" i="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Literature survey (read papers)</a:t>
                      </a:r>
                    </a:p>
                  </a:txBody>
                  <a:tcPr marL="91450" marR="91450" marT="45725" marB="45725" anchor="ctr">
                    <a:lnL w="12700">
                      <a:solidFill>
                        <a:schemeClr val="accent1"/>
                      </a:solidFill>
                    </a:lnL>
                    <a:lnR w="12700">
                      <a:solidFill>
                        <a:schemeClr val="accent1"/>
                      </a:solidFill>
                    </a:lnR>
                    <a:lnT w="12700">
                      <a:solidFill>
                        <a:schemeClr val="accent1"/>
                      </a:solidFill>
                    </a:lnT>
                    <a:lnB w="12700">
                      <a:solidFill>
                        <a:schemeClr val="accent1"/>
                      </a:solidFill>
                    </a:lnB>
                    <a:solidFill>
                      <a:srgbClr val="EAF0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800" b="0" i="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Week 2</a:t>
                      </a:r>
                    </a:p>
                  </a:txBody>
                  <a:tcPr marL="91450" marR="91450" marT="45725" marB="45725" anchor="ctr">
                    <a:lnL w="12700">
                      <a:solidFill>
                        <a:schemeClr val="accent1"/>
                      </a:solidFill>
                    </a:lnL>
                    <a:lnR w="12700">
                      <a:solidFill>
                        <a:schemeClr val="accent1"/>
                      </a:solidFill>
                    </a:lnR>
                    <a:lnT w="12700">
                      <a:solidFill>
                        <a:schemeClr val="accent1"/>
                      </a:solidFill>
                    </a:lnT>
                    <a:lnB w="12700">
                      <a:solidFill>
                        <a:schemeClr val="accent1"/>
                      </a:solidFill>
                    </a:lnB>
                    <a:solidFill>
                      <a:srgbClr val="EAF0FA"/>
                    </a:solidFill>
                  </a:tcPr>
                </a:tc>
              </a:tr>
              <a:tr h="45000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800" b="1" i="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3</a:t>
                      </a:r>
                    </a:p>
                  </a:txBody>
                  <a:tcPr marL="91450" marR="91450" marT="45725" marB="45725" anchor="ctr">
                    <a:lnL w="12700">
                      <a:solidFill>
                        <a:schemeClr val="accent1"/>
                      </a:solidFill>
                    </a:lnL>
                    <a:lnR w="12700">
                      <a:solidFill>
                        <a:schemeClr val="accent1"/>
                      </a:solidFill>
                    </a:lnR>
                    <a:lnT w="12700">
                      <a:solidFill>
                        <a:schemeClr val="accent1"/>
                      </a:solidFill>
                    </a:lnT>
                    <a:lnB w="12700">
                      <a:solidFill>
                        <a:schemeClr val="accent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800" b="0" i="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Collect website data (dataset)</a:t>
                      </a:r>
                    </a:p>
                  </a:txBody>
                  <a:tcPr marL="91450" marR="91450" marT="45725" marB="45725" anchor="ctr">
                    <a:lnL w="12700">
                      <a:solidFill>
                        <a:schemeClr val="accent1"/>
                      </a:solidFill>
                    </a:lnL>
                    <a:lnR w="12700">
                      <a:solidFill>
                        <a:schemeClr val="accent1"/>
                      </a:solidFill>
                    </a:lnR>
                    <a:lnT w="12700">
                      <a:solidFill>
                        <a:schemeClr val="accent1"/>
                      </a:solidFill>
                    </a:lnT>
                    <a:lnB w="12700">
                      <a:solidFill>
                        <a:schemeClr val="accent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800" b="0" i="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Week 3</a:t>
                      </a:r>
                    </a:p>
                  </a:txBody>
                  <a:tcPr marL="91450" marR="91450" marT="45725" marB="45725" anchor="ctr">
                    <a:lnL w="12700">
                      <a:solidFill>
                        <a:schemeClr val="accent1"/>
                      </a:solidFill>
                    </a:lnL>
                    <a:lnR w="12700">
                      <a:solidFill>
                        <a:schemeClr val="accent1"/>
                      </a:solidFill>
                    </a:lnR>
                    <a:lnT w="12700">
                      <a:solidFill>
                        <a:schemeClr val="accent1"/>
                      </a:solidFill>
                    </a:lnT>
                    <a:lnB w="12700">
                      <a:solidFill>
                        <a:schemeClr val="accent1"/>
                      </a:solidFill>
                    </a:lnB>
                  </a:tcPr>
                </a:tc>
              </a:tr>
              <a:tr h="45000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800" b="1" i="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4</a:t>
                      </a:r>
                    </a:p>
                  </a:txBody>
                  <a:tcPr marL="91450" marR="91450" marT="45725" marB="45725" anchor="ctr">
                    <a:lnL w="12700">
                      <a:solidFill>
                        <a:schemeClr val="accent1"/>
                      </a:solidFill>
                    </a:lnL>
                    <a:lnR w="12700">
                      <a:solidFill>
                        <a:schemeClr val="accent1"/>
                      </a:solidFill>
                    </a:lnR>
                    <a:lnT w="12700">
                      <a:solidFill>
                        <a:schemeClr val="accent1"/>
                      </a:solidFill>
                    </a:lnT>
                    <a:lnB w="12700">
                      <a:solidFill>
                        <a:schemeClr val="accent1"/>
                      </a:solidFill>
                    </a:lnB>
                    <a:solidFill>
                      <a:srgbClr val="EAF0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800" b="0" i="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Clean and prepare the data</a:t>
                      </a:r>
                    </a:p>
                  </a:txBody>
                  <a:tcPr marL="91450" marR="91450" marT="45725" marB="45725" anchor="ctr">
                    <a:lnL w="12700">
                      <a:solidFill>
                        <a:schemeClr val="accent1"/>
                      </a:solidFill>
                    </a:lnL>
                    <a:lnR w="12700">
                      <a:solidFill>
                        <a:schemeClr val="accent1"/>
                      </a:solidFill>
                    </a:lnR>
                    <a:lnT w="12700">
                      <a:solidFill>
                        <a:schemeClr val="accent1"/>
                      </a:solidFill>
                    </a:lnT>
                    <a:lnB w="12700">
                      <a:solidFill>
                        <a:schemeClr val="accent1"/>
                      </a:solidFill>
                    </a:lnB>
                    <a:solidFill>
                      <a:srgbClr val="EAF0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800" b="0" i="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Week 4</a:t>
                      </a:r>
                    </a:p>
                  </a:txBody>
                  <a:tcPr marL="91450" marR="91450" marT="45725" marB="45725" anchor="ctr">
                    <a:lnL w="12700">
                      <a:solidFill>
                        <a:schemeClr val="accent1"/>
                      </a:solidFill>
                    </a:lnL>
                    <a:lnR w="12700">
                      <a:solidFill>
                        <a:schemeClr val="accent1"/>
                      </a:solidFill>
                    </a:lnR>
                    <a:lnT w="12700">
                      <a:solidFill>
                        <a:schemeClr val="accent1"/>
                      </a:solidFill>
                    </a:lnT>
                    <a:lnB w="12700">
                      <a:solidFill>
                        <a:schemeClr val="accent1"/>
                      </a:solidFill>
                    </a:lnB>
                    <a:solidFill>
                      <a:srgbClr val="EAF0FA"/>
                    </a:solidFill>
                  </a:tcPr>
                </a:tc>
              </a:tr>
              <a:tr h="45000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800" b="1" i="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5</a:t>
                      </a:r>
                    </a:p>
                  </a:txBody>
                  <a:tcPr marL="91450" marR="91450" marT="45725" marB="45725" anchor="ctr">
                    <a:lnL w="12700">
                      <a:solidFill>
                        <a:schemeClr val="accent1"/>
                      </a:solidFill>
                    </a:lnL>
                    <a:lnR w="12700">
                      <a:solidFill>
                        <a:schemeClr val="accent1"/>
                      </a:solidFill>
                    </a:lnR>
                    <a:lnT w="12700">
                      <a:solidFill>
                        <a:schemeClr val="accent1"/>
                      </a:solidFill>
                    </a:lnT>
                    <a:lnB w="12700">
                      <a:solidFill>
                        <a:schemeClr val="accent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800" b="0" i="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Find clues (features) from links</a:t>
                      </a:r>
                    </a:p>
                  </a:txBody>
                  <a:tcPr marL="91450" marR="91450" marT="45725" marB="45725" anchor="ctr">
                    <a:lnL w="12700">
                      <a:solidFill>
                        <a:schemeClr val="accent1"/>
                      </a:solidFill>
                    </a:lnL>
                    <a:lnR w="12700">
                      <a:solidFill>
                        <a:schemeClr val="accent1"/>
                      </a:solidFill>
                    </a:lnR>
                    <a:lnT w="12700">
                      <a:solidFill>
                        <a:schemeClr val="accent1"/>
                      </a:solidFill>
                    </a:lnT>
                    <a:lnB w="12700">
                      <a:solidFill>
                        <a:schemeClr val="accent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800" b="0" i="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Week 5</a:t>
                      </a:r>
                    </a:p>
                  </a:txBody>
                  <a:tcPr marL="91450" marR="91450" marT="45725" marB="45725" anchor="ctr">
                    <a:lnL w="12700">
                      <a:solidFill>
                        <a:schemeClr val="accent1"/>
                      </a:solidFill>
                    </a:lnL>
                    <a:lnR w="12700">
                      <a:solidFill>
                        <a:schemeClr val="accent1"/>
                      </a:solidFill>
                    </a:lnR>
                    <a:lnT w="12700">
                      <a:solidFill>
                        <a:schemeClr val="accent1"/>
                      </a:solidFill>
                    </a:lnT>
                    <a:lnB w="12700">
                      <a:solidFill>
                        <a:schemeClr val="accent1"/>
                      </a:solidFill>
                    </a:lnB>
                  </a:tcPr>
                </a:tc>
              </a:tr>
              <a:tr h="45000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800" b="1" i="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6</a:t>
                      </a:r>
                    </a:p>
                  </a:txBody>
                  <a:tcPr marL="91450" marR="91450" marT="45725" marB="45725" anchor="ctr">
                    <a:lnL w="12700">
                      <a:solidFill>
                        <a:schemeClr val="accent1"/>
                      </a:solidFill>
                    </a:lnL>
                    <a:lnR w="12700">
                      <a:solidFill>
                        <a:schemeClr val="accent1"/>
                      </a:solidFill>
                    </a:lnR>
                    <a:lnT w="12700">
                      <a:solidFill>
                        <a:schemeClr val="accent1"/>
                      </a:solidFill>
                    </a:lnT>
                    <a:lnB w="12700">
                      <a:solidFill>
                        <a:schemeClr val="accent1"/>
                      </a:solidFill>
                    </a:lnB>
                    <a:solidFill>
                      <a:srgbClr val="EAF0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800" b="0" i="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Train the Machine Learning model</a:t>
                      </a:r>
                    </a:p>
                  </a:txBody>
                  <a:tcPr marL="91450" marR="91450" marT="45725" marB="45725" anchor="ctr">
                    <a:lnL w="12700">
                      <a:solidFill>
                        <a:schemeClr val="accent1"/>
                      </a:solidFill>
                    </a:lnL>
                    <a:lnR w="12700">
                      <a:solidFill>
                        <a:schemeClr val="accent1"/>
                      </a:solidFill>
                    </a:lnR>
                    <a:lnT w="12700">
                      <a:solidFill>
                        <a:schemeClr val="accent1"/>
                      </a:solidFill>
                    </a:lnT>
                    <a:lnB w="12700">
                      <a:solidFill>
                        <a:schemeClr val="accent1"/>
                      </a:solidFill>
                    </a:lnB>
                    <a:solidFill>
                      <a:srgbClr val="EAF0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800" b="0" i="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Week 6</a:t>
                      </a:r>
                    </a:p>
                  </a:txBody>
                  <a:tcPr marL="91450" marR="91450" marT="45725" marB="45725" anchor="ctr">
                    <a:lnL w="12700">
                      <a:solidFill>
                        <a:schemeClr val="accent1"/>
                      </a:solidFill>
                    </a:lnL>
                    <a:lnR w="12700">
                      <a:solidFill>
                        <a:schemeClr val="accent1"/>
                      </a:solidFill>
                    </a:lnR>
                    <a:lnT w="12700">
                      <a:solidFill>
                        <a:schemeClr val="accent1"/>
                      </a:solidFill>
                    </a:lnT>
                    <a:lnB w="12700">
                      <a:solidFill>
                        <a:schemeClr val="accent1"/>
                      </a:solidFill>
                    </a:lnB>
                    <a:solidFill>
                      <a:srgbClr val="EAF0FA"/>
                    </a:solidFill>
                  </a:tcPr>
                </a:tc>
              </a:tr>
              <a:tr h="45000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800" b="1" i="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7</a:t>
                      </a:r>
                    </a:p>
                  </a:txBody>
                  <a:tcPr marL="91450" marR="91450" marT="45725" marB="45725" anchor="ctr">
                    <a:lnL w="12700">
                      <a:solidFill>
                        <a:schemeClr val="accent1"/>
                      </a:solidFill>
                    </a:lnL>
                    <a:lnR w="12700">
                      <a:solidFill>
                        <a:schemeClr val="accent1"/>
                      </a:solidFill>
                    </a:lnR>
                    <a:lnT w="12700">
                      <a:solidFill>
                        <a:schemeClr val="accent1"/>
                      </a:solidFill>
                    </a:lnT>
                    <a:lnB w="12700">
                      <a:solidFill>
                        <a:schemeClr val="accent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800" b="0" i="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Test the model and check accuracy</a:t>
                      </a:r>
                    </a:p>
                  </a:txBody>
                  <a:tcPr marL="91450" marR="91450" marT="45725" marB="45725" anchor="ctr">
                    <a:lnL w="12700">
                      <a:solidFill>
                        <a:schemeClr val="accent1"/>
                      </a:solidFill>
                    </a:lnL>
                    <a:lnR w="12700">
                      <a:solidFill>
                        <a:schemeClr val="accent1"/>
                      </a:solidFill>
                    </a:lnR>
                    <a:lnT w="12700">
                      <a:solidFill>
                        <a:schemeClr val="accent1"/>
                      </a:solidFill>
                    </a:lnT>
                    <a:lnB w="12700">
                      <a:solidFill>
                        <a:schemeClr val="accent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800" b="0" i="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Week 7</a:t>
                      </a:r>
                    </a:p>
                  </a:txBody>
                  <a:tcPr marL="91450" marR="91450" marT="45725" marB="45725" anchor="ctr">
                    <a:lnL w="12700">
                      <a:solidFill>
                        <a:schemeClr val="accent1"/>
                      </a:solidFill>
                    </a:lnL>
                    <a:lnR w="12700">
                      <a:solidFill>
                        <a:schemeClr val="accent1"/>
                      </a:solidFill>
                    </a:lnR>
                    <a:lnT w="12700">
                      <a:solidFill>
                        <a:schemeClr val="accent1"/>
                      </a:solidFill>
                    </a:lnT>
                    <a:lnB w="12700">
                      <a:solidFill>
                        <a:schemeClr val="accent1"/>
                      </a:solidFill>
                    </a:lnB>
                  </a:tcPr>
                </a:tc>
              </a:tr>
              <a:tr h="45000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800" b="1" i="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8</a:t>
                      </a:r>
                    </a:p>
                  </a:txBody>
                  <a:tcPr marL="91450" marR="91450" marT="45725" marB="45725" anchor="ctr">
                    <a:lnL w="12700">
                      <a:solidFill>
                        <a:schemeClr val="accent1"/>
                      </a:solidFill>
                    </a:lnL>
                    <a:lnR w="12700">
                      <a:solidFill>
                        <a:schemeClr val="accent1"/>
                      </a:solidFill>
                    </a:lnR>
                    <a:lnT w="12700">
                      <a:solidFill>
                        <a:schemeClr val="accent1"/>
                      </a:solidFill>
                    </a:lnT>
                    <a:lnB w="12700">
                      <a:solidFill>
                        <a:schemeClr val="accent1"/>
                      </a:solidFill>
                    </a:lnB>
                    <a:solidFill>
                      <a:srgbClr val="EAF0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800" b="0" i="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Make a simple web screen</a:t>
                      </a:r>
                    </a:p>
                  </a:txBody>
                  <a:tcPr marL="91450" marR="91450" marT="45725" marB="45725" anchor="ctr">
                    <a:lnL w="12700">
                      <a:solidFill>
                        <a:schemeClr val="accent1"/>
                      </a:solidFill>
                    </a:lnL>
                    <a:lnR w="12700">
                      <a:solidFill>
                        <a:schemeClr val="accent1"/>
                      </a:solidFill>
                    </a:lnR>
                    <a:lnT w="12700">
                      <a:solidFill>
                        <a:schemeClr val="accent1"/>
                      </a:solidFill>
                    </a:lnT>
                    <a:lnB w="12700">
                      <a:solidFill>
                        <a:schemeClr val="accent1"/>
                      </a:solidFill>
                    </a:lnB>
                    <a:solidFill>
                      <a:srgbClr val="EAF0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800" b="0" i="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Week 8</a:t>
                      </a:r>
                    </a:p>
                  </a:txBody>
                  <a:tcPr marL="91450" marR="91450" marT="45725" marB="45725" anchor="ctr">
                    <a:lnL w="12700">
                      <a:solidFill>
                        <a:schemeClr val="accent1"/>
                      </a:solidFill>
                    </a:lnL>
                    <a:lnR w="12700">
                      <a:solidFill>
                        <a:schemeClr val="accent1"/>
                      </a:solidFill>
                    </a:lnR>
                    <a:lnT w="12700">
                      <a:solidFill>
                        <a:schemeClr val="accent1"/>
                      </a:solidFill>
                    </a:lnT>
                    <a:lnB w="12700">
                      <a:solidFill>
                        <a:schemeClr val="accent1"/>
                      </a:solidFill>
                    </a:lnB>
                    <a:solidFill>
                      <a:srgbClr val="EAF0FA"/>
                    </a:solidFill>
                  </a:tcPr>
                </a:tc>
              </a:tr>
              <a:tr h="45000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800" b="1" i="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</a:t>
                      </a:r>
                    </a:p>
                  </a:txBody>
                  <a:tcPr marL="91450" marR="91450" marT="45725" marB="45725" anchor="ctr">
                    <a:lnL w="12700">
                      <a:solidFill>
                        <a:schemeClr val="accent1"/>
                      </a:solidFill>
                    </a:lnL>
                    <a:lnR w="12700">
                      <a:solidFill>
                        <a:schemeClr val="accent1"/>
                      </a:solidFill>
                    </a:lnR>
                    <a:lnT w="12700">
                      <a:solidFill>
                        <a:schemeClr val="accent1"/>
                      </a:solidFill>
                    </a:lnT>
                    <a:lnB w="12700">
                      <a:solidFill>
                        <a:schemeClr val="accent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800" b="0" i="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Final testing and corrections</a:t>
                      </a:r>
                    </a:p>
                  </a:txBody>
                  <a:tcPr marL="91450" marR="91450" marT="45725" marB="45725" anchor="ctr">
                    <a:lnL w="12700">
                      <a:solidFill>
                        <a:schemeClr val="accent1"/>
                      </a:solidFill>
                    </a:lnL>
                    <a:lnR w="12700">
                      <a:solidFill>
                        <a:schemeClr val="accent1"/>
                      </a:solidFill>
                    </a:lnR>
                    <a:lnT w="12700">
                      <a:solidFill>
                        <a:schemeClr val="accent1"/>
                      </a:solidFill>
                    </a:lnT>
                    <a:lnB w="12700">
                      <a:solidFill>
                        <a:schemeClr val="accent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800" b="0" i="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Week 9</a:t>
                      </a:r>
                    </a:p>
                  </a:txBody>
                  <a:tcPr marL="91450" marR="91450" marT="45725" marB="45725" anchor="ctr">
                    <a:lnL w="12700">
                      <a:solidFill>
                        <a:schemeClr val="accent1"/>
                      </a:solidFill>
                    </a:lnL>
                    <a:lnR w="12700">
                      <a:solidFill>
                        <a:schemeClr val="accent1"/>
                      </a:solidFill>
                    </a:lnR>
                    <a:lnT w="12700">
                      <a:solidFill>
                        <a:schemeClr val="accent1"/>
                      </a:solidFill>
                    </a:lnT>
                    <a:lnB w="12700">
                      <a:solidFill>
                        <a:schemeClr val="accent1"/>
                      </a:solidFill>
                    </a:lnB>
                  </a:tcPr>
                </a:tc>
              </a:tr>
              <a:tr h="45000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800" b="1" i="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marL="91450" marR="91450" marT="45725" marB="45725" anchor="ctr">
                    <a:lnL w="12700">
                      <a:solidFill>
                        <a:schemeClr val="accent1"/>
                      </a:solidFill>
                    </a:lnL>
                    <a:lnR w="12700">
                      <a:solidFill>
                        <a:schemeClr val="accent1"/>
                      </a:solidFill>
                    </a:lnR>
                    <a:lnT w="12700">
                      <a:solidFill>
                        <a:schemeClr val="accent1"/>
                      </a:solidFill>
                    </a:lnT>
                    <a:lnB w="12700">
                      <a:solidFill>
                        <a:schemeClr val="accent1"/>
                      </a:solidFill>
                    </a:lnB>
                    <a:solidFill>
                      <a:srgbClr val="EAF0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800" b="0" i="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Make report and presentation</a:t>
                      </a:r>
                    </a:p>
                  </a:txBody>
                  <a:tcPr marL="91450" marR="91450" marT="45725" marB="45725" anchor="ctr">
                    <a:lnL w="12700">
                      <a:solidFill>
                        <a:schemeClr val="accent1"/>
                      </a:solidFill>
                    </a:lnL>
                    <a:lnR w="12700">
                      <a:solidFill>
                        <a:schemeClr val="accent1"/>
                      </a:solidFill>
                    </a:lnR>
                    <a:lnT w="12700">
                      <a:solidFill>
                        <a:schemeClr val="accent1"/>
                      </a:solidFill>
                    </a:lnT>
                    <a:lnB w="12700">
                      <a:solidFill>
                        <a:schemeClr val="accent1"/>
                      </a:solidFill>
                    </a:lnB>
                    <a:solidFill>
                      <a:srgbClr val="EAF0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800" b="0" i="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Week 10</a:t>
                      </a:r>
                    </a:p>
                  </a:txBody>
                  <a:tcPr marL="91450" marR="91450" marT="45725" marB="45725" anchor="ctr">
                    <a:lnL w="12700">
                      <a:solidFill>
                        <a:schemeClr val="accent1"/>
                      </a:solidFill>
                    </a:lnL>
                    <a:lnR w="12700">
                      <a:solidFill>
                        <a:schemeClr val="accent1"/>
                      </a:solidFill>
                    </a:lnR>
                    <a:lnT w="12700">
                      <a:solidFill>
                        <a:schemeClr val="accent1"/>
                      </a:solidFill>
                    </a:lnT>
                    <a:lnB w="12700">
                      <a:solidFill>
                        <a:schemeClr val="accent1"/>
                      </a:solidFill>
                    </a:lnB>
                    <a:solidFill>
                      <a:srgbClr val="EAF0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4" name="Google Shape;594;p2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868500"/>
          </a:xfrm>
          <a:prstGeom prst="rect">
            <a:avLst/>
          </a:prstGeom>
          <a:solidFill>
            <a:schemeClr val="lt1"/>
          </a:solidFill>
          <a:ln w="2540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indent="0" algn="ctr">
              <a:buNone/>
            </a:pPr>
            <a:r>
              <a:rPr lang="en-US" sz="3200"/>
              <a:t>6.5 Platform / Equipment / Resources</a:t>
            </a:r>
          </a:p>
        </p:txBody>
      </p:sp>
      <p:sp>
        <p:nvSpPr>
          <p:cNvPr id="595" name="Google Shape;595;p26"/>
          <p:cNvSpPr txBox="1">
            <a:spLocks noGrp="1"/>
          </p:cNvSpPr>
          <p:nvPr>
            <p:ph type="body" idx="1"/>
          </p:nvPr>
        </p:nvSpPr>
        <p:spPr>
          <a:xfrm>
            <a:off x="457200" y="1219200"/>
            <a:ext cx="8229600" cy="5334000"/>
          </a:xfrm>
          <a:prstGeom prst="rect">
            <a:avLst/>
          </a:prstGeom>
          <a:solidFill>
            <a:schemeClr val="lt1"/>
          </a:solidFill>
          <a:ln w="2540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i="0">
                <a:solidFill>
                  <a:srgbClr val="1F3864"/>
                </a:solidFill>
                <a:latin typeface="Times New Roman"/>
                <a:ea typeface="Times New Roman"/>
                <a:cs typeface="Times New Roman"/>
              </a:rPr>
              <a:t>Hardware</a:t>
            </a:r>
          </a:p>
          <a:p>
            <a:pPr marL="285750" indent="-285750" algn="l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•"/>
            </a:pPr>
            <a:r>
              <a:rPr lang="en-US" sz="2500" b="0" i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</a:rPr>
              <a:t>Laptop / computer with 4 GB RAM and internet</a:t>
            </a:r>
          </a:p>
          <a:p>
            <a:pPr marL="0" indent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2800" b="1" i="0">
                <a:solidFill>
                  <a:srgbClr val="1F3864"/>
                </a:solidFill>
                <a:latin typeface="Times New Roman"/>
                <a:ea typeface="Times New Roman"/>
                <a:cs typeface="Times New Roman"/>
              </a:rPr>
              <a:t>Software</a:t>
            </a:r>
          </a:p>
          <a:p>
            <a:pPr marL="285750" indent="-285750" algn="l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•"/>
            </a:pPr>
            <a:r>
              <a:rPr lang="en-US" sz="2500" b="0" i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</a:rPr>
              <a:t>Python and Jupyter Notebook (or VS Code)</a:t>
            </a:r>
          </a:p>
          <a:p>
            <a:pPr marL="285750" indent="-285750" algn="l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•"/>
            </a:pPr>
            <a:r>
              <a:rPr lang="en-US" sz="2500" b="0" i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</a:rPr>
              <a:t>Libraries: pandas, scikit-learn</a:t>
            </a:r>
          </a:p>
          <a:p>
            <a:pPr marL="0" indent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2800" b="1" i="0">
                <a:solidFill>
                  <a:srgbClr val="1F3864"/>
                </a:solidFill>
                <a:latin typeface="Times New Roman"/>
                <a:ea typeface="Times New Roman"/>
                <a:cs typeface="Times New Roman"/>
              </a:rPr>
              <a:t>Data (Dataset)</a:t>
            </a:r>
          </a:p>
          <a:p>
            <a:pPr marL="285750" indent="-285750" algn="l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•"/>
            </a:pPr>
            <a:r>
              <a:rPr lang="en-US" sz="2500" b="0" i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</a:rPr>
              <a:t>UCI Phishing Websites dataset (free)</a:t>
            </a:r>
          </a:p>
          <a:p>
            <a:pPr marL="285750" indent="-285750" algn="l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•"/>
            </a:pPr>
            <a:r>
              <a:rPr lang="en-US" sz="2500" b="0" i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</a:rPr>
              <a:t>PhishTank (list of fake websites)</a:t>
            </a:r>
          </a:p>
        </p:txBody>
      </p:sp>
      <p:sp>
        <p:nvSpPr>
          <p:cNvPr id="596" name="Google Shape;596;p26"/>
          <p:cNvSpPr txBox="1">
            <a:spLocks noGrp="1"/>
          </p:cNvSpPr>
          <p:nvPr>
            <p:ph type="sldNum" idx="12"/>
          </p:nvPr>
        </p:nvSpPr>
        <p:spPr>
          <a:xfrm>
            <a:off x="8411428" y="6356350"/>
            <a:ext cx="548700" cy="365100"/>
          </a:xfrm>
          <a:prstGeom prst="rect">
            <a:avLst/>
          </a:prstGeom>
          <a:solidFill>
            <a:schemeClr val="lt1"/>
          </a:solidFill>
          <a:ln w="2540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17</a:t>
            </a:fld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1" name="Google Shape;601;p2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868500"/>
          </a:xfrm>
          <a:prstGeom prst="rect">
            <a:avLst/>
          </a:prstGeom>
          <a:solidFill>
            <a:schemeClr val="lt1"/>
          </a:solidFill>
          <a:ln w="2857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4400"/>
              <a:buFont typeface="Arial"/>
              <a:buNone/>
            </a:pPr>
            <a:r>
              <a:rPr lang="en-US"/>
              <a:t>Bibliography</a:t>
            </a:r>
            <a:endParaRPr/>
          </a:p>
        </p:txBody>
      </p:sp>
      <p:sp>
        <p:nvSpPr>
          <p:cNvPr id="602" name="Google Shape;602;p27"/>
          <p:cNvSpPr txBox="1">
            <a:spLocks noGrp="1"/>
          </p:cNvSpPr>
          <p:nvPr>
            <p:ph type="body" idx="1"/>
          </p:nvPr>
        </p:nvSpPr>
        <p:spPr>
          <a:xfrm>
            <a:off x="457200" y="1219200"/>
            <a:ext cx="8229600" cy="5334000"/>
          </a:xfrm>
          <a:prstGeom prst="rect">
            <a:avLst/>
          </a:prstGeom>
          <a:solidFill>
            <a:schemeClr val="lt1"/>
          </a:solidFill>
          <a:ln w="2857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i="0" dirty="0">
                <a:solidFill>
                  <a:srgbClr val="1F3864"/>
                </a:solidFill>
                <a:latin typeface="Times New Roman"/>
                <a:ea typeface="Times New Roman"/>
                <a:cs typeface="Times New Roman"/>
              </a:rPr>
              <a:t>Books</a:t>
            </a:r>
          </a:p>
          <a:p>
            <a:pPr marL="285750" indent="-285750" algn="l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•"/>
            </a:pPr>
            <a:r>
              <a:rPr lang="en-US" sz="2300" b="0" i="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</a:rPr>
              <a:t>Introduction to Machine Learning with Python – Andreas Müller and Sarah Guido, O'Reilly.</a:t>
            </a:r>
          </a:p>
          <a:p>
            <a:pPr marL="285750" indent="-285750" algn="l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•"/>
            </a:pPr>
            <a:r>
              <a:rPr lang="en-US" sz="2300" b="0" i="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</a:rPr>
              <a:t>Phishing Dark Waters – Christopher Hadnagy and Michele Fincher, Wiley.</a:t>
            </a:r>
          </a:p>
          <a:p>
            <a:pPr marL="0" indent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2800" b="1" i="0" dirty="0">
                <a:solidFill>
                  <a:srgbClr val="1F3864"/>
                </a:solidFill>
                <a:latin typeface="Times New Roman"/>
                <a:ea typeface="Times New Roman"/>
                <a:cs typeface="Times New Roman"/>
              </a:rPr>
              <a:t>Websites</a:t>
            </a:r>
          </a:p>
          <a:p>
            <a:pPr marL="285750" indent="-285750">
              <a:lnSpc>
                <a:spcPct val="150000"/>
              </a:lnSpc>
              <a:spcBef>
                <a:spcPts val="500"/>
              </a:spcBef>
              <a:buSzPct val="100000"/>
            </a:pPr>
            <a:r>
              <a:rPr lang="en-US" sz="2300" dirty="0">
                <a:hlinkClick r:id="rId3"/>
              </a:rPr>
              <a:t>https://easydmarc.com/tools/phishing-url</a:t>
            </a:r>
            <a:endParaRPr lang="en-US" sz="2300" dirty="0"/>
          </a:p>
          <a:p>
            <a:pPr marL="285750" indent="-285750">
              <a:lnSpc>
                <a:spcPct val="150000"/>
              </a:lnSpc>
              <a:spcBef>
                <a:spcPts val="500"/>
              </a:spcBef>
              <a:buSzPct val="100000"/>
            </a:pPr>
            <a:r>
              <a:rPr lang="en-US" sz="2300" dirty="0">
                <a:hlinkClick r:id="rId4"/>
              </a:rPr>
              <a:t>https://zvelo.com/phishing-detection-in-depth/</a:t>
            </a:r>
            <a:endParaRPr lang="en-US" sz="2300" dirty="0"/>
          </a:p>
          <a:p>
            <a:pPr marL="285750" indent="-285750">
              <a:lnSpc>
                <a:spcPct val="150000"/>
              </a:lnSpc>
              <a:spcBef>
                <a:spcPts val="500"/>
              </a:spcBef>
              <a:buSzPct val="100000"/>
            </a:pPr>
            <a:r>
              <a:rPr lang="en-US" sz="2300" dirty="0">
                <a:hlinkClick r:id="rId5"/>
              </a:rPr>
              <a:t>https://en.wikipedia.org/wiki/Phishing</a:t>
            </a:r>
            <a:endParaRPr lang="en-US" sz="2300" dirty="0"/>
          </a:p>
          <a:p>
            <a:pPr marL="285750" indent="-285750">
              <a:spcBef>
                <a:spcPts val="500"/>
              </a:spcBef>
              <a:buSzPct val="100000"/>
            </a:pPr>
            <a:endParaRPr lang="en-US" sz="2300" dirty="0"/>
          </a:p>
        </p:txBody>
      </p:sp>
      <p:sp>
        <p:nvSpPr>
          <p:cNvPr id="603" name="Google Shape;603;p27"/>
          <p:cNvSpPr txBox="1">
            <a:spLocks noGrp="1"/>
          </p:cNvSpPr>
          <p:nvPr>
            <p:ph type="sldNum" idx="12"/>
          </p:nvPr>
        </p:nvSpPr>
        <p:spPr>
          <a:xfrm>
            <a:off x="8411428" y="6356350"/>
            <a:ext cx="548700" cy="365100"/>
          </a:xfrm>
          <a:prstGeom prst="rect">
            <a:avLst/>
          </a:prstGeom>
          <a:solidFill>
            <a:schemeClr val="lt1"/>
          </a:solidFill>
          <a:ln w="2540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18</a:t>
            </a:fld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8" name="Google Shape;608;p2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868500"/>
          </a:xfrm>
          <a:prstGeom prst="rect">
            <a:avLst/>
          </a:prstGeom>
          <a:solidFill>
            <a:schemeClr val="lt1"/>
          </a:solidFill>
          <a:ln w="2540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4400"/>
              <a:buFont typeface="Arial"/>
              <a:buNone/>
            </a:pPr>
            <a:r>
              <a:rPr lang="en-US"/>
              <a:t>References (1 of 2)</a:t>
            </a:r>
            <a:endParaRPr/>
          </a:p>
        </p:txBody>
      </p:sp>
      <p:sp>
        <p:nvSpPr>
          <p:cNvPr id="609" name="Google Shape;609;p28"/>
          <p:cNvSpPr txBox="1">
            <a:spLocks noGrp="1"/>
          </p:cNvSpPr>
          <p:nvPr>
            <p:ph type="body" idx="1"/>
          </p:nvPr>
        </p:nvSpPr>
        <p:spPr>
          <a:xfrm>
            <a:off x="456178" y="1387450"/>
            <a:ext cx="8229600" cy="5334000"/>
          </a:xfrm>
          <a:prstGeom prst="rect">
            <a:avLst/>
          </a:prstGeom>
          <a:solidFill>
            <a:schemeClr val="lt1"/>
          </a:solidFill>
          <a:ln w="2540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457200" indent="-45720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</a:rPr>
              <a:t>[1]	</a:t>
            </a:r>
            <a:r>
              <a:rPr lang="en-US" sz="1500" b="0" i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</a:rPr>
              <a:t>Y. Zhang, J. I. Hong, and L. F. Cranor, "CANTINA: A content-based approach to detecting phishing web sites," in Proc. 16th Int. Conf. World Wide Web, Banff, AB, Canada, 2007, pp. 639–648.</a:t>
            </a:r>
          </a:p>
          <a:p>
            <a:pPr marL="457200" indent="-45720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500" b="0" i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</a:rPr>
              <a:t>[2]	</a:t>
            </a:r>
            <a:r>
              <a:rPr lang="en-US" sz="1500" b="0" i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</a:rPr>
              <a:t>J. Ma, L. K. Saul, S. Savage, and G. M. Voelker, "Beyond blacklists: Learning to detect malicious web sites from suspicious URLs," in Proc. 15th ACM SIGKDD Int. Conf. Knowl. Discovery Data Mining, Paris, France, 2009, pp. 1245–1254.</a:t>
            </a:r>
          </a:p>
          <a:p>
            <a:pPr marL="457200" indent="-45720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500" b="0" i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</a:rPr>
              <a:t>[3]	</a:t>
            </a:r>
            <a:r>
              <a:rPr lang="en-US" sz="1500" b="0" i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</a:rPr>
              <a:t>R. M. Mohammad, F. Thabtah, and L. McCluskey, "Predicting phishing websites based on self-structuring neural network," Neural Comput. Appl., vol. 25, no. 2, pp. 443–458, 2014.</a:t>
            </a:r>
          </a:p>
          <a:p>
            <a:pPr marL="457200" indent="-45720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500" b="0" i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</a:rPr>
              <a:t>[4]	</a:t>
            </a:r>
            <a:r>
              <a:rPr lang="en-US" sz="1500" b="0" i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</a:rPr>
              <a:t>O. K. Sahingoz, E. Buber, O. Demir, and B. Diri, "Machine learning based phishing detection from URLs," Expert Syst. Appl., vol. 117, pp. 345–357, Mar. 2019, doi: 10.1016/j.eswa.2018.09.029.</a:t>
            </a:r>
          </a:p>
          <a:p>
            <a:pPr marL="457200" indent="-45720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500" b="0" i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</a:rPr>
              <a:t>[5]	</a:t>
            </a:r>
            <a:r>
              <a:rPr lang="en-US" sz="1500" b="0" i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</a:rPr>
              <a:t>M. Korkmaz, O. K. Sahingoz, and B. Diri, "Detection of phishing websites by using machine learning-based URL analysis," in Proc. 11th Int. Conf. Comput., Commun. Netw. Technol. (ICCCNT), 2020, doi: 10.1109/ICCCNT49239.2020.9225561.</a:t>
            </a:r>
          </a:p>
          <a:p>
            <a:pPr marL="457200" indent="-45720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500" b="0" i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</a:rPr>
              <a:t>[6]	</a:t>
            </a:r>
            <a:r>
              <a:rPr lang="en-US" sz="1500" b="0" i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</a:rPr>
              <a:t>S. Garera, N. Provos, M. Chew, and A. D. Rubin, "A framework for detection and measurement of phishing attacks," in Proc. ACM Workshop Recurring Malcode (WORM), Alexandria, VA, USA, 2007, pp. 1–8.</a:t>
            </a:r>
          </a:p>
          <a:p>
            <a:pPr marL="457200" indent="-45720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500" b="0" i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</a:rPr>
              <a:t>[7]	</a:t>
            </a:r>
            <a:r>
              <a:rPr lang="en-US" sz="1500" b="0" i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</a:rPr>
              <a:t>S. Abu-Nimeh, D. Nappa, X. Wang, and S. Nair, "A comparison of machine learning techniques for phishing detection," in Proc. APWG eCrime Researchers Summit, Pittsburgh, PA, USA, 2007, pp. 60–69.</a:t>
            </a:r>
          </a:p>
          <a:p>
            <a:pPr marL="457200" indent="-45720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500" b="0" i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</a:rPr>
              <a:t>[8]	</a:t>
            </a:r>
            <a:r>
              <a:rPr lang="en-US" sz="1500" b="0" i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</a:rPr>
              <a:t>S. Sheng, B. Wardman, G. Warner, L. F. Cranor, J. Hong, and C. Zhang, "An empirical analysis of phishing blacklists," in Proc. 6th Conf. Email Anti-Spam (CEAS), Mountain View, CA, USA, 2009.</a:t>
            </a:r>
          </a:p>
        </p:txBody>
      </p:sp>
      <p:sp>
        <p:nvSpPr>
          <p:cNvPr id="610" name="Google Shape;610;p28"/>
          <p:cNvSpPr txBox="1">
            <a:spLocks noGrp="1"/>
          </p:cNvSpPr>
          <p:nvPr>
            <p:ph type="sldNum" idx="12"/>
          </p:nvPr>
        </p:nvSpPr>
        <p:spPr>
          <a:xfrm>
            <a:off x="8411428" y="6356350"/>
            <a:ext cx="548700" cy="365100"/>
          </a:xfrm>
          <a:prstGeom prst="rect">
            <a:avLst/>
          </a:prstGeom>
          <a:solidFill>
            <a:schemeClr val="lt1"/>
          </a:solidFill>
          <a:ln w="2540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19</a:t>
            </a:fld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5" name="Google Shape;615;p29"/>
          <p:cNvSpPr/>
          <p:nvPr/>
        </p:nvSpPr>
        <p:spPr>
          <a:xfrm>
            <a:off x="1447801" y="2810112"/>
            <a:ext cx="6248400" cy="1200300"/>
          </a:xfrm>
          <a:prstGeom prst="rect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200" b="1" i="0" u="none" strike="noStrike" cap="none">
                <a:solidFill>
                  <a:srgbClr val="26262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Thank you</a:t>
            </a:r>
            <a:endParaRPr/>
          </a:p>
        </p:txBody>
      </p:sp>
      <p:sp>
        <p:nvSpPr>
          <p:cNvPr id="616" name="Google Shape;616;p2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20</a:t>
            </a:fld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1" name="Google Shape;531;p1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868500"/>
          </a:xfrm>
          <a:prstGeom prst="rect">
            <a:avLst/>
          </a:prstGeom>
          <a:solidFill>
            <a:schemeClr val="lt1"/>
          </a:solidFill>
          <a:ln w="2540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4400"/>
              <a:buFont typeface="Arial"/>
              <a:buNone/>
            </a:pPr>
            <a:r>
              <a:rPr lang="en-US" dirty="0"/>
              <a:t>2. </a:t>
            </a:r>
            <a:r>
              <a:rPr lang="en-US"/>
              <a:t>Literature Survey (2 of 2)</a:t>
            </a:r>
            <a:endParaRPr/>
          </a:p>
        </p:txBody>
      </p:sp>
      <p:sp>
        <p:nvSpPr>
          <p:cNvPr id="532" name="Google Shape;532;p17"/>
          <p:cNvSpPr txBox="1">
            <a:spLocks noGrp="1"/>
          </p:cNvSpPr>
          <p:nvPr>
            <p:ph type="body" idx="1"/>
          </p:nvPr>
        </p:nvSpPr>
        <p:spPr>
          <a:xfrm>
            <a:off x="457200" y="1219200"/>
            <a:ext cx="8229600" cy="5334000"/>
          </a:xfrm>
          <a:prstGeom prst="rect">
            <a:avLst/>
          </a:prstGeom>
          <a:solidFill>
            <a:schemeClr val="lt1"/>
          </a:solidFill>
          <a:ln w="2540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endParaRPr lang="en-US" sz="1800"/>
          </a:p>
        </p:txBody>
      </p:sp>
      <p:sp>
        <p:nvSpPr>
          <p:cNvPr id="533" name="Google Shape;533;p17"/>
          <p:cNvSpPr txBox="1">
            <a:spLocks noGrp="1"/>
          </p:cNvSpPr>
          <p:nvPr>
            <p:ph type="sldNum" idx="12"/>
          </p:nvPr>
        </p:nvSpPr>
        <p:spPr>
          <a:xfrm>
            <a:off x="8411428" y="6356350"/>
            <a:ext cx="548700" cy="365100"/>
          </a:xfrm>
          <a:prstGeom prst="rect">
            <a:avLst/>
          </a:prstGeom>
          <a:solidFill>
            <a:schemeClr val="lt1"/>
          </a:solidFill>
          <a:ln w="2540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5</a:t>
            </a:fld>
            <a:endParaRPr/>
          </a:p>
        </p:txBody>
      </p:sp>
      <p:graphicFrame>
        <p:nvGraphicFramePr>
          <p:cNvPr id="901" name="Table 901"/>
          <p:cNvGraphicFramePr/>
          <p:nvPr/>
        </p:nvGraphicFramePr>
        <p:xfrm>
          <a:off x="457200" y="1400000"/>
          <a:ext cx="8229600" cy="4850000"/>
        </p:xfrm>
        <a:graphic>
          <a:graphicData uri="http://schemas.openxmlformats.org/drawingml/2006/table">
            <a:tbl>
              <a:tblPr firstRow="1"/>
              <a:tblGrid>
                <a:gridCol w="600000"/>
                <a:gridCol w="2200000"/>
                <a:gridCol w="2929600"/>
                <a:gridCol w="2500000"/>
              </a:tblGrid>
              <a:tr h="50000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500" b="1" i="0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Sr.</a:t>
                      </a:r>
                    </a:p>
                  </a:txBody>
                  <a:tcPr marL="91450" marR="91450" marT="45725" marB="45725" anchor="ctr">
                    <a:lnL w="12700">
                      <a:solidFill>
                        <a:schemeClr val="accent1"/>
                      </a:solidFill>
                    </a:lnL>
                    <a:lnR w="12700">
                      <a:solidFill>
                        <a:schemeClr val="accent1"/>
                      </a:solidFill>
                    </a:lnR>
                    <a:lnT w="12700">
                      <a:solidFill>
                        <a:schemeClr val="accent1"/>
                      </a:solidFill>
                    </a:lnT>
                    <a:lnB w="12700">
                      <a:solidFill>
                        <a:schemeClr val="accent1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500" b="1" i="0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Author and Year</a:t>
                      </a:r>
                    </a:p>
                  </a:txBody>
                  <a:tcPr marL="91450" marR="91450" marT="45725" marB="45725" anchor="ctr">
                    <a:lnL w="12700">
                      <a:solidFill>
                        <a:schemeClr val="accent1"/>
                      </a:solidFill>
                    </a:lnL>
                    <a:lnR w="12700">
                      <a:solidFill>
                        <a:schemeClr val="accent1"/>
                      </a:solidFill>
                    </a:lnR>
                    <a:lnT w="12700">
                      <a:solidFill>
                        <a:schemeClr val="accent1"/>
                      </a:solidFill>
                    </a:lnT>
                    <a:lnB w="12700">
                      <a:solidFill>
                        <a:schemeClr val="accent1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500" b="1" i="0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Method used</a:t>
                      </a:r>
                    </a:p>
                  </a:txBody>
                  <a:tcPr marL="91450" marR="91450" marT="45725" marB="45725" anchor="ctr">
                    <a:lnL w="12700">
                      <a:solidFill>
                        <a:schemeClr val="accent1"/>
                      </a:solidFill>
                    </a:lnL>
                    <a:lnR w="12700">
                      <a:solidFill>
                        <a:schemeClr val="accent1"/>
                      </a:solidFill>
                    </a:lnR>
                    <a:lnT w="12700">
                      <a:solidFill>
                        <a:schemeClr val="accent1"/>
                      </a:solidFill>
                    </a:lnT>
                    <a:lnB w="12700">
                      <a:solidFill>
                        <a:schemeClr val="accent1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500" b="1" i="0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Finding</a:t>
                      </a:r>
                    </a:p>
                  </a:txBody>
                  <a:tcPr marL="91450" marR="91450" marT="45725" marB="45725" anchor="ctr">
                    <a:lnL w="12700">
                      <a:solidFill>
                        <a:schemeClr val="accent1"/>
                      </a:solidFill>
                    </a:lnL>
                    <a:lnR w="12700">
                      <a:solidFill>
                        <a:schemeClr val="accent1"/>
                      </a:solidFill>
                    </a:lnR>
                    <a:lnT w="12700">
                      <a:solidFill>
                        <a:schemeClr val="accent1"/>
                      </a:solidFill>
                    </a:lnT>
                    <a:lnB w="12700">
                      <a:solidFill>
                        <a:schemeClr val="accent1"/>
                      </a:solidFill>
                    </a:lnB>
                    <a:solidFill>
                      <a:srgbClr val="1F3864"/>
                    </a:solidFill>
                  </a:tcPr>
                </a:tc>
              </a:tr>
              <a:tr h="72500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500" b="1" i="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7</a:t>
                      </a:r>
                    </a:p>
                  </a:txBody>
                  <a:tcPr marL="91450" marR="91450" marT="45725" marB="45725" anchor="ctr">
                    <a:lnL w="12700">
                      <a:solidFill>
                        <a:schemeClr val="accent1"/>
                      </a:solidFill>
                    </a:lnL>
                    <a:lnR w="12700">
                      <a:solidFill>
                        <a:schemeClr val="accent1"/>
                      </a:solidFill>
                    </a:lnR>
                    <a:lnT w="12700">
                      <a:solidFill>
                        <a:schemeClr val="accent1"/>
                      </a:solidFill>
                    </a:lnT>
                    <a:lnB w="12700">
                      <a:solidFill>
                        <a:schemeClr val="accent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500" b="0" i="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Abu-Nimeh et al., 2007 [7]</a:t>
                      </a:r>
                    </a:p>
                  </a:txBody>
                  <a:tcPr marL="91450" marR="91450" marT="45725" marB="45725" anchor="ctr">
                    <a:lnL w="12700">
                      <a:solidFill>
                        <a:schemeClr val="accent1"/>
                      </a:solidFill>
                    </a:lnL>
                    <a:lnR w="12700">
                      <a:solidFill>
                        <a:schemeClr val="accent1"/>
                      </a:solidFill>
                    </a:lnR>
                    <a:lnT w="12700">
                      <a:solidFill>
                        <a:schemeClr val="accent1"/>
                      </a:solidFill>
                    </a:lnT>
                    <a:lnB w="12700">
                      <a:solidFill>
                        <a:schemeClr val="accent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500" b="0" i="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Compared 6 machine learning methods on phishing e-mails</a:t>
                      </a:r>
                    </a:p>
                  </a:txBody>
                  <a:tcPr marL="91450" marR="91450" marT="45725" marB="45725" anchor="ctr">
                    <a:lnL w="12700">
                      <a:solidFill>
                        <a:schemeClr val="accent1"/>
                      </a:solidFill>
                    </a:lnL>
                    <a:lnR w="12700">
                      <a:solidFill>
                        <a:schemeClr val="accent1"/>
                      </a:solidFill>
                    </a:lnR>
                    <a:lnT w="12700">
                      <a:solidFill>
                        <a:schemeClr val="accent1"/>
                      </a:solidFill>
                    </a:lnT>
                    <a:lnB w="12700">
                      <a:solidFill>
                        <a:schemeClr val="accent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500" b="0" i="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No single method was best in every test</a:t>
                      </a:r>
                    </a:p>
                  </a:txBody>
                  <a:tcPr marL="91450" marR="91450" marT="45725" marB="45725" anchor="ctr">
                    <a:lnL w="12700">
                      <a:solidFill>
                        <a:schemeClr val="accent1"/>
                      </a:solidFill>
                    </a:lnL>
                    <a:lnR w="12700">
                      <a:solidFill>
                        <a:schemeClr val="accent1"/>
                      </a:solidFill>
                    </a:lnR>
                    <a:lnT w="12700">
                      <a:solidFill>
                        <a:schemeClr val="accent1"/>
                      </a:solidFill>
                    </a:lnT>
                    <a:lnB w="12700">
                      <a:solidFill>
                        <a:schemeClr val="accent1"/>
                      </a:solidFill>
                    </a:lnB>
                  </a:tcPr>
                </a:tc>
              </a:tr>
              <a:tr h="72500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500" b="1" i="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8</a:t>
                      </a:r>
                    </a:p>
                  </a:txBody>
                  <a:tcPr marL="91450" marR="91450" marT="45725" marB="45725" anchor="ctr">
                    <a:lnL w="12700">
                      <a:solidFill>
                        <a:schemeClr val="accent1"/>
                      </a:solidFill>
                    </a:lnL>
                    <a:lnR w="12700">
                      <a:solidFill>
                        <a:schemeClr val="accent1"/>
                      </a:solidFill>
                    </a:lnR>
                    <a:lnT w="12700">
                      <a:solidFill>
                        <a:schemeClr val="accent1"/>
                      </a:solidFill>
                    </a:lnT>
                    <a:lnB w="12700">
                      <a:solidFill>
                        <a:schemeClr val="accent1"/>
                      </a:solidFill>
                    </a:lnB>
                    <a:solidFill>
                      <a:srgbClr val="EAF0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500" b="0" i="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Sheng et al., 2009 [8]</a:t>
                      </a:r>
                    </a:p>
                  </a:txBody>
                  <a:tcPr marL="91450" marR="91450" marT="45725" marB="45725" anchor="ctr">
                    <a:lnL w="12700">
                      <a:solidFill>
                        <a:schemeClr val="accent1"/>
                      </a:solidFill>
                    </a:lnL>
                    <a:lnR w="12700">
                      <a:solidFill>
                        <a:schemeClr val="accent1"/>
                      </a:solidFill>
                    </a:lnR>
                    <a:lnT w="12700">
                      <a:solidFill>
                        <a:schemeClr val="accent1"/>
                      </a:solidFill>
                    </a:lnT>
                    <a:lnB w="12700">
                      <a:solidFill>
                        <a:schemeClr val="accent1"/>
                      </a:solidFill>
                    </a:lnB>
                    <a:solidFill>
                      <a:srgbClr val="EAF0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500" b="0" i="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Checked how fast phishing blacklists add new fake sites</a:t>
                      </a:r>
                    </a:p>
                  </a:txBody>
                  <a:tcPr marL="91450" marR="91450" marT="45725" marB="45725" anchor="ctr">
                    <a:lnL w="12700">
                      <a:solidFill>
                        <a:schemeClr val="accent1"/>
                      </a:solidFill>
                    </a:lnL>
                    <a:lnR w="12700">
                      <a:solidFill>
                        <a:schemeClr val="accent1"/>
                      </a:solidFill>
                    </a:lnR>
                    <a:lnT w="12700">
                      <a:solidFill>
                        <a:schemeClr val="accent1"/>
                      </a:solidFill>
                    </a:lnT>
                    <a:lnB w="12700">
                      <a:solidFill>
                        <a:schemeClr val="accent1"/>
                      </a:solidFill>
                    </a:lnB>
                    <a:solidFill>
                      <a:srgbClr val="EAF0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500" b="0" i="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Blacklists miss most new fake sites in the first hours</a:t>
                      </a:r>
                    </a:p>
                  </a:txBody>
                  <a:tcPr marL="91450" marR="91450" marT="45725" marB="45725" anchor="ctr">
                    <a:lnL w="12700">
                      <a:solidFill>
                        <a:schemeClr val="accent1"/>
                      </a:solidFill>
                    </a:lnL>
                    <a:lnR w="12700">
                      <a:solidFill>
                        <a:schemeClr val="accent1"/>
                      </a:solidFill>
                    </a:lnR>
                    <a:lnT w="12700">
                      <a:solidFill>
                        <a:schemeClr val="accent1"/>
                      </a:solidFill>
                    </a:lnT>
                    <a:lnB w="12700">
                      <a:solidFill>
                        <a:schemeClr val="accent1"/>
                      </a:solidFill>
                    </a:lnB>
                    <a:solidFill>
                      <a:srgbClr val="EAF0FA"/>
                    </a:solidFill>
                  </a:tcPr>
                </a:tc>
              </a:tr>
              <a:tr h="72500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500" b="1" i="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</a:t>
                      </a:r>
                    </a:p>
                  </a:txBody>
                  <a:tcPr marL="91450" marR="91450" marT="45725" marB="45725" anchor="ctr">
                    <a:lnL w="12700">
                      <a:solidFill>
                        <a:schemeClr val="accent1"/>
                      </a:solidFill>
                    </a:lnL>
                    <a:lnR w="12700">
                      <a:solidFill>
                        <a:schemeClr val="accent1"/>
                      </a:solidFill>
                    </a:lnR>
                    <a:lnT w="12700">
                      <a:solidFill>
                        <a:schemeClr val="accent1"/>
                      </a:solidFill>
                    </a:lnT>
                    <a:lnB w="12700">
                      <a:solidFill>
                        <a:schemeClr val="accent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500" b="0" i="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Whittaker et al., 2010 [9]</a:t>
                      </a:r>
                    </a:p>
                  </a:txBody>
                  <a:tcPr marL="91450" marR="91450" marT="45725" marB="45725" anchor="ctr">
                    <a:lnL w="12700">
                      <a:solidFill>
                        <a:schemeClr val="accent1"/>
                      </a:solidFill>
                    </a:lnL>
                    <a:lnR w="12700">
                      <a:solidFill>
                        <a:schemeClr val="accent1"/>
                      </a:solidFill>
                    </a:lnR>
                    <a:lnT w="12700">
                      <a:solidFill>
                        <a:schemeClr val="accent1"/>
                      </a:solidFill>
                    </a:lnT>
                    <a:lnB w="12700">
                      <a:solidFill>
                        <a:schemeClr val="accent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500" b="0" i="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Google system that automatically classifies pages using page and link features</a:t>
                      </a:r>
                    </a:p>
                  </a:txBody>
                  <a:tcPr marL="91450" marR="91450" marT="45725" marB="45725" anchor="ctr">
                    <a:lnL w="12700">
                      <a:solidFill>
                        <a:schemeClr val="accent1"/>
                      </a:solidFill>
                    </a:lnL>
                    <a:lnR w="12700">
                      <a:solidFill>
                        <a:schemeClr val="accent1"/>
                      </a:solidFill>
                    </a:lnR>
                    <a:lnT w="12700">
                      <a:solidFill>
                        <a:schemeClr val="accent1"/>
                      </a:solidFill>
                    </a:lnT>
                    <a:lnB w="12700">
                      <a:solidFill>
                        <a:schemeClr val="accent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500" b="0" i="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Found most phishing pages with very few false alarms</a:t>
                      </a:r>
                    </a:p>
                  </a:txBody>
                  <a:tcPr marL="91450" marR="91450" marT="45725" marB="45725" anchor="ctr">
                    <a:lnL w="12700">
                      <a:solidFill>
                        <a:schemeClr val="accent1"/>
                      </a:solidFill>
                    </a:lnL>
                    <a:lnR w="12700">
                      <a:solidFill>
                        <a:schemeClr val="accent1"/>
                      </a:solidFill>
                    </a:lnR>
                    <a:lnT w="12700">
                      <a:solidFill>
                        <a:schemeClr val="accent1"/>
                      </a:solidFill>
                    </a:lnT>
                    <a:lnB w="12700">
                      <a:solidFill>
                        <a:schemeClr val="accent1"/>
                      </a:solidFill>
                    </a:lnB>
                  </a:tcPr>
                </a:tc>
              </a:tr>
              <a:tr h="72500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500" b="1" i="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marL="91450" marR="91450" marT="45725" marB="45725" anchor="ctr">
                    <a:lnL w="12700">
                      <a:solidFill>
                        <a:schemeClr val="accent1"/>
                      </a:solidFill>
                    </a:lnL>
                    <a:lnR w="12700">
                      <a:solidFill>
                        <a:schemeClr val="accent1"/>
                      </a:solidFill>
                    </a:lnR>
                    <a:lnT w="12700">
                      <a:solidFill>
                        <a:schemeClr val="accent1"/>
                      </a:solidFill>
                    </a:lnT>
                    <a:lnB w="12700">
                      <a:solidFill>
                        <a:schemeClr val="accent1"/>
                      </a:solidFill>
                    </a:lnB>
                    <a:solidFill>
                      <a:srgbClr val="EAF0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500" b="0" i="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Marchal et al., 2014 [10]</a:t>
                      </a:r>
                    </a:p>
                  </a:txBody>
                  <a:tcPr marL="91450" marR="91450" marT="45725" marB="45725" anchor="ctr">
                    <a:lnL w="12700">
                      <a:solidFill>
                        <a:schemeClr val="accent1"/>
                      </a:solidFill>
                    </a:lnL>
                    <a:lnR w="12700">
                      <a:solidFill>
                        <a:schemeClr val="accent1"/>
                      </a:solidFill>
                    </a:lnR>
                    <a:lnT w="12700">
                      <a:solidFill>
                        <a:schemeClr val="accent1"/>
                      </a:solidFill>
                    </a:lnT>
                    <a:lnB w="12700">
                      <a:solidFill>
                        <a:schemeClr val="accent1"/>
                      </a:solidFill>
                    </a:lnB>
                    <a:solidFill>
                      <a:srgbClr val="EAF0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500" b="0" i="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PhishStorm: checks how the words in a link are related to each other</a:t>
                      </a:r>
                    </a:p>
                  </a:txBody>
                  <a:tcPr marL="91450" marR="91450" marT="45725" marB="45725" anchor="ctr">
                    <a:lnL w="12700">
                      <a:solidFill>
                        <a:schemeClr val="accent1"/>
                      </a:solidFill>
                    </a:lnL>
                    <a:lnR w="12700">
                      <a:solidFill>
                        <a:schemeClr val="accent1"/>
                      </a:solidFill>
                    </a:lnR>
                    <a:lnT w="12700">
                      <a:solidFill>
                        <a:schemeClr val="accent1"/>
                      </a:solidFill>
                    </a:lnT>
                    <a:lnB w="12700">
                      <a:solidFill>
                        <a:schemeClr val="accent1"/>
                      </a:solidFill>
                    </a:lnB>
                    <a:solidFill>
                      <a:srgbClr val="EAF0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500" b="0" i="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About 95% accuracy using only the link</a:t>
                      </a:r>
                    </a:p>
                  </a:txBody>
                  <a:tcPr marL="91450" marR="91450" marT="45725" marB="45725" anchor="ctr">
                    <a:lnL w="12700">
                      <a:solidFill>
                        <a:schemeClr val="accent1"/>
                      </a:solidFill>
                    </a:lnL>
                    <a:lnR w="12700">
                      <a:solidFill>
                        <a:schemeClr val="accent1"/>
                      </a:solidFill>
                    </a:lnR>
                    <a:lnT w="12700">
                      <a:solidFill>
                        <a:schemeClr val="accent1"/>
                      </a:solidFill>
                    </a:lnT>
                    <a:lnB w="12700">
                      <a:solidFill>
                        <a:schemeClr val="accent1"/>
                      </a:solidFill>
                    </a:lnB>
                    <a:solidFill>
                      <a:srgbClr val="EAF0FA"/>
                    </a:solidFill>
                  </a:tcPr>
                </a:tc>
              </a:tr>
              <a:tr h="72500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500" b="1" i="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11</a:t>
                      </a:r>
                    </a:p>
                  </a:txBody>
                  <a:tcPr marL="91450" marR="91450" marT="45725" marB="45725" anchor="ctr">
                    <a:lnL w="12700">
                      <a:solidFill>
                        <a:schemeClr val="accent1"/>
                      </a:solidFill>
                    </a:lnL>
                    <a:lnR w="12700">
                      <a:solidFill>
                        <a:schemeClr val="accent1"/>
                      </a:solidFill>
                    </a:lnR>
                    <a:lnT w="12700">
                      <a:solidFill>
                        <a:schemeClr val="accent1"/>
                      </a:solidFill>
                    </a:lnT>
                    <a:lnB w="12700">
                      <a:solidFill>
                        <a:schemeClr val="accent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500" b="0" i="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Bahnsen et al., 2017 [11]</a:t>
                      </a:r>
                    </a:p>
                  </a:txBody>
                  <a:tcPr marL="91450" marR="91450" marT="45725" marB="45725" anchor="ctr">
                    <a:lnL w="12700">
                      <a:solidFill>
                        <a:schemeClr val="accent1"/>
                      </a:solidFill>
                    </a:lnL>
                    <a:lnR w="12700">
                      <a:solidFill>
                        <a:schemeClr val="accent1"/>
                      </a:solidFill>
                    </a:lnR>
                    <a:lnT w="12700">
                      <a:solidFill>
                        <a:schemeClr val="accent1"/>
                      </a:solidFill>
                    </a:lnT>
                    <a:lnB w="12700">
                      <a:solidFill>
                        <a:schemeClr val="accent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500" b="0" i="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Deep learning (LSTM) learns directly from the characters of the URL</a:t>
                      </a:r>
                    </a:p>
                  </a:txBody>
                  <a:tcPr marL="91450" marR="91450" marT="45725" marB="45725" anchor="ctr">
                    <a:lnL w="12700">
                      <a:solidFill>
                        <a:schemeClr val="accent1"/>
                      </a:solidFill>
                    </a:lnL>
                    <a:lnR w="12700">
                      <a:solidFill>
                        <a:schemeClr val="accent1"/>
                      </a:solidFill>
                    </a:lnR>
                    <a:lnT w="12700">
                      <a:solidFill>
                        <a:schemeClr val="accent1"/>
                      </a:solidFill>
                    </a:lnT>
                    <a:lnB w="12700">
                      <a:solidFill>
                        <a:schemeClr val="accent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500" b="0" i="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Did better than Random Forest with hand-made clues</a:t>
                      </a:r>
                    </a:p>
                  </a:txBody>
                  <a:tcPr marL="91450" marR="91450" marT="45725" marB="45725" anchor="ctr">
                    <a:lnL w="12700">
                      <a:solidFill>
                        <a:schemeClr val="accent1"/>
                      </a:solidFill>
                    </a:lnL>
                    <a:lnR w="12700">
                      <a:solidFill>
                        <a:schemeClr val="accent1"/>
                      </a:solidFill>
                    </a:lnR>
                    <a:lnT w="12700">
                      <a:solidFill>
                        <a:schemeClr val="accent1"/>
                      </a:solidFill>
                    </a:lnT>
                    <a:lnB w="12700">
                      <a:solidFill>
                        <a:schemeClr val="accent1"/>
                      </a:solidFill>
                    </a:lnB>
                  </a:tcPr>
                </a:tc>
              </a:tr>
              <a:tr h="72500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500" b="1" i="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12</a:t>
                      </a:r>
                    </a:p>
                  </a:txBody>
                  <a:tcPr marL="91450" marR="91450" marT="45725" marB="45725" anchor="ctr">
                    <a:lnL w="12700">
                      <a:solidFill>
                        <a:schemeClr val="accent1"/>
                      </a:solidFill>
                    </a:lnL>
                    <a:lnR w="12700">
                      <a:solidFill>
                        <a:schemeClr val="accent1"/>
                      </a:solidFill>
                    </a:lnR>
                    <a:lnT w="12700">
                      <a:solidFill>
                        <a:schemeClr val="accent1"/>
                      </a:solidFill>
                    </a:lnT>
                    <a:lnB w="12700">
                      <a:solidFill>
                        <a:schemeClr val="accent1"/>
                      </a:solidFill>
                    </a:lnB>
                    <a:solidFill>
                      <a:srgbClr val="EAF0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500" b="0" i="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Le et al., 2018 [12]</a:t>
                      </a:r>
                    </a:p>
                  </a:txBody>
                  <a:tcPr marL="91450" marR="91450" marT="45725" marB="45725" anchor="ctr">
                    <a:lnL w="12700">
                      <a:solidFill>
                        <a:schemeClr val="accent1"/>
                      </a:solidFill>
                    </a:lnL>
                    <a:lnR w="12700">
                      <a:solidFill>
                        <a:schemeClr val="accent1"/>
                      </a:solidFill>
                    </a:lnR>
                    <a:lnT w="12700">
                      <a:solidFill>
                        <a:schemeClr val="accent1"/>
                      </a:solidFill>
                    </a:lnT>
                    <a:lnB w="12700">
                      <a:solidFill>
                        <a:schemeClr val="accent1"/>
                      </a:solidFill>
                    </a:lnB>
                    <a:solidFill>
                      <a:srgbClr val="EAF0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500" b="0" i="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URLNet: deep learning (CNN) on both characters and words of the URL</a:t>
                      </a:r>
                    </a:p>
                  </a:txBody>
                  <a:tcPr marL="91450" marR="91450" marT="45725" marB="45725" anchor="ctr">
                    <a:lnL w="12700">
                      <a:solidFill>
                        <a:schemeClr val="accent1"/>
                      </a:solidFill>
                    </a:lnL>
                    <a:lnR w="12700">
                      <a:solidFill>
                        <a:schemeClr val="accent1"/>
                      </a:solidFill>
                    </a:lnR>
                    <a:lnT w="12700">
                      <a:solidFill>
                        <a:schemeClr val="accent1"/>
                      </a:solidFill>
                    </a:lnT>
                    <a:lnB w="12700">
                      <a:solidFill>
                        <a:schemeClr val="accent1"/>
                      </a:solidFill>
                    </a:lnB>
                    <a:solidFill>
                      <a:srgbClr val="EAF0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500" b="0" i="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Better than older methods at finding bad links</a:t>
                      </a:r>
                    </a:p>
                  </a:txBody>
                  <a:tcPr marL="91450" marR="91450" marT="45725" marB="45725" anchor="ctr">
                    <a:lnL w="12700">
                      <a:solidFill>
                        <a:schemeClr val="accent1"/>
                      </a:solidFill>
                    </a:lnL>
                    <a:lnR w="12700">
                      <a:solidFill>
                        <a:schemeClr val="accent1"/>
                      </a:solidFill>
                    </a:lnR>
                    <a:lnT w="12700">
                      <a:solidFill>
                        <a:schemeClr val="accent1"/>
                      </a:solidFill>
                    </a:lnT>
                    <a:lnB w="12700">
                      <a:solidFill>
                        <a:schemeClr val="accent1"/>
                      </a:solidFill>
                    </a:lnB>
                    <a:solidFill>
                      <a:srgbClr val="EAF0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8" name="Google Shape;608;p2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868500"/>
          </a:xfrm>
          <a:prstGeom prst="rect">
            <a:avLst/>
          </a:prstGeom>
          <a:solidFill>
            <a:schemeClr val="lt1"/>
          </a:solidFill>
          <a:ln w="2540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4400"/>
              <a:buFont typeface="Arial"/>
              <a:buNone/>
            </a:pPr>
            <a:r>
              <a:rPr lang="en-US"/>
              <a:t>References (2 of 2)</a:t>
            </a:r>
            <a:endParaRPr/>
          </a:p>
        </p:txBody>
      </p:sp>
      <p:sp>
        <p:nvSpPr>
          <p:cNvPr id="609" name="Google Shape;609;p28"/>
          <p:cNvSpPr txBox="1">
            <a:spLocks noGrp="1"/>
          </p:cNvSpPr>
          <p:nvPr>
            <p:ph type="body" idx="1"/>
          </p:nvPr>
        </p:nvSpPr>
        <p:spPr>
          <a:xfrm>
            <a:off x="456178" y="1387450"/>
            <a:ext cx="8229600" cy="5334000"/>
          </a:xfrm>
          <a:prstGeom prst="rect">
            <a:avLst/>
          </a:prstGeom>
          <a:solidFill>
            <a:schemeClr val="lt1"/>
          </a:solidFill>
          <a:ln w="2540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457200" indent="-45720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</a:rPr>
              <a:t>[9]	</a:t>
            </a:r>
            <a:r>
              <a:rPr lang="en-US" sz="1500" b="0" i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</a:rPr>
              <a:t>C. Whittaker, B. Ryner, and M. Nazif, "Large-scale automatic classification of phishing pages," in Proc. 17th Annu. Netw. Distrib. Syst. Secur. Symp. (NDSS), San Diego, CA, USA, 2010.</a:t>
            </a:r>
          </a:p>
          <a:p>
            <a:pPr marL="457200" indent="-45720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500" b="0" i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</a:rPr>
              <a:t>[10]	</a:t>
            </a:r>
            <a:r>
              <a:rPr lang="en-US" sz="1500" b="0" i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</a:rPr>
              <a:t>S. Marchal, J. François, R. State, and T. Engel, "PhishStorm: Detecting phishing with streaming analytics," IEEE Trans. Netw. Service Manag., vol. 11, no. 4, pp. 458–471, Dec. 2014.</a:t>
            </a:r>
          </a:p>
          <a:p>
            <a:pPr marL="457200" indent="-45720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500" b="0" i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</a:rPr>
              <a:t>[11]	</a:t>
            </a:r>
            <a:r>
              <a:rPr lang="en-US" sz="1500" b="0" i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</a:rPr>
              <a:t>A. C. Bahnsen, E. C. Bohorquez, S. Villegas, J. Vargas, and F. A. González, "Classifying phishing URLs using recurrent neural networks," in Proc. APWG Symp. Electron. Crime Res. (eCrime), Scottsdale, AZ, USA, 2017, pp. 1–8.</a:t>
            </a:r>
          </a:p>
          <a:p>
            <a:pPr marL="457200" indent="-45720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500" b="0" i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</a:rPr>
              <a:t>[12]	</a:t>
            </a:r>
            <a:r>
              <a:rPr lang="en-US" sz="1500" b="0" i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</a:rPr>
              <a:t>H. Le, Q. Pham, D. Sahoo, and S. C. H. Hoi, "URLNet: Learning a URL representation with deep learning for malicious URL detection," arXiv:1802.03162, 2018.</a:t>
            </a:r>
          </a:p>
          <a:p>
            <a:pPr marL="457200" indent="-45720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500" b="0" i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</a:rPr>
              <a:t>[13]	</a:t>
            </a:r>
            <a:r>
              <a:rPr lang="en-US" sz="1500" b="0" i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</a:rPr>
              <a:t>"Phishing websites," UCI Machine Learning Repository. [Online]. Available: https://archive.ics.uci.edu/dataset/327/phishing+websites. [Accessed: Oct. 16, 2026].</a:t>
            </a:r>
          </a:p>
          <a:p>
            <a:pPr marL="457200" indent="-45720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500" b="0" i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</a:rPr>
              <a:t>[14]	</a:t>
            </a:r>
            <a:r>
              <a:rPr lang="en-US" sz="1500" b="0" i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</a:rPr>
              <a:t>PhishTank, "Join the fight against phishing." [Online]. Available: https://www.phishtank.com. [Accessed: Oct. 16, 2026].</a:t>
            </a:r>
          </a:p>
          <a:p>
            <a:pPr marL="457200" indent="-45720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500" b="0" i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</a:rPr>
              <a:t>[15]	</a:t>
            </a:r>
            <a:r>
              <a:rPr lang="en-US" sz="1500" b="0" i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</a:rPr>
              <a:t>scikit-learn developers, "scikit-learn: Machine learning in Python." [Online]. Available: https://scikit-learn.org. [Accessed: Oct. 16, 2026].</a:t>
            </a:r>
          </a:p>
        </p:txBody>
      </p:sp>
      <p:sp>
        <p:nvSpPr>
          <p:cNvPr id="610" name="Google Shape;610;p28"/>
          <p:cNvSpPr txBox="1">
            <a:spLocks noGrp="1"/>
          </p:cNvSpPr>
          <p:nvPr>
            <p:ph type="sldNum" idx="12"/>
          </p:nvPr>
        </p:nvSpPr>
        <p:spPr>
          <a:xfrm>
            <a:off x="8411428" y="6356350"/>
            <a:ext cx="548700" cy="365100"/>
          </a:xfrm>
          <a:prstGeom prst="rect">
            <a:avLst/>
          </a:prstGeom>
          <a:solidFill>
            <a:schemeClr val="lt1"/>
          </a:solidFill>
          <a:ln w="2540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19</a:t>
            </a:fld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1364</Words>
  <Application>Microsoft Office PowerPoint</Application>
  <PresentationFormat>On-screen Show (4:3)</PresentationFormat>
  <Paragraphs>208</Paragraphs>
  <Slides>20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4" baseType="lpstr">
      <vt:lpstr>Arial</vt:lpstr>
      <vt:lpstr>Calibri</vt:lpstr>
      <vt:lpstr>Times New Roman</vt:lpstr>
      <vt:lpstr>Office Theme</vt:lpstr>
      <vt:lpstr>PowerPoint Presentation</vt:lpstr>
      <vt:lpstr>Contents</vt:lpstr>
      <vt:lpstr>Abstract</vt:lpstr>
      <vt:lpstr>1. Introduction</vt:lpstr>
      <vt:lpstr>2. Literature Review</vt:lpstr>
      <vt:lpstr>3. Information to seminar topic</vt:lpstr>
      <vt:lpstr>3.1 How we find fake websites</vt:lpstr>
      <vt:lpstr>3.2 How our system works</vt:lpstr>
      <vt:lpstr>3.3 Machine Learning used</vt:lpstr>
      <vt:lpstr>4. Advantages / Disadvantages</vt:lpstr>
      <vt:lpstr>5. Conclusion</vt:lpstr>
      <vt:lpstr>6. Project Initiation</vt:lpstr>
      <vt:lpstr>6.1 Description of problem statement</vt:lpstr>
      <vt:lpstr>6.2 Scope and objectives</vt:lpstr>
      <vt:lpstr>6.3 Stake holder</vt:lpstr>
      <vt:lpstr>6.4 Seminar execution plan</vt:lpstr>
      <vt:lpstr>6.5 Platform / Equipment / Resources</vt:lpstr>
      <vt:lpstr>Bibliography</vt:lpstr>
      <vt:lpstr>References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Manish Patil</cp:lastModifiedBy>
  <cp:revision>1</cp:revision>
  <dcterms:modified xsi:type="dcterms:W3CDTF">2026-10-16T07:39:26Z</dcterms:modified>
</cp:coreProperties>
</file>