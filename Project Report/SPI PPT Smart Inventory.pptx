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22"/>
  </p:notesMasterIdLst>
  <p:sldIdLst>
    <p:sldId id="256" r:id="rId2"/>
    <p:sldId id="257" r:id="rId3"/>
    <p:sldId id="258" r:id="rId4"/>
    <p:sldId id="259" r:id="rId5"/>
    <p:sldId id="260" r:id="rId6"/>
    <p:sldId id="273" r:id="rId7"/>
    <p:sldId id="274" r:id="rId8"/>
    <p:sldId id="275"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8077A5B-8C0D-40D8-8557-44EC33DBB8F6}">
  <a:tblStyle styleId="{98077A5B-8C0D-40D8-8557-44EC33DBB8F6}" styleName="Table_0">
    <a:wholeTbl>
      <a:tcTxStyle b="off" i="off">
        <a:font>
          <a:latin typeface="Times New Roman"/>
          <a:ea typeface="Times New Roman"/>
          <a:cs typeface="Times New Roman"/>
        </a:font>
        <a:schemeClr val="dk1"/>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op>
            <a:ln w="9525" cap="flat" cmpd="sng">
              <a:solidFill>
                <a:schemeClr val="accent1"/>
              </a:solidFill>
              <a:prstDash val="solid"/>
              <a:round/>
              <a:headEnd type="none" w="sm" len="sm"/>
              <a:tailEnd type="none" w="sm" len="sm"/>
            </a:ln>
          </a:top>
          <a:bottom>
            <a:ln w="9525" cap="flat" cmpd="sng">
              <a:solidFill>
                <a:schemeClr val="accent1"/>
              </a:solidFill>
              <a:prstDash val="solid"/>
              <a:round/>
              <a:headEnd type="none" w="sm" len="sm"/>
              <a:tailEnd type="none" w="sm" len="sm"/>
            </a:ln>
          </a:bottom>
        </a:tcBdr>
      </a:tcStyle>
    </a:band1H>
    <a:band2H>
      <a:tcTxStyle/>
      <a:tcStyle>
        <a:tcBdr/>
      </a:tcStyle>
    </a:band2H>
    <a:band1V>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1V>
    <a:band2V>
      <a:tcTxStyle/>
      <a:tcStyle>
        <a:tcBdr>
          <a:left>
            <a:ln w="9525" cap="flat" cmpd="sng">
              <a:solidFill>
                <a:schemeClr val="accent1"/>
              </a:solidFill>
              <a:prstDash val="solid"/>
              <a:round/>
              <a:headEnd type="none" w="sm" len="sm"/>
              <a:tailEnd type="none" w="sm" len="sm"/>
            </a:ln>
          </a:left>
          <a:right>
            <a:ln w="9525" cap="flat" cmpd="sng">
              <a:solidFill>
                <a:schemeClr val="accent1"/>
              </a:solidFill>
              <a:prstDash val="solid"/>
              <a:round/>
              <a:headEnd type="none" w="sm" len="sm"/>
              <a:tailEnd type="none" w="sm" len="sm"/>
            </a:ln>
          </a:right>
        </a:tcBdr>
      </a:tcStyle>
    </a:band2V>
    <a:lastCol>
      <a:tcTxStyle b="on" i="off"/>
      <a:tcStyle>
        <a:tcBdr/>
      </a:tcStyle>
    </a:lastCol>
    <a:firstCol>
      <a:tcTxStyle b="on" i="off"/>
      <a:tcStyle>
        <a:tcBdr/>
      </a:tcStyle>
    </a:firstCol>
    <a:lastRow>
      <a:tcTxStyle b="on" i="off"/>
      <a:tcStyle>
        <a:tcBdr>
          <a:top>
            <a:ln w="50800" cap="flat" cmpd="sng">
              <a:solidFill>
                <a:schemeClr val="accent1"/>
              </a:solidFill>
              <a:prstDash val="solid"/>
              <a:round/>
              <a:headEnd type="none" w="sm" len="sm"/>
              <a:tailEnd type="none" w="sm" len="sm"/>
            </a:ln>
          </a:top>
        </a:tcBdr>
      </a:tcStyle>
    </a:lastRow>
    <a:seCell>
      <a:tcTxStyle/>
      <a:tcStyle>
        <a:tcBdr/>
      </a:tcStyle>
    </a:seCell>
    <a:swCell>
      <a:tcTxStyle/>
      <a:tcStyle>
        <a:tcBdr/>
      </a:tcStyle>
    </a:swCell>
    <a:firstRow>
      <a:tcTxStyle b="on" i="off">
        <a:font>
          <a:latin typeface="Times New Roman"/>
          <a:ea typeface="Times New Roman"/>
          <a:cs typeface="Times New Roman"/>
        </a:font>
        <a:schemeClr val="lt1"/>
      </a:tcTxStyle>
      <a:tcStyle>
        <a:tcBdr/>
        <a:fill>
          <a:solidFill>
            <a:schemeClr val="accent1"/>
          </a:solidFill>
        </a:fill>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9" d="100"/>
          <a:sy n="79" d="100"/>
        </p:scale>
        <p:origin x="152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18"/>
        <p:cNvGrpSpPr/>
        <p:nvPr/>
      </p:nvGrpSpPr>
      <p:grpSpPr>
        <a:xfrm>
          <a:off x="0" y="0"/>
          <a:ext cx="0" cy="0"/>
          <a:chOff x="0" y="0"/>
          <a:chExt cx="0" cy="0"/>
        </a:xfrm>
      </p:grpSpPr>
      <p:sp>
        <p:nvSpPr>
          <p:cNvPr id="419" name="Google Shape;419;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0" name="Google Shape;420;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1" name="Google Shape;421;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423" name="Google Shape;423;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4" name="Google Shape;424;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2" name="Google Shape;502;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p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9" name="Google Shape;529;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3" name="Google Shape;543;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0" name="Google Shape;550;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7" name="Google Shape;557;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p1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4" name="Google Shape;56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1" name="Google Shape;571;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p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5" name="Google Shape;585;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5ae31baec559f25e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2" name="Google Shape;592;g5ae31baec559f25e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9" name="Google Shape;599;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31"/>
        <p:cNvGrpSpPr/>
        <p:nvPr/>
      </p:nvGrpSpPr>
      <p:grpSpPr>
        <a:xfrm>
          <a:off x="0" y="0"/>
          <a:ext cx="0" cy="0"/>
          <a:chOff x="0" y="0"/>
          <a:chExt cx="0" cy="0"/>
        </a:xfrm>
      </p:grpSpPr>
      <p:sp>
        <p:nvSpPr>
          <p:cNvPr id="432" name="Google Shape;432;p2"/>
          <p:cNvSpPr txBox="1">
            <a:spLocks noGrp="1"/>
          </p:cNvSpPr>
          <p:nvPr>
            <p:ph type="ctrTitle"/>
          </p:nvPr>
        </p:nvSpPr>
        <p:spPr>
          <a:xfrm>
            <a:off x="685800" y="2130425"/>
            <a:ext cx="7772400" cy="14700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3" name="Google Shape;433;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rtl="0">
              <a:spcBef>
                <a:spcPts val="640"/>
              </a:spcBef>
              <a:spcAft>
                <a:spcPts val="0"/>
              </a:spcAft>
              <a:buClr>
                <a:srgbClr val="888888"/>
              </a:buClr>
              <a:buSzPts val="3200"/>
              <a:buNone/>
              <a:defRPr>
                <a:solidFill>
                  <a:srgbClr val="888888"/>
                </a:solidFill>
              </a:defRPr>
            </a:lvl1pPr>
            <a:lvl2pPr lvl="1" algn="ctr" rtl="0">
              <a:spcBef>
                <a:spcPts val="560"/>
              </a:spcBef>
              <a:spcAft>
                <a:spcPts val="0"/>
              </a:spcAft>
              <a:buClr>
                <a:srgbClr val="888888"/>
              </a:buClr>
              <a:buSzPts val="2800"/>
              <a:buNone/>
              <a:defRPr>
                <a:solidFill>
                  <a:srgbClr val="888888"/>
                </a:solidFill>
              </a:defRPr>
            </a:lvl2pPr>
            <a:lvl3pPr lvl="2" algn="ctr" rtl="0">
              <a:spcBef>
                <a:spcPts val="480"/>
              </a:spcBef>
              <a:spcAft>
                <a:spcPts val="0"/>
              </a:spcAft>
              <a:buClr>
                <a:srgbClr val="888888"/>
              </a:buClr>
              <a:buSzPts val="2400"/>
              <a:buNone/>
              <a:defRPr>
                <a:solidFill>
                  <a:srgbClr val="888888"/>
                </a:solidFill>
              </a:defRPr>
            </a:lvl3pPr>
            <a:lvl4pPr lvl="3" algn="ctr" rtl="0">
              <a:spcBef>
                <a:spcPts val="400"/>
              </a:spcBef>
              <a:spcAft>
                <a:spcPts val="0"/>
              </a:spcAft>
              <a:buClr>
                <a:srgbClr val="888888"/>
              </a:buClr>
              <a:buSzPts val="2000"/>
              <a:buNone/>
              <a:defRPr>
                <a:solidFill>
                  <a:srgbClr val="888888"/>
                </a:solidFill>
              </a:defRPr>
            </a:lvl4pPr>
            <a:lvl5pPr lvl="4" algn="ctr" rtl="0">
              <a:spcBef>
                <a:spcPts val="400"/>
              </a:spcBef>
              <a:spcAft>
                <a:spcPts val="0"/>
              </a:spcAft>
              <a:buClr>
                <a:srgbClr val="888888"/>
              </a:buClr>
              <a:buSzPts val="20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434" name="Google Shape;434;p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35" name="Google Shape;435;p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36" name="Google Shape;436;p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437"/>
        <p:cNvGrpSpPr/>
        <p:nvPr/>
      </p:nvGrpSpPr>
      <p:grpSpPr>
        <a:xfrm>
          <a:off x="0" y="0"/>
          <a:ext cx="0" cy="0"/>
          <a:chOff x="0" y="0"/>
          <a:chExt cx="0" cy="0"/>
        </a:xfrm>
      </p:grpSpPr>
      <p:sp>
        <p:nvSpPr>
          <p:cNvPr id="438" name="Google Shape;438;p3"/>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lvl1pPr lvl="0" algn="ctr" rtl="0">
              <a:spcBef>
                <a:spcPts val="0"/>
              </a:spcBef>
              <a:spcAft>
                <a:spcPts val="0"/>
              </a:spcAft>
              <a:buClr>
                <a:srgbClr val="002060"/>
              </a:buClr>
              <a:buSzPts val="4400"/>
              <a:buFont typeface="Arial"/>
              <a:buNone/>
              <a:defRPr>
                <a:solidFill>
                  <a:srgbClr val="002060"/>
                </a:solidFill>
                <a:latin typeface="Times New Roman"/>
                <a:ea typeface="Times New Roman"/>
                <a:cs typeface="Times New Roman"/>
                <a:sym typeface="Times New Roman"/>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39" name="Google Shape;439;p3"/>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40" name="Google Shape;440;p3"/>
          <p:cNvSpPr txBox="1">
            <a:spLocks noGrp="1"/>
          </p:cNvSpPr>
          <p:nvPr>
            <p:ph type="dt" idx="10"/>
          </p:nvPr>
        </p:nvSpPr>
        <p:spPr>
          <a:xfrm>
            <a:off x="457200" y="6356350"/>
            <a:ext cx="21336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1" name="Google Shape;441;p3"/>
          <p:cNvSpPr txBox="1">
            <a:spLocks noGrp="1"/>
          </p:cNvSpPr>
          <p:nvPr>
            <p:ph type="ftr" idx="11"/>
          </p:nvPr>
        </p:nvSpPr>
        <p:spPr>
          <a:xfrm>
            <a:off x="3124200" y="6356350"/>
            <a:ext cx="28956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2" name="Google Shape;442;p3"/>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lvl1pPr marL="0" lvl="0" indent="0" algn="ctr" rtl="0">
              <a:spcBef>
                <a:spcPts val="0"/>
              </a:spcBef>
              <a:buNone/>
              <a:defRPr sz="1200" b="0" i="0" u="none" strike="noStrike" cap="none">
                <a:solidFill>
                  <a:srgbClr val="888888"/>
                </a:solidFill>
                <a:latin typeface="Times New Roman"/>
                <a:ea typeface="Times New Roman"/>
                <a:cs typeface="Times New Roman"/>
                <a:sym typeface="Times New Roman"/>
              </a:defRPr>
            </a:lvl1pPr>
            <a:lvl2pPr marL="0" lvl="1" indent="0" algn="ctr" rtl="0">
              <a:spcBef>
                <a:spcPts val="0"/>
              </a:spcBef>
              <a:buNone/>
              <a:defRPr sz="1200" b="0" i="0" u="none" strike="noStrike" cap="none">
                <a:solidFill>
                  <a:srgbClr val="888888"/>
                </a:solidFill>
                <a:latin typeface="Times New Roman"/>
                <a:ea typeface="Times New Roman"/>
                <a:cs typeface="Times New Roman"/>
                <a:sym typeface="Times New Roman"/>
              </a:defRPr>
            </a:lvl2pPr>
            <a:lvl3pPr marL="0" lvl="2" indent="0" algn="ctr" rtl="0">
              <a:spcBef>
                <a:spcPts val="0"/>
              </a:spcBef>
              <a:buNone/>
              <a:defRPr sz="1200" b="0" i="0" u="none" strike="noStrike" cap="none">
                <a:solidFill>
                  <a:srgbClr val="888888"/>
                </a:solidFill>
                <a:latin typeface="Times New Roman"/>
                <a:ea typeface="Times New Roman"/>
                <a:cs typeface="Times New Roman"/>
                <a:sym typeface="Times New Roman"/>
              </a:defRPr>
            </a:lvl3pPr>
            <a:lvl4pPr marL="0" lvl="3" indent="0" algn="ctr" rtl="0">
              <a:spcBef>
                <a:spcPts val="0"/>
              </a:spcBef>
              <a:buNone/>
              <a:defRPr sz="1200" b="0" i="0" u="none" strike="noStrike" cap="none">
                <a:solidFill>
                  <a:srgbClr val="888888"/>
                </a:solidFill>
                <a:latin typeface="Times New Roman"/>
                <a:ea typeface="Times New Roman"/>
                <a:cs typeface="Times New Roman"/>
                <a:sym typeface="Times New Roman"/>
              </a:defRPr>
            </a:lvl4pPr>
            <a:lvl5pPr marL="0" lvl="4" indent="0" algn="ctr" rtl="0">
              <a:spcBef>
                <a:spcPts val="0"/>
              </a:spcBef>
              <a:buNone/>
              <a:defRPr sz="1200" b="0" i="0" u="none" strike="noStrike" cap="none">
                <a:solidFill>
                  <a:srgbClr val="888888"/>
                </a:solidFill>
                <a:latin typeface="Times New Roman"/>
                <a:ea typeface="Times New Roman"/>
                <a:cs typeface="Times New Roman"/>
                <a:sym typeface="Times New Roman"/>
              </a:defRPr>
            </a:lvl5pPr>
            <a:lvl6pPr marL="0" lvl="5" indent="0" algn="ctr" rtl="0">
              <a:spcBef>
                <a:spcPts val="0"/>
              </a:spcBef>
              <a:buNone/>
              <a:defRPr sz="1200" b="0" i="0" u="none" strike="noStrike" cap="none">
                <a:solidFill>
                  <a:srgbClr val="888888"/>
                </a:solidFill>
                <a:latin typeface="Times New Roman"/>
                <a:ea typeface="Times New Roman"/>
                <a:cs typeface="Times New Roman"/>
                <a:sym typeface="Times New Roman"/>
              </a:defRPr>
            </a:lvl6pPr>
            <a:lvl7pPr marL="0" lvl="6" indent="0" algn="ctr" rtl="0">
              <a:spcBef>
                <a:spcPts val="0"/>
              </a:spcBef>
              <a:buNone/>
              <a:defRPr sz="1200" b="0" i="0" u="none" strike="noStrike" cap="none">
                <a:solidFill>
                  <a:srgbClr val="888888"/>
                </a:solidFill>
                <a:latin typeface="Times New Roman"/>
                <a:ea typeface="Times New Roman"/>
                <a:cs typeface="Times New Roman"/>
                <a:sym typeface="Times New Roman"/>
              </a:defRPr>
            </a:lvl7pPr>
            <a:lvl8pPr marL="0" lvl="7" indent="0" algn="ctr" rtl="0">
              <a:spcBef>
                <a:spcPts val="0"/>
              </a:spcBef>
              <a:buNone/>
              <a:defRPr sz="1200" b="0" i="0" u="none" strike="noStrike" cap="none">
                <a:solidFill>
                  <a:srgbClr val="888888"/>
                </a:solidFill>
                <a:latin typeface="Times New Roman"/>
                <a:ea typeface="Times New Roman"/>
                <a:cs typeface="Times New Roman"/>
                <a:sym typeface="Times New Roman"/>
              </a:defRPr>
            </a:lvl8pPr>
            <a:lvl9pPr marL="0" lvl="8" indent="0" algn="ctr" rtl="0">
              <a:spcBef>
                <a:spcPts val="0"/>
              </a:spcBef>
              <a:buNone/>
              <a:defRPr sz="1200" b="0" i="0" u="none" strike="noStrike" cap="none">
                <a:solidFill>
                  <a:srgbClr val="888888"/>
                </a:solidFill>
                <a:latin typeface="Times New Roman"/>
                <a:ea typeface="Times New Roman"/>
                <a:cs typeface="Times New Roman"/>
                <a:sym typeface="Times New Roman"/>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3"/>
        <p:cNvGrpSpPr/>
        <p:nvPr/>
      </p:nvGrpSpPr>
      <p:grpSpPr>
        <a:xfrm>
          <a:off x="0" y="0"/>
          <a:ext cx="0" cy="0"/>
          <a:chOff x="0" y="0"/>
          <a:chExt cx="0" cy="0"/>
        </a:xfrm>
      </p:grpSpPr>
      <p:sp>
        <p:nvSpPr>
          <p:cNvPr id="444" name="Google Shape;444;p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5" name="Google Shape;445;p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46" name="Google Shape;446;p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47"/>
        <p:cNvGrpSpPr/>
        <p:nvPr/>
      </p:nvGrpSpPr>
      <p:grpSpPr>
        <a:xfrm>
          <a:off x="0" y="0"/>
          <a:ext cx="0" cy="0"/>
          <a:chOff x="0" y="0"/>
          <a:chExt cx="0" cy="0"/>
        </a:xfrm>
      </p:grpSpPr>
      <p:sp>
        <p:nvSpPr>
          <p:cNvPr id="448" name="Google Shape;448;p5"/>
          <p:cNvSpPr txBox="1">
            <a:spLocks noGrp="1"/>
          </p:cNvSpPr>
          <p:nvPr>
            <p:ph type="title"/>
          </p:nvPr>
        </p:nvSpPr>
        <p:spPr>
          <a:xfrm>
            <a:off x="722313" y="4406900"/>
            <a:ext cx="7772400" cy="13620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4000"/>
              <a:buFont typeface="Arial"/>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9" name="Google Shape;449;p5"/>
          <p:cNvSpPr txBox="1">
            <a:spLocks noGrp="1"/>
          </p:cNvSpPr>
          <p:nvPr>
            <p:ph type="body" idx="1"/>
          </p:nvPr>
        </p:nvSpPr>
        <p:spPr>
          <a:xfrm>
            <a:off x="722313" y="2906713"/>
            <a:ext cx="77724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450" name="Google Shape;450;p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1" name="Google Shape;451;p5"/>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2" name="Google Shape;452;p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53"/>
        <p:cNvGrpSpPr/>
        <p:nvPr/>
      </p:nvGrpSpPr>
      <p:grpSpPr>
        <a:xfrm>
          <a:off x="0" y="0"/>
          <a:ext cx="0" cy="0"/>
          <a:chOff x="0" y="0"/>
          <a:chExt cx="0" cy="0"/>
        </a:xfrm>
      </p:grpSpPr>
      <p:sp>
        <p:nvSpPr>
          <p:cNvPr id="454" name="Google Shape;454;p6"/>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55" name="Google Shape;455;p6"/>
          <p:cNvSpPr txBox="1">
            <a:spLocks noGrp="1"/>
          </p:cNvSpPr>
          <p:nvPr>
            <p:ph type="body" idx="1"/>
          </p:nvPr>
        </p:nvSpPr>
        <p:spPr>
          <a:xfrm>
            <a:off x="457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456" name="Google Shape;456;p6"/>
          <p:cNvSpPr txBox="1">
            <a:spLocks noGrp="1"/>
          </p:cNvSpPr>
          <p:nvPr>
            <p:ph type="body" idx="2"/>
          </p:nvPr>
        </p:nvSpPr>
        <p:spPr>
          <a:xfrm>
            <a:off x="4648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457" name="Google Shape;457;p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8" name="Google Shape;458;p6"/>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9" name="Google Shape;459;p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0"/>
        <p:cNvGrpSpPr/>
        <p:nvPr/>
      </p:nvGrpSpPr>
      <p:grpSpPr>
        <a:xfrm>
          <a:off x="0" y="0"/>
          <a:ext cx="0" cy="0"/>
          <a:chOff x="0" y="0"/>
          <a:chExt cx="0" cy="0"/>
        </a:xfrm>
      </p:grpSpPr>
      <p:sp>
        <p:nvSpPr>
          <p:cNvPr id="461" name="Google Shape;461;p7"/>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4400"/>
              <a:buFont typeface="Arial"/>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62" name="Google Shape;462;p7"/>
          <p:cNvSpPr txBox="1">
            <a:spLocks noGrp="1"/>
          </p:cNvSpPr>
          <p:nvPr>
            <p:ph type="body" idx="1"/>
          </p:nvPr>
        </p:nvSpPr>
        <p:spPr>
          <a:xfrm>
            <a:off x="457200" y="1535113"/>
            <a:ext cx="40401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63" name="Google Shape;463;p7"/>
          <p:cNvSpPr txBox="1">
            <a:spLocks noGrp="1"/>
          </p:cNvSpPr>
          <p:nvPr>
            <p:ph type="body" idx="2"/>
          </p:nvPr>
        </p:nvSpPr>
        <p:spPr>
          <a:xfrm>
            <a:off x="457200" y="2174875"/>
            <a:ext cx="40401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64" name="Google Shape;464;p7"/>
          <p:cNvSpPr txBox="1">
            <a:spLocks noGrp="1"/>
          </p:cNvSpPr>
          <p:nvPr>
            <p:ph type="body" idx="3"/>
          </p:nvPr>
        </p:nvSpPr>
        <p:spPr>
          <a:xfrm>
            <a:off x="4645025" y="1535113"/>
            <a:ext cx="4041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65" name="Google Shape;465;p7"/>
          <p:cNvSpPr txBox="1">
            <a:spLocks noGrp="1"/>
          </p:cNvSpPr>
          <p:nvPr>
            <p:ph type="body" idx="4"/>
          </p:nvPr>
        </p:nvSpPr>
        <p:spPr>
          <a:xfrm>
            <a:off x="4645025" y="2174875"/>
            <a:ext cx="4041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66" name="Google Shape;466;p7"/>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7" name="Google Shape;467;p7"/>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8" name="Google Shape;468;p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9"/>
        <p:cNvGrpSpPr/>
        <p:nvPr/>
      </p:nvGrpSpPr>
      <p:grpSpPr>
        <a:xfrm>
          <a:off x="0" y="0"/>
          <a:ext cx="0" cy="0"/>
          <a:chOff x="0" y="0"/>
          <a:chExt cx="0" cy="0"/>
        </a:xfrm>
      </p:grpSpPr>
      <p:sp>
        <p:nvSpPr>
          <p:cNvPr id="470" name="Google Shape;470;p8"/>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1" name="Google Shape;471;p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2" name="Google Shape;472;p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3" name="Google Shape;473;p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74"/>
        <p:cNvGrpSpPr/>
        <p:nvPr/>
      </p:nvGrpSpPr>
      <p:grpSpPr>
        <a:xfrm>
          <a:off x="0" y="0"/>
          <a:ext cx="0" cy="0"/>
          <a:chOff x="0" y="0"/>
          <a:chExt cx="0" cy="0"/>
        </a:xfrm>
      </p:grpSpPr>
      <p:sp>
        <p:nvSpPr>
          <p:cNvPr id="475" name="Google Shape;475;p9"/>
          <p:cNvSpPr txBox="1">
            <a:spLocks noGrp="1"/>
          </p:cNvSpPr>
          <p:nvPr>
            <p:ph type="title"/>
          </p:nvPr>
        </p:nvSpPr>
        <p:spPr>
          <a:xfrm>
            <a:off x="457200" y="273050"/>
            <a:ext cx="3008400" cy="11622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Arial"/>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76" name="Google Shape;476;p9"/>
          <p:cNvSpPr txBox="1">
            <a:spLocks noGrp="1"/>
          </p:cNvSpPr>
          <p:nvPr>
            <p:ph type="body" idx="1"/>
          </p:nvPr>
        </p:nvSpPr>
        <p:spPr>
          <a:xfrm>
            <a:off x="3575050" y="273050"/>
            <a:ext cx="5111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477" name="Google Shape;477;p9"/>
          <p:cNvSpPr txBox="1">
            <a:spLocks noGrp="1"/>
          </p:cNvSpPr>
          <p:nvPr>
            <p:ph type="body" idx="2"/>
          </p:nvPr>
        </p:nvSpPr>
        <p:spPr>
          <a:xfrm>
            <a:off x="457200" y="1435100"/>
            <a:ext cx="30084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478" name="Google Shape;478;p9"/>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79" name="Google Shape;479;p9"/>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0" name="Google Shape;480;p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81"/>
        <p:cNvGrpSpPr/>
        <p:nvPr/>
      </p:nvGrpSpPr>
      <p:grpSpPr>
        <a:xfrm>
          <a:off x="0" y="0"/>
          <a:ext cx="0" cy="0"/>
          <a:chOff x="0" y="0"/>
          <a:chExt cx="0" cy="0"/>
        </a:xfrm>
      </p:grpSpPr>
      <p:sp>
        <p:nvSpPr>
          <p:cNvPr id="482" name="Google Shape;482;p10"/>
          <p:cNvSpPr txBox="1">
            <a:spLocks noGrp="1"/>
          </p:cNvSpPr>
          <p:nvPr>
            <p:ph type="title"/>
          </p:nvPr>
        </p:nvSpPr>
        <p:spPr>
          <a:xfrm>
            <a:off x="1792288" y="4800600"/>
            <a:ext cx="5486400" cy="5667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Arial"/>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83" name="Google Shape;483;p10"/>
          <p:cNvSpPr>
            <a:spLocks noGrp="1"/>
          </p:cNvSpPr>
          <p:nvPr>
            <p:ph type="pic" idx="2"/>
          </p:nvPr>
        </p:nvSpPr>
        <p:spPr>
          <a:xfrm>
            <a:off x="1792288" y="612775"/>
            <a:ext cx="5486400" cy="4114800"/>
          </a:xfrm>
          <a:prstGeom prst="rect">
            <a:avLst/>
          </a:prstGeom>
          <a:noFill/>
          <a:ln>
            <a:noFill/>
          </a:ln>
        </p:spPr>
      </p:sp>
      <p:sp>
        <p:nvSpPr>
          <p:cNvPr id="484" name="Google Shape;484;p10"/>
          <p:cNvSpPr txBox="1">
            <a:spLocks noGrp="1"/>
          </p:cNvSpPr>
          <p:nvPr>
            <p:ph type="body" idx="1"/>
          </p:nvPr>
        </p:nvSpPr>
        <p:spPr>
          <a:xfrm>
            <a:off x="1792288" y="5367338"/>
            <a:ext cx="54864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485" name="Google Shape;485;p10"/>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6" name="Google Shape;486;p10"/>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87" name="Google Shape;487;p1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88"/>
        <p:cNvGrpSpPr/>
        <p:nvPr/>
      </p:nvGrpSpPr>
      <p:grpSpPr>
        <a:xfrm>
          <a:off x="0" y="0"/>
          <a:ext cx="0" cy="0"/>
          <a:chOff x="0" y="0"/>
          <a:chExt cx="0" cy="0"/>
        </a:xfrm>
      </p:grpSpPr>
      <p:sp>
        <p:nvSpPr>
          <p:cNvPr id="489" name="Google Shape;489;p11"/>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0" name="Google Shape;490;p11"/>
          <p:cNvSpPr txBox="1">
            <a:spLocks noGrp="1"/>
          </p:cNvSpPr>
          <p:nvPr>
            <p:ph type="body" idx="1"/>
          </p:nvPr>
        </p:nvSpPr>
        <p:spPr>
          <a:xfrm rot="5400000">
            <a:off x="1981200" y="-457200"/>
            <a:ext cx="5181600" cy="82296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91" name="Google Shape;491;p1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2" name="Google Shape;492;p1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3" name="Google Shape;493;p1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94"/>
        <p:cNvGrpSpPr/>
        <p:nvPr/>
      </p:nvGrpSpPr>
      <p:grpSpPr>
        <a:xfrm>
          <a:off x="0" y="0"/>
          <a:ext cx="0" cy="0"/>
          <a:chOff x="0" y="0"/>
          <a:chExt cx="0" cy="0"/>
        </a:xfrm>
      </p:grpSpPr>
      <p:sp>
        <p:nvSpPr>
          <p:cNvPr id="495" name="Google Shape;495;p12"/>
          <p:cNvSpPr txBox="1">
            <a:spLocks noGrp="1"/>
          </p:cNvSpPr>
          <p:nvPr>
            <p:ph type="title"/>
          </p:nvPr>
        </p:nvSpPr>
        <p:spPr>
          <a:xfrm rot="5400000">
            <a:off x="4732350" y="2171688"/>
            <a:ext cx="5851500" cy="20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6" name="Google Shape;496;p12"/>
          <p:cNvSpPr txBox="1">
            <a:spLocks noGrp="1"/>
          </p:cNvSpPr>
          <p:nvPr>
            <p:ph type="body" idx="1"/>
          </p:nvPr>
        </p:nvSpPr>
        <p:spPr>
          <a:xfrm rot="5400000">
            <a:off x="541350" y="190488"/>
            <a:ext cx="5851500" cy="60198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497" name="Google Shape;497;p1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8" name="Google Shape;498;p1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9" name="Google Shape;499;p1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25"/>
        <p:cNvGrpSpPr/>
        <p:nvPr/>
      </p:nvGrpSpPr>
      <p:grpSpPr>
        <a:xfrm>
          <a:off x="0" y="0"/>
          <a:ext cx="0" cy="0"/>
          <a:chOff x="0" y="0"/>
          <a:chExt cx="0" cy="0"/>
        </a:xfrm>
      </p:grpSpPr>
      <p:sp>
        <p:nvSpPr>
          <p:cNvPr id="426" name="Google Shape;426;p1"/>
          <p:cNvSpPr txBox="1">
            <a:spLocks noGrp="1"/>
          </p:cNvSpPr>
          <p:nvPr>
            <p:ph type="title"/>
          </p:nvPr>
        </p:nvSpPr>
        <p:spPr>
          <a:xfrm>
            <a:off x="457200" y="274638"/>
            <a:ext cx="8229600" cy="7161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27" name="Google Shape;427;p1"/>
          <p:cNvSpPr txBox="1">
            <a:spLocks noGrp="1"/>
          </p:cNvSpPr>
          <p:nvPr>
            <p:ph type="body" idx="1"/>
          </p:nvPr>
        </p:nvSpPr>
        <p:spPr>
          <a:xfrm>
            <a:off x="457200" y="1066800"/>
            <a:ext cx="8229600" cy="5181600"/>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Times New Roman"/>
                <a:ea typeface="Times New Roman"/>
                <a:cs typeface="Times New Roman"/>
                <a:sym typeface="Times New Roman"/>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428" name="Google Shape;428;p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29" name="Google Shape;429;p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30" name="Google Shape;430;p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Times New Roman"/>
                <a:ea typeface="Times New Roman"/>
                <a:cs typeface="Times New Roman"/>
                <a:sym typeface="Times New Roman"/>
              </a:defRPr>
            </a:lvl1pPr>
            <a:lvl2pPr marL="0" marR="0" lvl="1" indent="0" algn="r" rtl="0">
              <a:spcBef>
                <a:spcPts val="0"/>
              </a:spcBef>
              <a:buNone/>
              <a:defRPr sz="1200" b="0" i="0" u="none" strike="noStrike" cap="none">
                <a:solidFill>
                  <a:srgbClr val="888888"/>
                </a:solidFill>
                <a:latin typeface="Times New Roman"/>
                <a:ea typeface="Times New Roman"/>
                <a:cs typeface="Times New Roman"/>
                <a:sym typeface="Times New Roman"/>
              </a:defRPr>
            </a:lvl2pPr>
            <a:lvl3pPr marL="0" marR="0" lvl="2" indent="0" algn="r" rtl="0">
              <a:spcBef>
                <a:spcPts val="0"/>
              </a:spcBef>
              <a:buNone/>
              <a:defRPr sz="1200" b="0" i="0" u="none" strike="noStrike" cap="none">
                <a:solidFill>
                  <a:srgbClr val="888888"/>
                </a:solidFill>
                <a:latin typeface="Times New Roman"/>
                <a:ea typeface="Times New Roman"/>
                <a:cs typeface="Times New Roman"/>
                <a:sym typeface="Times New Roman"/>
              </a:defRPr>
            </a:lvl3pPr>
            <a:lvl4pPr marL="0" marR="0" lvl="3" indent="0" algn="r" rtl="0">
              <a:spcBef>
                <a:spcPts val="0"/>
              </a:spcBef>
              <a:buNone/>
              <a:defRPr sz="1200" b="0" i="0" u="none" strike="noStrike" cap="none">
                <a:solidFill>
                  <a:srgbClr val="888888"/>
                </a:solidFill>
                <a:latin typeface="Times New Roman"/>
                <a:ea typeface="Times New Roman"/>
                <a:cs typeface="Times New Roman"/>
                <a:sym typeface="Times New Roman"/>
              </a:defRPr>
            </a:lvl4pPr>
            <a:lvl5pPr marL="0" marR="0" lvl="4" indent="0" algn="r" rtl="0">
              <a:spcBef>
                <a:spcPts val="0"/>
              </a:spcBef>
              <a:buNone/>
              <a:defRPr sz="1200" b="0" i="0" u="none" strike="noStrike" cap="none">
                <a:solidFill>
                  <a:srgbClr val="888888"/>
                </a:solidFill>
                <a:latin typeface="Times New Roman"/>
                <a:ea typeface="Times New Roman"/>
                <a:cs typeface="Times New Roman"/>
                <a:sym typeface="Times New Roman"/>
              </a:defRPr>
            </a:lvl5pPr>
            <a:lvl6pPr marL="0" marR="0" lvl="5" indent="0" algn="r" rtl="0">
              <a:spcBef>
                <a:spcPts val="0"/>
              </a:spcBef>
              <a:buNone/>
              <a:defRPr sz="1200" b="0" i="0" u="none" strike="noStrike" cap="none">
                <a:solidFill>
                  <a:srgbClr val="888888"/>
                </a:solidFill>
                <a:latin typeface="Times New Roman"/>
                <a:ea typeface="Times New Roman"/>
                <a:cs typeface="Times New Roman"/>
                <a:sym typeface="Times New Roman"/>
              </a:defRPr>
            </a:lvl6pPr>
            <a:lvl7pPr marL="0" marR="0" lvl="6" indent="0" algn="r" rtl="0">
              <a:spcBef>
                <a:spcPts val="0"/>
              </a:spcBef>
              <a:buNone/>
              <a:defRPr sz="1200" b="0" i="0" u="none" strike="noStrike" cap="none">
                <a:solidFill>
                  <a:srgbClr val="888888"/>
                </a:solidFill>
                <a:latin typeface="Times New Roman"/>
                <a:ea typeface="Times New Roman"/>
                <a:cs typeface="Times New Roman"/>
                <a:sym typeface="Times New Roman"/>
              </a:defRPr>
            </a:lvl7pPr>
            <a:lvl8pPr marL="0" marR="0" lvl="7" indent="0" algn="r" rtl="0">
              <a:spcBef>
                <a:spcPts val="0"/>
              </a:spcBef>
              <a:buNone/>
              <a:defRPr sz="1200" b="0" i="0" u="none" strike="noStrike" cap="none">
                <a:solidFill>
                  <a:srgbClr val="888888"/>
                </a:solidFill>
                <a:latin typeface="Times New Roman"/>
                <a:ea typeface="Times New Roman"/>
                <a:cs typeface="Times New Roman"/>
                <a:sym typeface="Times New Roman"/>
              </a:defRPr>
            </a:lvl8pPr>
            <a:lvl9pPr marL="0" marR="0" lvl="8" indent="0" algn="r" rtl="0">
              <a:spcBef>
                <a:spcPts val="0"/>
              </a:spcBef>
              <a:buNone/>
              <a:defRPr sz="1200" b="0" i="0" u="none" strike="noStrike" cap="none">
                <a:solidFill>
                  <a:srgbClr val="888888"/>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graphicFrame>
        <p:nvGraphicFramePr>
          <p:cNvPr id="504" name="Google Shape;504;p13"/>
          <p:cNvGraphicFramePr/>
          <p:nvPr>
            <p:extLst>
              <p:ext uri="{D42A27DB-BD31-4B8C-83A1-F6EECF244321}">
                <p14:modId xmlns:p14="http://schemas.microsoft.com/office/powerpoint/2010/main" val="2805135269"/>
              </p:ext>
            </p:extLst>
          </p:nvPr>
        </p:nvGraphicFramePr>
        <p:xfrm>
          <a:off x="228600" y="304800"/>
          <a:ext cx="8639525" cy="5765675"/>
        </p:xfrm>
        <a:graphic>
          <a:graphicData uri="http://schemas.openxmlformats.org/drawingml/2006/table">
            <a:tbl>
              <a:tblPr firstRow="1" bandRow="1">
                <a:noFill/>
                <a:tableStyleId>{98077A5B-8C0D-40D8-8557-44EC33DBB8F6}</a:tableStyleId>
              </a:tblPr>
              <a:tblGrid>
                <a:gridCol w="1476725">
                  <a:extLst>
                    <a:ext uri="{9D8B030D-6E8A-4147-A177-3AD203B41FA5}">
                      <a16:colId xmlns:a16="http://schemas.microsoft.com/office/drawing/2014/main" val="20000"/>
                    </a:ext>
                  </a:extLst>
                </a:gridCol>
                <a:gridCol w="352075">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gridCol w="2619725">
                  <a:extLst>
                    <a:ext uri="{9D8B030D-6E8A-4147-A177-3AD203B41FA5}">
                      <a16:colId xmlns:a16="http://schemas.microsoft.com/office/drawing/2014/main" val="20003"/>
                    </a:ext>
                  </a:extLst>
                </a:gridCol>
              </a:tblGrid>
              <a:tr h="1752600">
                <a:tc>
                  <a:txBody>
                    <a:bodyPr/>
                    <a:lstStyle/>
                    <a:p>
                      <a:pPr marL="0" marR="0" lvl="0" indent="0" algn="ctr" rtl="0">
                        <a:spcBef>
                          <a:spcPts val="0"/>
                        </a:spcBef>
                        <a:spcAft>
                          <a:spcPts val="0"/>
                        </a:spcAft>
                        <a:buNone/>
                      </a:pPr>
                      <a:endParaRPr sz="2200" u="none" strike="noStrike" cap="none">
                        <a:solidFill>
                          <a:schemeClr val="lt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3">
                  <a:txBody>
                    <a:bodyPr/>
                    <a:lstStyle/>
                    <a:p>
                      <a:pPr marL="0" marR="0" lvl="0" indent="0" algn="ctr" rtl="0">
                        <a:spcBef>
                          <a:spcPts val="0"/>
                        </a:spcBef>
                        <a:spcAft>
                          <a:spcPts val="0"/>
                        </a:spcAft>
                        <a:buNone/>
                      </a:pPr>
                      <a:r>
                        <a:rPr lang="en-US" sz="2800" u="none" strike="noStrike" cap="none" dirty="0">
                          <a:solidFill>
                            <a:schemeClr val="lt1"/>
                          </a:solidFill>
                        </a:rPr>
                        <a:t>S.S.V.P.S’s B. S. </a:t>
                      </a:r>
                      <a:r>
                        <a:rPr lang="en-US" sz="2800" u="none" strike="noStrike" cap="none" dirty="0" err="1">
                          <a:solidFill>
                            <a:schemeClr val="lt1"/>
                          </a:solidFill>
                        </a:rPr>
                        <a:t>Deore</a:t>
                      </a:r>
                      <a:r>
                        <a:rPr lang="en-US" sz="2800" u="none" strike="noStrike" cap="none" dirty="0">
                          <a:solidFill>
                            <a:schemeClr val="lt1"/>
                          </a:solidFill>
                        </a:rPr>
                        <a:t> Polytechnic, Dhule</a:t>
                      </a:r>
                      <a:endParaRPr sz="2800" u="none" strike="noStrike" cap="none" dirty="0">
                        <a:solidFill>
                          <a:schemeClr val="lt1"/>
                        </a:solidFill>
                      </a:endParaRPr>
                    </a:p>
                    <a:p>
                      <a:pPr marL="0" marR="0" lvl="0" indent="0" algn="ctr" rtl="0">
                        <a:lnSpc>
                          <a:spcPct val="100000"/>
                        </a:lnSpc>
                        <a:spcBef>
                          <a:spcPts val="0"/>
                        </a:spcBef>
                        <a:spcAft>
                          <a:spcPts val="0"/>
                        </a:spcAft>
                        <a:buClr>
                          <a:schemeClr val="lt1"/>
                        </a:buClr>
                        <a:buSzPts val="3200"/>
                        <a:buFont typeface="Times New Roman"/>
                        <a:buNone/>
                      </a:pPr>
                      <a:r>
                        <a:rPr lang="en-US" sz="3200" u="none" strike="noStrike" cap="none" dirty="0">
                          <a:solidFill>
                            <a:schemeClr val="lt1"/>
                          </a:solidFill>
                        </a:rPr>
                        <a:t>Department of Computer Engineering</a:t>
                      </a:r>
                      <a:endParaRPr dirty="0"/>
                    </a:p>
                    <a:p>
                      <a:pPr marL="0" marR="0" lvl="0" indent="0" algn="ctr" rtl="0">
                        <a:spcBef>
                          <a:spcPts val="0"/>
                        </a:spcBef>
                        <a:spcAft>
                          <a:spcPts val="0"/>
                        </a:spcAft>
                        <a:buNone/>
                      </a:pPr>
                      <a:r>
                        <a:rPr lang="en-US" sz="3200" b="0" i="1" u="none" strike="noStrike" cap="none" dirty="0">
                          <a:solidFill>
                            <a:schemeClr val="lt1"/>
                          </a:solidFill>
                        </a:rPr>
                        <a:t>Academic Year : </a:t>
                      </a:r>
                      <a:r>
                        <a:rPr lang="en-US" sz="3200" b="0" i="1" dirty="0"/>
                        <a:t>2026-2027</a:t>
                      </a:r>
                      <a:endParaRPr sz="3200" b="0" i="1" u="none" strike="noStrike" cap="none" dirty="0">
                        <a:solidFill>
                          <a:schemeClr val="lt1"/>
                        </a:solidFil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93225">
                <a:tc gridSpan="4">
                  <a:txBody>
                    <a:bodyPr/>
                    <a:lstStyle/>
                    <a:p>
                      <a:pPr marL="0" marR="0" lvl="0" indent="0" algn="ctr" rtl="0">
                        <a:spcBef>
                          <a:spcPts val="0"/>
                        </a:spcBef>
                        <a:spcAft>
                          <a:spcPts val="0"/>
                        </a:spcAft>
                        <a:buNone/>
                      </a:pPr>
                      <a:r>
                        <a:rPr lang="en-US" sz="2800" b="1" u="none" strike="noStrike" cap="none">
                          <a:solidFill>
                            <a:srgbClr val="002060"/>
                          </a:solidFill>
                          <a:latin typeface="Times New Roman"/>
                          <a:ea typeface="Times New Roman"/>
                          <a:cs typeface="Times New Roman"/>
                          <a:sym typeface="Times New Roman"/>
                        </a:rPr>
                        <a:t>SEMINAR AND PROJECT INITIATION COURSE</a:t>
                      </a:r>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88550">
                <a:tc gridSpan="2">
                  <a:txBody>
                    <a:bodyPr/>
                    <a:lstStyle/>
                    <a:p>
                      <a:pPr marL="0" marR="0" lvl="0" indent="0" algn="l" rtl="0">
                        <a:lnSpc>
                          <a:spcPct val="100000"/>
                        </a:lnSpc>
                        <a:spcBef>
                          <a:spcPts val="0"/>
                        </a:spcBef>
                        <a:spcAft>
                          <a:spcPts val="0"/>
                        </a:spcAft>
                        <a:buClr>
                          <a:srgbClr val="FF0000"/>
                        </a:buClr>
                        <a:buSzPts val="2100"/>
                        <a:buFont typeface="Times New Roman"/>
                        <a:buNone/>
                      </a:pPr>
                      <a:r>
                        <a:rPr lang="en-US" sz="2100" b="1" u="none" strike="noStrike" cap="none">
                          <a:solidFill>
                            <a:srgbClr val="FF0000"/>
                          </a:solidFill>
                        </a:rPr>
                        <a:t>Sem : CO 5 K</a:t>
                      </a:r>
                      <a:endParaRPr sz="2100" b="1" u="none" strike="noStrike" cap="none">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a:txBody>
                    <a:bodyPr/>
                    <a:lstStyle/>
                    <a:p>
                      <a:pPr marL="0" marR="0" lvl="0" indent="0" algn="ctr" rtl="0">
                        <a:lnSpc>
                          <a:spcPct val="100000"/>
                        </a:lnSpc>
                        <a:spcBef>
                          <a:spcPts val="0"/>
                        </a:spcBef>
                        <a:spcAft>
                          <a:spcPts val="0"/>
                        </a:spcAft>
                        <a:buClr>
                          <a:srgbClr val="002060"/>
                        </a:buClr>
                        <a:buSzPts val="2400"/>
                        <a:buFont typeface="Times New Roman"/>
                        <a:buNone/>
                      </a:pPr>
                      <a:r>
                        <a:rPr lang="en-US" sz="2400" b="1" u="none" strike="noStrike" cap="none">
                          <a:solidFill>
                            <a:srgbClr val="002060"/>
                          </a:solidFill>
                          <a:latin typeface="Times New Roman"/>
                          <a:ea typeface="Times New Roman"/>
                          <a:cs typeface="Times New Roman"/>
                          <a:sym typeface="Times New Roman"/>
                        </a:rPr>
                        <a:t>SPI – 315003</a:t>
                      </a:r>
                      <a:endParaRPr sz="1800"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FF0000"/>
                        </a:buClr>
                        <a:buSzPts val="2100"/>
                        <a:buFont typeface="Times New Roman"/>
                        <a:buNone/>
                      </a:pPr>
                      <a:r>
                        <a:rPr lang="en-US" sz="2100" b="1" u="none" strike="noStrike" cap="none" dirty="0">
                          <a:solidFill>
                            <a:srgbClr val="FF0000"/>
                          </a:solidFill>
                        </a:rPr>
                        <a:t>Date  : 17/10/2026</a:t>
                      </a:r>
                      <a:endParaRPr sz="2100" b="1" u="none" strike="noStrike" cap="none" dirty="0">
                        <a:solidFill>
                          <a:srgbClr val="FF000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88550">
                <a:tc gridSpan="4">
                  <a:txBody>
                    <a:bodyPr/>
                    <a:lstStyle/>
                    <a:p>
                      <a:pPr marL="0" marR="0" lvl="0" indent="0" algn="l" rtl="0">
                        <a:spcBef>
                          <a:spcPts val="0"/>
                        </a:spcBef>
                        <a:spcAft>
                          <a:spcPts val="0"/>
                        </a:spcAft>
                        <a:buNone/>
                      </a:pPr>
                      <a:r>
                        <a:rPr lang="en-US" sz="1800" b="1" u="none" strike="noStrike" cap="none" dirty="0">
                          <a:solidFill>
                            <a:schemeClr val="dk2"/>
                          </a:solidFill>
                        </a:rPr>
                        <a:t>Topic : Smart Inventory Management System using IoT and AI/ML</a:t>
                      </a:r>
                      <a:endParaRPr sz="2400" b="1" u="none" strike="noStrike" cap="none" dirty="0">
                        <a:solidFill>
                          <a:srgbClr val="0070C0"/>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r h="488550">
                <a:tc gridSpan="2">
                  <a:txBody>
                    <a:bodyPr/>
                    <a:lstStyle/>
                    <a:p>
                      <a:pPr marL="0" marR="0" lvl="0" indent="0" algn="ctr" rtl="0">
                        <a:spcBef>
                          <a:spcPts val="0"/>
                        </a:spcBef>
                        <a:spcAft>
                          <a:spcPts val="0"/>
                        </a:spcAft>
                        <a:buNone/>
                      </a:pPr>
                      <a:r>
                        <a:rPr lang="en-US" sz="2400" b="1" u="none" strike="noStrike" cap="none"/>
                        <a:t>Roll No.</a:t>
                      </a:r>
                      <a:endParaRPr sz="2400" b="1" u="none" strike="noStrike" cap="none"/>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lnSpc>
                          <a:spcPct val="100000"/>
                        </a:lnSpc>
                        <a:spcBef>
                          <a:spcPts val="0"/>
                        </a:spcBef>
                        <a:spcAft>
                          <a:spcPts val="0"/>
                        </a:spcAft>
                        <a:buClr>
                          <a:schemeClr val="dk1"/>
                        </a:buClr>
                        <a:buSzPts val="2400"/>
                        <a:buFont typeface="Times New Roman"/>
                        <a:buNone/>
                      </a:pPr>
                      <a:r>
                        <a:rPr lang="en-US" sz="2400" b="1" u="none" strike="noStrike" cap="none" dirty="0"/>
                        <a:t>Name of Student</a:t>
                      </a:r>
                      <a:endParaRPr sz="2400" b="1" u="none" strike="noStrike" cap="none"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4"/>
                  </a:ext>
                </a:extLst>
              </a:tr>
              <a:tr h="488550">
                <a:tc gridSpan="2">
                  <a:txBody>
                    <a:bodyPr/>
                    <a:lstStyle/>
                    <a:p>
                      <a:pPr marL="0" marR="0" lvl="0" indent="0" algn="ctr" rtl="0">
                        <a:spcBef>
                          <a:spcPts val="0"/>
                        </a:spcBef>
                        <a:spcAft>
                          <a:spcPts val="0"/>
                        </a:spcAft>
                        <a:buNone/>
                      </a:pPr>
                      <a:r>
                        <a:rPr lang="en-US" sz="2400" dirty="0"/>
                        <a:t>83</a:t>
                      </a: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IN" sz="2400" dirty="0"/>
                        <a:t>Shaikh Mohammad Zakariya Haffizuddin</a:t>
                      </a:r>
                      <a:endParaRPr sz="24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5"/>
                  </a:ext>
                </a:extLst>
              </a:tr>
              <a:tr h="488550">
                <a:tc gridSpan="2">
                  <a:txBody>
                    <a:bodyPr/>
                    <a:lstStyle/>
                    <a:p>
                      <a:pPr marL="0" marR="0" lvl="0" indent="0" algn="ctr" rtl="0">
                        <a:spcBef>
                          <a:spcPts val="0"/>
                        </a:spcBef>
                        <a:spcAft>
                          <a:spcPts val="0"/>
                        </a:spcAft>
                        <a:buNone/>
                      </a:pPr>
                      <a:r>
                        <a:rPr lang="en-US" sz="2400" dirty="0"/>
                        <a:t>84</a:t>
                      </a:r>
                      <a:endParaRPr sz="24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US" sz="2400" b="0" dirty="0"/>
                        <a:t>Shaikh Suher Rayaz</a:t>
                      </a:r>
                      <a:endParaRPr sz="2400" b="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6"/>
                  </a:ext>
                </a:extLst>
              </a:tr>
              <a:tr h="488550">
                <a:tc gridSpan="2">
                  <a:txBody>
                    <a:bodyPr/>
                    <a:lstStyle/>
                    <a:p>
                      <a:pPr marL="0" marR="0" lvl="0" indent="0" algn="ctr" rtl="0">
                        <a:spcBef>
                          <a:spcPts val="0"/>
                        </a:spcBef>
                        <a:spcAft>
                          <a:spcPts val="0"/>
                        </a:spcAft>
                        <a:buNone/>
                      </a:pPr>
                      <a:r>
                        <a:rPr lang="en-US" sz="2400" b="0" dirty="0">
                          <a:solidFill>
                            <a:schemeClr val="tx1"/>
                          </a:solidFill>
                        </a:rPr>
                        <a:t>85</a:t>
                      </a:r>
                      <a:endParaRPr sz="2400" b="0"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400" dirty="0"/>
                        <a:t>Sharma Nilesh Ashok</a:t>
                      </a: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7"/>
                  </a:ext>
                </a:extLst>
              </a:tr>
              <a:tr h="488550">
                <a:tc gridSpan="2">
                  <a:txBody>
                    <a:bodyPr/>
                    <a:lstStyle/>
                    <a:p>
                      <a:pPr marL="0" marR="0" lvl="0" indent="0" algn="ctr" rtl="0">
                        <a:spcBef>
                          <a:spcPts val="0"/>
                        </a:spcBef>
                        <a:spcAft>
                          <a:spcPts val="0"/>
                        </a:spcAft>
                        <a:buNone/>
                      </a:pPr>
                      <a:r>
                        <a:rPr lang="en-US" sz="2400" b="0" dirty="0">
                          <a:solidFill>
                            <a:schemeClr val="tx1"/>
                          </a:solidFill>
                        </a:rPr>
                        <a:t>112</a:t>
                      </a:r>
                      <a:endParaRPr sz="2400" b="0"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gridSpan="2">
                  <a:txBody>
                    <a:bodyPr/>
                    <a:lstStyle/>
                    <a:p>
                      <a:pPr marL="0" marR="0" lvl="0" indent="0" algn="l" rtl="0">
                        <a:spcBef>
                          <a:spcPts val="0"/>
                        </a:spcBef>
                        <a:spcAft>
                          <a:spcPts val="0"/>
                        </a:spcAft>
                        <a:buNone/>
                      </a:pPr>
                      <a:r>
                        <a:rPr lang="en-US" sz="2400" dirty="0" err="1"/>
                        <a:t>Ansari Zeeshan Habib</a:t>
                      </a:r>
                      <a:endParaRPr sz="2400" dirty="0"/>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extLst>
                  <a:ext uri="{0D108BD9-81ED-4DB2-BD59-A6C34878D82A}">
                    <a16:rowId xmlns:a16="http://schemas.microsoft.com/office/drawing/2014/main" val="10008"/>
                  </a:ext>
                </a:extLst>
              </a:tr>
            </a:tbl>
          </a:graphicData>
        </a:graphic>
      </p:graphicFrame>
      <p:pic>
        <p:nvPicPr>
          <p:cNvPr id="505" name="Google Shape;505;p13" descr="ssvpslogo.png"/>
          <p:cNvPicPr preferRelativeResize="0"/>
          <p:nvPr/>
        </p:nvPicPr>
        <p:blipFill rotWithShape="1">
          <a:blip r:embed="rId3">
            <a:alphaModFix/>
          </a:blip>
          <a:srcRect/>
          <a:stretch/>
        </p:blipFill>
        <p:spPr>
          <a:xfrm>
            <a:off x="381000" y="457200"/>
            <a:ext cx="1219200" cy="16272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14"/>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fontScale="77500" lnSpcReduction="20000"/>
          </a:bodyPr>
          <a:lstStyle/>
          <a:p>
            <a:pPr marL="514350" lvl="0" indent="-483870" algn="l" rtl="0">
              <a:spcBef>
                <a:spcPts val="0"/>
              </a:spcBef>
              <a:spcAft>
                <a:spcPts val="0"/>
              </a:spcAft>
              <a:buClr>
                <a:schemeClr val="dk1"/>
              </a:buClr>
              <a:buSzPct val="100000"/>
              <a:buChar char="•"/>
            </a:pPr>
            <a:r>
              <a:rPr lang="en-US" dirty="0"/>
              <a:t>Certificate</a:t>
            </a:r>
            <a:endParaRPr dirty="0"/>
          </a:p>
          <a:p>
            <a:pPr marL="514350" lvl="0" indent="-483870" algn="l" rtl="0">
              <a:spcBef>
                <a:spcPts val="496"/>
              </a:spcBef>
              <a:spcAft>
                <a:spcPts val="0"/>
              </a:spcAft>
              <a:buClr>
                <a:schemeClr val="dk1"/>
              </a:buClr>
              <a:buSzPct val="100000"/>
              <a:buChar char="•"/>
            </a:pPr>
            <a:r>
              <a:rPr lang="en-US" dirty="0"/>
              <a:t>Abstract</a:t>
            </a:r>
            <a:endParaRPr dirty="0"/>
          </a:p>
          <a:p>
            <a:pPr marL="514350" lvl="0" indent="-483870" algn="l" rtl="0">
              <a:spcBef>
                <a:spcPts val="496"/>
              </a:spcBef>
              <a:spcAft>
                <a:spcPts val="0"/>
              </a:spcAft>
              <a:buClr>
                <a:schemeClr val="dk1"/>
              </a:buClr>
              <a:buSzPct val="100000"/>
              <a:buFont typeface="Arial"/>
              <a:buAutoNum type="arabicPeriod"/>
            </a:pPr>
            <a:r>
              <a:rPr lang="en-US" dirty="0"/>
              <a:t>Introduction</a:t>
            </a:r>
            <a:endParaRPr dirty="0"/>
          </a:p>
          <a:p>
            <a:pPr marL="514350" lvl="0" indent="-483870" algn="l" rtl="0">
              <a:spcBef>
                <a:spcPts val="496"/>
              </a:spcBef>
              <a:spcAft>
                <a:spcPts val="0"/>
              </a:spcAft>
              <a:buClr>
                <a:schemeClr val="dk1"/>
              </a:buClr>
              <a:buSzPct val="100000"/>
              <a:buFont typeface="Arial"/>
              <a:buAutoNum type="arabicPeriod"/>
            </a:pPr>
            <a:r>
              <a:rPr lang="en-US" dirty="0"/>
              <a:t>Literature Review</a:t>
            </a:r>
            <a:endParaRPr dirty="0"/>
          </a:p>
          <a:p>
            <a:pPr marL="514350" lvl="0" indent="-483870" algn="l" rtl="0">
              <a:spcBef>
                <a:spcPts val="496"/>
              </a:spcBef>
              <a:spcAft>
                <a:spcPts val="0"/>
              </a:spcAft>
              <a:buClr>
                <a:schemeClr val="dk1"/>
              </a:buClr>
              <a:buSzPct val="100000"/>
              <a:buFont typeface="Arial"/>
              <a:buAutoNum type="arabicPeriod"/>
            </a:pPr>
            <a:r>
              <a:rPr lang="en-US" dirty="0"/>
              <a:t>Information to Seminar Topic</a:t>
            </a:r>
            <a:endParaRPr dirty="0"/>
          </a:p>
          <a:p>
            <a:pPr marL="514350" lvl="0" indent="-483870" algn="l" rtl="0">
              <a:spcBef>
                <a:spcPts val="496"/>
              </a:spcBef>
              <a:spcAft>
                <a:spcPts val="0"/>
              </a:spcAft>
              <a:buClr>
                <a:schemeClr val="dk1"/>
              </a:buClr>
              <a:buSzPct val="100000"/>
              <a:buFont typeface="Arial"/>
              <a:buAutoNum type="arabicPeriod"/>
            </a:pPr>
            <a:r>
              <a:rPr lang="en-US" dirty="0"/>
              <a:t>Advantages and Disadvantages</a:t>
            </a:r>
            <a:endParaRPr dirty="0"/>
          </a:p>
          <a:p>
            <a:pPr marL="514350" lvl="0" indent="-483870" algn="l" rtl="0">
              <a:spcBef>
                <a:spcPts val="496"/>
              </a:spcBef>
              <a:spcAft>
                <a:spcPts val="0"/>
              </a:spcAft>
              <a:buClr>
                <a:schemeClr val="dk1"/>
              </a:buClr>
              <a:buSzPct val="100000"/>
              <a:buFont typeface="Arial"/>
              <a:buAutoNum type="arabicPeriod"/>
            </a:pPr>
            <a:r>
              <a:rPr lang="en-US" dirty="0"/>
              <a:t>Conclusion</a:t>
            </a:r>
            <a:endParaRPr dirty="0"/>
          </a:p>
          <a:p>
            <a:pPr marL="514350" lvl="0" indent="-483870" algn="l" rtl="0">
              <a:spcBef>
                <a:spcPts val="496"/>
              </a:spcBef>
              <a:spcAft>
                <a:spcPts val="0"/>
              </a:spcAft>
              <a:buClr>
                <a:schemeClr val="dk1"/>
              </a:buClr>
              <a:buSzPct val="100000"/>
              <a:buFont typeface="Arial"/>
              <a:buAutoNum type="arabicPeriod"/>
            </a:pPr>
            <a:r>
              <a:rPr lang="en-US" dirty="0"/>
              <a:t>Project Initiation :</a:t>
            </a:r>
            <a:endParaRPr dirty="0"/>
          </a:p>
          <a:p>
            <a:pPr marL="742950" lvl="0" indent="0" algn="l" rtl="0">
              <a:spcBef>
                <a:spcPts val="434"/>
              </a:spcBef>
              <a:spcAft>
                <a:spcPts val="0"/>
              </a:spcAft>
              <a:buNone/>
            </a:pPr>
            <a:r>
              <a:rPr lang="en-US" sz="2800" dirty="0"/>
              <a:t>6.1 Description of problem statement</a:t>
            </a:r>
            <a:endParaRPr sz="2800" dirty="0"/>
          </a:p>
          <a:p>
            <a:pPr marL="742950" lvl="0" indent="0" algn="l" rtl="0">
              <a:spcBef>
                <a:spcPts val="434"/>
              </a:spcBef>
              <a:spcAft>
                <a:spcPts val="0"/>
              </a:spcAft>
              <a:buNone/>
            </a:pPr>
            <a:r>
              <a:rPr lang="en-US" sz="2800" dirty="0"/>
              <a:t>6.2 Scope and objectives</a:t>
            </a:r>
            <a:endParaRPr sz="2800" dirty="0"/>
          </a:p>
          <a:p>
            <a:pPr marL="742950" lvl="0" indent="0" algn="l" rtl="0">
              <a:spcBef>
                <a:spcPts val="434"/>
              </a:spcBef>
              <a:spcAft>
                <a:spcPts val="0"/>
              </a:spcAft>
              <a:buNone/>
            </a:pPr>
            <a:r>
              <a:rPr lang="en-US" sz="2800" dirty="0"/>
              <a:t>6.3 Stakeholders</a:t>
            </a:r>
            <a:endParaRPr sz="2800" dirty="0"/>
          </a:p>
          <a:p>
            <a:pPr marL="742950" lvl="0" indent="0" algn="l" rtl="0">
              <a:spcBef>
                <a:spcPts val="434"/>
              </a:spcBef>
              <a:spcAft>
                <a:spcPts val="0"/>
              </a:spcAft>
              <a:buNone/>
            </a:pPr>
            <a:r>
              <a:rPr lang="en-US" sz="2800" dirty="0"/>
              <a:t>6.4 Seminar execution plan</a:t>
            </a:r>
            <a:endParaRPr sz="2800" dirty="0"/>
          </a:p>
          <a:p>
            <a:pPr marL="742950" lvl="0" indent="0" algn="l" rtl="0">
              <a:spcBef>
                <a:spcPts val="434"/>
              </a:spcBef>
              <a:spcAft>
                <a:spcPts val="0"/>
              </a:spcAft>
              <a:buNone/>
            </a:pPr>
            <a:r>
              <a:rPr lang="en-US" sz="2800" dirty="0"/>
              <a:t>6.5 Platform / Equipment / Resources identification</a:t>
            </a:r>
            <a:endParaRPr sz="2800" dirty="0"/>
          </a:p>
          <a:p>
            <a:pPr marL="514350" lvl="0" indent="-483870" algn="l" rtl="0">
              <a:spcBef>
                <a:spcPts val="496"/>
              </a:spcBef>
              <a:spcAft>
                <a:spcPts val="0"/>
              </a:spcAft>
              <a:buClr>
                <a:schemeClr val="dk1"/>
              </a:buClr>
              <a:buSzPct val="100000"/>
              <a:buFont typeface="Arial"/>
              <a:buAutoNum type="arabicPeriod"/>
            </a:pPr>
            <a:r>
              <a:rPr lang="en-US" dirty="0"/>
              <a:t>Bibliography</a:t>
            </a:r>
            <a:endParaRPr dirty="0"/>
          </a:p>
          <a:p>
            <a:pPr marL="514350" lvl="0" indent="-483870" algn="l" rtl="0">
              <a:spcBef>
                <a:spcPts val="496"/>
              </a:spcBef>
              <a:spcAft>
                <a:spcPts val="0"/>
              </a:spcAft>
              <a:buClr>
                <a:schemeClr val="dk1"/>
              </a:buClr>
              <a:buSzPct val="100000"/>
              <a:buFont typeface="Arial"/>
              <a:buAutoNum type="arabicPeriod"/>
            </a:pPr>
            <a:r>
              <a:rPr lang="en-US" dirty="0"/>
              <a:t>References</a:t>
            </a:r>
            <a:endParaRPr dirty="0"/>
          </a:p>
          <a:p>
            <a:pPr marL="342900" lvl="0" indent="-185420" algn="l" rtl="0">
              <a:spcBef>
                <a:spcPts val="496"/>
              </a:spcBef>
              <a:spcAft>
                <a:spcPts val="0"/>
              </a:spcAft>
              <a:buClr>
                <a:schemeClr val="dk1"/>
              </a:buClr>
              <a:buSzPct val="100000"/>
              <a:buNone/>
            </a:pPr>
            <a:endParaRPr dirty="0"/>
          </a:p>
        </p:txBody>
      </p:sp>
      <p:sp>
        <p:nvSpPr>
          <p:cNvPr id="511" name="Google Shape;511;p14"/>
          <p:cNvSpPr txBox="1">
            <a:spLocks noGrp="1"/>
          </p:cNvSpPr>
          <p:nvPr>
            <p:ph type="title"/>
          </p:nvPr>
        </p:nvSpPr>
        <p:spPr>
          <a:xfrm>
            <a:off x="457200" y="274638"/>
            <a:ext cx="8229600" cy="8685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Contents</a:t>
            </a:r>
            <a:endParaRPr/>
          </a:p>
        </p:txBody>
      </p:sp>
      <p:sp>
        <p:nvSpPr>
          <p:cNvPr id="512" name="Google Shape;512;p14"/>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15"/>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Abstract</a:t>
            </a:r>
            <a:endParaRPr/>
          </a:p>
        </p:txBody>
      </p:sp>
      <p:sp>
        <p:nvSpPr>
          <p:cNvPr id="518" name="Google Shape;518;p15"/>
          <p:cNvSpPr txBox="1">
            <a:spLocks noGrp="1"/>
          </p:cNvSpPr>
          <p:nvPr>
            <p:ph type="body" idx="1"/>
          </p:nvPr>
        </p:nvSpPr>
        <p:spPr>
          <a:xfrm>
            <a:off x="457200" y="1219200"/>
            <a:ext cx="8229600" cy="3847167"/>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82800" tIns="45700" rIns="82800" bIns="45700" anchor="t" anchorCtr="0">
            <a:normAutofit/>
          </a:bodyPr>
          <a:lstStyle/>
          <a:p>
            <a:pPr marL="203200" indent="0">
              <a:spcBef>
                <a:spcPts val="0"/>
              </a:spcBef>
              <a:buNone/>
            </a:pPr>
            <a:endParaRPr lang="en-US" sz="1800" dirty="0"/>
          </a:p>
          <a:p>
            <a:pPr marL="72000" lvl="0" indent="-139700" algn="just">
              <a:spcBef>
                <a:spcPts val="0"/>
              </a:spcBef>
              <a:buSzPts val="3200"/>
              <a:buNone/>
            </a:pPr>
            <a:r>
              <a:rPr lang="en-US" sz="1800" b="0" dirty="0"/>
              <a:t>	Inventory management in most organizations, from large warehouses to small shops and college laboratories, still depends on manual registers, physical counting and guesswork, which causes stock-outs, over-stocking, wastage and lost equipment [4]. This seminar reviews eleven research papers on IoT- and AI/ML-based inventory management, from large supply chains down to a single laboratory [1]–[11]. The papers show that RFID and sensor-based tracking improve stock accuracy, and that models such as Random Forest give reliable demand forecasts [5], [7]. Based on this survey, we propose a low-cost Smart Inventory Management System for a college department or small store using an ESP32, RFID and load-cell sensors, a Flask–MySQL backend, a Random Forest forecasting model and a web dashboard with automatic low-stock alerts [8], [11].</a:t>
            </a:r>
          </a:p>
        </p:txBody>
      </p:sp>
      <p:sp>
        <p:nvSpPr>
          <p:cNvPr id="519" name="Google Shape;519;p15"/>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16"/>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1. Introduction</a:t>
            </a:r>
            <a:endParaRPr/>
          </a:p>
        </p:txBody>
      </p:sp>
      <p:sp>
        <p:nvSpPr>
          <p:cNvPr id="525" name="Google Shape;525;p16"/>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algn="just">
              <a:spcBef>
                <a:spcPts val="0"/>
              </a:spcBef>
            </a:pPr>
            <a:r>
              <a:rPr lang="en-US" sz="1600" b="0" dirty="0"/>
              <a:t>The term “Internet of Things” was coined by Kevin Ashton in 1999 at Procter &amp; Gamble, after a popular lipstick kept missing from shelves though records showed it was in stock [12], [13].</a:t>
            </a:r>
          </a:p>
          <a:p>
            <a:pPr algn="just">
              <a:spcBef>
                <a:spcPts val="0"/>
              </a:spcBef>
            </a:pPr>
            <a:r>
              <a:rPr lang="en-US" sz="1600" b="0" dirty="0"/>
              <a:t>His main goal: tag products with RFID so that computers gather data on their own, instead of people entering it by hand [12], [13].</a:t>
            </a:r>
          </a:p>
          <a:p>
            <a:pPr algn="just">
              <a:spcBef>
                <a:spcPts val="0"/>
              </a:spcBef>
            </a:pPr>
            <a:r>
              <a:rPr lang="en-US" sz="1600" b="0" dirty="0"/>
              <a:t>Manual registers and counting are slow and error-prone, causing stock-outs and over-stocking [4], [10].</a:t>
            </a:r>
          </a:p>
          <a:p>
            <a:pPr algn="just">
              <a:spcBef>
                <a:spcPts val="0"/>
              </a:spcBef>
            </a:pPr>
            <a:r>
              <a:rPr lang="en-US" sz="1600" b="0" dirty="0"/>
              <a:t>IoT devices (RFID readers, weight sensors) track stock automatically in real time [5], [9].</a:t>
            </a:r>
          </a:p>
          <a:p>
            <a:pPr algn="just">
              <a:spcBef>
                <a:spcPts val="0"/>
              </a:spcBef>
            </a:pPr>
            <a:r>
              <a:rPr lang="en-US" sz="1600" b="0" dirty="0"/>
              <a:t>AI/ML models learn from past usage to forecast future demand [3], [7].</a:t>
            </a:r>
          </a:p>
          <a:p>
            <a:pPr algn="just">
              <a:spcBef>
                <a:spcPts val="0"/>
              </a:spcBef>
            </a:pPr>
            <a:r>
              <a:rPr lang="en-US" sz="1600" b="0" dirty="0"/>
              <a:t>Together they give automatic, data-driven inventory with low-stock alerts [8].</a:t>
            </a:r>
          </a:p>
        </p:txBody>
      </p:sp>
      <p:sp>
        <p:nvSpPr>
          <p:cNvPr id="526" name="Google Shape;526;p16"/>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a:t>
            </a:fld>
            <a:endParaRPr/>
          </a:p>
        </p:txBody>
      </p:sp>
      <p:pic>
        <p:nvPicPr>
          <p:cNvPr id="527" name="Picture 526" descr="intro.png"/>
          <p:cNvPicPr>
            <a:picLocks noChangeAspect="1"/>
          </p:cNvPicPr>
          <p:nvPr/>
        </p:nvPicPr>
        <p:blipFill>
          <a:blip r:embed="rId3"/>
          <a:stretch>
            <a:fillRect/>
          </a:stretch>
        </p:blipFill>
        <p:spPr>
          <a:xfrm>
            <a:off x="670560" y="3853609"/>
            <a:ext cx="7863840" cy="2012854"/>
          </a:xfrm>
          <a:prstGeom prst="rect">
            <a:avLst/>
          </a:prstGeom>
        </p:spPr>
      </p:pic>
      <p:sp>
        <p:nvSpPr>
          <p:cNvPr id="528" name="TextBox 527"/>
          <p:cNvSpPr txBox="1"/>
          <p:nvPr/>
        </p:nvSpPr>
        <p:spPr>
          <a:xfrm>
            <a:off x="548640" y="5884751"/>
            <a:ext cx="8046720" cy="292608"/>
          </a:xfrm>
          <a:prstGeom prst="rect">
            <a:avLst/>
          </a:prstGeom>
          <a:noFill/>
        </p:spPr>
        <p:txBody>
          <a:bodyPr wrap="none" tIns="0" bIns="0">
            <a:spAutoFit/>
          </a:bodyPr>
          <a:lstStyle/>
          <a:p>
            <a:pPr algn="ctr"/>
            <a:r>
              <a:rPr sz="1300" i="1">
                <a:latin typeface="Times New Roman"/>
              </a:rPr>
              <a:t>Fig 1: Working of Smart Inventory Management System [7], [8], [9]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17"/>
          <p:cNvSpPr txBox="1">
            <a:spLocks noGrp="1"/>
          </p:cNvSpPr>
          <p:nvPr>
            <p:ph type="title"/>
          </p:nvPr>
        </p:nvSpPr>
        <p:spPr>
          <a:xfrm>
            <a:off x="183872" y="274638"/>
            <a:ext cx="8502928"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2. Literature Survey</a:t>
            </a:r>
            <a:endParaRPr/>
          </a:p>
        </p:txBody>
      </p:sp>
      <p:sp>
        <p:nvSpPr>
          <p:cNvPr id="532" name="Google Shape;532;p17"/>
          <p:cNvSpPr txBox="1">
            <a:spLocks noGrp="1"/>
          </p:cNvSpPr>
          <p:nvPr>
            <p:ph type="body" idx="1"/>
          </p:nvPr>
        </p:nvSpPr>
        <p:spPr>
          <a:xfrm>
            <a:off x="183872" y="1219200"/>
            <a:ext cx="8502928" cy="536416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r>
              <a:rPr lang="en-GB" dirty="0"/>
              <a:t>              </a:t>
            </a:r>
            <a:endParaRPr dirty="0"/>
          </a:p>
        </p:txBody>
      </p:sp>
      <p:sp>
        <p:nvSpPr>
          <p:cNvPr id="533" name="Google Shape;533;p17"/>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5</a:t>
            </a:fld>
            <a:endParaRPr/>
          </a:p>
        </p:txBody>
      </p:sp>
      <p:graphicFrame>
        <p:nvGraphicFramePr>
          <p:cNvPr id="3" name="Table 2">
            <a:extLst>
              <a:ext uri="{FF2B5EF4-FFF2-40B4-BE49-F238E27FC236}">
                <a16:creationId xmlns:a16="http://schemas.microsoft.com/office/drawing/2014/main" id="{20C7D25D-C2DD-14C4-3795-EFBE3BAD0452}"/>
              </a:ext>
            </a:extLst>
          </p:cNvPr>
          <p:cNvGraphicFramePr>
            <a:graphicFrameLocks noGrp="1"/>
          </p:cNvGraphicFramePr>
          <p:nvPr>
            <p:extLst>
              <p:ext uri="{D42A27DB-BD31-4B8C-83A1-F6EECF244321}">
                <p14:modId xmlns:p14="http://schemas.microsoft.com/office/powerpoint/2010/main" val="1047092921"/>
              </p:ext>
            </p:extLst>
          </p:nvPr>
        </p:nvGraphicFramePr>
        <p:xfrm>
          <a:off x="183872" y="1219200"/>
          <a:ext cx="8502929" cy="5371406"/>
        </p:xfrm>
        <a:graphic>
          <a:graphicData uri="http://schemas.openxmlformats.org/drawingml/2006/table">
            <a:tbl>
              <a:tblPr firstRow="1" firstCol="1" bandRow="1">
                <a:tableStyleId>{BC89EF96-8CEA-46FF-86C4-4CE0E7609802}</a:tableStyleId>
              </a:tblPr>
              <a:tblGrid>
                <a:gridCol w="453437">
                  <a:extLst>
                    <a:ext uri="{9D8B030D-6E8A-4147-A177-3AD203B41FA5}">
                      <a16:colId xmlns:a16="http://schemas.microsoft.com/office/drawing/2014/main" val="3671614926"/>
                    </a:ext>
                  </a:extLst>
                </a:gridCol>
                <a:gridCol w="1432374">
                  <a:extLst>
                    <a:ext uri="{9D8B030D-6E8A-4147-A177-3AD203B41FA5}">
                      <a16:colId xmlns:a16="http://schemas.microsoft.com/office/drawing/2014/main" val="2900298569"/>
                    </a:ext>
                  </a:extLst>
                </a:gridCol>
                <a:gridCol w="1735948">
                  <a:extLst>
                    <a:ext uri="{9D8B030D-6E8A-4147-A177-3AD203B41FA5}">
                      <a16:colId xmlns:a16="http://schemas.microsoft.com/office/drawing/2014/main" val="3617710171"/>
                    </a:ext>
                  </a:extLst>
                </a:gridCol>
                <a:gridCol w="1259413">
                  <a:extLst>
                    <a:ext uri="{9D8B030D-6E8A-4147-A177-3AD203B41FA5}">
                      <a16:colId xmlns:a16="http://schemas.microsoft.com/office/drawing/2014/main" val="1925426286"/>
                    </a:ext>
                  </a:extLst>
                </a:gridCol>
                <a:gridCol w="1647543">
                  <a:extLst>
                    <a:ext uri="{9D8B030D-6E8A-4147-A177-3AD203B41FA5}">
                      <a16:colId xmlns:a16="http://schemas.microsoft.com/office/drawing/2014/main" val="1753319277"/>
                    </a:ext>
                  </a:extLst>
                </a:gridCol>
                <a:gridCol w="1974214">
                  <a:extLst>
                    <a:ext uri="{9D8B030D-6E8A-4147-A177-3AD203B41FA5}">
                      <a16:colId xmlns:a16="http://schemas.microsoft.com/office/drawing/2014/main" val="1530639041"/>
                    </a:ext>
                  </a:extLst>
                </a:gridCol>
              </a:tblGrid>
              <a:tr h="582577">
                <a:tc>
                  <a:txBody>
                    <a:bodyPr/>
                    <a:lstStyle/>
                    <a:p>
                      <a:pPr algn="ctr">
                        <a:buNone/>
                      </a:pPr>
                      <a:r>
                        <a:rPr lang="en-US" sz="1800" dirty="0">
                          <a:effectLst/>
                          <a:latin typeface="Times New Roman" panose="02020603050405020304" pitchFamily="18" charset="0"/>
                          <a:cs typeface="Times New Roman" panose="02020603050405020304" pitchFamily="18" charset="0"/>
                        </a:rPr>
                        <a:t>Sr. No.</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tc>
                  <a:txBody>
                    <a:bodyPr/>
                    <a:lstStyle/>
                    <a:p>
                      <a:pPr algn="ctr">
                        <a:buNone/>
                      </a:pPr>
                      <a:r>
                        <a:rPr lang="en-US" sz="1800" dirty="0">
                          <a:effectLst/>
                          <a:latin typeface="Times New Roman" panose="02020603050405020304" pitchFamily="18" charset="0"/>
                          <a:cs typeface="Times New Roman" panose="02020603050405020304" pitchFamily="18" charset="0"/>
                        </a:rPr>
                        <a:t>Approach Type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tc>
                  <a:txBody>
                    <a:bodyPr/>
                    <a:lstStyle/>
                    <a:p>
                      <a:pPr algn="ctr">
                        <a:buNone/>
                      </a:pPr>
                      <a:r>
                        <a:rPr lang="en-US" sz="1800" dirty="0">
                          <a:effectLst/>
                          <a:latin typeface="Times New Roman" panose="02020603050405020304" pitchFamily="18" charset="0"/>
                          <a:cs typeface="Times New Roman" panose="02020603050405020304" pitchFamily="18" charset="0"/>
                        </a:rPr>
                        <a:t>Technologies Used</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tc>
                  <a:txBody>
                    <a:bodyPr/>
                    <a:lstStyle/>
                    <a:p>
                      <a:pPr algn="ctr">
                        <a:buNone/>
                      </a:pPr>
                      <a:r>
                        <a:rPr lang="en-US" sz="1800" dirty="0">
                          <a:effectLst/>
                          <a:latin typeface="Times New Roman" panose="02020603050405020304" pitchFamily="18" charset="0"/>
                          <a:cs typeface="Times New Roman" panose="02020603050405020304" pitchFamily="18" charset="0"/>
                        </a:rPr>
                        <a:t>Dataset</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tc>
                  <a:txBody>
                    <a:bodyPr/>
                    <a:lstStyle/>
                    <a:p>
                      <a:pPr algn="ctr">
                        <a:buNone/>
                      </a:pPr>
                      <a:r>
                        <a:rPr lang="en-US" sz="1800" dirty="0">
                          <a:effectLst/>
                          <a:latin typeface="Times New Roman" panose="02020603050405020304" pitchFamily="18" charset="0"/>
                          <a:cs typeface="Times New Roman" panose="02020603050405020304" pitchFamily="18" charset="0"/>
                        </a:rPr>
                        <a:t>Key Objective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tc>
                  <a:txBody>
                    <a:bodyPr/>
                    <a:lstStyle/>
                    <a:p>
                      <a:pPr algn="ctr">
                        <a:buNone/>
                      </a:pPr>
                      <a:r>
                        <a:rPr lang="en-US" sz="1800" dirty="0">
                          <a:effectLst/>
                          <a:latin typeface="Times New Roman" panose="02020603050405020304" pitchFamily="18" charset="0"/>
                          <a:cs typeface="Times New Roman" panose="02020603050405020304" pitchFamily="18" charset="0"/>
                        </a:rPr>
                        <a:t>Limitations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extLst>
                  <a:ext uri="{0D108BD9-81ED-4DB2-BD59-A6C34878D82A}">
                    <a16:rowId xmlns:a16="http://schemas.microsoft.com/office/drawing/2014/main" val="87233224"/>
                  </a:ext>
                </a:extLst>
              </a:tr>
              <a:tr h="1410134">
                <a:tc>
                  <a:txBody>
                    <a:bodyPr/>
                    <a:lstStyle/>
                    <a:p>
                      <a:pPr algn="ctr">
                        <a:buNone/>
                      </a:pPr>
                      <a:r>
                        <a:rPr lang="en-US" sz="1800" dirty="0">
                          <a:effectLst/>
                          <a:latin typeface="Times New Roman" panose="02020603050405020304" pitchFamily="18" charset="0"/>
                          <a:cs typeface="Times New Roman" panose="02020603050405020304" pitchFamily="18" charset="0"/>
                        </a:rPr>
                        <a:t>[1]</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spcAft>
                          <a:spcPts val="1200"/>
                        </a:spcAft>
                        <a:buNone/>
                      </a:pPr>
                      <a:r>
                        <a:rPr lang="en-US" sz="1800" dirty="0">
                          <a:effectLst/>
                          <a:latin typeface="Times New Roman" panose="02020603050405020304" pitchFamily="18" charset="0"/>
                          <a:cs typeface="Times New Roman" panose="02020603050405020304" pitchFamily="18" charset="0"/>
                        </a:rPr>
                        <a:t>Supply-chain demand forecasting (RBRO-WRF)</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just">
                        <a:spcAft>
                          <a:spcPts val="1200"/>
                        </a:spcAft>
                        <a:buNone/>
                      </a:pPr>
                      <a:r>
                        <a:rPr lang="en-US" sz="1800" dirty="0">
                          <a:effectLst/>
                          <a:latin typeface="Times New Roman" panose="02020603050405020304" pitchFamily="18" charset="0"/>
                          <a:cs typeface="Times New Roman" panose="02020603050405020304" pitchFamily="18" charset="0"/>
                        </a:rPr>
                        <a:t>IoT sensors, Weighted Random Forest, Python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just">
                        <a:spcAft>
                          <a:spcPts val="1200"/>
                        </a:spcAft>
                        <a:buNone/>
                      </a:pPr>
                      <a:r>
                        <a:rPr lang="en-US" sz="1800">
                          <a:effectLst/>
                          <a:latin typeface="Times New Roman" panose="02020603050405020304" pitchFamily="18" charset="0"/>
                          <a:cs typeface="Times New Roman" panose="02020603050405020304" pitchFamily="18" charset="0"/>
                        </a:rPr>
                        <a:t>Kaggle supply-chain data</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just">
                        <a:spcAft>
                          <a:spcPts val="1200"/>
                        </a:spcAft>
                        <a:buNone/>
                      </a:pPr>
                      <a:r>
                        <a:rPr lang="en-US" sz="1800">
                          <a:effectLst/>
                          <a:latin typeface="Times New Roman" panose="02020603050405020304" pitchFamily="18" charset="0"/>
                          <a:cs typeface="Times New Roman" panose="02020603050405020304" pitchFamily="18" charset="0"/>
                        </a:rPr>
                        <a:t>Accurate demand prediction for logistics</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just">
                        <a:spcAft>
                          <a:spcPts val="1200"/>
                        </a:spcAft>
                        <a:buNone/>
                      </a:pPr>
                      <a:r>
                        <a:rPr lang="en-US" sz="1800">
                          <a:effectLst/>
                          <a:latin typeface="Times New Roman" panose="02020603050405020304" pitchFamily="18" charset="0"/>
                          <a:cs typeface="Times New Roman" panose="02020603050405020304" pitchFamily="18" charset="0"/>
                        </a:rPr>
                        <a:t>Overfitting risk; high compute; not generalized.</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a16="http://schemas.microsoft.com/office/drawing/2014/main" val="3645284830"/>
                  </a:ext>
                </a:extLst>
              </a:tr>
              <a:tr h="1685726">
                <a:tc>
                  <a:txBody>
                    <a:bodyPr/>
                    <a:lstStyle/>
                    <a:p>
                      <a:pPr algn="ctr">
                        <a:buNone/>
                      </a:pPr>
                      <a:r>
                        <a:rPr lang="en-US" sz="1800">
                          <a:effectLst/>
                          <a:latin typeface="Times New Roman" panose="02020603050405020304" pitchFamily="18" charset="0"/>
                          <a:cs typeface="Times New Roman" panose="02020603050405020304" pitchFamily="18" charset="0"/>
                        </a:rPr>
                        <a:t>[2]</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spcAft>
                          <a:spcPts val="1200"/>
                        </a:spcAft>
                        <a:buNone/>
                      </a:pPr>
                      <a:r>
                        <a:rPr lang="en-US" sz="1800">
                          <a:effectLst/>
                          <a:latin typeface="Times New Roman" panose="02020603050405020304" pitchFamily="18" charset="0"/>
                          <a:cs typeface="Times New Roman" panose="02020603050405020304" pitchFamily="18" charset="0"/>
                        </a:rPr>
                        <a:t>Review of AI + IoT in inventory</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just">
                        <a:spcAft>
                          <a:spcPts val="1200"/>
                        </a:spcAft>
                        <a:buNone/>
                      </a:pPr>
                      <a:r>
                        <a:rPr lang="en-US" sz="1800" dirty="0">
                          <a:effectLst/>
                          <a:latin typeface="Times New Roman" panose="02020603050405020304" pitchFamily="18" charset="0"/>
                          <a:cs typeface="Times New Roman" panose="02020603050405020304" pitchFamily="18" charset="0"/>
                        </a:rPr>
                        <a:t>AI, IoT, edge computing, blockchain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just">
                        <a:spcAft>
                          <a:spcPts val="1200"/>
                        </a:spcAft>
                        <a:buNone/>
                      </a:pPr>
                      <a:r>
                        <a:rPr lang="en-US" sz="1800" dirty="0">
                          <a:effectLst/>
                          <a:latin typeface="Times New Roman" panose="02020603050405020304" pitchFamily="18" charset="0"/>
                          <a:cs typeface="Times New Roman" panose="02020603050405020304" pitchFamily="18" charset="0"/>
                        </a:rPr>
                        <a:t>None (literature review)</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just">
                        <a:spcAft>
                          <a:spcPts val="1200"/>
                        </a:spcAft>
                        <a:buNone/>
                      </a:pPr>
                      <a:r>
                        <a:rPr lang="en-US" sz="1800" dirty="0">
                          <a:effectLst/>
                          <a:latin typeface="Times New Roman" panose="02020603050405020304" pitchFamily="18" charset="0"/>
                          <a:cs typeface="Times New Roman" panose="02020603050405020304" pitchFamily="18" charset="0"/>
                        </a:rPr>
                        <a:t>Future view of smart inventory</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just">
                        <a:spcAft>
                          <a:spcPts val="1200"/>
                        </a:spcAft>
                        <a:buNone/>
                      </a:pPr>
                      <a:r>
                        <a:rPr lang="en-US" sz="1800" dirty="0">
                          <a:effectLst/>
                          <a:latin typeface="Times New Roman" panose="02020603050405020304" pitchFamily="18" charset="0"/>
                          <a:cs typeface="Times New Roman" panose="02020603050405020304" pitchFamily="18" charset="0"/>
                        </a:rPr>
                        <a:t>No implementation or experiments.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a16="http://schemas.microsoft.com/office/drawing/2014/main" val="402128726"/>
                  </a:ext>
                </a:extLst>
              </a:tr>
              <a:tr h="1685726">
                <a:tc>
                  <a:txBody>
                    <a:bodyPr/>
                    <a:lstStyle/>
                    <a:p>
                      <a:pPr algn="ctr">
                        <a:buNone/>
                      </a:pPr>
                      <a:r>
                        <a:rPr lang="en-US" sz="1800" dirty="0">
                          <a:effectLst/>
                          <a:latin typeface="Times New Roman" panose="02020603050405020304" pitchFamily="18" charset="0"/>
                          <a:cs typeface="Times New Roman" panose="02020603050405020304" pitchFamily="18" charset="0"/>
                        </a:rPr>
                        <a:t>[3]</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spcAft>
                          <a:spcPts val="1200"/>
                        </a:spcAft>
                        <a:buNone/>
                      </a:pPr>
                      <a:r>
                        <a:rPr lang="en-US" sz="1800" dirty="0">
                          <a:effectLst/>
                          <a:latin typeface="Times New Roman" panose="02020603050405020304" pitchFamily="18" charset="0"/>
                          <a:cs typeface="Times New Roman" panose="02020603050405020304" pitchFamily="18" charset="0"/>
                        </a:rPr>
                        <a:t>Big Data + IoT review, food industry</a:t>
                      </a:r>
                    </a:p>
                  </a:txBody>
                  <a:tcPr marL="18302" marR="18302" marT="16014" marB="16014"/>
                </a:tc>
                <a:tc>
                  <a:txBody>
                    <a:bodyPr/>
                    <a:lstStyle/>
                    <a:p>
                      <a:pPr marL="36000" algn="just">
                        <a:spcAft>
                          <a:spcPts val="1200"/>
                        </a:spcAft>
                        <a:buNone/>
                      </a:pPr>
                      <a:r>
                        <a:rPr lang="en-US" sz="1800">
                          <a:effectLst/>
                          <a:latin typeface="Times New Roman" panose="02020603050405020304" pitchFamily="18" charset="0"/>
                          <a:cs typeface="Times New Roman" panose="02020603050405020304" pitchFamily="18" charset="0"/>
                        </a:rPr>
                        <a:t>LR, KNN, Decision Tree, XGBoost, Random Forest</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just">
                        <a:spcAft>
                          <a:spcPts val="1200"/>
                        </a:spcAft>
                        <a:buNone/>
                      </a:pPr>
                      <a:r>
                        <a:rPr lang="en-US" sz="1800">
                          <a:effectLst/>
                          <a:latin typeface="Times New Roman" panose="02020603050405020304" pitchFamily="18" charset="0"/>
                          <a:cs typeface="Times New Roman" panose="02020603050405020304" pitchFamily="18" charset="0"/>
                        </a:rPr>
                        <a:t>Sales of top food items</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just">
                        <a:spcAft>
                          <a:spcPts val="1200"/>
                        </a:spcAft>
                        <a:buNone/>
                      </a:pPr>
                      <a:r>
                        <a:rPr lang="en-US" sz="1800" dirty="0">
                          <a:effectLst/>
                          <a:latin typeface="Times New Roman" panose="02020603050405020304" pitchFamily="18" charset="0"/>
                          <a:cs typeface="Times New Roman" panose="02020603050405020304" pitchFamily="18" charset="0"/>
                        </a:rPr>
                        <a:t>Reduce over/under-stocking of food</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just">
                        <a:spcAft>
                          <a:spcPts val="1200"/>
                        </a:spcAft>
                        <a:buNone/>
                      </a:pPr>
                      <a:r>
                        <a:rPr lang="en-US" sz="1800" dirty="0">
                          <a:effectLst/>
                          <a:latin typeface="Times New Roman" panose="02020603050405020304" pitchFamily="18" charset="0"/>
                          <a:cs typeface="Times New Roman" panose="02020603050405020304" pitchFamily="18" charset="0"/>
                        </a:rPr>
                        <a:t>Single sector; cost for small outlets.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a16="http://schemas.microsoft.com/office/drawing/2014/main" val="17909049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04272B4-E94B-5454-9802-F52071294196}"/>
              </a:ext>
            </a:extLst>
          </p:cNvPr>
          <p:cNvSpPr>
            <a:spLocks noGrp="1"/>
          </p:cNvSpPr>
          <p:nvPr>
            <p:ph type="body" idx="1"/>
          </p:nvPr>
        </p:nvSpPr>
        <p:spPr>
          <a:xfrm>
            <a:off x="457200" y="346364"/>
            <a:ext cx="8229600" cy="6206836"/>
          </a:xfrm>
        </p:spPr>
        <p:txBody>
          <a:bodyPr/>
          <a:lstStyle/>
          <a:p>
            <a:pPr marL="114300" indent="0">
              <a:buNone/>
            </a:pPr>
            <a:r>
              <a:rPr lang="en-GB" dirty="0"/>
              <a:t>                    </a:t>
            </a:r>
            <a:endParaRPr lang="en-IN" dirty="0"/>
          </a:p>
        </p:txBody>
      </p:sp>
      <p:sp>
        <p:nvSpPr>
          <p:cNvPr id="4" name="Slide Number Placeholder 3">
            <a:extLst>
              <a:ext uri="{FF2B5EF4-FFF2-40B4-BE49-F238E27FC236}">
                <a16:creationId xmlns:a16="http://schemas.microsoft.com/office/drawing/2014/main" id="{A5E7E95C-F9D4-5682-C25C-9E845B3F765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6</a:t>
            </a:fld>
            <a:endParaRPr lang="en-US"/>
          </a:p>
        </p:txBody>
      </p:sp>
      <p:graphicFrame>
        <p:nvGraphicFramePr>
          <p:cNvPr id="5" name="Table 4">
            <a:extLst>
              <a:ext uri="{FF2B5EF4-FFF2-40B4-BE49-F238E27FC236}">
                <a16:creationId xmlns:a16="http://schemas.microsoft.com/office/drawing/2014/main" id="{897499E5-8CB4-DAE8-21FB-4BE7CB70F5F3}"/>
              </a:ext>
            </a:extLst>
          </p:cNvPr>
          <p:cNvGraphicFramePr>
            <a:graphicFrameLocks noGrp="1"/>
          </p:cNvGraphicFramePr>
          <p:nvPr>
            <p:extLst>
              <p:ext uri="{D42A27DB-BD31-4B8C-83A1-F6EECF244321}">
                <p14:modId xmlns:p14="http://schemas.microsoft.com/office/powerpoint/2010/main" val="613116742"/>
              </p:ext>
            </p:extLst>
          </p:nvPr>
        </p:nvGraphicFramePr>
        <p:xfrm>
          <a:off x="457200" y="346365"/>
          <a:ext cx="8229601" cy="6009986"/>
        </p:xfrm>
        <a:graphic>
          <a:graphicData uri="http://schemas.openxmlformats.org/drawingml/2006/table">
            <a:tbl>
              <a:tblPr firstRow="1" firstCol="1" bandRow="1">
                <a:tableStyleId>{BC89EF96-8CEA-46FF-86C4-4CE0E7609802}</a:tableStyleId>
              </a:tblPr>
              <a:tblGrid>
                <a:gridCol w="393032">
                  <a:extLst>
                    <a:ext uri="{9D8B030D-6E8A-4147-A177-3AD203B41FA5}">
                      <a16:colId xmlns:a16="http://schemas.microsoft.com/office/drawing/2014/main" val="1835422985"/>
                    </a:ext>
                  </a:extLst>
                </a:gridCol>
                <a:gridCol w="1432158">
                  <a:extLst>
                    <a:ext uri="{9D8B030D-6E8A-4147-A177-3AD203B41FA5}">
                      <a16:colId xmlns:a16="http://schemas.microsoft.com/office/drawing/2014/main" val="3080172688"/>
                    </a:ext>
                  </a:extLst>
                </a:gridCol>
                <a:gridCol w="1680145">
                  <a:extLst>
                    <a:ext uri="{9D8B030D-6E8A-4147-A177-3AD203B41FA5}">
                      <a16:colId xmlns:a16="http://schemas.microsoft.com/office/drawing/2014/main" val="643243970"/>
                    </a:ext>
                  </a:extLst>
                </a:gridCol>
                <a:gridCol w="1218929">
                  <a:extLst>
                    <a:ext uri="{9D8B030D-6E8A-4147-A177-3AD203B41FA5}">
                      <a16:colId xmlns:a16="http://schemas.microsoft.com/office/drawing/2014/main" val="430704381"/>
                    </a:ext>
                  </a:extLst>
                </a:gridCol>
                <a:gridCol w="1594583">
                  <a:extLst>
                    <a:ext uri="{9D8B030D-6E8A-4147-A177-3AD203B41FA5}">
                      <a16:colId xmlns:a16="http://schemas.microsoft.com/office/drawing/2014/main" val="2556017403"/>
                    </a:ext>
                  </a:extLst>
                </a:gridCol>
                <a:gridCol w="1910754">
                  <a:extLst>
                    <a:ext uri="{9D8B030D-6E8A-4147-A177-3AD203B41FA5}">
                      <a16:colId xmlns:a16="http://schemas.microsoft.com/office/drawing/2014/main" val="910270353"/>
                    </a:ext>
                  </a:extLst>
                </a:gridCol>
              </a:tblGrid>
              <a:tr h="639969">
                <a:tc>
                  <a:txBody>
                    <a:bodyPr/>
                    <a:lstStyle/>
                    <a:p>
                      <a:pPr algn="ctr">
                        <a:buNone/>
                      </a:pPr>
                      <a:r>
                        <a:rPr lang="en-US" sz="1800" dirty="0">
                          <a:effectLst/>
                          <a:latin typeface="Times New Roman" panose="02020603050405020304" pitchFamily="18" charset="0"/>
                          <a:cs typeface="Times New Roman" panose="02020603050405020304" pitchFamily="18" charset="0"/>
                        </a:rPr>
                        <a:t>Sr. No.</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tc>
                  <a:txBody>
                    <a:bodyPr/>
                    <a:lstStyle/>
                    <a:p>
                      <a:pPr algn="ctr">
                        <a:buNone/>
                      </a:pPr>
                      <a:r>
                        <a:rPr lang="en-US" sz="1800">
                          <a:effectLst/>
                          <a:latin typeface="Times New Roman" panose="02020603050405020304" pitchFamily="18" charset="0"/>
                          <a:cs typeface="Times New Roman" panose="02020603050405020304" pitchFamily="18" charset="0"/>
                        </a:rPr>
                        <a:t>Approach Type</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tc>
                  <a:txBody>
                    <a:bodyPr/>
                    <a:lstStyle/>
                    <a:p>
                      <a:pPr algn="ctr">
                        <a:buNone/>
                      </a:pPr>
                      <a:r>
                        <a:rPr lang="en-US" sz="1800">
                          <a:effectLst/>
                          <a:latin typeface="Times New Roman" panose="02020603050405020304" pitchFamily="18" charset="0"/>
                          <a:cs typeface="Times New Roman" panose="02020603050405020304" pitchFamily="18" charset="0"/>
                        </a:rPr>
                        <a:t>Technologies Used</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tc>
                  <a:txBody>
                    <a:bodyPr/>
                    <a:lstStyle/>
                    <a:p>
                      <a:pPr algn="ctr">
                        <a:buNone/>
                      </a:pPr>
                      <a:r>
                        <a:rPr lang="en-US" sz="1800">
                          <a:effectLst/>
                          <a:latin typeface="Times New Roman" panose="02020603050405020304" pitchFamily="18" charset="0"/>
                          <a:cs typeface="Times New Roman" panose="02020603050405020304" pitchFamily="18" charset="0"/>
                        </a:rPr>
                        <a:t>Dataset</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tc>
                  <a:txBody>
                    <a:bodyPr/>
                    <a:lstStyle/>
                    <a:p>
                      <a:pPr algn="ctr">
                        <a:buNone/>
                      </a:pPr>
                      <a:r>
                        <a:rPr lang="en-US" sz="1800">
                          <a:effectLst/>
                          <a:latin typeface="Times New Roman" panose="02020603050405020304" pitchFamily="18" charset="0"/>
                          <a:cs typeface="Times New Roman" panose="02020603050405020304" pitchFamily="18" charset="0"/>
                        </a:rPr>
                        <a:t>Key Objective</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tc>
                  <a:txBody>
                    <a:bodyPr/>
                    <a:lstStyle/>
                    <a:p>
                      <a:pPr algn="ctr">
                        <a:buNone/>
                      </a:pPr>
                      <a:r>
                        <a:rPr lang="en-US" sz="1800">
                          <a:effectLst/>
                          <a:latin typeface="Times New Roman" panose="02020603050405020304" pitchFamily="18" charset="0"/>
                          <a:cs typeface="Times New Roman" panose="02020603050405020304" pitchFamily="18" charset="0"/>
                        </a:rPr>
                        <a:t>Limitations</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extLst>
                  <a:ext uri="{0D108BD9-81ED-4DB2-BD59-A6C34878D82A}">
                    <a16:rowId xmlns:a16="http://schemas.microsoft.com/office/drawing/2014/main" val="421947184"/>
                  </a:ext>
                </a:extLst>
              </a:tr>
              <a:tr h="1614086">
                <a:tc>
                  <a:txBody>
                    <a:bodyPr/>
                    <a:lstStyle/>
                    <a:p>
                      <a:pPr algn="ctr">
                        <a:buNone/>
                      </a:pPr>
                      <a:r>
                        <a:rPr lang="en-US" sz="1800" b="0" dirty="0">
                          <a:effectLst/>
                          <a:latin typeface="Times New Roman" panose="02020603050405020304" pitchFamily="18" charset="0"/>
                          <a:cs typeface="Times New Roman" panose="02020603050405020304" pitchFamily="18" charset="0"/>
                        </a:rPr>
                        <a:t>[4]</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dirty="0">
                          <a:effectLst/>
                          <a:latin typeface="Times New Roman" panose="02020603050405020304" pitchFamily="18" charset="0"/>
                          <a:cs typeface="Times New Roman" panose="02020603050405020304" pitchFamily="18" charset="0"/>
                        </a:rPr>
                        <a:t>AI-driven IoT framework for retail</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dirty="0">
                          <a:effectLst/>
                          <a:latin typeface="Times New Roman" panose="02020603050405020304" pitchFamily="18" charset="0"/>
                          <a:cs typeface="Times New Roman" panose="02020603050405020304" pitchFamily="18" charset="0"/>
                        </a:rPr>
                        <a:t>RFID, smart shelves, cloud, ML</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a:effectLst/>
                          <a:latin typeface="Times New Roman" panose="02020603050405020304" pitchFamily="18" charset="0"/>
                          <a:cs typeface="Times New Roman" panose="02020603050405020304" pitchFamily="18" charset="0"/>
                        </a:rPr>
                        <a:t>Public and synthetic data</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a:effectLst/>
                          <a:latin typeface="Times New Roman" panose="02020603050405020304" pitchFamily="18" charset="0"/>
                          <a:cs typeface="Times New Roman" panose="02020603050405020304" pitchFamily="18" charset="0"/>
                        </a:rPr>
                        <a:t>Real-time tracking and forecasting</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a:effectLst/>
                          <a:latin typeface="Times New Roman" panose="02020603050405020304" pitchFamily="18" charset="0"/>
                          <a:cs typeface="Times New Roman" panose="02020603050405020304" pitchFamily="18" charset="0"/>
                        </a:rPr>
                        <a:t>Conceptual; security and scalability open.</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a16="http://schemas.microsoft.com/office/drawing/2014/main" val="3937688551"/>
                  </a:ext>
                </a:extLst>
              </a:tr>
              <a:tr h="2141845">
                <a:tc>
                  <a:txBody>
                    <a:bodyPr/>
                    <a:lstStyle/>
                    <a:p>
                      <a:pPr algn="ctr">
                        <a:buNone/>
                      </a:pPr>
                      <a:r>
                        <a:rPr lang="en-US" sz="1800" b="0" dirty="0">
                          <a:effectLst/>
                          <a:latin typeface="Times New Roman" panose="02020603050405020304" pitchFamily="18" charset="0"/>
                          <a:cs typeface="Times New Roman" panose="02020603050405020304" pitchFamily="18" charset="0"/>
                        </a:rPr>
                        <a:t>[5]</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a:effectLst/>
                          <a:latin typeface="Times New Roman" panose="02020603050405020304" pitchFamily="18" charset="0"/>
                          <a:cs typeface="Times New Roman" panose="02020603050405020304" pitchFamily="18" charset="0"/>
                        </a:rPr>
                        <a:t>IoT + WSN with ensemble ML</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dirty="0">
                          <a:effectLst/>
                          <a:latin typeface="Times New Roman" panose="02020603050405020304" pitchFamily="18" charset="0"/>
                          <a:cs typeface="Times New Roman" panose="02020603050405020304" pitchFamily="18" charset="0"/>
                        </a:rPr>
                        <a:t>WSN, Raspberry Pi, MQTT, AWS, DT, RF</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dirty="0">
                          <a:effectLst/>
                          <a:latin typeface="Times New Roman" panose="02020603050405020304" pitchFamily="18" charset="0"/>
                          <a:cs typeface="Times New Roman" panose="02020603050405020304" pitchFamily="18" charset="0"/>
                        </a:rPr>
                        <a:t>Primary sensor data (temp, humidity, stock)</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dirty="0">
                          <a:effectLst/>
                          <a:latin typeface="Times New Roman" panose="02020603050405020304" pitchFamily="18" charset="0"/>
                          <a:cs typeface="Times New Roman" panose="02020603050405020304" pitchFamily="18" charset="0"/>
                        </a:rPr>
                        <a:t>Better resource allocation (93.75% acc.)</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a:effectLst/>
                          <a:latin typeface="Times New Roman" panose="02020603050405020304" pitchFamily="18" charset="0"/>
                          <a:cs typeface="Times New Roman" panose="02020603050405020304" pitchFamily="18" charset="0"/>
                        </a:rPr>
                        <a:t>Small, location-specific data; WSN cost.</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a16="http://schemas.microsoft.com/office/drawing/2014/main" val="3042414057"/>
                  </a:ext>
                </a:extLst>
              </a:tr>
              <a:tr h="1614086">
                <a:tc>
                  <a:txBody>
                    <a:bodyPr/>
                    <a:lstStyle/>
                    <a:p>
                      <a:pPr algn="ctr">
                        <a:buNone/>
                      </a:pPr>
                      <a:r>
                        <a:rPr lang="en-US" sz="1800" b="0" dirty="0">
                          <a:effectLst/>
                          <a:latin typeface="Times New Roman" panose="02020603050405020304" pitchFamily="18" charset="0"/>
                          <a:cs typeface="Times New Roman" panose="02020603050405020304" pitchFamily="18" charset="0"/>
                        </a:rPr>
                        <a:t>[6]</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a:effectLst/>
                          <a:latin typeface="Times New Roman" panose="02020603050405020304" pitchFamily="18" charset="0"/>
                          <a:cs typeface="Times New Roman" panose="02020603050405020304" pitchFamily="18" charset="0"/>
                        </a:rPr>
                        <a:t>Smart bins in a learning factory</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a:effectLst/>
                          <a:latin typeface="Times New Roman" panose="02020603050405020304" pitchFamily="18" charset="0"/>
                          <a:cs typeface="Times New Roman" panose="02020603050405020304" pitchFamily="18" charset="0"/>
                        </a:rPr>
                        <a:t>Weight mats, RFID, IoT hub, AI, TOC</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dirty="0">
                          <a:effectLst/>
                          <a:latin typeface="Times New Roman" panose="02020603050405020304" pitchFamily="18" charset="0"/>
                          <a:cs typeface="Times New Roman" panose="02020603050405020304" pitchFamily="18" charset="0"/>
                        </a:rPr>
                        <a:t>Werk150 material-flow data</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dirty="0">
                          <a:effectLst/>
                          <a:latin typeface="Times New Roman" panose="02020603050405020304" pitchFamily="18" charset="0"/>
                          <a:cs typeface="Times New Roman" panose="02020603050405020304" pitchFamily="18" charset="0"/>
                        </a:rPr>
                        <a:t>Transparent material flow; training</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dirty="0">
                          <a:effectLst/>
                          <a:latin typeface="Times New Roman" panose="02020603050405020304" pitchFamily="18" charset="0"/>
                          <a:cs typeface="Times New Roman" panose="02020603050405020304" pitchFamily="18" charset="0"/>
                        </a:rPr>
                        <a:t>Lab setup; not tested at full scale.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a16="http://schemas.microsoft.com/office/drawing/2014/main" val="2290539708"/>
                  </a:ext>
                </a:extLst>
              </a:tr>
            </a:tbl>
          </a:graphicData>
        </a:graphic>
      </p:graphicFrame>
    </p:spTree>
    <p:extLst>
      <p:ext uri="{BB962C8B-B14F-4D97-AF65-F5344CB8AC3E}">
        <p14:creationId xmlns:p14="http://schemas.microsoft.com/office/powerpoint/2010/main" val="2959878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6D4444E-40A1-3D3D-EB8D-55BB4B08FF36}"/>
              </a:ext>
            </a:extLst>
          </p:cNvPr>
          <p:cNvSpPr>
            <a:spLocks noGrp="1"/>
          </p:cNvSpPr>
          <p:nvPr>
            <p:ph type="body" idx="1"/>
          </p:nvPr>
        </p:nvSpPr>
        <p:spPr>
          <a:xfrm>
            <a:off x="457200" y="360218"/>
            <a:ext cx="8229600" cy="6192982"/>
          </a:xfrm>
        </p:spPr>
        <p:txBody>
          <a:bodyPr/>
          <a:lstStyle/>
          <a:p>
            <a:pPr marL="114300" indent="0">
              <a:buNone/>
            </a:pPr>
            <a:r>
              <a:rPr lang="en-GB" dirty="0"/>
              <a:t>     </a:t>
            </a:r>
            <a:endParaRPr lang="en-IN" dirty="0"/>
          </a:p>
        </p:txBody>
      </p:sp>
      <p:sp>
        <p:nvSpPr>
          <p:cNvPr id="4" name="Slide Number Placeholder 3">
            <a:extLst>
              <a:ext uri="{FF2B5EF4-FFF2-40B4-BE49-F238E27FC236}">
                <a16:creationId xmlns:a16="http://schemas.microsoft.com/office/drawing/2014/main" id="{2F24B866-080A-1F9C-0A49-0D10F6EE19B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7</a:t>
            </a:fld>
            <a:endParaRPr lang="en-US"/>
          </a:p>
        </p:txBody>
      </p:sp>
      <p:graphicFrame>
        <p:nvGraphicFramePr>
          <p:cNvPr id="5" name="Table 4">
            <a:extLst>
              <a:ext uri="{FF2B5EF4-FFF2-40B4-BE49-F238E27FC236}">
                <a16:creationId xmlns:a16="http://schemas.microsoft.com/office/drawing/2014/main" id="{DFACAE3B-8C3E-AE68-D226-1A669FFA2F4B}"/>
              </a:ext>
            </a:extLst>
          </p:cNvPr>
          <p:cNvGraphicFramePr>
            <a:graphicFrameLocks noGrp="1"/>
          </p:cNvGraphicFramePr>
          <p:nvPr>
            <p:extLst>
              <p:ext uri="{D42A27DB-BD31-4B8C-83A1-F6EECF244321}">
                <p14:modId xmlns:p14="http://schemas.microsoft.com/office/powerpoint/2010/main" val="2690970161"/>
              </p:ext>
            </p:extLst>
          </p:nvPr>
        </p:nvGraphicFramePr>
        <p:xfrm>
          <a:off x="457199" y="360217"/>
          <a:ext cx="8229602" cy="6137565"/>
        </p:xfrm>
        <a:graphic>
          <a:graphicData uri="http://schemas.openxmlformats.org/drawingml/2006/table">
            <a:tbl>
              <a:tblPr firstRow="1" firstCol="1" bandRow="1">
                <a:tableStyleId>{BC89EF96-8CEA-46FF-86C4-4CE0E7609802}</a:tableStyleId>
              </a:tblPr>
              <a:tblGrid>
                <a:gridCol w="415673">
                  <a:extLst>
                    <a:ext uri="{9D8B030D-6E8A-4147-A177-3AD203B41FA5}">
                      <a16:colId xmlns:a16="http://schemas.microsoft.com/office/drawing/2014/main" val="503446673"/>
                    </a:ext>
                  </a:extLst>
                </a:gridCol>
                <a:gridCol w="1409518">
                  <a:extLst>
                    <a:ext uri="{9D8B030D-6E8A-4147-A177-3AD203B41FA5}">
                      <a16:colId xmlns:a16="http://schemas.microsoft.com/office/drawing/2014/main" val="4191217371"/>
                    </a:ext>
                  </a:extLst>
                </a:gridCol>
                <a:gridCol w="1680146">
                  <a:extLst>
                    <a:ext uri="{9D8B030D-6E8A-4147-A177-3AD203B41FA5}">
                      <a16:colId xmlns:a16="http://schemas.microsoft.com/office/drawing/2014/main" val="2710468633"/>
                    </a:ext>
                  </a:extLst>
                </a:gridCol>
                <a:gridCol w="1218929">
                  <a:extLst>
                    <a:ext uri="{9D8B030D-6E8A-4147-A177-3AD203B41FA5}">
                      <a16:colId xmlns:a16="http://schemas.microsoft.com/office/drawing/2014/main" val="3751161214"/>
                    </a:ext>
                  </a:extLst>
                </a:gridCol>
                <a:gridCol w="1594582">
                  <a:extLst>
                    <a:ext uri="{9D8B030D-6E8A-4147-A177-3AD203B41FA5}">
                      <a16:colId xmlns:a16="http://schemas.microsoft.com/office/drawing/2014/main" val="3693101631"/>
                    </a:ext>
                  </a:extLst>
                </a:gridCol>
                <a:gridCol w="1910754">
                  <a:extLst>
                    <a:ext uri="{9D8B030D-6E8A-4147-A177-3AD203B41FA5}">
                      <a16:colId xmlns:a16="http://schemas.microsoft.com/office/drawing/2014/main" val="2374033641"/>
                    </a:ext>
                  </a:extLst>
                </a:gridCol>
              </a:tblGrid>
              <a:tr h="628043">
                <a:tc>
                  <a:txBody>
                    <a:bodyPr/>
                    <a:lstStyle/>
                    <a:p>
                      <a:pPr algn="ctr">
                        <a:buNone/>
                      </a:pPr>
                      <a:r>
                        <a:rPr lang="en-US" sz="1800" dirty="0">
                          <a:effectLst/>
                          <a:latin typeface="Times New Roman" panose="02020603050405020304" pitchFamily="18" charset="0"/>
                          <a:cs typeface="Times New Roman" panose="02020603050405020304" pitchFamily="18" charset="0"/>
                        </a:rPr>
                        <a:t>Sr. No.</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tc>
                  <a:txBody>
                    <a:bodyPr/>
                    <a:lstStyle/>
                    <a:p>
                      <a:pPr algn="ctr">
                        <a:buNone/>
                      </a:pPr>
                      <a:r>
                        <a:rPr lang="en-US" sz="1800" dirty="0">
                          <a:effectLst/>
                          <a:latin typeface="Times New Roman" panose="02020603050405020304" pitchFamily="18" charset="0"/>
                          <a:cs typeface="Times New Roman" panose="02020603050405020304" pitchFamily="18" charset="0"/>
                        </a:rPr>
                        <a:t>Approach Type</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tc>
                  <a:txBody>
                    <a:bodyPr/>
                    <a:lstStyle/>
                    <a:p>
                      <a:pPr algn="ctr">
                        <a:buNone/>
                      </a:pPr>
                      <a:r>
                        <a:rPr lang="en-US" sz="1800" dirty="0">
                          <a:effectLst/>
                          <a:latin typeface="Times New Roman" panose="02020603050405020304" pitchFamily="18" charset="0"/>
                          <a:cs typeface="Times New Roman" panose="02020603050405020304" pitchFamily="18" charset="0"/>
                        </a:rPr>
                        <a:t>Technologies Used</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tc>
                  <a:txBody>
                    <a:bodyPr/>
                    <a:lstStyle/>
                    <a:p>
                      <a:pPr algn="ctr">
                        <a:buNone/>
                      </a:pPr>
                      <a:r>
                        <a:rPr lang="en-US" sz="1800">
                          <a:effectLst/>
                          <a:latin typeface="Times New Roman" panose="02020603050405020304" pitchFamily="18" charset="0"/>
                          <a:cs typeface="Times New Roman" panose="02020603050405020304" pitchFamily="18" charset="0"/>
                        </a:rPr>
                        <a:t>Dataset</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tc>
                  <a:txBody>
                    <a:bodyPr/>
                    <a:lstStyle/>
                    <a:p>
                      <a:pPr algn="ctr">
                        <a:buNone/>
                      </a:pPr>
                      <a:r>
                        <a:rPr lang="en-US" sz="1800">
                          <a:effectLst/>
                          <a:latin typeface="Times New Roman" panose="02020603050405020304" pitchFamily="18" charset="0"/>
                          <a:cs typeface="Times New Roman" panose="02020603050405020304" pitchFamily="18" charset="0"/>
                        </a:rPr>
                        <a:t>Key Objective</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tc>
                  <a:txBody>
                    <a:bodyPr/>
                    <a:lstStyle/>
                    <a:p>
                      <a:pPr algn="ctr">
                        <a:buNone/>
                      </a:pPr>
                      <a:r>
                        <a:rPr lang="en-US" sz="1800">
                          <a:effectLst/>
                          <a:latin typeface="Times New Roman" panose="02020603050405020304" pitchFamily="18" charset="0"/>
                          <a:cs typeface="Times New Roman" panose="02020603050405020304" pitchFamily="18" charset="0"/>
                        </a:rPr>
                        <a:t>Limitations</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extLst>
                  <a:ext uri="{0D108BD9-81ED-4DB2-BD59-A6C34878D82A}">
                    <a16:rowId xmlns:a16="http://schemas.microsoft.com/office/drawing/2014/main" val="1070513301"/>
                  </a:ext>
                </a:extLst>
              </a:tr>
              <a:tr h="1926752">
                <a:tc>
                  <a:txBody>
                    <a:bodyPr/>
                    <a:lstStyle/>
                    <a:p>
                      <a:pPr algn="ctr">
                        <a:buNone/>
                      </a:pPr>
                      <a:r>
                        <a:rPr lang="en-US" sz="1800" b="0" dirty="0">
                          <a:effectLst/>
                          <a:latin typeface="Times New Roman" panose="02020603050405020304" pitchFamily="18" charset="0"/>
                          <a:cs typeface="Times New Roman" panose="02020603050405020304" pitchFamily="18" charset="0"/>
                        </a:rPr>
                        <a:t>[7]</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dirty="0">
                          <a:effectLst/>
                          <a:latin typeface="Times New Roman" panose="02020603050405020304" pitchFamily="18" charset="0"/>
                          <a:cs typeface="Times New Roman" panose="02020603050405020304" pitchFamily="18" charset="0"/>
                        </a:rPr>
                        <a:t>ML demand prediction + IoT monitoring</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dirty="0">
                          <a:effectLst/>
                          <a:latin typeface="Times New Roman" panose="02020603050405020304" pitchFamily="18" charset="0"/>
                          <a:cs typeface="Times New Roman" panose="02020603050405020304" pitchFamily="18" charset="0"/>
                        </a:rPr>
                        <a:t>Random Forest, LSTM, CNN-LSTM, cloud</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dirty="0">
                          <a:effectLst/>
                          <a:latin typeface="Times New Roman" panose="02020603050405020304" pitchFamily="18" charset="0"/>
                          <a:cs typeface="Times New Roman" panose="02020603050405020304" pitchFamily="18" charset="0"/>
                        </a:rPr>
                        <a:t>~20,800 sales records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a:effectLst/>
                          <a:latin typeface="Times New Roman" panose="02020603050405020304" pitchFamily="18" charset="0"/>
                          <a:cs typeface="Times New Roman" panose="02020603050405020304" pitchFamily="18" charset="0"/>
                        </a:rPr>
                        <a:t>Forecast demand; auto restock alerts</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a:effectLst/>
                          <a:latin typeface="Times New Roman" panose="02020603050405020304" pitchFamily="18" charset="0"/>
                          <a:cs typeface="Times New Roman" panose="02020603050405020304" pitchFamily="18" charset="0"/>
                        </a:rPr>
                        <a:t>IoT part high-level; DL models high error.</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a16="http://schemas.microsoft.com/office/drawing/2014/main" val="1828343925"/>
                  </a:ext>
                </a:extLst>
              </a:tr>
              <a:tr h="1656018">
                <a:tc>
                  <a:txBody>
                    <a:bodyPr/>
                    <a:lstStyle/>
                    <a:p>
                      <a:pPr algn="ctr">
                        <a:buNone/>
                      </a:pPr>
                      <a:r>
                        <a:rPr lang="en-US" sz="1800" b="0" dirty="0">
                          <a:effectLst/>
                          <a:latin typeface="Times New Roman" panose="02020603050405020304" pitchFamily="18" charset="0"/>
                          <a:cs typeface="Times New Roman" panose="02020603050405020304" pitchFamily="18" charset="0"/>
                        </a:rPr>
                        <a:t>[8]</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a:effectLst/>
                          <a:latin typeface="Times New Roman" panose="02020603050405020304" pitchFamily="18" charset="0"/>
                          <a:cs typeface="Times New Roman" panose="02020603050405020304" pitchFamily="18" charset="0"/>
                        </a:rPr>
                        <a:t>Low-cost IoT + AI for small warehouses</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dirty="0">
                          <a:effectLst/>
                          <a:latin typeface="Times New Roman" panose="02020603050405020304" pitchFamily="18" charset="0"/>
                          <a:cs typeface="Times New Roman" panose="02020603050405020304" pitchFamily="18" charset="0"/>
                        </a:rPr>
                        <a:t>ESP32-CAM, QR codes, cloud dashboard</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dirty="0">
                          <a:effectLst/>
                          <a:latin typeface="Times New Roman" panose="02020603050405020304" pitchFamily="18" charset="0"/>
                          <a:cs typeface="Times New Roman" panose="02020603050405020304" pitchFamily="18" charset="0"/>
                        </a:rPr>
                        <a:t>System entry / exit data</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dirty="0">
                          <a:effectLst/>
                          <a:latin typeface="Times New Roman" panose="02020603050405020304" pitchFamily="18" charset="0"/>
                          <a:cs typeface="Times New Roman" panose="02020603050405020304" pitchFamily="18" charset="0"/>
                        </a:rPr>
                        <a:t>Affordable real-time tracking and alerts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a:effectLst/>
                          <a:latin typeface="Times New Roman" panose="02020603050405020304" pitchFamily="18" charset="0"/>
                          <a:cs typeface="Times New Roman" panose="02020603050405020304" pitchFamily="18" charset="0"/>
                        </a:rPr>
                        <a:t>QR needs line-of-sight; cloud security.</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a16="http://schemas.microsoft.com/office/drawing/2014/main" val="2006006099"/>
                  </a:ext>
                </a:extLst>
              </a:tr>
              <a:tr h="1926752">
                <a:tc>
                  <a:txBody>
                    <a:bodyPr/>
                    <a:lstStyle/>
                    <a:p>
                      <a:pPr algn="ctr">
                        <a:buNone/>
                      </a:pPr>
                      <a:r>
                        <a:rPr lang="en-US" sz="1800" b="0" dirty="0">
                          <a:effectLst/>
                          <a:latin typeface="Times New Roman" panose="02020603050405020304" pitchFamily="18" charset="0"/>
                          <a:cs typeface="Times New Roman" panose="02020603050405020304" pitchFamily="18" charset="0"/>
                        </a:rPr>
                        <a:t>[9]</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a:effectLst/>
                          <a:latin typeface="Times New Roman" panose="02020603050405020304" pitchFamily="18" charset="0"/>
                          <a:cs typeface="Times New Roman" panose="02020603050405020304" pitchFamily="18" charset="0"/>
                        </a:rPr>
                        <a:t>RFID IoT prototype for industrial store</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a:effectLst/>
                          <a:latin typeface="Times New Roman" panose="02020603050405020304" pitchFamily="18" charset="0"/>
                          <a:cs typeface="Times New Roman" panose="02020603050405020304" pitchFamily="18" charset="0"/>
                        </a:rPr>
                        <a:t>RC522 RFID, Raspberry Pi 4, MySQL, web app</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dirty="0">
                          <a:effectLst/>
                          <a:latin typeface="Times New Roman" panose="02020603050405020304" pitchFamily="18" charset="0"/>
                          <a:cs typeface="Times New Roman" panose="02020603050405020304" pitchFamily="18" charset="0"/>
                        </a:rPr>
                        <a:t>Prototype stock movements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dirty="0">
                          <a:effectLst/>
                          <a:latin typeface="Times New Roman" panose="02020603050405020304" pitchFamily="18" charset="0"/>
                          <a:cs typeface="Times New Roman" panose="02020603050405020304" pitchFamily="18" charset="0"/>
                        </a:rPr>
                        <a:t>Track stock in/out; threshold alerts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dirty="0">
                          <a:effectLst/>
                          <a:latin typeface="Times New Roman" panose="02020603050405020304" pitchFamily="18" charset="0"/>
                          <a:cs typeface="Times New Roman" panose="02020603050405020304" pitchFamily="18" charset="0"/>
                        </a:rPr>
                        <a:t>~1 cm read range; no ML yet.</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extLst>
                  <a:ext uri="{0D108BD9-81ED-4DB2-BD59-A6C34878D82A}">
                    <a16:rowId xmlns:a16="http://schemas.microsoft.com/office/drawing/2014/main" val="1109910642"/>
                  </a:ext>
                </a:extLst>
              </a:tr>
            </a:tbl>
          </a:graphicData>
        </a:graphic>
      </p:graphicFrame>
    </p:spTree>
    <p:extLst>
      <p:ext uri="{BB962C8B-B14F-4D97-AF65-F5344CB8AC3E}">
        <p14:creationId xmlns:p14="http://schemas.microsoft.com/office/powerpoint/2010/main" val="3939053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B7A4394-3B9F-951C-C864-F2E9D1290C51}"/>
              </a:ext>
            </a:extLst>
          </p:cNvPr>
          <p:cNvSpPr>
            <a:spLocks noGrp="1"/>
          </p:cNvSpPr>
          <p:nvPr>
            <p:ph type="body" idx="1"/>
          </p:nvPr>
        </p:nvSpPr>
        <p:spPr>
          <a:xfrm>
            <a:off x="457200" y="387927"/>
            <a:ext cx="8229600" cy="6165273"/>
          </a:xfrm>
        </p:spPr>
        <p:txBody>
          <a:bodyPr/>
          <a:lstStyle/>
          <a:p>
            <a:pPr marL="114300" indent="0">
              <a:buNone/>
            </a:pPr>
            <a:r>
              <a:rPr lang="en-GB" dirty="0"/>
              <a:t>               </a:t>
            </a:r>
            <a:endParaRPr lang="en-IN" dirty="0"/>
          </a:p>
        </p:txBody>
      </p:sp>
      <p:sp>
        <p:nvSpPr>
          <p:cNvPr id="4" name="Slide Number Placeholder 3">
            <a:extLst>
              <a:ext uri="{FF2B5EF4-FFF2-40B4-BE49-F238E27FC236}">
                <a16:creationId xmlns:a16="http://schemas.microsoft.com/office/drawing/2014/main" id="{8305BFBB-B42E-0A36-F1C5-1A33CFEB293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8</a:t>
            </a:fld>
            <a:endParaRPr lang="en-US"/>
          </a:p>
        </p:txBody>
      </p:sp>
      <p:graphicFrame>
        <p:nvGraphicFramePr>
          <p:cNvPr id="5" name="Table 4">
            <a:extLst>
              <a:ext uri="{FF2B5EF4-FFF2-40B4-BE49-F238E27FC236}">
                <a16:creationId xmlns:a16="http://schemas.microsoft.com/office/drawing/2014/main" id="{91D3346C-B134-68BD-1C8D-125021426C8A}"/>
              </a:ext>
            </a:extLst>
          </p:cNvPr>
          <p:cNvGraphicFramePr>
            <a:graphicFrameLocks noGrp="1"/>
          </p:cNvGraphicFramePr>
          <p:nvPr>
            <p:extLst>
              <p:ext uri="{D42A27DB-BD31-4B8C-83A1-F6EECF244321}">
                <p14:modId xmlns:p14="http://schemas.microsoft.com/office/powerpoint/2010/main" val="1175502647"/>
              </p:ext>
            </p:extLst>
          </p:nvPr>
        </p:nvGraphicFramePr>
        <p:xfrm>
          <a:off x="457200" y="387926"/>
          <a:ext cx="8229599" cy="4626463"/>
        </p:xfrm>
        <a:graphic>
          <a:graphicData uri="http://schemas.openxmlformats.org/drawingml/2006/table">
            <a:tbl>
              <a:tblPr firstRow="1" firstCol="1" bandRow="1">
                <a:tableStyleId>{BC89EF96-8CEA-46FF-86C4-4CE0E7609802}</a:tableStyleId>
              </a:tblPr>
              <a:tblGrid>
                <a:gridCol w="441158">
                  <a:extLst>
                    <a:ext uri="{9D8B030D-6E8A-4147-A177-3AD203B41FA5}">
                      <a16:colId xmlns:a16="http://schemas.microsoft.com/office/drawing/2014/main" val="3254615216"/>
                    </a:ext>
                  </a:extLst>
                </a:gridCol>
                <a:gridCol w="1384032">
                  <a:extLst>
                    <a:ext uri="{9D8B030D-6E8A-4147-A177-3AD203B41FA5}">
                      <a16:colId xmlns:a16="http://schemas.microsoft.com/office/drawing/2014/main" val="556449852"/>
                    </a:ext>
                  </a:extLst>
                </a:gridCol>
                <a:gridCol w="1680145">
                  <a:extLst>
                    <a:ext uri="{9D8B030D-6E8A-4147-A177-3AD203B41FA5}">
                      <a16:colId xmlns:a16="http://schemas.microsoft.com/office/drawing/2014/main" val="2774652637"/>
                    </a:ext>
                  </a:extLst>
                </a:gridCol>
                <a:gridCol w="1218929">
                  <a:extLst>
                    <a:ext uri="{9D8B030D-6E8A-4147-A177-3AD203B41FA5}">
                      <a16:colId xmlns:a16="http://schemas.microsoft.com/office/drawing/2014/main" val="470954700"/>
                    </a:ext>
                  </a:extLst>
                </a:gridCol>
                <a:gridCol w="1594582">
                  <a:extLst>
                    <a:ext uri="{9D8B030D-6E8A-4147-A177-3AD203B41FA5}">
                      <a16:colId xmlns:a16="http://schemas.microsoft.com/office/drawing/2014/main" val="3531857325"/>
                    </a:ext>
                  </a:extLst>
                </a:gridCol>
                <a:gridCol w="1910753">
                  <a:extLst>
                    <a:ext uri="{9D8B030D-6E8A-4147-A177-3AD203B41FA5}">
                      <a16:colId xmlns:a16="http://schemas.microsoft.com/office/drawing/2014/main" val="1242363683"/>
                    </a:ext>
                  </a:extLst>
                </a:gridCol>
              </a:tblGrid>
              <a:tr h="646625">
                <a:tc>
                  <a:txBody>
                    <a:bodyPr/>
                    <a:lstStyle/>
                    <a:p>
                      <a:pPr algn="ctr">
                        <a:buNone/>
                      </a:pPr>
                      <a:r>
                        <a:rPr lang="en-US" sz="1800" dirty="0">
                          <a:effectLst/>
                          <a:latin typeface="Times New Roman" panose="02020603050405020304" pitchFamily="18" charset="0"/>
                          <a:cs typeface="Times New Roman" panose="02020603050405020304" pitchFamily="18" charset="0"/>
                        </a:rPr>
                        <a:t>Sr. No.</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tc>
                  <a:txBody>
                    <a:bodyPr/>
                    <a:lstStyle/>
                    <a:p>
                      <a:pPr algn="ctr">
                        <a:buNone/>
                      </a:pPr>
                      <a:r>
                        <a:rPr lang="en-US" sz="1800">
                          <a:effectLst/>
                          <a:latin typeface="Times New Roman" panose="02020603050405020304" pitchFamily="18" charset="0"/>
                          <a:cs typeface="Times New Roman" panose="02020603050405020304" pitchFamily="18" charset="0"/>
                        </a:rPr>
                        <a:t>Approach Type</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tc>
                  <a:txBody>
                    <a:bodyPr/>
                    <a:lstStyle/>
                    <a:p>
                      <a:pPr algn="ctr">
                        <a:buNone/>
                      </a:pPr>
                      <a:r>
                        <a:rPr lang="en-US" sz="1800">
                          <a:effectLst/>
                          <a:latin typeface="Times New Roman" panose="02020603050405020304" pitchFamily="18" charset="0"/>
                          <a:cs typeface="Times New Roman" panose="02020603050405020304" pitchFamily="18" charset="0"/>
                        </a:rPr>
                        <a:t>Technologies Used</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tc>
                  <a:txBody>
                    <a:bodyPr/>
                    <a:lstStyle/>
                    <a:p>
                      <a:pPr algn="ctr">
                        <a:buNone/>
                      </a:pPr>
                      <a:r>
                        <a:rPr lang="en-US" sz="1800">
                          <a:effectLst/>
                          <a:latin typeface="Times New Roman" panose="02020603050405020304" pitchFamily="18" charset="0"/>
                          <a:cs typeface="Times New Roman" panose="02020603050405020304" pitchFamily="18" charset="0"/>
                        </a:rPr>
                        <a:t>Dataset</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tc>
                  <a:txBody>
                    <a:bodyPr/>
                    <a:lstStyle/>
                    <a:p>
                      <a:pPr algn="ctr">
                        <a:buNone/>
                      </a:pPr>
                      <a:r>
                        <a:rPr lang="en-US" sz="1800">
                          <a:effectLst/>
                          <a:latin typeface="Times New Roman" panose="02020603050405020304" pitchFamily="18" charset="0"/>
                          <a:cs typeface="Times New Roman" panose="02020603050405020304" pitchFamily="18" charset="0"/>
                        </a:rPr>
                        <a:t>Key Objective</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tc>
                  <a:txBody>
                    <a:bodyPr/>
                    <a:lstStyle/>
                    <a:p>
                      <a:pPr algn="ctr">
                        <a:buNone/>
                      </a:pPr>
                      <a:r>
                        <a:rPr lang="en-US" sz="1800">
                          <a:effectLst/>
                          <a:latin typeface="Times New Roman" panose="02020603050405020304" pitchFamily="18" charset="0"/>
                          <a:cs typeface="Times New Roman" panose="02020603050405020304" pitchFamily="18" charset="0"/>
                        </a:rPr>
                        <a:t>Limitations</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20590" marR="20590" marT="20590" marB="20590" anchor="ctr">
                    <a:solidFill>
                      <a:srgbClr val="FFFFFF"/>
                    </a:solidFill>
                  </a:tcPr>
                </a:tc>
                <a:extLst>
                  <a:ext uri="{0D108BD9-81ED-4DB2-BD59-A6C34878D82A}">
                    <a16:rowId xmlns:a16="http://schemas.microsoft.com/office/drawing/2014/main" val="2642983439"/>
                  </a:ext>
                </a:extLst>
              </a:tr>
              <a:tr h="2140289">
                <a:tc>
                  <a:txBody>
                    <a:bodyPr/>
                    <a:lstStyle/>
                    <a:p>
                      <a:pPr algn="ctr">
                        <a:buNone/>
                      </a:pPr>
                      <a:r>
                        <a:rPr lang="en-US" sz="1800" b="0" dirty="0">
                          <a:effectLst/>
                          <a:latin typeface="Times New Roman" panose="02020603050405020304" pitchFamily="18" charset="0"/>
                          <a:cs typeface="Times New Roman" panose="02020603050405020304" pitchFamily="18" charset="0"/>
                        </a:rPr>
                        <a:t>[10]</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dirty="0">
                          <a:effectLst/>
                          <a:latin typeface="Times New Roman" panose="02020603050405020304" pitchFamily="18" charset="0"/>
                          <a:cs typeface="Times New Roman" panose="02020603050405020304" pitchFamily="18" charset="0"/>
                        </a:rPr>
                        <a:t>Web-based inventory system</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just">
                        <a:buNone/>
                      </a:pPr>
                      <a:r>
                        <a:rPr lang="en-US" sz="1800" dirty="0">
                          <a:effectLst/>
                          <a:latin typeface="Times New Roman" panose="02020603050405020304" pitchFamily="18" charset="0"/>
                          <a:cs typeface="Times New Roman" panose="02020603050405020304" pitchFamily="18" charset="0"/>
                        </a:rPr>
                        <a:t>Node.js, Express, EJS, MySQL</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just">
                        <a:buNone/>
                      </a:pPr>
                      <a:r>
                        <a:rPr lang="en-US" sz="1800" dirty="0" err="1">
                          <a:effectLst/>
                          <a:latin typeface="Times New Roman" panose="02020603050405020304" pitchFamily="18" charset="0"/>
                          <a:cs typeface="Times New Roman" panose="02020603050405020304" pitchFamily="18" charset="0"/>
                        </a:rPr>
                        <a:t>Manually entered stock records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just">
                        <a:buNone/>
                      </a:pPr>
                      <a:r>
                        <a:rPr lang="en-US" sz="1800">
                          <a:effectLst/>
                          <a:latin typeface="Times New Roman" panose="02020603050405020304" pitchFamily="18" charset="0"/>
                          <a:cs typeface="Times New Roman" panose="02020603050405020304" pitchFamily="18" charset="0"/>
                        </a:rPr>
                        <a:t>Automate tracking; reduce errors</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just">
                        <a:buNone/>
                      </a:pPr>
                      <a:r>
                        <a:rPr lang="en-US" sz="1800">
                          <a:effectLst/>
                          <a:latin typeface="Times New Roman" panose="02020603050405020304" pitchFamily="18" charset="0"/>
                          <a:cs typeface="Times New Roman" panose="02020603050405020304" pitchFamily="18" charset="0"/>
                        </a:rPr>
                        <a:t>No IoT sensing or ML forecasting.</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a16="http://schemas.microsoft.com/office/drawing/2014/main" val="1441612514"/>
                  </a:ext>
                </a:extLst>
              </a:tr>
              <a:tr h="1839549">
                <a:tc>
                  <a:txBody>
                    <a:bodyPr/>
                    <a:lstStyle/>
                    <a:p>
                      <a:pPr algn="ctr">
                        <a:buNone/>
                      </a:pPr>
                      <a:r>
                        <a:rPr lang="en-US" sz="1800" b="0" dirty="0">
                          <a:effectLst/>
                          <a:latin typeface="Times New Roman" panose="02020603050405020304" pitchFamily="18" charset="0"/>
                          <a:cs typeface="Times New Roman" panose="02020603050405020304" pitchFamily="18" charset="0"/>
                        </a:rPr>
                        <a:t>[11]</a:t>
                      </a:r>
                      <a:endParaRPr lang="en-IN" sz="1800" b="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nchor="ctr"/>
                </a:tc>
                <a:tc>
                  <a:txBody>
                    <a:bodyPr/>
                    <a:lstStyle/>
                    <a:p>
                      <a:pPr marL="36000" algn="just">
                        <a:buNone/>
                      </a:pPr>
                      <a:r>
                        <a:rPr lang="en-US" sz="1800">
                          <a:effectLst/>
                          <a:latin typeface="Times New Roman" panose="02020603050405020304" pitchFamily="18" charset="0"/>
                          <a:cs typeface="Times New Roman" panose="02020603050405020304" pitchFamily="18" charset="0"/>
                        </a:rPr>
                        <a:t>Low-cost RFID for lab equipment</a:t>
                      </a:r>
                      <a:endParaRPr lang="en-IN" sz="180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just">
                        <a:buNone/>
                      </a:pPr>
                      <a:r>
                        <a:rPr lang="en-US" sz="1800" dirty="0" err="1">
                          <a:effectLst/>
                          <a:latin typeface="Times New Roman" panose="02020603050405020304" pitchFamily="18" charset="0"/>
                          <a:cs typeface="Times New Roman" panose="02020603050405020304" pitchFamily="18" charset="0"/>
                        </a:rPr>
                        <a:t>MFRC522, ESP32, cloud MySQL, GUI</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just">
                        <a:buNone/>
                      </a:pPr>
                      <a:r>
                        <a:rPr lang="en-US" sz="1800" dirty="0">
                          <a:effectLst/>
                          <a:latin typeface="Times New Roman" panose="02020603050405020304" pitchFamily="18" charset="0"/>
                          <a:cs typeface="Times New Roman" panose="02020603050405020304" pitchFamily="18" charset="0"/>
                        </a:rPr>
                        <a:t>Lab equipment records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just">
                        <a:buNone/>
                      </a:pPr>
                      <a:r>
                        <a:rPr lang="en-US" sz="1800" dirty="0">
                          <a:effectLst/>
                          <a:latin typeface="Times New Roman" panose="02020603050405020304" pitchFamily="18" charset="0"/>
                          <a:cs typeface="Times New Roman" panose="02020603050405020304" pitchFamily="18" charset="0"/>
                        </a:rPr>
                        <a:t>Track issue / return of lab items</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tc>
                  <a:txBody>
                    <a:bodyPr/>
                    <a:lstStyle/>
                    <a:p>
                      <a:pPr marL="36000" algn="just">
                        <a:buNone/>
                      </a:pPr>
                      <a:r>
                        <a:rPr lang="en-US" sz="1800" dirty="0">
                          <a:effectLst/>
                          <a:latin typeface="Times New Roman" panose="02020603050405020304" pitchFamily="18" charset="0"/>
                          <a:cs typeface="Times New Roman" panose="02020603050405020304" pitchFamily="18" charset="0"/>
                        </a:rPr>
                        <a:t>Tracking only; no demand prediction.</a:t>
                      </a:r>
                      <a:endParaRPr lang="en-IN" sz="1800" dirty="0">
                        <a:solidFill>
                          <a:srgbClr val="1E1E1E"/>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18302" marR="18302" marT="16014" marB="16014"/>
                </a:tc>
                <a:extLst>
                  <a:ext uri="{0D108BD9-81ED-4DB2-BD59-A6C34878D82A}">
                    <a16:rowId xmlns:a16="http://schemas.microsoft.com/office/drawing/2014/main" val="2857610317"/>
                  </a:ext>
                </a:extLst>
              </a:tr>
            </a:tbl>
          </a:graphicData>
        </a:graphic>
      </p:graphicFrame>
    </p:spTree>
    <p:extLst>
      <p:ext uri="{BB962C8B-B14F-4D97-AF65-F5344CB8AC3E}">
        <p14:creationId xmlns:p14="http://schemas.microsoft.com/office/powerpoint/2010/main" val="1959362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1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3. Information to seminar topic</a:t>
            </a:r>
            <a:endParaRPr/>
          </a:p>
        </p:txBody>
      </p:sp>
      <p:sp>
        <p:nvSpPr>
          <p:cNvPr id="539" name="Google Shape;539;p18"/>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203200" indent="0">
              <a:spcBef>
                <a:spcPts val="0"/>
              </a:spcBef>
              <a:buNone/>
            </a:pPr>
            <a:endParaRPr lang="en-US" sz="1900" dirty="0"/>
          </a:p>
          <a:p>
            <a:pPr marL="546100" algn="just">
              <a:spcBef>
                <a:spcPts val="0"/>
              </a:spcBef>
              <a:buSzPct val="100000"/>
            </a:pPr>
            <a:r>
              <a:rPr lang="en-US" sz="1900" b="1" dirty="0"/>
              <a:t>Technology : </a:t>
            </a:r>
            <a:r>
              <a:rPr lang="en-US" sz="1900" b="0" dirty="0"/>
              <a:t>Internet of Things (IoT) and Artificial Intelligence / Machine Learning [2]</a:t>
            </a:r>
          </a:p>
          <a:p>
            <a:pPr marL="203200" indent="0">
              <a:spcBef>
                <a:spcPts val="0"/>
              </a:spcBef>
              <a:buNone/>
            </a:pPr>
            <a:endParaRPr lang="en-US" sz="1900" dirty="0"/>
          </a:p>
          <a:p>
            <a:pPr marL="546100" algn="just">
              <a:spcBef>
                <a:spcPts val="0"/>
              </a:spcBef>
              <a:buSzPct val="100000"/>
            </a:pPr>
            <a:r>
              <a:rPr lang="en-US" sz="1900" b="1" dirty="0"/>
              <a:t>Main purpose : </a:t>
            </a:r>
            <a:r>
              <a:rPr lang="en-US" sz="1900" b="0" dirty="0"/>
              <a:t>To track stock automatically and predict future demand [8]</a:t>
            </a:r>
          </a:p>
          <a:p>
            <a:pPr marL="203200" indent="0">
              <a:spcBef>
                <a:spcPts val="0"/>
              </a:spcBef>
              <a:buNone/>
            </a:pPr>
            <a:endParaRPr lang="en-US" sz="1900" dirty="0"/>
          </a:p>
          <a:p>
            <a:pPr marL="546100" algn="just">
              <a:spcBef>
                <a:spcPts val="0"/>
              </a:spcBef>
              <a:buSzPct val="100000"/>
            </a:pPr>
            <a:r>
              <a:rPr lang="en-US" sz="1900" b="1" dirty="0"/>
              <a:t>Key concept : </a:t>
            </a:r>
            <a:r>
              <a:rPr lang="en-US" sz="1900" b="0" dirty="0"/>
              <a:t>Sensors record every stock movement; ML learns usage patterns [7], [9]</a:t>
            </a:r>
          </a:p>
          <a:p>
            <a:pPr marL="203200" indent="0">
              <a:spcBef>
                <a:spcPts val="0"/>
              </a:spcBef>
              <a:buNone/>
            </a:pPr>
            <a:endParaRPr lang="en-US" sz="1900" dirty="0"/>
          </a:p>
          <a:p>
            <a:pPr marL="546100" algn="just">
              <a:spcBef>
                <a:spcPts val="0"/>
              </a:spcBef>
              <a:buSzPct val="100000"/>
            </a:pPr>
            <a:r>
              <a:rPr lang="en-US" sz="1900" b="1" dirty="0"/>
              <a:t>Approach : </a:t>
            </a:r>
            <a:r>
              <a:rPr lang="en-US" sz="1900" b="0" dirty="0"/>
              <a:t>ESP32 + RFID + load cell send data to a server; Random Forest forecasts demand [7], [11]</a:t>
            </a:r>
          </a:p>
          <a:p>
            <a:pPr marL="203200" indent="0">
              <a:spcBef>
                <a:spcPts val="0"/>
              </a:spcBef>
              <a:buNone/>
            </a:pPr>
            <a:endParaRPr lang="en-US" sz="1900" dirty="0"/>
          </a:p>
          <a:p>
            <a:pPr marL="546100" algn="just">
              <a:spcBef>
                <a:spcPts val="0"/>
              </a:spcBef>
              <a:buSzPct val="100000"/>
            </a:pPr>
            <a:r>
              <a:rPr lang="en-US" sz="1900" b="1" dirty="0"/>
              <a:t>Main benefit : </a:t>
            </a:r>
            <a:r>
              <a:rPr lang="en-US" sz="1900" b="0" dirty="0"/>
              <a:t>Real-time, accurate stock with automatic low-stock alerts [4]</a:t>
            </a:r>
          </a:p>
          <a:p>
            <a:pPr marL="203200" indent="0">
              <a:spcBef>
                <a:spcPts val="0"/>
              </a:spcBef>
              <a:buNone/>
            </a:pPr>
            <a:endParaRPr lang="en-US" sz="1900" dirty="0"/>
          </a:p>
          <a:p>
            <a:pPr marL="546100" algn="just">
              <a:spcBef>
                <a:spcPts val="0"/>
              </a:spcBef>
              <a:buSzPct val="100000"/>
            </a:pPr>
            <a:r>
              <a:rPr lang="en-US" sz="1900" b="1" dirty="0"/>
              <a:t>Application : </a:t>
            </a:r>
            <a:r>
              <a:rPr lang="en-US" sz="1900" b="0" dirty="0"/>
              <a:t>Warehouses, retail shops, hospitals, college labs and departments [1], [6], [11]</a:t>
            </a:r>
          </a:p>
        </p:txBody>
      </p:sp>
      <p:sp>
        <p:nvSpPr>
          <p:cNvPr id="540" name="Google Shape;540;p1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19"/>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4. Advantages / Disadvantages</a:t>
            </a:r>
            <a:endParaRPr/>
          </a:p>
        </p:txBody>
      </p:sp>
      <p:sp>
        <p:nvSpPr>
          <p:cNvPr id="546" name="Google Shape;546;p19"/>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114300" indent="0">
              <a:spcBef>
                <a:spcPts val="0"/>
              </a:spcBef>
              <a:buNone/>
            </a:pPr>
            <a:r>
              <a:rPr lang="en-US" sz="2100" b="1" dirty="0"/>
              <a:t>Advantages</a:t>
            </a:r>
          </a:p>
          <a:p>
            <a:pPr algn="just">
              <a:spcBef>
                <a:spcPts val="0"/>
              </a:spcBef>
            </a:pPr>
            <a:r>
              <a:rPr lang="en-US" sz="2000" b="0" dirty="0"/>
              <a:t>Real-time, accurate stock without manual counting [9].</a:t>
            </a:r>
          </a:p>
          <a:p>
            <a:pPr algn="just">
              <a:spcBef>
                <a:spcPts val="0"/>
              </a:spcBef>
            </a:pPr>
            <a:r>
              <a:rPr lang="en-US" sz="2000" b="0" dirty="0"/>
              <a:t>Fewer human errors and less paperwork [10].</a:t>
            </a:r>
          </a:p>
          <a:p>
            <a:pPr algn="just">
              <a:spcBef>
                <a:spcPts val="0"/>
              </a:spcBef>
            </a:pPr>
            <a:r>
              <a:rPr lang="en-US" sz="2000" b="0" dirty="0"/>
              <a:t>Demand forecasting prevents stock-outs and over-stocking [7].</a:t>
            </a:r>
          </a:p>
          <a:p>
            <a:pPr algn="just">
              <a:spcBef>
                <a:spcPts val="0"/>
              </a:spcBef>
            </a:pPr>
            <a:r>
              <a:rPr lang="en-US" sz="2000" b="0" dirty="0"/>
              <a:t>Automatic low-stock alerts and reorder suggestions [8].</a:t>
            </a:r>
          </a:p>
          <a:p>
            <a:pPr algn="just">
              <a:spcBef>
                <a:spcPts val="0"/>
              </a:spcBef>
            </a:pPr>
            <a:r>
              <a:rPr lang="en-US" sz="2000" b="0" dirty="0"/>
              <a:t>Low-cost hardware (ESP32, RC522) suits small departments [11].</a:t>
            </a:r>
          </a:p>
          <a:p>
            <a:pPr marL="203200" indent="0">
              <a:spcBef>
                <a:spcPts val="0"/>
              </a:spcBef>
              <a:buNone/>
            </a:pPr>
            <a:endParaRPr lang="en-US" sz="2000" dirty="0"/>
          </a:p>
          <a:p>
            <a:pPr marL="114300" indent="0">
              <a:spcBef>
                <a:spcPts val="0"/>
              </a:spcBef>
              <a:buNone/>
            </a:pPr>
            <a:r>
              <a:rPr lang="en-US" sz="2100" b="1" dirty="0"/>
              <a:t>Disadvantages</a:t>
            </a:r>
          </a:p>
          <a:p>
            <a:pPr algn="just">
              <a:spcBef>
                <a:spcPts val="0"/>
              </a:spcBef>
            </a:pPr>
            <a:r>
              <a:rPr lang="en-US" sz="2000" b="0" dirty="0"/>
              <a:t>Initial cost of sensors, tags and setup [8].</a:t>
            </a:r>
          </a:p>
          <a:p>
            <a:pPr algn="just">
              <a:spcBef>
                <a:spcPts val="0"/>
              </a:spcBef>
            </a:pPr>
            <a:r>
              <a:rPr lang="en-US" sz="2000" b="0" dirty="0"/>
              <a:t>Low-cost RFID readers have short reading range [9].</a:t>
            </a:r>
          </a:p>
          <a:p>
            <a:pPr algn="just">
              <a:spcBef>
                <a:spcPts val="0"/>
              </a:spcBef>
            </a:pPr>
            <a:r>
              <a:rPr lang="en-US" sz="2000" b="0" dirty="0"/>
              <a:t>Forecasts need enough good past data [7].</a:t>
            </a:r>
          </a:p>
          <a:p>
            <a:pPr algn="just">
              <a:spcBef>
                <a:spcPts val="0"/>
              </a:spcBef>
            </a:pPr>
            <a:r>
              <a:rPr lang="en-US" sz="2000" b="0" dirty="0"/>
              <a:t>Depends on internet and power supply [2].</a:t>
            </a:r>
          </a:p>
          <a:p>
            <a:pPr algn="just">
              <a:spcBef>
                <a:spcPts val="0"/>
              </a:spcBef>
            </a:pPr>
            <a:r>
              <a:rPr lang="en-US" sz="2000" b="0" dirty="0"/>
              <a:t>Data security risks when stored on the cloud [2].</a:t>
            </a:r>
          </a:p>
        </p:txBody>
      </p:sp>
      <p:sp>
        <p:nvSpPr>
          <p:cNvPr id="547" name="Google Shape;547;p19"/>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20"/>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5. Conclusion</a:t>
            </a:r>
            <a:endParaRPr/>
          </a:p>
        </p:txBody>
      </p:sp>
      <p:sp>
        <p:nvSpPr>
          <p:cNvPr id="553" name="Google Shape;553;p20"/>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203200" indent="0">
              <a:spcBef>
                <a:spcPts val="0"/>
              </a:spcBef>
              <a:buNone/>
            </a:pPr>
            <a:endParaRPr lang="en-US" sz="1800" dirty="0"/>
          </a:p>
          <a:p>
            <a:pPr marL="72000" lvl="0" indent="-139700" algn="just">
              <a:spcBef>
                <a:spcPts val="0"/>
              </a:spcBef>
              <a:buSzPts val="3200"/>
              <a:buNone/>
            </a:pPr>
            <a:r>
              <a:rPr lang="en-US" sz="1800" b="0" dirty="0"/>
              <a:t>	The study shows that IoT and AI/ML together turn inventory management from a manual, reactive task into an automatic, data-driven one. RFID and weight sensors give accurate real-time stock, while models like Random Forest forecast demand reliably (93.75% accuracy in [5], MAPE 3.41% in [1]). The same idea works from large supply chains to a single college lab, so a low-cost system that combines tracking with forecasting is a practical and useful project [7], [11].</a:t>
            </a:r>
          </a:p>
        </p:txBody>
      </p:sp>
      <p:sp>
        <p:nvSpPr>
          <p:cNvPr id="554" name="Google Shape;554;p20"/>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11</a:t>
            </a:fld>
            <a:endParaRPr/>
          </a:p>
        </p:txBody>
      </p:sp>
      <p:pic>
        <p:nvPicPr>
          <p:cNvPr id="555" name="Picture 554" descr="concl.png"/>
          <p:cNvPicPr>
            <a:picLocks noChangeAspect="1"/>
          </p:cNvPicPr>
          <p:nvPr/>
        </p:nvPicPr>
        <p:blipFill>
          <a:blip r:embed="rId3"/>
          <a:stretch>
            <a:fillRect/>
          </a:stretch>
        </p:blipFill>
        <p:spPr>
          <a:xfrm>
            <a:off x="1402080" y="4264527"/>
            <a:ext cx="6096000" cy="1175777"/>
          </a:xfrm>
          <a:prstGeom prst="rect">
            <a:avLst/>
          </a:prstGeom>
        </p:spPr>
      </p:pic>
      <p:sp>
        <p:nvSpPr>
          <p:cNvPr id="556" name="TextBox 555"/>
          <p:cNvSpPr txBox="1"/>
          <p:nvPr/>
        </p:nvSpPr>
        <p:spPr>
          <a:xfrm>
            <a:off x="548640" y="5458592"/>
            <a:ext cx="8046720" cy="292608"/>
          </a:xfrm>
          <a:prstGeom prst="rect">
            <a:avLst/>
          </a:prstGeom>
          <a:noFill/>
        </p:spPr>
        <p:txBody>
          <a:bodyPr wrap="none" tIns="0" bIns="0">
            <a:spAutoFit/>
          </a:bodyPr>
          <a:lstStyle/>
          <a:p>
            <a:pPr algn="ctr"/>
            <a:r>
              <a:rPr sz="1300" i="1">
                <a:latin typeface="Times New Roman"/>
              </a:rPr>
              <a:t>Fig 2: IoT tracking + AI/ML forecasting = Smart Inventory [5], [7], [9]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21"/>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dirty="0"/>
              <a:t>6. Project Initiation</a:t>
            </a:r>
            <a:endParaRPr dirty="0"/>
          </a:p>
        </p:txBody>
      </p:sp>
      <p:sp>
        <p:nvSpPr>
          <p:cNvPr id="560" name="Google Shape;560;p21"/>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203200" indent="0">
              <a:spcBef>
                <a:spcPts val="0"/>
              </a:spcBef>
              <a:buNone/>
            </a:pPr>
            <a:endParaRPr lang="en-US" sz="1800" dirty="0"/>
          </a:p>
          <a:p>
            <a:pPr marL="72000" lvl="0" indent="-139700" algn="just">
              <a:spcBef>
                <a:spcPts val="0"/>
              </a:spcBef>
              <a:buSzPts val="3200"/>
              <a:buNone/>
            </a:pPr>
            <a:r>
              <a:rPr lang="en-US" sz="1800" b="0" dirty="0"/>
              <a:t>	The Smart Inventory Management project was initiated to solve the problem of manual stock handling in college departments, laboratories and small stores, where items are tracked in registers, issued without proper records and purchased by guesswork [4], [10].</a:t>
            </a:r>
          </a:p>
          <a:p>
            <a:pPr marL="203200" indent="0">
              <a:spcBef>
                <a:spcPts val="0"/>
              </a:spcBef>
              <a:buNone/>
            </a:pPr>
            <a:endParaRPr lang="en-US" sz="1800" dirty="0"/>
          </a:p>
          <a:p>
            <a:pPr marL="72000" lvl="0" indent="-139700" algn="just">
              <a:spcBef>
                <a:spcPts val="0"/>
              </a:spcBef>
              <a:buSzPts val="3200"/>
              <a:buNone/>
            </a:pPr>
            <a:r>
              <a:rPr lang="en-US" sz="1800" b="0" dirty="0"/>
              <a:t>	The project aims to build a low-cost system that records stock automatically using an ESP32 with RFID and load-cell sensors, stores data on a server, forecasts demand using a Random Forest model, and shows live stock on a web dashboard with automatic low-stock alerts [7], [8], [11].</a:t>
            </a:r>
          </a:p>
        </p:txBody>
      </p:sp>
      <p:sp>
        <p:nvSpPr>
          <p:cNvPr id="561" name="Google Shape;561;p21"/>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22"/>
          <p:cNvSpPr txBox="1">
            <a:spLocks noGrp="1"/>
          </p:cNvSpPr>
          <p:nvPr>
            <p:ph type="title"/>
          </p:nvPr>
        </p:nvSpPr>
        <p:spPr>
          <a:xfrm>
            <a:off x="456178" y="304800"/>
            <a:ext cx="8229600" cy="1045028"/>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2060"/>
              </a:buClr>
              <a:buSzPct val="100000"/>
              <a:buFont typeface="Arial"/>
              <a:buNone/>
            </a:pPr>
            <a:r>
              <a:rPr lang="en-US" sz="3200" dirty="0"/>
              <a:t>6.1 Description of Problem Statement</a:t>
            </a:r>
          </a:p>
        </p:txBody>
      </p:sp>
      <p:sp>
        <p:nvSpPr>
          <p:cNvPr id="567" name="Google Shape;567;p22"/>
          <p:cNvSpPr txBox="1">
            <a:spLocks noGrp="1"/>
          </p:cNvSpPr>
          <p:nvPr>
            <p:ph type="body" idx="1"/>
          </p:nvPr>
        </p:nvSpPr>
        <p:spPr>
          <a:xfrm>
            <a:off x="457200" y="1524000"/>
            <a:ext cx="8229600" cy="5029199"/>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203200" indent="0">
              <a:spcBef>
                <a:spcPts val="0"/>
              </a:spcBef>
              <a:buNone/>
            </a:pPr>
            <a:endParaRPr lang="en-US" sz="1800" dirty="0"/>
          </a:p>
          <a:p>
            <a:pPr marL="0" indent="0" algn="just">
              <a:spcBef>
                <a:spcPts val="0"/>
              </a:spcBef>
              <a:spcAft>
                <a:spcPts val="600"/>
              </a:spcAft>
              <a:buNone/>
            </a:pPr>
            <a:r>
              <a:rPr lang="en-US" sz="1800" b="0" dirty="0"/>
              <a:t>Stock in departments, labs and small stores is kept in registers and counted by hand [4].</a:t>
            </a:r>
          </a:p>
          <a:p>
            <a:pPr marL="0" indent="0" algn="just">
              <a:spcBef>
                <a:spcPts val="0"/>
              </a:spcBef>
              <a:spcAft>
                <a:spcPts val="600"/>
              </a:spcAft>
              <a:buNone/>
            </a:pPr>
            <a:r>
              <a:rPr lang="en-US" sz="1800" b="0" dirty="0"/>
              <a:t>This leads to shortages, excess purchase, lost items and no usage record [10].</a:t>
            </a:r>
          </a:p>
          <a:p>
            <a:pPr marL="0" indent="0" algn="just">
              <a:spcBef>
                <a:spcPts val="0"/>
              </a:spcBef>
              <a:spcAft>
                <a:spcPts val="600"/>
              </a:spcAft>
              <a:buNone/>
            </a:pPr>
            <a:r>
              <a:rPr lang="en-US" sz="1800" b="0" dirty="0"/>
              <a:t>A low-cost system is needed to track stock and predict demand automatically [8], [9].</a:t>
            </a:r>
          </a:p>
        </p:txBody>
      </p:sp>
      <p:sp>
        <p:nvSpPr>
          <p:cNvPr id="568" name="Google Shape;568;p22"/>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13</a:t>
            </a:fld>
            <a:endParaRPr/>
          </a:p>
        </p:txBody>
      </p:sp>
      <p:pic>
        <p:nvPicPr>
          <p:cNvPr id="569" name="Picture 568" descr="problem.png"/>
          <p:cNvPicPr>
            <a:picLocks noChangeAspect="1"/>
          </p:cNvPicPr>
          <p:nvPr/>
        </p:nvPicPr>
        <p:blipFill>
          <a:blip r:embed="rId3"/>
          <a:stretch>
            <a:fillRect/>
          </a:stretch>
        </p:blipFill>
        <p:spPr>
          <a:xfrm>
            <a:off x="1720610" y="3169676"/>
            <a:ext cx="5427407" cy="2862072"/>
          </a:xfrm>
          <a:prstGeom prst="rect">
            <a:avLst/>
          </a:prstGeom>
        </p:spPr>
      </p:pic>
      <p:sp>
        <p:nvSpPr>
          <p:cNvPr id="570" name="TextBox 569"/>
          <p:cNvSpPr txBox="1"/>
          <p:nvPr/>
        </p:nvSpPr>
        <p:spPr>
          <a:xfrm>
            <a:off x="548640" y="6050036"/>
            <a:ext cx="8046720" cy="292608"/>
          </a:xfrm>
          <a:prstGeom prst="rect">
            <a:avLst/>
          </a:prstGeom>
          <a:noFill/>
        </p:spPr>
        <p:txBody>
          <a:bodyPr wrap="none" tIns="0" bIns="0">
            <a:spAutoFit/>
          </a:bodyPr>
          <a:lstStyle/>
          <a:p>
            <a:pPr algn="ctr"/>
            <a:r>
              <a:rPr sz="1300" i="1">
                <a:latin typeface="Times New Roman"/>
              </a:rPr>
              <a:t>Fig 3: Problems of manual inventory management [4], [10]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23"/>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fontScale="90000"/>
          </a:bodyPr>
          <a:lstStyle/>
          <a:p>
            <a:pPr marL="0" lvl="0" indent="0" algn="ctr" rtl="0">
              <a:spcBef>
                <a:spcPts val="0"/>
              </a:spcBef>
              <a:spcAft>
                <a:spcPts val="0"/>
              </a:spcAft>
              <a:buClr>
                <a:srgbClr val="002060"/>
              </a:buClr>
              <a:buSzPct val="100000"/>
              <a:buFont typeface="Arial"/>
              <a:buNone/>
            </a:pPr>
            <a:r>
              <a:rPr lang="en-US" sz="3200" dirty="0"/>
              <a:t>6.2 Scope and Objectives</a:t>
            </a:r>
          </a:p>
        </p:txBody>
      </p:sp>
      <p:sp>
        <p:nvSpPr>
          <p:cNvPr id="574" name="Google Shape;574;p23"/>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lgn="just">
              <a:spcBef>
                <a:spcPts val="0"/>
              </a:spcBef>
              <a:buSzPts val="3200"/>
              <a:buNone/>
            </a:pPr>
            <a:r>
              <a:rPr lang="en-US" sz="1800" b="1" dirty="0"/>
              <a:t>Objectives</a:t>
            </a:r>
          </a:p>
          <a:p>
            <a:pPr marL="488950" indent="-285750" algn="just">
              <a:spcBef>
                <a:spcPts val="0"/>
              </a:spcBef>
              <a:buSzPct val="100000"/>
            </a:pPr>
            <a:r>
              <a:rPr lang="en-US" sz="1800" b="0" dirty="0"/>
              <a:t>Track issue and return of items automatically using RFID [9].</a:t>
            </a:r>
          </a:p>
          <a:p>
            <a:pPr marL="488950" indent="-285750" algn="just">
              <a:spcBef>
                <a:spcPts val="0"/>
              </a:spcBef>
              <a:buSzPct val="100000"/>
            </a:pPr>
            <a:r>
              <a:rPr lang="en-US" sz="1800" b="0" dirty="0"/>
              <a:t>Measure quantity of bulk items using load-cell sensors [6].</a:t>
            </a:r>
          </a:p>
          <a:p>
            <a:pPr marL="488950" indent="-285750" algn="just">
              <a:spcBef>
                <a:spcPts val="0"/>
              </a:spcBef>
              <a:buSzPct val="100000"/>
            </a:pPr>
            <a:r>
              <a:rPr lang="en-US" sz="1800" b="0" dirty="0"/>
              <a:t>Store all stock movements in a central database [10].</a:t>
            </a:r>
          </a:p>
          <a:p>
            <a:pPr marL="488950" indent="-285750" algn="just">
              <a:spcBef>
                <a:spcPts val="0"/>
              </a:spcBef>
              <a:buSzPct val="100000"/>
            </a:pPr>
            <a:r>
              <a:rPr lang="en-US" sz="1800" b="0" dirty="0"/>
              <a:t>Forecast future demand using a Random Forest model [7].</a:t>
            </a:r>
          </a:p>
          <a:p>
            <a:pPr marL="488950" indent="-285750" algn="just">
              <a:spcBef>
                <a:spcPts val="0"/>
              </a:spcBef>
              <a:buSzPct val="100000"/>
            </a:pPr>
            <a:r>
              <a:rPr lang="en-US" sz="1800" b="0" dirty="0"/>
              <a:t>Send automatic low-stock alerts and reorder suggestions [8].</a:t>
            </a:r>
          </a:p>
          <a:p>
            <a:pPr marL="488950" indent="-285750" algn="just">
              <a:spcBef>
                <a:spcPts val="0"/>
              </a:spcBef>
              <a:buSzPct val="100000"/>
            </a:pPr>
            <a:r>
              <a:rPr lang="en-US" sz="1800" b="0" dirty="0"/>
              <a:t>Show stock, history and forecasts on a web dashboard [8].</a:t>
            </a:r>
          </a:p>
          <a:p>
            <a:pPr marL="203200" indent="0" algn="just">
              <a:spcBef>
                <a:spcPts val="0"/>
              </a:spcBef>
              <a:buNone/>
            </a:pPr>
            <a:endParaRPr lang="en-US" sz="1800" dirty="0"/>
          </a:p>
          <a:p>
            <a:pPr marL="342900" lvl="0" indent="-139700" algn="just">
              <a:spcBef>
                <a:spcPts val="0"/>
              </a:spcBef>
              <a:buSzPts val="3200"/>
              <a:buNone/>
            </a:pPr>
            <a:r>
              <a:rPr lang="en-US" sz="1800" b="1" dirty="0"/>
              <a:t>Scope</a:t>
            </a:r>
          </a:p>
          <a:p>
            <a:pPr marL="488950" indent="-285750" algn="just">
              <a:spcBef>
                <a:spcPts val="0"/>
              </a:spcBef>
              <a:buSzPct val="100000"/>
            </a:pPr>
            <a:r>
              <a:rPr lang="en-US" sz="1800" b="0" dirty="0"/>
              <a:t>Prototype for a college department, laboratory or small store [11].</a:t>
            </a:r>
          </a:p>
          <a:p>
            <a:pPr marL="488950" indent="-285750" algn="just">
              <a:spcBef>
                <a:spcPts val="0"/>
              </a:spcBef>
              <a:buSzPct val="100000"/>
            </a:pPr>
            <a:r>
              <a:rPr lang="en-US" sz="1800" b="0" dirty="0"/>
              <a:t>Uses ESP32, RFID reader (RC522), load cell (HX711), Flask and MySQL [9], [11].</a:t>
            </a:r>
          </a:p>
          <a:p>
            <a:pPr marL="488950" indent="-285750" algn="just">
              <a:spcBef>
                <a:spcPts val="0"/>
              </a:spcBef>
              <a:buSzPct val="100000"/>
            </a:pPr>
            <a:r>
              <a:rPr lang="en-US" sz="1800" b="0" dirty="0"/>
              <a:t>Tested on a small set of items; can be extended to multiple stores [7].</a:t>
            </a:r>
          </a:p>
          <a:p>
            <a:pPr marL="488950" indent="-285750" algn="just">
              <a:spcBef>
                <a:spcPts val="0"/>
              </a:spcBef>
              <a:buSzPct val="100000"/>
            </a:pPr>
            <a:r>
              <a:rPr lang="en-US" sz="1800" b="0" dirty="0"/>
              <a:t>Helps lab in-charges and owners plan purchases with data [4].</a:t>
            </a:r>
          </a:p>
        </p:txBody>
      </p:sp>
      <p:sp>
        <p:nvSpPr>
          <p:cNvPr id="575" name="Google Shape;575;p23"/>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24"/>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3600"/>
              <a:buFont typeface="Arial"/>
              <a:buNone/>
            </a:pPr>
            <a:r>
              <a:rPr lang="en-US" sz="3200" dirty="0"/>
              <a:t>6.3 Stakeholders</a:t>
            </a:r>
          </a:p>
        </p:txBody>
      </p:sp>
      <p:sp>
        <p:nvSpPr>
          <p:cNvPr id="581" name="Google Shape;581;p24"/>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488950" indent="-285750">
              <a:spcBef>
                <a:spcPts val="0"/>
              </a:spcBef>
              <a:buSzPct val="100000"/>
            </a:pPr>
            <a:r>
              <a:rPr lang="en-US" sz="1800" b="1" dirty="0"/>
              <a:t>Lab In-charge / Store Keeper: </a:t>
            </a:r>
            <a:r>
              <a:rPr lang="en-US" sz="1800" b="0" dirty="0"/>
              <a:t>Manages stock, issues items and receives low-stock alerts [11].</a:t>
            </a:r>
          </a:p>
          <a:p>
            <a:pPr marL="203200" indent="0">
              <a:spcBef>
                <a:spcPts val="0"/>
              </a:spcBef>
              <a:buNone/>
            </a:pPr>
            <a:endParaRPr lang="en-US" sz="1800" dirty="0"/>
          </a:p>
          <a:p>
            <a:pPr marL="488950" indent="-285750">
              <a:spcBef>
                <a:spcPts val="0"/>
              </a:spcBef>
              <a:buSzPct val="100000"/>
            </a:pPr>
            <a:r>
              <a:rPr lang="en-US" sz="1800" b="1" dirty="0"/>
              <a:t>Students and Staff: </a:t>
            </a:r>
            <a:r>
              <a:rPr lang="en-US" sz="1800" b="0" dirty="0"/>
              <a:t>Borrow equipment; their issue and return records are kept [11].</a:t>
            </a:r>
          </a:p>
          <a:p>
            <a:pPr marL="203200" indent="0">
              <a:spcBef>
                <a:spcPts val="0"/>
              </a:spcBef>
              <a:buNone/>
            </a:pPr>
            <a:endParaRPr lang="en-US" sz="1800" dirty="0"/>
          </a:p>
          <a:p>
            <a:pPr marL="488950" indent="-285750">
              <a:spcBef>
                <a:spcPts val="0"/>
              </a:spcBef>
              <a:buSzPct val="100000"/>
            </a:pPr>
            <a:r>
              <a:rPr lang="en-US" sz="1800" b="1" dirty="0"/>
              <a:t>Head of Department / Management: </a:t>
            </a:r>
            <a:r>
              <a:rPr lang="en-US" sz="1800" b="0" dirty="0"/>
              <a:t>Uses reports and forecasts for purchase planning [7].</a:t>
            </a:r>
          </a:p>
          <a:p>
            <a:pPr marL="203200" indent="0">
              <a:spcBef>
                <a:spcPts val="0"/>
              </a:spcBef>
              <a:buNone/>
            </a:pPr>
            <a:endParaRPr lang="en-US" sz="1800" dirty="0"/>
          </a:p>
          <a:p>
            <a:pPr marL="488950" indent="-285750">
              <a:spcBef>
                <a:spcPts val="0"/>
              </a:spcBef>
              <a:buSzPct val="100000"/>
            </a:pPr>
            <a:r>
              <a:rPr lang="en-US" sz="1800" b="1" dirty="0"/>
              <a:t>Small Shop / Business Owners: </a:t>
            </a:r>
            <a:r>
              <a:rPr lang="en-US" sz="1800" b="0" dirty="0"/>
              <a:t>Can use the same system to avoid stock-outs [4], [8].</a:t>
            </a:r>
          </a:p>
          <a:p>
            <a:pPr marL="203200" indent="0">
              <a:spcBef>
                <a:spcPts val="0"/>
              </a:spcBef>
              <a:buNone/>
            </a:pPr>
            <a:endParaRPr lang="en-US" sz="1800" dirty="0"/>
          </a:p>
          <a:p>
            <a:pPr marL="488950" indent="-285750">
              <a:spcBef>
                <a:spcPts val="0"/>
              </a:spcBef>
              <a:buSzPct val="100000"/>
            </a:pPr>
            <a:r>
              <a:rPr lang="en-US" sz="1800" b="1" dirty="0"/>
              <a:t>Suppliers / Vendors: </a:t>
            </a:r>
            <a:r>
              <a:rPr lang="en-US" sz="1800" b="0" dirty="0"/>
              <a:t>Receive timely orders based on forecasted demand [1].</a:t>
            </a:r>
          </a:p>
          <a:p>
            <a:pPr marL="203200" indent="0">
              <a:spcBef>
                <a:spcPts val="0"/>
              </a:spcBef>
              <a:buNone/>
            </a:pPr>
            <a:endParaRPr lang="en-US" sz="1800" dirty="0"/>
          </a:p>
          <a:p>
            <a:pPr marL="488950" indent="-285750">
              <a:spcBef>
                <a:spcPts val="0"/>
              </a:spcBef>
              <a:buSzPct val="100000"/>
            </a:pPr>
            <a:r>
              <a:rPr lang="en-US" sz="1800" b="1" dirty="0"/>
              <a:t>Developers and Project Guide: </a:t>
            </a:r>
            <a:r>
              <a:rPr lang="en-US" sz="1800" b="0" dirty="0"/>
              <a:t>Build, test and evaluate the system.</a:t>
            </a:r>
          </a:p>
        </p:txBody>
      </p:sp>
      <p:sp>
        <p:nvSpPr>
          <p:cNvPr id="582" name="Google Shape;582;p24"/>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25"/>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Clr>
                <a:srgbClr val="002060"/>
              </a:buClr>
              <a:buSzPts val="3200"/>
              <a:buFont typeface="Arial"/>
              <a:buNone/>
            </a:pPr>
            <a:r>
              <a:rPr lang="en-US" sz="3200" dirty="0"/>
              <a:t>6.4 Seminar Execution Plan</a:t>
            </a:r>
          </a:p>
        </p:txBody>
      </p:sp>
      <p:sp>
        <p:nvSpPr>
          <p:cNvPr id="588" name="Google Shape;588;p25"/>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457200" indent="-342900" algn="just">
              <a:spcBef>
                <a:spcPts val="0"/>
              </a:spcBef>
              <a:buSzPct val="100000"/>
              <a:buFont typeface="+mj-lt"/>
              <a:buAutoNum type="arabicPeriod"/>
            </a:pPr>
            <a:r>
              <a:rPr lang="en-US" sz="1800" b="1" u="sng" dirty="0"/>
              <a:t>Current Scenario:</a:t>
            </a:r>
            <a:r>
              <a:rPr lang="en-US" sz="1800" b="0" dirty="0"/>
              <a:t> How is inventory managed today in departments, labs and shops? [4]</a:t>
            </a:r>
          </a:p>
          <a:p>
            <a:pPr marL="203200" indent="0">
              <a:spcBef>
                <a:spcPts val="0"/>
              </a:spcBef>
              <a:buNone/>
            </a:pPr>
            <a:endParaRPr lang="en-US" sz="1800" dirty="0"/>
          </a:p>
          <a:p>
            <a:pPr marL="457200" indent="-342900" algn="just">
              <a:spcBef>
                <a:spcPts val="0"/>
              </a:spcBef>
              <a:buSzPct val="100000"/>
              <a:buFont typeface="+mj-lt"/>
              <a:buAutoNum type="arabicPeriod"/>
            </a:pPr>
            <a:r>
              <a:rPr lang="en-US" sz="1800" b="1" u="sng" dirty="0"/>
              <a:t>Inventory Challenges:</a:t>
            </a:r>
            <a:r>
              <a:rPr lang="en-US" sz="1800" b="0" dirty="0"/>
              <a:t> Stock-outs, over-stocking, lost items and manual errors [3], [4].</a:t>
            </a:r>
          </a:p>
          <a:p>
            <a:pPr marL="203200" indent="0">
              <a:spcBef>
                <a:spcPts val="0"/>
              </a:spcBef>
              <a:buNone/>
            </a:pPr>
            <a:endParaRPr lang="en-US" sz="1800" dirty="0"/>
          </a:p>
          <a:p>
            <a:pPr marL="457200" indent="-342900" algn="just">
              <a:spcBef>
                <a:spcPts val="0"/>
              </a:spcBef>
              <a:buSzPct val="100000"/>
              <a:buFont typeface="+mj-lt"/>
              <a:buAutoNum type="arabicPeriod"/>
            </a:pPr>
            <a:r>
              <a:rPr lang="en-US" sz="1800" b="1" u="sng" dirty="0"/>
              <a:t>Existing Approaches:</a:t>
            </a:r>
            <a:r>
              <a:rPr lang="en-US" sz="1800" b="0" dirty="0"/>
              <a:t> RFID tracking, web-based systems and ML forecasting used separately [7], [9], [10].</a:t>
            </a:r>
          </a:p>
          <a:p>
            <a:pPr marL="203200" indent="0">
              <a:spcBef>
                <a:spcPts val="0"/>
              </a:spcBef>
              <a:buNone/>
            </a:pPr>
            <a:endParaRPr lang="en-US" sz="1800" dirty="0"/>
          </a:p>
          <a:p>
            <a:pPr marL="457200" indent="-342900" algn="just">
              <a:spcBef>
                <a:spcPts val="0"/>
              </a:spcBef>
              <a:buSzPct val="100000"/>
              <a:buFont typeface="+mj-lt"/>
              <a:buAutoNum type="arabicPeriod"/>
            </a:pPr>
            <a:r>
              <a:rPr lang="en-US" sz="1800" b="1" u="sng" dirty="0"/>
              <a:t>Research Gap:</a:t>
            </a:r>
            <a:r>
              <a:rPr lang="en-US" sz="1800" b="0" dirty="0"/>
              <a:t> Low-cost systems track stock but rarely predict demand [9], [10].</a:t>
            </a:r>
          </a:p>
          <a:p>
            <a:pPr marL="203200" indent="0">
              <a:spcBef>
                <a:spcPts val="0"/>
              </a:spcBef>
              <a:buNone/>
            </a:pPr>
            <a:endParaRPr lang="en-US" sz="1800" dirty="0"/>
          </a:p>
          <a:p>
            <a:pPr marL="457200" indent="-342900" algn="just">
              <a:spcBef>
                <a:spcPts val="0"/>
              </a:spcBef>
              <a:buSzPct val="100000"/>
              <a:buFont typeface="+mj-lt"/>
              <a:buAutoNum type="arabicPeriod"/>
            </a:pPr>
            <a:r>
              <a:rPr lang="en-US" sz="1800" b="1" u="sng" dirty="0"/>
              <a:t>Proposed System:</a:t>
            </a:r>
            <a:r>
              <a:rPr lang="en-US" sz="1800" b="0" dirty="0"/>
              <a:t> ESP32 + RFID + load cell with Random Forest demand forecasting [7], [11].</a:t>
            </a:r>
          </a:p>
          <a:p>
            <a:pPr marL="203200" indent="0">
              <a:spcBef>
                <a:spcPts val="0"/>
              </a:spcBef>
              <a:buNone/>
            </a:pPr>
            <a:endParaRPr lang="en-US" sz="1800" dirty="0"/>
          </a:p>
          <a:p>
            <a:pPr marL="457200" indent="-342900" algn="just">
              <a:spcBef>
                <a:spcPts val="0"/>
              </a:spcBef>
              <a:buSzPct val="100000"/>
              <a:buFont typeface="+mj-lt"/>
              <a:buAutoNum type="arabicPeriod"/>
            </a:pPr>
            <a:r>
              <a:rPr lang="en-US" sz="1800" b="1" u="sng" dirty="0"/>
              <a:t>Future Impact:</a:t>
            </a:r>
            <a:r>
              <a:rPr lang="en-US" sz="1800" b="0" dirty="0"/>
              <a:t> Accurate stock, timely purchases and less wastage [1], [3].</a:t>
            </a:r>
          </a:p>
          <a:p>
            <a:pPr marL="203200" indent="0">
              <a:spcBef>
                <a:spcPts val="0"/>
              </a:spcBef>
              <a:buNone/>
            </a:pPr>
            <a:endParaRPr lang="en-US" sz="1800" dirty="0"/>
          </a:p>
          <a:p>
            <a:pPr marL="457200" indent="-342900" algn="just">
              <a:spcBef>
                <a:spcPts val="0"/>
              </a:spcBef>
              <a:buSzPct val="100000"/>
              <a:buFont typeface="+mj-lt"/>
              <a:buAutoNum type="arabicPeriod"/>
            </a:pPr>
            <a:r>
              <a:rPr lang="en-US" sz="1800" b="1" u="sng" dirty="0"/>
              <a:t>Future Work:</a:t>
            </a:r>
            <a:r>
              <a:rPr lang="en-US" sz="1800" b="0" dirty="0"/>
              <a:t> Mobile app, multi-store support and deep-learning forecasting [7].</a:t>
            </a:r>
          </a:p>
        </p:txBody>
      </p:sp>
      <p:sp>
        <p:nvSpPr>
          <p:cNvPr id="589" name="Google Shape;589;p25"/>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26"/>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Clr>
                <a:srgbClr val="002060"/>
              </a:buClr>
              <a:buSzPts val="3200"/>
              <a:buFont typeface="Arial"/>
              <a:buNone/>
            </a:pPr>
            <a:r>
              <a:rPr lang="en-US" sz="3200" dirty="0"/>
              <a:t>6.5 Platform / Equipment / Resources</a:t>
            </a:r>
          </a:p>
        </p:txBody>
      </p:sp>
      <p:sp>
        <p:nvSpPr>
          <p:cNvPr id="595" name="Google Shape;595;p26"/>
          <p:cNvSpPr txBox="1">
            <a:spLocks noGrp="1"/>
          </p:cNvSpPr>
          <p:nvPr>
            <p:ph type="body" idx="1"/>
          </p:nvPr>
        </p:nvSpPr>
        <p:spPr>
          <a:xfrm>
            <a:off x="457200" y="1219200"/>
            <a:ext cx="8229600" cy="5334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pPr marL="342900" lvl="0" indent="-139700">
              <a:spcBef>
                <a:spcPts val="0"/>
              </a:spcBef>
              <a:buSzPts val="3200"/>
              <a:buNone/>
            </a:pPr>
            <a:r>
              <a:rPr lang="en-US" sz="1800" b="1" dirty="0"/>
              <a:t>Hardware Requirements:</a:t>
            </a:r>
          </a:p>
          <a:p>
            <a:pPr marL="488950" indent="-285750">
              <a:spcBef>
                <a:spcPts val="0"/>
              </a:spcBef>
              <a:buSzPct val="100000"/>
            </a:pPr>
            <a:r>
              <a:rPr lang="en-US" sz="1800" b="0" dirty="0"/>
              <a:t>ESP32 development board [11]</a:t>
            </a:r>
          </a:p>
          <a:p>
            <a:pPr marL="488950" indent="-285750">
              <a:spcBef>
                <a:spcPts val="0"/>
              </a:spcBef>
              <a:buSzPct val="100000"/>
            </a:pPr>
            <a:r>
              <a:rPr lang="en-US" sz="1800" b="0" dirty="0"/>
              <a:t>RFID reader (RC522) with RFID tags / cards [9]</a:t>
            </a:r>
          </a:p>
          <a:p>
            <a:pPr marL="488950" indent="-285750">
              <a:spcBef>
                <a:spcPts val="0"/>
              </a:spcBef>
              <a:buSzPct val="100000"/>
            </a:pPr>
            <a:r>
              <a:rPr lang="en-US" sz="1800" b="0" dirty="0"/>
              <a:t>Load cell with HX711 amplifier [6]</a:t>
            </a:r>
          </a:p>
          <a:p>
            <a:pPr marL="488950" indent="-285750">
              <a:spcBef>
                <a:spcPts val="0"/>
              </a:spcBef>
              <a:buSzPct val="100000"/>
            </a:pPr>
            <a:r>
              <a:rPr lang="en-US" sz="1800" b="0" dirty="0"/>
              <a:t>Laptop / PC (8 GB RAM or more) and Wi-Fi</a:t>
            </a:r>
          </a:p>
          <a:p>
            <a:pPr marL="203200" indent="0">
              <a:spcBef>
                <a:spcPts val="0"/>
              </a:spcBef>
              <a:buNone/>
            </a:pPr>
            <a:endParaRPr lang="en-US" sz="1800" dirty="0"/>
          </a:p>
          <a:p>
            <a:pPr marL="342900" lvl="0" indent="-139700">
              <a:spcBef>
                <a:spcPts val="0"/>
              </a:spcBef>
              <a:buSzPts val="3200"/>
              <a:buNone/>
            </a:pPr>
            <a:r>
              <a:rPr lang="en-US" sz="1800" b="1" dirty="0"/>
              <a:t>Software Requirements:</a:t>
            </a:r>
          </a:p>
          <a:p>
            <a:pPr marL="488950" indent="-285750">
              <a:spcBef>
                <a:spcPts val="0"/>
              </a:spcBef>
              <a:buSzPct val="100000"/>
            </a:pPr>
            <a:r>
              <a:rPr lang="en-US" sz="1800" b="0" dirty="0"/>
              <a:t>Operating system: Windows / Linux</a:t>
            </a:r>
          </a:p>
          <a:p>
            <a:pPr marL="488950" indent="-285750">
              <a:spcBef>
                <a:spcPts val="0"/>
              </a:spcBef>
              <a:buSzPct val="100000"/>
            </a:pPr>
            <a:r>
              <a:rPr lang="en-US" sz="1800" b="0" dirty="0"/>
              <a:t>Arduino IDE for ESP32 firmware (C/C++) [11]</a:t>
            </a:r>
          </a:p>
          <a:p>
            <a:pPr marL="488950" indent="-285750">
              <a:spcBef>
                <a:spcPts val="0"/>
              </a:spcBef>
              <a:buSzPct val="100000"/>
            </a:pPr>
            <a:r>
              <a:rPr lang="en-US" sz="1800" b="0" dirty="0"/>
              <a:t>Python with Flask, scikit-learn and pandas [5]</a:t>
            </a:r>
          </a:p>
          <a:p>
            <a:pPr marL="488950" indent="-285750">
              <a:spcBef>
                <a:spcPts val="0"/>
              </a:spcBef>
              <a:buSzPct val="100000"/>
            </a:pPr>
            <a:r>
              <a:rPr lang="en-US" sz="1800" b="0" dirty="0"/>
              <a:t>MySQL database; HTML, CSS, JavaScript dashboard [9], [10]</a:t>
            </a:r>
          </a:p>
          <a:p>
            <a:pPr marL="488950" indent="-285750">
              <a:spcBef>
                <a:spcPts val="0"/>
              </a:spcBef>
              <a:buSzPct val="100000"/>
            </a:pPr>
            <a:r>
              <a:rPr lang="en-US" sz="1800" b="0" dirty="0"/>
              <a:t>Visual Studio Code</a:t>
            </a:r>
          </a:p>
          <a:p>
            <a:pPr marL="203200" indent="0">
              <a:spcBef>
                <a:spcPts val="0"/>
              </a:spcBef>
              <a:buNone/>
            </a:pPr>
            <a:endParaRPr lang="en-US" sz="1800" dirty="0"/>
          </a:p>
          <a:p>
            <a:pPr marL="342900" lvl="0" indent="-139700">
              <a:spcBef>
                <a:spcPts val="0"/>
              </a:spcBef>
              <a:buSzPts val="3200"/>
              <a:buNone/>
            </a:pPr>
            <a:r>
              <a:rPr lang="en-US" sz="1800" b="1" dirty="0"/>
              <a:t>Other Resources:</a:t>
            </a:r>
          </a:p>
          <a:p>
            <a:pPr marL="488950" indent="-285750">
              <a:spcBef>
                <a:spcPts val="0"/>
              </a:spcBef>
              <a:buSzPct val="100000"/>
            </a:pPr>
            <a:r>
              <a:rPr lang="en-US" sz="1800" b="0" dirty="0"/>
              <a:t>Research papers and sample inventory / sales data [1]–[11]</a:t>
            </a:r>
          </a:p>
          <a:p>
            <a:pPr marL="488950" indent="-285750">
              <a:spcBef>
                <a:spcPts val="0"/>
              </a:spcBef>
              <a:buSzPct val="100000"/>
            </a:pPr>
            <a:r>
              <a:rPr lang="en-US" sz="1800" b="0" dirty="0"/>
              <a:t>Internet connection for server and alerts</a:t>
            </a:r>
          </a:p>
        </p:txBody>
      </p:sp>
      <p:sp>
        <p:nvSpPr>
          <p:cNvPr id="596" name="Google Shape;596;p26"/>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27"/>
          <p:cNvSpPr txBox="1">
            <a:spLocks noGrp="1"/>
          </p:cNvSpPr>
          <p:nvPr>
            <p:ph type="title"/>
          </p:nvPr>
        </p:nvSpPr>
        <p:spPr>
          <a:xfrm>
            <a:off x="457200" y="274638"/>
            <a:ext cx="8229600" cy="8685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Bibliography</a:t>
            </a:r>
            <a:endParaRPr/>
          </a:p>
        </p:txBody>
      </p:sp>
      <p:sp>
        <p:nvSpPr>
          <p:cNvPr id="602" name="Google Shape;602;p27"/>
          <p:cNvSpPr txBox="1">
            <a:spLocks noGrp="1"/>
          </p:cNvSpPr>
          <p:nvPr>
            <p:ph type="body" idx="1"/>
          </p:nvPr>
        </p:nvSpPr>
        <p:spPr>
          <a:xfrm>
            <a:off x="457200" y="1219200"/>
            <a:ext cx="8229600" cy="5334000"/>
          </a:xfrm>
          <a:prstGeom prst="rect">
            <a:avLst/>
          </a:prstGeom>
          <a:solidFill>
            <a:schemeClr val="lt1"/>
          </a:solidFill>
          <a:ln w="28575" cap="flat" cmpd="sng">
            <a:solidFill>
              <a:schemeClr val="accent1"/>
            </a:solidFill>
            <a:prstDash val="solid"/>
            <a:round/>
            <a:headEnd type="none" w="sm" len="sm"/>
            <a:tailEnd type="none" w="sm" len="sm"/>
          </a:ln>
        </p:spPr>
        <p:txBody>
          <a:bodyPr spcFirstLastPara="1" wrap="square" lIns="91425" tIns="45700" rIns="91425" bIns="45700" anchor="t" anchorCtr="0">
            <a:normAutofit/>
          </a:bodyPr>
          <a:lstStyle/>
          <a:p>
            <a:r>
              <a:rPr lang="en-US" sz="2100" b="1" dirty="0"/>
              <a:t>Books</a:t>
            </a:r>
          </a:p>
          <a:p>
            <a:pPr algn="just">
              <a:spcBef>
                <a:spcPts val="0"/>
              </a:spcBef>
            </a:pPr>
            <a:r>
              <a:rPr lang="en-US" sz="1800" b="0" dirty="0"/>
              <a:t>Internet of Things: A Hands-On Approach — Arshdeep Bahga and Vijay Madisetti.</a:t>
            </a:r>
          </a:p>
          <a:p>
            <a:pPr algn="just">
              <a:spcBef>
                <a:spcPts val="0"/>
              </a:spcBef>
            </a:pPr>
            <a:r>
              <a:rPr lang="en-US" sz="1800" b="0" dirty="0"/>
              <a:t>Hands-On Machine Learning with Scikit-Learn, Keras and TensorFlow — Aurélien Géron.</a:t>
            </a:r>
          </a:p>
          <a:p>
            <a:pPr algn="just">
              <a:spcBef>
                <a:spcPts val="0"/>
              </a:spcBef>
            </a:pPr>
            <a:r>
              <a:rPr lang="en-US" sz="1800" b="0" dirty="0"/>
              <a:t>Operations Management — William J. Stevenson.</a:t>
            </a:r>
          </a:p>
          <a:p>
            <a:pPr algn="just">
              <a:spcBef>
                <a:spcPts val="0"/>
              </a:spcBef>
            </a:pPr>
            <a:r>
              <a:rPr lang="en-US" sz="1800" b="0" dirty="0"/>
              <a:t>Inventory Management Explained — David J. Piasecki.</a:t>
            </a:r>
          </a:p>
          <a:p>
            <a:pPr marL="203200" indent="0">
              <a:spcBef>
                <a:spcPts val="0"/>
              </a:spcBef>
              <a:buNone/>
            </a:pPr>
            <a:endParaRPr lang="en-US" sz="1800" dirty="0"/>
          </a:p>
          <a:p>
            <a:r>
              <a:rPr lang="en-US" sz="2100" b="1" dirty="0"/>
              <a:t>Websites</a:t>
            </a:r>
          </a:p>
          <a:p>
            <a:pPr algn="just">
              <a:spcBef>
                <a:spcPts val="0"/>
              </a:spcBef>
            </a:pPr>
            <a:r>
              <a:rPr lang="en-US" sz="1800" b="0" dirty="0"/>
              <a:t>Espressif ESP32 Documentation — docs.espressif.com</a:t>
            </a:r>
          </a:p>
          <a:p>
            <a:pPr algn="just">
              <a:spcBef>
                <a:spcPts val="0"/>
              </a:spcBef>
            </a:pPr>
            <a:r>
              <a:rPr lang="en-US" sz="1800" b="0" dirty="0"/>
              <a:t>Arduino Documentation — docs.arduino.cc</a:t>
            </a:r>
          </a:p>
          <a:p>
            <a:pPr algn="just">
              <a:spcBef>
                <a:spcPts val="0"/>
              </a:spcBef>
            </a:pPr>
            <a:r>
              <a:rPr lang="en-US" sz="1800" b="0" dirty="0"/>
              <a:t>scikit-learn Documentation — scikit-learn.org</a:t>
            </a:r>
          </a:p>
          <a:p>
            <a:pPr algn="just">
              <a:spcBef>
                <a:spcPts val="0"/>
              </a:spcBef>
            </a:pPr>
            <a:r>
              <a:rPr lang="en-US" sz="1800" b="0" dirty="0"/>
              <a:t>Flask Documentation — flask.palletsprojects.com</a:t>
            </a:r>
          </a:p>
          <a:p>
            <a:pPr algn="just">
              <a:spcBef>
                <a:spcPts val="0"/>
              </a:spcBef>
            </a:pPr>
            <a:r>
              <a:rPr lang="en-US" sz="1800" b="0" dirty="0"/>
              <a:t>MySQL Documentation — dev.mysql.com/doc</a:t>
            </a:r>
          </a:p>
        </p:txBody>
      </p:sp>
      <p:sp>
        <p:nvSpPr>
          <p:cNvPr id="603" name="Google Shape;603;p27"/>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28"/>
          <p:cNvSpPr txBox="1">
            <a:spLocks noGrp="1"/>
          </p:cNvSpPr>
          <p:nvPr>
            <p:ph type="title"/>
          </p:nvPr>
        </p:nvSpPr>
        <p:spPr>
          <a:xfrm>
            <a:off x="457200" y="274638"/>
            <a:ext cx="8229600" cy="8685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rmAutofit/>
          </a:bodyPr>
          <a:lstStyle/>
          <a:p>
            <a:pPr marL="0" lvl="0" indent="0" algn="ctr" rtl="0">
              <a:spcBef>
                <a:spcPts val="0"/>
              </a:spcBef>
              <a:spcAft>
                <a:spcPts val="0"/>
              </a:spcAft>
              <a:buClr>
                <a:srgbClr val="002060"/>
              </a:buClr>
              <a:buSzPts val="4400"/>
              <a:buFont typeface="Arial"/>
              <a:buNone/>
            </a:pPr>
            <a:r>
              <a:rPr lang="en-US"/>
              <a:t>References</a:t>
            </a:r>
            <a:endParaRPr/>
          </a:p>
        </p:txBody>
      </p:sp>
      <p:sp>
        <p:nvSpPr>
          <p:cNvPr id="609" name="Google Shape;609;p28"/>
          <p:cNvSpPr txBox="1">
            <a:spLocks noGrp="1"/>
          </p:cNvSpPr>
          <p:nvPr>
            <p:ph type="body" idx="1"/>
          </p:nvPr>
        </p:nvSpPr>
        <p:spPr>
          <a:xfrm>
            <a:off x="457200" y="1219200"/>
            <a:ext cx="8229600" cy="56388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114300" indent="0">
              <a:spcBef>
                <a:spcPts val="0"/>
              </a:spcBef>
              <a:buNone/>
            </a:pPr>
            <a:r>
              <a:rPr lang="en-US" sz="1600" b="1" dirty="0"/>
              <a:t>Research Papers</a:t>
            </a:r>
          </a:p>
          <a:p>
            <a:pPr marL="0" indent="0" algn="just">
              <a:spcBef>
                <a:spcPts val="0"/>
              </a:spcBef>
              <a:spcAft>
                <a:spcPts val="200"/>
              </a:spcAft>
              <a:buNone/>
            </a:pPr>
            <a:r>
              <a:rPr lang="en-US" sz="1400" b="0" dirty="0"/>
              <a:t>[1] Yu (2025), Optimizing Supply Chain Logistics with IoT and ML (RBRO-WRF)</a:t>
            </a:r>
          </a:p>
          <a:p>
            <a:pPr marL="0" indent="0" algn="just">
              <a:spcBef>
                <a:spcPts val="0"/>
              </a:spcBef>
              <a:spcAft>
                <a:spcPts val="200"/>
              </a:spcAft>
              <a:buNone/>
            </a:pPr>
            <a:r>
              <a:rPr lang="en-US" sz="1400" b="0" dirty="0"/>
              <a:t>[2] Singh &amp; Adhikari (2023), AI and IoT: A Future Perspective on Inventory Management</a:t>
            </a:r>
          </a:p>
          <a:p>
            <a:pPr marL="0" indent="0" algn="just">
              <a:spcBef>
                <a:spcPts val="0"/>
              </a:spcBef>
              <a:spcAft>
                <a:spcPts val="200"/>
              </a:spcAft>
              <a:buNone/>
            </a:pPr>
            <a:r>
              <a:rPr lang="en-US" sz="1400" b="0" dirty="0"/>
              <a:t>[3] Singh et al., Inventory Management using Big Data and Internet of Things</a:t>
            </a:r>
          </a:p>
          <a:p>
            <a:pPr marL="0" indent="0" algn="just">
              <a:spcBef>
                <a:spcPts val="0"/>
              </a:spcBef>
              <a:spcAft>
                <a:spcPts val="200"/>
              </a:spcAft>
              <a:buNone/>
            </a:pPr>
            <a:r>
              <a:rPr lang="en-US" sz="1400" b="0" dirty="0"/>
              <a:t>[4] Bhatt &amp; Nahar (2025), Smart Retail Inventory Management Using AI-Driven IoT</a:t>
            </a:r>
          </a:p>
          <a:p>
            <a:pPr marL="0" indent="0" algn="just">
              <a:spcBef>
                <a:spcPts val="0"/>
              </a:spcBef>
              <a:spcAft>
                <a:spcPts val="200"/>
              </a:spcAft>
              <a:buNone/>
            </a:pPr>
            <a:r>
              <a:rPr lang="en-US" sz="1400" b="0" dirty="0"/>
              <a:t>[5] Kotru &amp; Batra (2024), Optimizing Resource Allocation in IoT for Improved Inventory Management</a:t>
            </a:r>
          </a:p>
          <a:p>
            <a:pPr marL="0" indent="0" algn="just">
              <a:spcBef>
                <a:spcPts val="0"/>
              </a:spcBef>
              <a:spcAft>
                <a:spcPts val="200"/>
              </a:spcAft>
              <a:buNone/>
            </a:pPr>
            <a:r>
              <a:rPr lang="en-US" sz="1400" b="0" dirty="0"/>
              <a:t>[6] Chukomin et al. (2023), IoT-based Inventory Management Solution using Smart Bins</a:t>
            </a:r>
          </a:p>
          <a:p>
            <a:pPr marL="0" indent="0" algn="just">
              <a:spcBef>
                <a:spcPts val="0"/>
              </a:spcBef>
              <a:spcAft>
                <a:spcPts val="200"/>
              </a:spcAft>
              <a:buNone/>
            </a:pPr>
            <a:r>
              <a:rPr lang="en-US" sz="1400" b="0" dirty="0"/>
              <a:t>[7] Saxena et al. (2025), Smart Inventory Management System using Machine Learning</a:t>
            </a:r>
          </a:p>
          <a:p>
            <a:pPr marL="0" indent="0" algn="just">
              <a:spcBef>
                <a:spcPts val="0"/>
              </a:spcBef>
              <a:spcAft>
                <a:spcPts val="200"/>
              </a:spcAft>
              <a:buNone/>
            </a:pPr>
            <a:r>
              <a:rPr lang="en-US" sz="1400" b="0" dirty="0"/>
              <a:t>[8] Kamali et al. (2025), Advanced Inventory Management System Powered by IoT and AI</a:t>
            </a:r>
          </a:p>
          <a:p>
            <a:pPr marL="0" indent="0" algn="just">
              <a:spcBef>
                <a:spcPts val="0"/>
              </a:spcBef>
              <a:spcAft>
                <a:spcPts val="200"/>
              </a:spcAft>
              <a:buNone/>
            </a:pPr>
            <a:r>
              <a:rPr lang="en-US" sz="1400" b="0" dirty="0"/>
              <a:t>[9] Bousselmi et al., IoT Application for Smart Inventory Management System Based on RFID</a:t>
            </a:r>
          </a:p>
          <a:p>
            <a:pPr marL="0" indent="0" algn="just">
              <a:spcBef>
                <a:spcPts val="0"/>
              </a:spcBef>
              <a:spcAft>
                <a:spcPts val="200"/>
              </a:spcAft>
              <a:buNone/>
            </a:pPr>
            <a:r>
              <a:rPr lang="en-US" sz="1400" b="0" dirty="0"/>
              <a:t>[10] Reddy et al. (2025), Smart Inventory Management System</a:t>
            </a:r>
          </a:p>
          <a:p>
            <a:pPr marL="0" indent="0" algn="just">
              <a:spcBef>
                <a:spcPts val="0"/>
              </a:spcBef>
              <a:spcAft>
                <a:spcPts val="200"/>
              </a:spcAft>
              <a:buNone/>
            </a:pPr>
            <a:r>
              <a:rPr lang="en-US" sz="1400" b="0" dirty="0"/>
              <a:t>[11] Bandara et al. (2024), Optimizing Efficiency Using a Low-Cost RFID-Based Inventory Management System</a:t>
            </a:r>
          </a:p>
          <a:p>
            <a:pPr marL="114300" indent="0">
              <a:spcBef>
                <a:spcPts val="0"/>
              </a:spcBef>
              <a:buNone/>
            </a:pPr>
            <a:r>
              <a:rPr lang="en-US" sz="1600" b="1" dirty="0"/>
              <a:t>Other Sources</a:t>
            </a:r>
          </a:p>
          <a:p>
            <a:pPr marL="0" indent="0" algn="just">
              <a:spcBef>
                <a:spcPts val="0"/>
              </a:spcBef>
              <a:spcAft>
                <a:spcPts val="200"/>
              </a:spcAft>
              <a:buNone/>
            </a:pPr>
            <a:r>
              <a:rPr lang="en-US" sz="1400" b="0" dirty="0"/>
              <a:t>[12] K. Ashton, “That ‘Internet of Things’ Thing,” RFID Journal, 2009</a:t>
            </a:r>
          </a:p>
          <a:p>
            <a:pPr marL="0" indent="0" algn="just">
              <a:spcBef>
                <a:spcPts val="0"/>
              </a:spcBef>
              <a:spcAft>
                <a:spcPts val="200"/>
              </a:spcAft>
              <a:buNone/>
            </a:pPr>
            <a:r>
              <a:rPr lang="en-US" sz="1400" b="0" dirty="0"/>
              <a:t>[13] University of Cambridge (IfM), “The Origin of the Internet of Things”</a:t>
            </a:r>
          </a:p>
        </p:txBody>
      </p:sp>
      <p:sp>
        <p:nvSpPr>
          <p:cNvPr id="610" name="Google Shape;610;p28"/>
          <p:cNvSpPr txBox="1">
            <a:spLocks noGrp="1"/>
          </p:cNvSpPr>
          <p:nvPr>
            <p:ph type="sldNum" idx="12"/>
          </p:nvPr>
        </p:nvSpPr>
        <p:spPr>
          <a:xfrm>
            <a:off x="8411428" y="6356350"/>
            <a:ext cx="548700" cy="3651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29"/>
          <p:cNvSpPr/>
          <p:nvPr/>
        </p:nvSpPr>
        <p:spPr>
          <a:xfrm>
            <a:off x="1447801" y="2810112"/>
            <a:ext cx="6248400" cy="1200300"/>
          </a:xfrm>
          <a:prstGeom prst="rect">
            <a:avLst/>
          </a:prstGeom>
          <a:noFill/>
          <a:ln w="2857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7200" b="1" i="0" u="none" strike="noStrike" cap="none">
                <a:solidFill>
                  <a:srgbClr val="262626"/>
                </a:solidFill>
                <a:latin typeface="Times New Roman"/>
                <a:ea typeface="Times New Roman"/>
                <a:cs typeface="Times New Roman"/>
                <a:sym typeface="Times New Roman"/>
              </a:rPr>
              <a:t>Thank you</a:t>
            </a:r>
            <a:endParaRPr/>
          </a:p>
        </p:txBody>
      </p:sp>
      <p:sp>
        <p:nvSpPr>
          <p:cNvPr id="616" name="Google Shape;616;p2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254</TotalTime>
  <Words>2239</Words>
  <Application>Microsoft Office PowerPoint</Application>
  <PresentationFormat>On-screen Show (4:3)</PresentationFormat>
  <Paragraphs>288</Paragraphs>
  <Slides>20</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PowerPoint Presentation</vt:lpstr>
      <vt:lpstr>Contents</vt:lpstr>
      <vt:lpstr>Abstract</vt:lpstr>
      <vt:lpstr>1. Introduction</vt:lpstr>
      <vt:lpstr>2. Literature Survey</vt:lpstr>
      <vt:lpstr>PowerPoint Presentation</vt:lpstr>
      <vt:lpstr>PowerPoint Presentation</vt:lpstr>
      <vt:lpstr>PowerPoint Presentation</vt:lpstr>
      <vt:lpstr>3. Information to seminar topic</vt:lpstr>
      <vt:lpstr>4. Advantages / Disadvantages</vt:lpstr>
      <vt:lpstr>5. Conclusion</vt:lpstr>
      <vt:lpstr>6. Project Initiation</vt:lpstr>
      <vt:lpstr>6.1 Description of Problem Statement</vt:lpstr>
      <vt:lpstr>6.2 Scope and Objectives</vt:lpstr>
      <vt:lpstr>6.3 Stakeholders</vt:lpstr>
      <vt:lpstr>6.4 Seminar Execution Plan</vt:lpstr>
      <vt:lpstr>6.5 Platform / Equipment / Resources</vt:lpstr>
      <vt:lpstr>Bibliography</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Suher Shaikh</cp:lastModifiedBy>
  <cp:revision>7</cp:revision>
  <dcterms:modified xsi:type="dcterms:W3CDTF">2026-10-18T03:33:40Z</dcterms:modified>
</cp:coreProperties>
</file>