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73" r:id="rId9"/>
    <p:sldId id="274" r:id="rId10"/>
    <p:sldId id="261" r:id="rId11"/>
    <p:sldId id="262" r:id="rId12"/>
    <p:sldId id="263" r:id="rId13"/>
    <p:sldId id="264" r:id="rId14"/>
    <p:sldId id="265" r:id="rId15"/>
    <p:sldId id="266" r:id="rId16"/>
    <p:sldId id="267" r:id="rId17"/>
    <p:sldId id="269" r:id="rId18"/>
    <p:sldId id="270" r:id="rId19"/>
    <p:sldId id="271" r:id="rId20"/>
    <p:sldId id="275" r:id="rId21"/>
    <p:sldId id="272"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8077A5B-8C0D-40D8-8557-44EC33DBB8F6}" styleName="Table_0">
    <a:wholeTbl>
      <a:tcTxStyle>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Style>
        <a:tcBdr/>
      </a:tcStyle>
    </a:band2H>
    <a:band1V>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a:tcStyle>
        <a:tcBdr/>
      </a:tcStyle>
    </a:lastCol>
    <a:firstCol>
      <a:tcTxStyle b="on"/>
      <a:tcStyle>
        <a:tcBdr/>
      </a:tcStyle>
    </a:firstCol>
    <a:lastRow>
      <a:tcTxStyle b="on"/>
      <a:tcStyle>
        <a:tcBdr>
          <a:top>
            <a:ln w="50800" cap="flat" cmpd="sng">
              <a:solidFill>
                <a:schemeClr val="accent1"/>
              </a:solidFill>
              <a:prstDash val="solid"/>
              <a:round/>
              <a:headEnd type="none" w="sm" len="sm"/>
              <a:tailEnd type="none" w="sm" len="sm"/>
            </a:ln>
          </a:top>
        </a:tcBdr>
      </a:tcStyle>
    </a:lastRow>
    <a:seCell>
      <a:tcStyle>
        <a:tcBdr/>
      </a:tcStyle>
    </a:seCell>
    <a:swCell>
      <a:tcStyle>
        <a:tcBdr/>
      </a:tcStyle>
    </a:swCell>
    <a:firstRow>
      <a:tcTxStyle b="on">
        <a:font>
          <a:latin typeface="Times New Roman"/>
          <a:ea typeface="Times New Roman"/>
          <a:cs typeface="Times New Roman"/>
        </a:font>
        <a:schemeClr val="lt1"/>
      </a:tcTxStyle>
      <a:tcStyle>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1594" y="62"/>
      </p:cViewPr>
      <p:guideLst>
        <p:guide orient="horz" pos="216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panose="020B0604020202020204"/>
              <a:buNone/>
              <a:defRPr>
                <a:solidFill>
                  <a:srgbClr val="002060"/>
                </a:solidFill>
                <a:latin typeface="Times New Roman" panose="02020603050405020304"/>
                <a:ea typeface="Times New Roman" panose="02020603050405020304"/>
                <a:cs typeface="Times New Roman" panose="02020603050405020304"/>
                <a:sym typeface="Times New Roman" panose="02020603050405020304"/>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panose="020B060402020202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panose="020B0604020202020204"/>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panose="020B060402020202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panose="020B060402020202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hyperlink" Target="https://mospi.gov.in/publication/energy-statistics-india-2023" TargetMode="Externa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hyperlink" Target="https://doi.org/10.1109/TSG.2012.2218835" TargetMode="External"/><Relationship Id="rId4" Type="http://schemas.openxmlformats.org/officeDocument/2006/relationships/hyperlink" Target="https://doi.org/10.1016/j.energy.2017.08.097" TargetMode="External"/><Relationship Id="rId3" Type="http://schemas.openxmlformats.org/officeDocument/2006/relationships/hyperlink" Target="https://doi.org/10.1016/j.epsr.2015.12.014" TargetMode="External"/><Relationship Id="rId2" Type="http://schemas.openxmlformats.org/officeDocument/2006/relationships/hyperlink" Target="https://doi.org/10.1016/j.apenergy.2011.12.076" TargetMode="External"/><Relationship Id="rId1" Type="http://schemas.openxmlformats.org/officeDocument/2006/relationships/hyperlink" Target="https://mospi.gov.in/publication/energy-statistics-india-2023"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i.org/10.1016/j.egyr.2021.07.084" TargetMode="External"/><Relationship Id="rId1" Type="http://schemas.openxmlformats.org/officeDocument/2006/relationships/hyperlink" Target="https://doi.org/10.1016/j.epsr.2020.106232"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nvGraphicFramePr>
        <p:xfrm>
          <a:off x="218440" y="304800"/>
          <a:ext cx="8649970" cy="6221095"/>
        </p:xfrm>
        <a:graphic>
          <a:graphicData uri="http://schemas.openxmlformats.org/drawingml/2006/table">
            <a:tbl>
              <a:tblPr firstRow="1" bandRow="1">
                <a:noFill/>
                <a:tableStyleId>{98077A5B-8C0D-40D8-8557-44EC33DBB8F6}</a:tableStyleId>
              </a:tblPr>
              <a:tblGrid>
                <a:gridCol w="1478915"/>
                <a:gridCol w="425450"/>
                <a:gridCol w="4122420"/>
                <a:gridCol w="2623185"/>
              </a:tblGrid>
              <a:tr h="1986915">
                <a:tc>
                  <a:txBody>
                    <a:bodyPr/>
                    <a:lstStyle/>
                    <a:p>
                      <a:pPr marL="0" marR="0" lvl="0" indent="0" algn="ctr" rtl="0">
                        <a:spcBef>
                          <a:spcPts val="0"/>
                        </a:spcBef>
                        <a:spcAft>
                          <a:spcPts val="0"/>
                        </a:spcAft>
                        <a:buNone/>
                      </a:pPr>
                      <a:endParaRPr sz="2200" u="none" strike="noStrike" cap="none">
                        <a:solidFill>
                          <a:schemeClr val="lt1"/>
                        </a:solidFill>
                        <a:latin typeface="Times New Roman" panose="02020603050405020304" charset="0"/>
                        <a:cs typeface="Times New Roman" panose="02020603050405020304"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lnSpc>
                          <a:spcPct val="70000"/>
                        </a:lnSpc>
                        <a:spcBef>
                          <a:spcPts val="0"/>
                        </a:spcBef>
                        <a:spcAft>
                          <a:spcPts val="0"/>
                        </a:spcAft>
                        <a:buNone/>
                      </a:pPr>
                      <a:r>
                        <a:rPr lang="en-US" sz="2800" u="none" strike="noStrike" cap="none">
                          <a:solidFill>
                            <a:schemeClr val="lt1"/>
                          </a:solidFill>
                          <a:latin typeface="Times New Roman" panose="02020603050405020304" charset="0"/>
                          <a:cs typeface="Times New Roman" panose="02020603050405020304" charset="0"/>
                        </a:rPr>
                        <a:t>S.S.V.P.S’s B. S. Deore Polytechnic, Dhule</a:t>
                      </a:r>
                      <a:endParaRPr sz="2800" u="none" strike="noStrike" cap="none">
                        <a:solidFill>
                          <a:schemeClr val="lt1"/>
                        </a:solidFill>
                        <a:latin typeface="Times New Roman" panose="02020603050405020304" charset="0"/>
                        <a:cs typeface="Times New Roman" panose="02020603050405020304" charset="0"/>
                      </a:endParaRPr>
                    </a:p>
                    <a:p>
                      <a:pPr marL="0" marR="0" lvl="0" indent="0" algn="ctr" rtl="0">
                        <a:lnSpc>
                          <a:spcPct val="70000"/>
                        </a:lnSpc>
                        <a:spcBef>
                          <a:spcPts val="0"/>
                        </a:spcBef>
                        <a:spcAft>
                          <a:spcPts val="0"/>
                        </a:spcAft>
                        <a:buClr>
                          <a:schemeClr val="lt1"/>
                        </a:buClr>
                        <a:buSzPts val="3200"/>
                        <a:buFont typeface="Times New Roman" panose="02020603050405020304"/>
                        <a:buNone/>
                      </a:pPr>
                      <a:endParaRPr lang="en-US" sz="3200" u="none" strike="noStrike" cap="none">
                        <a:solidFill>
                          <a:schemeClr val="lt1"/>
                        </a:solidFill>
                        <a:latin typeface="Times New Roman" panose="02020603050405020304" charset="0"/>
                        <a:cs typeface="Times New Roman" panose="02020603050405020304" charset="0"/>
                      </a:endParaRPr>
                    </a:p>
                    <a:p>
                      <a:pPr marL="0" marR="0" lvl="0" indent="0" algn="ctr" rtl="0">
                        <a:lnSpc>
                          <a:spcPct val="70000"/>
                        </a:lnSpc>
                        <a:spcBef>
                          <a:spcPts val="0"/>
                        </a:spcBef>
                        <a:spcAft>
                          <a:spcPts val="0"/>
                        </a:spcAft>
                        <a:buClr>
                          <a:schemeClr val="lt1"/>
                        </a:buClr>
                        <a:buSzPts val="3200"/>
                        <a:buFont typeface="Times New Roman" panose="02020603050405020304"/>
                        <a:buNone/>
                      </a:pPr>
                      <a:r>
                        <a:rPr lang="en-US" sz="3200" u="none" strike="noStrike" cap="none">
                          <a:solidFill>
                            <a:schemeClr val="lt1"/>
                          </a:solidFill>
                          <a:latin typeface="Times New Roman" panose="02020603050405020304" charset="0"/>
                          <a:cs typeface="Times New Roman" panose="02020603050405020304" charset="0"/>
                        </a:rPr>
                        <a:t>Department of Computer Engineering</a:t>
                      </a:r>
                      <a:endParaRPr lang="en-US" sz="3200" u="none" strike="noStrike" cap="none">
                        <a:solidFill>
                          <a:schemeClr val="lt1"/>
                        </a:solidFill>
                        <a:latin typeface="Times New Roman" panose="02020603050405020304" charset="0"/>
                        <a:cs typeface="Times New Roman" panose="02020603050405020304" charset="0"/>
                      </a:endParaRPr>
                    </a:p>
                    <a:p>
                      <a:pPr marL="0" marR="0" lvl="0" indent="0" algn="ctr" rtl="0">
                        <a:lnSpc>
                          <a:spcPct val="70000"/>
                        </a:lnSpc>
                        <a:spcBef>
                          <a:spcPts val="0"/>
                        </a:spcBef>
                        <a:spcAft>
                          <a:spcPts val="0"/>
                        </a:spcAft>
                        <a:buNone/>
                      </a:pPr>
                      <a:endParaRPr lang="en-US" sz="3200" b="0" i="1" u="none" strike="noStrike" cap="none">
                        <a:solidFill>
                          <a:schemeClr val="lt1"/>
                        </a:solidFill>
                        <a:latin typeface="Times New Roman" panose="02020603050405020304" charset="0"/>
                        <a:cs typeface="Times New Roman" panose="02020603050405020304" charset="0"/>
                      </a:endParaRPr>
                    </a:p>
                    <a:p>
                      <a:pPr marL="0" marR="0" lvl="0" indent="0" algn="ctr" rtl="0">
                        <a:lnSpc>
                          <a:spcPct val="70000"/>
                        </a:lnSpc>
                        <a:spcBef>
                          <a:spcPts val="0"/>
                        </a:spcBef>
                        <a:spcAft>
                          <a:spcPts val="0"/>
                        </a:spcAft>
                        <a:buNone/>
                      </a:pPr>
                      <a:r>
                        <a:rPr lang="en-US" sz="3200" b="0" i="1" u="none" strike="noStrike" cap="none">
                          <a:solidFill>
                            <a:schemeClr val="lt1"/>
                          </a:solidFill>
                          <a:latin typeface="Times New Roman" panose="02020603050405020304" charset="0"/>
                          <a:cs typeface="Times New Roman" panose="02020603050405020304" charset="0"/>
                        </a:rPr>
                        <a:t>Academic Year : </a:t>
                      </a:r>
                      <a:r>
                        <a:rPr lang="en-US" sz="3200" b="0" i="1">
                          <a:latin typeface="Times New Roman" panose="02020603050405020304" charset="0"/>
                          <a:cs typeface="Times New Roman" panose="02020603050405020304" charset="0"/>
                        </a:rPr>
                        <a:t>2026-2027</a:t>
                      </a:r>
                      <a:endParaRPr sz="3200" b="0" i="1" u="none" strike="noStrike" cap="none">
                        <a:solidFill>
                          <a:schemeClr val="lt1"/>
                        </a:solidFill>
                        <a:latin typeface="Times New Roman" panose="02020603050405020304" charset="0"/>
                        <a:cs typeface="Times New Roman" panose="02020603050405020304"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hMerge="1">
                  <a:tcPr/>
                </a:tc>
              </a:tr>
              <a:tr h="660400">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panose="02020603050405020304" charset="0"/>
                          <a:ea typeface="Times New Roman" panose="02020603050405020304"/>
                          <a:cs typeface="Times New Roman" panose="02020603050405020304" charset="0"/>
                          <a:sym typeface="Times New Roman" panose="02020603050405020304"/>
                        </a:rPr>
                        <a:t>SEMINAR AND PROJECT INITIATION COURSE</a:t>
                      </a:r>
                      <a:endParaRPr lang="en-US" sz="2800" b="1" u="none" strike="noStrike" cap="none">
                        <a:solidFill>
                          <a:srgbClr val="002060"/>
                        </a:solidFill>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hMerge="1">
                  <a:tcPr/>
                </a:tc>
                <a:tc hMerge="1">
                  <a:tcPr/>
                </a:tc>
              </a:tr>
              <a:tr h="682625">
                <a:tc gridSpan="2">
                  <a:txBody>
                    <a:bodyPr/>
                    <a:lstStyle/>
                    <a:p>
                      <a:pPr marL="0" marR="0" lvl="0" indent="0" algn="l" rtl="0">
                        <a:lnSpc>
                          <a:spcPct val="100000"/>
                        </a:lnSpc>
                        <a:spcBef>
                          <a:spcPts val="0"/>
                        </a:spcBef>
                        <a:spcAft>
                          <a:spcPts val="0"/>
                        </a:spcAft>
                        <a:buClr>
                          <a:srgbClr val="FF0000"/>
                        </a:buClr>
                        <a:buSzPts val="2100"/>
                        <a:buFont typeface="Times New Roman" panose="02020603050405020304"/>
                        <a:buNone/>
                      </a:pPr>
                      <a:r>
                        <a:rPr lang="en-US" sz="2100" b="1" u="none" strike="noStrike" cap="none">
                          <a:solidFill>
                            <a:srgbClr val="FF0000"/>
                          </a:solidFill>
                          <a:latin typeface="Times New Roman" panose="02020603050405020304" charset="0"/>
                          <a:cs typeface="Times New Roman" panose="02020603050405020304" charset="0"/>
                        </a:rPr>
                        <a:t>Sem: CO 5-K</a:t>
                      </a:r>
                      <a:endParaRPr lang="en-US" sz="2100" b="1" u="none" strike="noStrike" cap="none">
                        <a:solidFill>
                          <a:srgbClr val="FF0000"/>
                        </a:solidFill>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a:txBody>
                    <a:bodyPr/>
                    <a:lstStyle/>
                    <a:p>
                      <a:pPr marL="0" marR="0" lvl="0" indent="0" algn="ctr" rtl="0">
                        <a:lnSpc>
                          <a:spcPct val="100000"/>
                        </a:lnSpc>
                        <a:spcBef>
                          <a:spcPts val="0"/>
                        </a:spcBef>
                        <a:spcAft>
                          <a:spcPts val="0"/>
                        </a:spcAft>
                        <a:buClr>
                          <a:srgbClr val="002060"/>
                        </a:buClr>
                        <a:buSzPts val="2400"/>
                        <a:buFont typeface="Times New Roman" panose="02020603050405020304"/>
                        <a:buNone/>
                      </a:pPr>
                      <a:r>
                        <a:rPr lang="en-US" sz="2400" b="1" u="none" strike="noStrike" cap="none">
                          <a:solidFill>
                            <a:schemeClr val="bg2"/>
                          </a:solidFill>
                          <a:latin typeface="Times New Roman" panose="02020603050405020304" charset="0"/>
                          <a:ea typeface="Times New Roman" panose="02020603050405020304"/>
                          <a:cs typeface="Times New Roman" panose="02020603050405020304" charset="0"/>
                          <a:sym typeface="Times New Roman" panose="02020603050405020304"/>
                        </a:rPr>
                        <a:t>SPI – 315003</a:t>
                      </a:r>
                      <a:endParaRPr lang="en-US" sz="2400" b="1" u="none" strike="noStrike" cap="none">
                        <a:solidFill>
                          <a:schemeClr val="bg2"/>
                        </a:solidFill>
                        <a:latin typeface="Times New Roman" panose="02020603050405020304" charset="0"/>
                        <a:ea typeface="Times New Roman" panose="02020603050405020304"/>
                        <a:cs typeface="Times New Roman" panose="02020603050405020304" charset="0"/>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panose="02020603050405020304"/>
                        <a:buNone/>
                      </a:pPr>
                      <a:r>
                        <a:rPr lang="en-US" sz="2100" b="1" u="none" strike="noStrike" cap="none" dirty="0">
                          <a:solidFill>
                            <a:srgbClr val="FF0000"/>
                          </a:solidFill>
                          <a:latin typeface="Times New Roman" panose="02020603050405020304" charset="0"/>
                          <a:cs typeface="Times New Roman" panose="02020603050405020304" charset="0"/>
                        </a:rPr>
                        <a:t>Date: 14/10/2026</a:t>
                      </a:r>
                      <a:endParaRPr lang="en-US" sz="2100" b="1" u="none" strike="noStrike" cap="none" dirty="0">
                        <a:solidFill>
                          <a:srgbClr val="FF0000"/>
                        </a:solidFill>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457200">
                <a:tc gridSpan="4">
                  <a:txBody>
                    <a:bodyPr/>
                    <a:lstStyle/>
                    <a:p>
                      <a:pPr marL="0" marR="0" lvl="0" indent="0" algn="ctr" rtl="0">
                        <a:spcBef>
                          <a:spcPts val="0"/>
                        </a:spcBef>
                        <a:spcAft>
                          <a:spcPts val="0"/>
                        </a:spcAft>
                        <a:buNone/>
                      </a:pPr>
                      <a:r>
                        <a:rPr lang="en-US" sz="2400" b="1" u="none" strike="noStrike" cap="none" dirty="0">
                          <a:solidFill>
                            <a:schemeClr val="tx1"/>
                          </a:solidFill>
                          <a:latin typeface="Times New Roman" panose="02020603050405020304" charset="0"/>
                          <a:cs typeface="Times New Roman" panose="02020603050405020304" charset="0"/>
                        </a:rPr>
                        <a:t>Topic :Artificial Intelligence in Software testing </a:t>
                      </a:r>
                      <a:endParaRPr lang="en-US" sz="2400" b="1" u="none" strike="noStrike" cap="none" dirty="0">
                        <a:solidFill>
                          <a:schemeClr val="tx1"/>
                        </a:solidFill>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hMerge="1">
                  <a:tcPr/>
                </a:tc>
                <a:tc hMerge="1">
                  <a:tcPr/>
                </a:tc>
              </a:tr>
              <a:tr h="457200">
                <a:tc gridSpan="2">
                  <a:txBody>
                    <a:bodyPr/>
                    <a:lstStyle/>
                    <a:p>
                      <a:pPr marL="0" marR="0" lvl="0" indent="0" algn="ctr" rtl="0">
                        <a:spcBef>
                          <a:spcPts val="0"/>
                        </a:spcBef>
                        <a:spcAft>
                          <a:spcPts val="0"/>
                        </a:spcAft>
                        <a:buNone/>
                      </a:pPr>
                      <a:r>
                        <a:rPr lang="en-US" sz="2400" b="1" u="none" strike="noStrike" cap="none">
                          <a:latin typeface="Times New Roman" panose="02020603050405020304" charset="0"/>
                          <a:cs typeface="Times New Roman" panose="02020603050405020304" charset="0"/>
                        </a:rPr>
                        <a:t>Roll No.</a:t>
                      </a:r>
                      <a:endParaRPr lang="en-US" sz="2400" b="1" u="none" strike="noStrike" cap="none">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gridSpan="2">
                  <a:txBody>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u="none" strike="noStrike" cap="none">
                          <a:latin typeface="Times New Roman" panose="02020603050405020304" charset="0"/>
                          <a:cs typeface="Times New Roman" panose="02020603050405020304" charset="0"/>
                        </a:rPr>
                        <a:t>Name of Student</a:t>
                      </a:r>
                      <a:endParaRPr lang="en-US" sz="2400" b="1" u="none" strike="noStrike" cap="none">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r>
              <a:tr h="369570">
                <a:tc gridSpan="2">
                  <a:txBody>
                    <a:bodyPr/>
                    <a:lstStyle/>
                    <a:p>
                      <a:pPr marL="0" marR="0" lvl="0" indent="0" algn="l" rtl="0">
                        <a:spcBef>
                          <a:spcPts val="0"/>
                        </a:spcBef>
                        <a:spcAft>
                          <a:spcPts val="0"/>
                        </a:spcAft>
                        <a:buNone/>
                      </a:pPr>
                      <a:r>
                        <a:rPr lang="en-IN" sz="2000" dirty="0">
                          <a:latin typeface="Times New Roman" panose="02020603050405020304" charset="0"/>
                          <a:cs typeface="Times New Roman" panose="02020603050405020304" charset="0"/>
                        </a:rPr>
                        <a:t>19</a:t>
                      </a:r>
                      <a:endParaRPr lang="en-IN" sz="2000" dirty="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gridSpan="2">
                  <a:txBody>
                    <a:bodyPr/>
                    <a:lstStyle/>
                    <a:p>
                      <a:pPr marL="0" marR="0" lvl="0" indent="0" algn="l" rtl="0">
                        <a:spcBef>
                          <a:spcPts val="0"/>
                        </a:spcBef>
                        <a:spcAft>
                          <a:spcPts val="0"/>
                        </a:spcAft>
                        <a:buNone/>
                      </a:pPr>
                      <a:r>
                        <a:rPr lang="en-IN" sz="2000" dirty="0">
                          <a:latin typeface="Times New Roman" panose="02020603050405020304" charset="0"/>
                          <a:cs typeface="Times New Roman" panose="02020603050405020304" charset="0"/>
                        </a:rPr>
                        <a:t>Nikita Pravin Chaudhari</a:t>
                      </a:r>
                      <a:endParaRPr lang="en-IN" sz="2000" dirty="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r>
              <a:tr h="370205">
                <a:tc gridSpan="2">
                  <a:txBody>
                    <a:bodyPr/>
                    <a:lstStyle/>
                    <a:p>
                      <a:pPr marL="0" marR="0" lvl="0" indent="0" algn="l" rtl="0">
                        <a:spcBef>
                          <a:spcPts val="0"/>
                        </a:spcBef>
                        <a:spcAft>
                          <a:spcPts val="0"/>
                        </a:spcAft>
                        <a:buNone/>
                      </a:pPr>
                      <a:r>
                        <a:rPr lang="en-US" sz="2000">
                          <a:latin typeface="Times New Roman" panose="02020603050405020304" charset="0"/>
                          <a:cs typeface="Times New Roman" panose="02020603050405020304" charset="0"/>
                        </a:rPr>
                        <a:t>30</a:t>
                      </a:r>
                      <a:endParaRPr lang="en-US" sz="200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gridSpan="2">
                  <a:txBody>
                    <a:bodyPr/>
                    <a:lstStyle/>
                    <a:p>
                      <a:pPr marL="0" marR="0" lvl="0" indent="0" algn="l" rtl="0">
                        <a:spcBef>
                          <a:spcPts val="0"/>
                        </a:spcBef>
                        <a:spcAft>
                          <a:spcPts val="0"/>
                        </a:spcAft>
                        <a:buNone/>
                      </a:pPr>
                      <a:r>
                        <a:rPr lang="en-IN" sz="2000" dirty="0">
                          <a:latin typeface="Times New Roman" panose="02020603050405020304" charset="0"/>
                          <a:cs typeface="Times New Roman" panose="02020603050405020304" charset="0"/>
                        </a:rPr>
                        <a:t>Disha </a:t>
                      </a:r>
                      <a:r>
                        <a:rPr lang="en-US" altLang="en-IN" sz="2000" dirty="0">
                          <a:latin typeface="Times New Roman" panose="02020603050405020304" charset="0"/>
                          <a:cs typeface="Times New Roman" panose="02020603050405020304" charset="0"/>
                        </a:rPr>
                        <a:t>Badal J</a:t>
                      </a:r>
                      <a:r>
                        <a:rPr lang="en-IN" sz="2000" dirty="0" err="1">
                          <a:latin typeface="Times New Roman" panose="02020603050405020304" charset="0"/>
                          <a:cs typeface="Times New Roman" panose="02020603050405020304" charset="0"/>
                        </a:rPr>
                        <a:t>u</a:t>
                      </a:r>
                      <a:r>
                        <a:rPr lang="en-US" altLang="en-IN" sz="2000" dirty="0" err="1">
                          <a:latin typeface="Times New Roman" panose="02020603050405020304" charset="0"/>
                          <a:cs typeface="Times New Roman" panose="02020603050405020304" charset="0"/>
                        </a:rPr>
                        <a:t>g</a:t>
                      </a:r>
                      <a:r>
                        <a:rPr lang="en-IN" sz="2000" dirty="0" err="1">
                          <a:latin typeface="Times New Roman" panose="02020603050405020304" charset="0"/>
                          <a:cs typeface="Times New Roman" panose="02020603050405020304" charset="0"/>
                        </a:rPr>
                        <a:t>alkar</a:t>
                      </a:r>
                      <a:r>
                        <a:rPr lang="en-IN" sz="2000" dirty="0">
                          <a:latin typeface="Times New Roman" panose="02020603050405020304" charset="0"/>
                          <a:cs typeface="Times New Roman" panose="02020603050405020304" charset="0"/>
                        </a:rPr>
                        <a:t> </a:t>
                      </a:r>
                      <a:endParaRPr lang="en-IN" sz="2000" dirty="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r>
              <a:tr h="398145">
                <a:tc gridSpan="2">
                  <a:txBody>
                    <a:bodyPr/>
                    <a:lstStyle/>
                    <a:p>
                      <a:pPr marL="0" marR="0" lvl="0" indent="0" algn="l" rtl="0">
                        <a:spcBef>
                          <a:spcPts val="0"/>
                        </a:spcBef>
                        <a:spcAft>
                          <a:spcPts val="0"/>
                        </a:spcAft>
                        <a:buNone/>
                      </a:pPr>
                      <a:r>
                        <a:rPr lang="en-US" sz="2000" b="0">
                          <a:solidFill>
                            <a:schemeClr val="tx1"/>
                          </a:solidFill>
                          <a:latin typeface="Times New Roman" panose="02020603050405020304" charset="0"/>
                          <a:cs typeface="Times New Roman" panose="02020603050405020304" charset="0"/>
                        </a:rPr>
                        <a:t>44</a:t>
                      </a:r>
                      <a:endParaRPr lang="en-US" sz="2000" b="0">
                        <a:solidFill>
                          <a:schemeClr val="tx1"/>
                        </a:solidFill>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gridSpan="2">
                  <a:txBody>
                    <a:bodyPr/>
                    <a:lstStyle/>
                    <a:p>
                      <a:pPr marL="0" marR="0" lvl="0" indent="0" algn="l" rtl="0">
                        <a:spcBef>
                          <a:spcPts val="0"/>
                        </a:spcBef>
                        <a:spcAft>
                          <a:spcPts val="0"/>
                        </a:spcAft>
                        <a:buNone/>
                      </a:pPr>
                      <a:r>
                        <a:rPr lang="en-IN" sz="2000" dirty="0">
                          <a:latin typeface="Times New Roman" panose="02020603050405020304" charset="0"/>
                          <a:cs typeface="Times New Roman" panose="02020603050405020304" charset="0"/>
                        </a:rPr>
                        <a:t>Siddhi Vijay More </a:t>
                      </a:r>
                      <a:endParaRPr lang="en-IN" sz="2000" dirty="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r>
              <a:tr h="398145">
                <a:tc gridSpan="2">
                  <a:txBody>
                    <a:bodyPr/>
                    <a:lstStyle/>
                    <a:p>
                      <a:pPr marL="0" marR="0" lvl="0" indent="0" algn="l" rtl="0">
                        <a:spcBef>
                          <a:spcPts val="0"/>
                        </a:spcBef>
                        <a:spcAft>
                          <a:spcPts val="0"/>
                        </a:spcAft>
                        <a:buNone/>
                      </a:pPr>
                      <a:r>
                        <a:rPr lang="en-US" sz="2000" b="0">
                          <a:solidFill>
                            <a:schemeClr val="tx1"/>
                          </a:solidFill>
                          <a:latin typeface="Times New Roman" panose="02020603050405020304" charset="0"/>
                          <a:cs typeface="Times New Roman" panose="02020603050405020304" charset="0"/>
                        </a:rPr>
                        <a:t>40</a:t>
                      </a:r>
                      <a:endParaRPr lang="en-US" sz="2000" b="0">
                        <a:solidFill>
                          <a:schemeClr val="tx1"/>
                        </a:solidFill>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gridSpan="2">
                  <a:txBody>
                    <a:bodyPr/>
                    <a:lstStyle/>
                    <a:p>
                      <a:pPr marL="0" marR="0" lvl="0" indent="0" algn="l" rtl="0">
                        <a:spcBef>
                          <a:spcPts val="0"/>
                        </a:spcBef>
                        <a:spcAft>
                          <a:spcPts val="0"/>
                        </a:spcAft>
                        <a:buNone/>
                      </a:pPr>
                      <a:r>
                        <a:rPr lang="en-IN" sz="2000" dirty="0">
                          <a:latin typeface="Times New Roman" panose="02020603050405020304" charset="0"/>
                          <a:cs typeface="Times New Roman" panose="02020603050405020304" charset="0"/>
                        </a:rPr>
                        <a:t>Mayuri</a:t>
                      </a:r>
                      <a:r>
                        <a:rPr lang="en-US" altLang="en-IN" sz="2000" dirty="0">
                          <a:latin typeface="Times New Roman" panose="02020603050405020304" charset="0"/>
                          <a:cs typeface="Times New Roman" panose="02020603050405020304" charset="0"/>
                        </a:rPr>
                        <a:t> Balkrushna</a:t>
                      </a:r>
                      <a:r>
                        <a:rPr lang="en-IN" sz="2000" dirty="0">
                          <a:latin typeface="Times New Roman" panose="02020603050405020304" charset="0"/>
                          <a:cs typeface="Times New Roman" panose="02020603050405020304" charset="0"/>
                        </a:rPr>
                        <a:t> Mali</a:t>
                      </a:r>
                      <a:endParaRPr lang="en-IN" sz="2000" dirty="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r>
              <a:tr h="440690">
                <a:tc gridSpan="2">
                  <a:txBody>
                    <a:bodyPr/>
                    <a:lstStyle/>
                    <a:p>
                      <a:pPr marL="0" marR="0" lvl="0" indent="0" algn="l" rtl="0">
                        <a:spcBef>
                          <a:spcPts val="0"/>
                        </a:spcBef>
                        <a:spcAft>
                          <a:spcPts val="0"/>
                        </a:spcAft>
                        <a:buNone/>
                      </a:pPr>
                      <a:endParaRPr sz="2200" b="1">
                        <a:solidFill>
                          <a:schemeClr val="dk2"/>
                        </a:solidFill>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c gridSpan="2">
                  <a:txBody>
                    <a:bodyPr/>
                    <a:lstStyle/>
                    <a:p>
                      <a:pPr marL="0" marR="0" lvl="0" indent="0" algn="l" rtl="0">
                        <a:spcBef>
                          <a:spcPts val="0"/>
                        </a:spcBef>
                        <a:spcAft>
                          <a:spcPts val="0"/>
                        </a:spcAft>
                        <a:buNone/>
                      </a:pPr>
                      <a:endParaRPr sz="1800" dirty="0">
                        <a:latin typeface="Times New Roman" panose="02020603050405020304" charset="0"/>
                        <a:cs typeface="Times New Roman" panose="0202060305040502030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cPr/>
                </a:tc>
              </a:tr>
            </a:tbl>
          </a:graphicData>
        </a:graphic>
      </p:graphicFrame>
      <p:pic>
        <p:nvPicPr>
          <p:cNvPr id="505" name="Google Shape;505;p13" descr="ssvpslogo.png"/>
          <p:cNvPicPr preferRelativeResize="0"/>
          <p:nvPr/>
        </p:nvPicPr>
        <p:blipFill rotWithShape="1">
          <a:blip r:embed="rId1"/>
          <a:srcRect/>
          <a:stretch>
            <a:fillRect/>
          </a:stretch>
        </p:blipFill>
        <p:spPr>
          <a:xfrm>
            <a:off x="381000" y="457200"/>
            <a:ext cx="1219200" cy="1627237"/>
          </a:xfrm>
          <a:prstGeom prst="rect">
            <a:avLst/>
          </a:prstGeom>
          <a:noFill/>
          <a:ln>
            <a:noFill/>
          </a:ln>
        </p:spPr>
      </p:pic>
      <p:sp>
        <p:nvSpPr>
          <p:cNvPr id="2" name="Text Box 1"/>
          <p:cNvSpPr txBox="1"/>
          <p:nvPr/>
        </p:nvSpPr>
        <p:spPr>
          <a:xfrm flipV="1">
            <a:off x="11932920" y="4008120"/>
            <a:ext cx="183515" cy="3729990"/>
          </a:xfrm>
          <a:prstGeom prst="rect">
            <a:avLst/>
          </a:prstGeom>
          <a:noFill/>
        </p:spPr>
        <p:txBody>
          <a:bodyPr wrap="square" rtlCol="0">
            <a:no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495"/>
              </a:spcBef>
              <a:spcAft>
                <a:spcPts val="0"/>
              </a:spcAft>
              <a:buClr>
                <a:schemeClr val="dk1"/>
              </a:buClr>
              <a:buSzPct val="100000"/>
              <a:buChar char="•"/>
            </a:pPr>
            <a:r>
              <a:rPr lang="en-US" dirty="0"/>
              <a:t>Abstract </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Introduction</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Literature Survey</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Information to Seminar topic</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Advantages and Disadvantages</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Conclusion</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Project Initiation : </a:t>
            </a:r>
            <a:endParaRPr dirty="0"/>
          </a:p>
          <a:p>
            <a:pPr marL="742950" lvl="0" indent="0" algn="l" rtl="0">
              <a:spcBef>
                <a:spcPts val="435"/>
              </a:spcBef>
              <a:spcAft>
                <a:spcPts val="0"/>
              </a:spcAft>
              <a:buNone/>
            </a:pPr>
            <a:r>
              <a:rPr lang="en-US" sz="2800" dirty="0"/>
              <a:t>6. 1 Description of problem statement.</a:t>
            </a:r>
            <a:endParaRPr sz="2800" dirty="0"/>
          </a:p>
          <a:p>
            <a:pPr marL="742950" lvl="0" indent="0" algn="l" rtl="0">
              <a:spcBef>
                <a:spcPts val="435"/>
              </a:spcBef>
              <a:spcAft>
                <a:spcPts val="0"/>
              </a:spcAft>
              <a:buNone/>
            </a:pPr>
            <a:r>
              <a:rPr lang="en-US" sz="2800" dirty="0"/>
              <a:t>6. 2 Scope and objectives.</a:t>
            </a:r>
            <a:endParaRPr sz="2800" dirty="0"/>
          </a:p>
          <a:p>
            <a:pPr marL="742950" lvl="0" indent="0" algn="l" rtl="0">
              <a:spcBef>
                <a:spcPts val="435"/>
              </a:spcBef>
              <a:spcAft>
                <a:spcPts val="0"/>
              </a:spcAft>
              <a:buNone/>
            </a:pPr>
            <a:r>
              <a:rPr lang="en-US" sz="2800" dirty="0"/>
              <a:t>6. 3 Stake holder</a:t>
            </a:r>
            <a:endParaRPr sz="2800" dirty="0"/>
          </a:p>
          <a:p>
            <a:pPr marL="742950" lvl="0" indent="0" algn="l" rtl="0">
              <a:spcBef>
                <a:spcPts val="435"/>
              </a:spcBef>
              <a:spcAft>
                <a:spcPts val="0"/>
              </a:spcAft>
              <a:buNone/>
            </a:pPr>
            <a:r>
              <a:rPr lang="en-US" sz="2800" dirty="0"/>
              <a:t>6. 4 seminar </a:t>
            </a:r>
            <a:r>
              <a:rPr lang="en-US" sz="2800" dirty="0" err="1"/>
              <a:t>exsicussion</a:t>
            </a:r>
            <a:r>
              <a:rPr lang="en-US" sz="2800" dirty="0"/>
              <a:t>  plan</a:t>
            </a:r>
            <a:endParaRPr sz="2800" dirty="0"/>
          </a:p>
          <a:p>
            <a:pPr marL="742950" lvl="0" indent="0" algn="l" rtl="0">
              <a:spcBef>
                <a:spcPts val="435"/>
              </a:spcBef>
              <a:spcAft>
                <a:spcPts val="0"/>
              </a:spcAft>
              <a:buNone/>
            </a:pPr>
            <a:r>
              <a:rPr lang="en-US" sz="2800" dirty="0"/>
              <a:t>6.5 Platform/ Equipment/ Resources identification.</a:t>
            </a:r>
            <a:endParaRPr sz="2800" dirty="0"/>
          </a:p>
          <a:p>
            <a:pPr marL="514350" lvl="0" indent="-483870" algn="l" rtl="0">
              <a:spcBef>
                <a:spcPts val="495"/>
              </a:spcBef>
              <a:spcAft>
                <a:spcPts val="0"/>
              </a:spcAft>
              <a:buClr>
                <a:schemeClr val="dk1"/>
              </a:buClr>
              <a:buSzPct val="100000"/>
              <a:buFont typeface="Arial" panose="020B0604020202020204"/>
              <a:buAutoNum type="arabicPeriod"/>
            </a:pPr>
            <a:r>
              <a:rPr lang="en-US" dirty="0"/>
              <a:t>Bibliography</a:t>
            </a:r>
            <a:endParaRPr dirty="0"/>
          </a:p>
          <a:p>
            <a:pPr marL="514350" lvl="0" indent="-483870" algn="l" rtl="0">
              <a:spcBef>
                <a:spcPts val="495"/>
              </a:spcBef>
              <a:spcAft>
                <a:spcPts val="0"/>
              </a:spcAft>
              <a:buClr>
                <a:schemeClr val="dk1"/>
              </a:buClr>
              <a:buSzPct val="100000"/>
              <a:buFont typeface="Arial" panose="020B0604020202020204"/>
              <a:buAutoNum type="arabicPeriod"/>
            </a:pPr>
            <a:r>
              <a:rPr lang="en-US" dirty="0"/>
              <a:t>References</a:t>
            </a:r>
            <a:endParaRPr dirty="0"/>
          </a:p>
          <a:p>
            <a:pPr marL="342900" lvl="0" indent="-185420" algn="l" rtl="0">
              <a:spcBef>
                <a:spcPts val="495"/>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dirty="0"/>
              <a:t>Contents</a:t>
            </a:r>
            <a:endParaRPr sz="3200" dirty="0"/>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Abstract</a:t>
            </a:r>
            <a:endParaRPr lang="en-US" sz="3200"/>
          </a:p>
        </p:txBody>
      </p:sp>
      <p:sp>
        <p:nvSpPr>
          <p:cNvPr id="518" name="Google Shape;518;p1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900" dirty="0"/>
              <a:t>   Artificial Intelligence (AI) is changing software testing by helping teams find defects faster, generate test cases, and analyze test results. Traditional testing often requires substantial manual effort and may miss complex defects. AI based tools use techniques such as machine learning, natural language processing, and predictive analytics to support test planning, test execution, visual testing, and defect prediction. This seminar explains the role of AI in software testing, its common applications, benefits, limitations, and the resources needed to begin a small project. AI does not completely replace testers; human review remains important for correctness, security, and business understanding.</a:t>
            </a:r>
            <a:endParaRPr sz="1900" dirty="0"/>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1. Introduction</a:t>
            </a:r>
            <a:endParaRPr lang="en-US" sz="3200"/>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900" dirty="0"/>
              <a:t>   Software testing is the process of checking a software application to identify defects and verify that it meets requirements. It improves quality, reliability, security, and user satisfaction. AI in software testing means using AI techniques to assist or automate testing activities. AI tools can learn patterns from code, requirements, test history, and application </a:t>
            </a:r>
            <a:r>
              <a:rPr lang="en-US" sz="1900" dirty="0" err="1"/>
              <a:t>behaviour</a:t>
            </a:r>
            <a:r>
              <a:rPr lang="en-US" sz="1900" dirty="0"/>
              <a:t>. They may recommend test cases, identify risky modules, maintain automated tests when interfaces change, and group similar failures. </a:t>
            </a:r>
            <a:endParaRPr sz="2500" dirty="0"/>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pic>
        <p:nvPicPr>
          <p:cNvPr id="2" name="Picture 1" descr="WhatsApp Image 2026-10-16 at 11.40.21 AM"/>
          <p:cNvPicPr>
            <a:picLocks noChangeAspect="1"/>
          </p:cNvPicPr>
          <p:nvPr/>
        </p:nvPicPr>
        <p:blipFill>
          <a:blip r:embed="rId1"/>
          <a:stretch>
            <a:fillRect/>
          </a:stretch>
        </p:blipFill>
        <p:spPr>
          <a:xfrm>
            <a:off x="2118360" y="3429000"/>
            <a:ext cx="4996180" cy="25990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2. Literature Survey</a:t>
            </a:r>
            <a:endParaRPr lang="en-US" sz="3200"/>
          </a:p>
        </p:txBody>
      </p:sp>
      <p:sp>
        <p:nvSpPr>
          <p:cNvPr id="532" name="Google Shape;532;p17"/>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endParaRPr lang="en-US" sz="1900"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pic>
        <p:nvPicPr>
          <p:cNvPr id="3" name="Picture 2" descr="WhatsApp Image 2026-10-16 at 12.25.01 PM"/>
          <p:cNvPicPr>
            <a:picLocks noChangeAspect="1"/>
          </p:cNvPicPr>
          <p:nvPr/>
        </p:nvPicPr>
        <p:blipFill>
          <a:blip r:embed="rId1"/>
          <a:stretch>
            <a:fillRect/>
          </a:stretch>
        </p:blipFill>
        <p:spPr>
          <a:xfrm>
            <a:off x="457200" y="1219200"/>
            <a:ext cx="8229600" cy="53333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457200" y="312420"/>
            <a:ext cx="8229600" cy="6240780"/>
          </a:xfrm>
        </p:spPr>
        <p:txBody>
          <a:bodyPr/>
          <a:p>
            <a:endParaRPr lang="en-US"/>
          </a:p>
        </p:txBody>
      </p:sp>
      <p:sp>
        <p:nvSpPr>
          <p:cNvPr id="4" name="Slide Number Placeholder 3"/>
          <p:cNvSpPr>
            <a:spLocks noGrp="1"/>
          </p:cNvSpPr>
          <p:nvPr>
            <p:ph type="sldNum" idx="12"/>
          </p:nvPr>
        </p:nvSpPr>
        <p:spPr/>
        <p:txBody>
          <a:bodyPr/>
          <a:p>
            <a:pPr marL="0" lvl="0" indent="0" algn="ctr" rtl="0">
              <a:spcBef>
                <a:spcPts val="0"/>
              </a:spcBef>
              <a:spcAft>
                <a:spcPts val="0"/>
              </a:spcAft>
              <a:buNone/>
            </a:pPr>
            <a:fld id="{00000000-1234-1234-1234-123412341234}" type="slidenum">
              <a:rPr lang="en-US"/>
            </a:fld>
            <a:endParaRPr lang="en-US"/>
          </a:p>
        </p:txBody>
      </p:sp>
      <p:pic>
        <p:nvPicPr>
          <p:cNvPr id="5" name="Picture 4" descr="WhatsApp Image 2026-10-16 at 12.25.00 PM"/>
          <p:cNvPicPr>
            <a:picLocks noChangeAspect="1"/>
          </p:cNvPicPr>
          <p:nvPr/>
        </p:nvPicPr>
        <p:blipFill>
          <a:blip r:embed="rId1"/>
          <a:srcRect l="923" t="1607" r="863"/>
          <a:stretch>
            <a:fillRect/>
          </a:stretch>
        </p:blipFill>
        <p:spPr>
          <a:xfrm>
            <a:off x="457200" y="311785"/>
            <a:ext cx="8313420" cy="62414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457200" y="389890"/>
            <a:ext cx="8229600" cy="6163310"/>
          </a:xfrm>
        </p:spPr>
        <p:txBody>
          <a:bodyPr/>
          <a:p>
            <a:endParaRPr lang="en-US"/>
          </a:p>
        </p:txBody>
      </p:sp>
      <p:sp>
        <p:nvSpPr>
          <p:cNvPr id="4" name="Slide Number Placeholder 3"/>
          <p:cNvSpPr>
            <a:spLocks noGrp="1"/>
          </p:cNvSpPr>
          <p:nvPr>
            <p:ph type="sldNum" idx="12"/>
          </p:nvPr>
        </p:nvSpPr>
        <p:spPr/>
        <p:txBody>
          <a:bodyPr/>
          <a:p>
            <a:pPr marL="0" lvl="0" indent="0" algn="ctr" rtl="0">
              <a:spcBef>
                <a:spcPts val="0"/>
              </a:spcBef>
              <a:spcAft>
                <a:spcPts val="0"/>
              </a:spcAft>
              <a:buNone/>
            </a:pPr>
            <a:fld id="{00000000-1234-1234-1234-123412341234}" type="slidenum">
              <a:rPr lang="en-US"/>
            </a:fld>
            <a:endParaRPr lang="en-US"/>
          </a:p>
        </p:txBody>
      </p:sp>
      <p:pic>
        <p:nvPicPr>
          <p:cNvPr id="5" name="Picture 4" descr="WhatsApp Image 2026-10-16 at 12.28.23 PM"/>
          <p:cNvPicPr>
            <a:picLocks noChangeAspect="1"/>
          </p:cNvPicPr>
          <p:nvPr/>
        </p:nvPicPr>
        <p:blipFill>
          <a:blip r:embed="rId1"/>
          <a:srcRect l="5000" t="25385" r="5000" b="6237"/>
          <a:stretch>
            <a:fillRect/>
          </a:stretch>
        </p:blipFill>
        <p:spPr>
          <a:xfrm>
            <a:off x="457200" y="389255"/>
            <a:ext cx="8229600" cy="6085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3. Information to seminar topic</a:t>
            </a:r>
            <a:endParaRPr lang="en-US" sz="3200"/>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203200" lvl="0" indent="0" algn="just">
              <a:spcBef>
                <a:spcPts val="0"/>
              </a:spcBef>
              <a:buSzPts val="3200"/>
              <a:buNone/>
            </a:pPr>
            <a:r>
              <a:rPr lang="en-US" sz="2500" b="1" dirty="0"/>
              <a:t>1. Test-case generation</a:t>
            </a:r>
            <a:r>
              <a:rPr lang="en-US" sz="2500" dirty="0"/>
              <a:t>- suggests test scenarios from requirements, code, or          existing tests.</a:t>
            </a:r>
            <a:endParaRPr lang="en-US" sz="2500" dirty="0"/>
          </a:p>
          <a:p>
            <a:pPr marL="660400" lvl="0" indent="-457200" algn="just">
              <a:spcBef>
                <a:spcPts val="0"/>
              </a:spcBef>
              <a:buSzPts val="3200"/>
              <a:buAutoNum type="arabicPeriod"/>
            </a:pPr>
            <a:endParaRPr lang="en-US" sz="2500" dirty="0"/>
          </a:p>
          <a:p>
            <a:pPr marL="203200" lvl="0" indent="0" algn="just">
              <a:spcBef>
                <a:spcPts val="0"/>
              </a:spcBef>
              <a:buSzPts val="3200"/>
              <a:buNone/>
            </a:pPr>
            <a:r>
              <a:rPr lang="en-US" sz="2500" b="1" dirty="0"/>
              <a:t>2. Test-data generation-</a:t>
            </a:r>
            <a:r>
              <a:rPr lang="en-US" sz="2500" dirty="0"/>
              <a:t> creates varied inputs, including boundary and unusual values.</a:t>
            </a:r>
            <a:endParaRPr lang="en-US" sz="2500" dirty="0"/>
          </a:p>
          <a:p>
            <a:pPr marL="203200" lvl="0" indent="0" algn="just">
              <a:spcBef>
                <a:spcPts val="0"/>
              </a:spcBef>
              <a:buSzPts val="3200"/>
              <a:buNone/>
            </a:pPr>
            <a:endParaRPr lang="en-US" sz="2500" dirty="0"/>
          </a:p>
          <a:p>
            <a:pPr marL="342900" lvl="0" indent="-139700" algn="just">
              <a:spcBef>
                <a:spcPts val="0"/>
              </a:spcBef>
              <a:buSzPts val="3200"/>
              <a:buNone/>
            </a:pPr>
            <a:r>
              <a:rPr lang="en-US" sz="2500" b="1" dirty="0"/>
              <a:t>3. Test </a:t>
            </a:r>
            <a:r>
              <a:rPr lang="en-US" sz="2500" b="1" dirty="0" err="1"/>
              <a:t>prioritisation-</a:t>
            </a:r>
            <a:r>
              <a:rPr lang="en-US" sz="2500" dirty="0"/>
              <a:t> ranks tests based on risk, recent changes, and past   failures. </a:t>
            </a:r>
            <a:endParaRPr lang="en-US" sz="2500" dirty="0"/>
          </a:p>
          <a:p>
            <a:pPr marL="342900" lvl="0" indent="-139700" algn="just">
              <a:spcBef>
                <a:spcPts val="0"/>
              </a:spcBef>
              <a:buSzPts val="3200"/>
              <a:buNone/>
            </a:pPr>
            <a:endParaRPr lang="en-US" sz="2500" dirty="0"/>
          </a:p>
          <a:p>
            <a:pPr marL="342900" lvl="0" indent="-139700" algn="just">
              <a:spcBef>
                <a:spcPts val="0"/>
              </a:spcBef>
              <a:buSzPts val="3200"/>
              <a:buNone/>
            </a:pPr>
            <a:r>
              <a:rPr lang="en-US" sz="2500" b="1" dirty="0"/>
              <a:t>4. Defect prediction</a:t>
            </a:r>
            <a:r>
              <a:rPr lang="en-US" sz="2500" dirty="0"/>
              <a:t>- highlights modules that may need extra testing.</a:t>
            </a:r>
            <a:endParaRPr lang="en-US" sz="2500" dirty="0"/>
          </a:p>
          <a:p>
            <a:pPr marL="342900" lvl="0" indent="-139700" algn="just">
              <a:spcBef>
                <a:spcPts val="0"/>
              </a:spcBef>
              <a:buSzPts val="3200"/>
              <a:buNone/>
            </a:pPr>
            <a:endParaRPr lang="en-US" sz="2500" dirty="0"/>
          </a:p>
          <a:p>
            <a:pPr marL="342900" lvl="0" indent="-139700" algn="just">
              <a:spcBef>
                <a:spcPts val="0"/>
              </a:spcBef>
              <a:buSzPts val="3200"/>
              <a:buNone/>
            </a:pPr>
            <a:r>
              <a:rPr lang="en-US" sz="2500" b="1" dirty="0"/>
              <a:t>5. Test automation maintenance</a:t>
            </a:r>
            <a:r>
              <a:rPr lang="en-US" sz="2500" dirty="0"/>
              <a:t>- helps identify changed UI elements or broken locators. </a:t>
            </a:r>
            <a:endParaRPr lang="en-US" sz="2500" dirty="0"/>
          </a:p>
          <a:p>
            <a:pPr marL="342900" lvl="0" indent="-139700" algn="just">
              <a:spcBef>
                <a:spcPts val="0"/>
              </a:spcBef>
              <a:buSzPts val="3200"/>
              <a:buNone/>
            </a:pPr>
            <a:endParaRPr lang="en-US" sz="2500" dirty="0"/>
          </a:p>
          <a:p>
            <a:pPr marL="342900" lvl="0" indent="-139700" algn="just">
              <a:spcBef>
                <a:spcPts val="0"/>
              </a:spcBef>
              <a:buSzPts val="3200"/>
              <a:buNone/>
            </a:pPr>
            <a:r>
              <a:rPr lang="en-US" sz="2500" b="1" dirty="0"/>
              <a:t>6. Visual testing</a:t>
            </a:r>
            <a:r>
              <a:rPr lang="en-US" sz="2500" dirty="0"/>
              <a:t>- compares screenshots to detect layout or appearance changes.</a:t>
            </a:r>
            <a:endParaRPr lang="en-US" sz="2500" dirty="0"/>
          </a:p>
          <a:p>
            <a:pPr marL="342900" lvl="0" indent="-139700" algn="just">
              <a:spcBef>
                <a:spcPts val="0"/>
              </a:spcBef>
              <a:buSzPts val="3200"/>
              <a:buNone/>
            </a:pPr>
            <a:endParaRPr lang="en-US" sz="2500" dirty="0"/>
          </a:p>
          <a:p>
            <a:pPr marL="365760" lvl="0" indent="-146050" algn="just" eaLnBrk="1" fontAlgn="auto" latinLnBrk="0" hangingPunct="1">
              <a:lnSpc>
                <a:spcPct val="100000"/>
              </a:lnSpc>
              <a:spcBef>
                <a:spcPts val="0"/>
              </a:spcBef>
              <a:buSzPts val="3200"/>
              <a:buNone/>
            </a:pPr>
            <a:r>
              <a:rPr lang="en-US" sz="2500" b="1" dirty="0"/>
              <a:t>7. Failure analysis</a:t>
            </a:r>
            <a:r>
              <a:rPr lang="en-US" sz="2500" dirty="0"/>
              <a:t>- groups logs and failures to help find likely root causes. Typical workflow: collect requirements and test history → select an AI-enabled tool → generate or </a:t>
            </a:r>
            <a:r>
              <a:rPr lang="en-US" sz="2500" dirty="0" err="1"/>
              <a:t>prioritise</a:t>
            </a:r>
            <a:r>
              <a:rPr lang="en-US" sz="2500" dirty="0"/>
              <a:t> tests → execute tests → review results manually → fix defects → update test data and models.</a:t>
            </a:r>
            <a:endParaRPr sz="2500" dirty="0"/>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4. Advantages / Disadvantages</a:t>
            </a:r>
            <a:endParaRPr lang="en-US" sz="3200"/>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342900" lvl="0" indent="-139700" algn="just">
              <a:spcBef>
                <a:spcPts val="0"/>
              </a:spcBef>
              <a:buSzPts val="3200"/>
              <a:buNone/>
            </a:pPr>
            <a:r>
              <a:rPr lang="en-US" sz="1900" b="1" dirty="0"/>
              <a:t>Advantages :-</a:t>
            </a:r>
            <a:endParaRPr lang="en-US" sz="1900" b="1" dirty="0"/>
          </a:p>
          <a:p>
            <a:pPr marL="342900" lvl="0" indent="-139700" algn="just">
              <a:spcBef>
                <a:spcPts val="0"/>
              </a:spcBef>
              <a:buSzPts val="3200"/>
              <a:buNone/>
            </a:pPr>
            <a:r>
              <a:rPr lang="en-US" sz="1900" dirty="0"/>
              <a:t>• Reduces repetitive manual work and can save testing time. </a:t>
            </a:r>
            <a:endParaRPr lang="en-US" sz="1900" dirty="0"/>
          </a:p>
          <a:p>
            <a:pPr marL="342900" lvl="0" indent="-139700" algn="just">
              <a:spcBef>
                <a:spcPts val="0"/>
              </a:spcBef>
              <a:buSzPts val="3200"/>
              <a:buNone/>
            </a:pPr>
            <a:r>
              <a:rPr lang="en-US" sz="1900" dirty="0"/>
              <a:t>• Helps create more test scenarios and explore edge cases.</a:t>
            </a:r>
            <a:endParaRPr lang="en-US" sz="1900" dirty="0"/>
          </a:p>
          <a:p>
            <a:pPr marL="342900" lvl="0" indent="-139700" algn="just">
              <a:spcBef>
                <a:spcPts val="0"/>
              </a:spcBef>
              <a:buSzPts val="3200"/>
              <a:buNone/>
            </a:pPr>
            <a:r>
              <a:rPr lang="en-US" sz="1900" dirty="0"/>
              <a:t> • </a:t>
            </a:r>
            <a:r>
              <a:rPr lang="en-US" sz="1900" dirty="0" err="1"/>
              <a:t>Prioritises</a:t>
            </a:r>
            <a:r>
              <a:rPr lang="en-US" sz="1900" dirty="0"/>
              <a:t> high-risk areas and supports faster feedback. </a:t>
            </a:r>
            <a:endParaRPr lang="en-US" sz="1900" dirty="0"/>
          </a:p>
          <a:p>
            <a:pPr marL="342900" lvl="0" indent="-139700" algn="just">
              <a:spcBef>
                <a:spcPts val="0"/>
              </a:spcBef>
              <a:buSzPts val="3200"/>
              <a:buNone/>
            </a:pPr>
            <a:r>
              <a:rPr lang="en-US" sz="1900" dirty="0"/>
              <a:t>• Can </a:t>
            </a:r>
            <a:r>
              <a:rPr lang="en-US" sz="1900" dirty="0" err="1"/>
              <a:t>analyse</a:t>
            </a:r>
            <a:r>
              <a:rPr lang="en-US" sz="1900" dirty="0"/>
              <a:t> large volumes of logs and test results. </a:t>
            </a:r>
            <a:endParaRPr lang="en-US" sz="1900" dirty="0"/>
          </a:p>
          <a:p>
            <a:pPr marL="342900" lvl="0" indent="-139700" algn="just">
              <a:spcBef>
                <a:spcPts val="0"/>
              </a:spcBef>
              <a:buSzPts val="3200"/>
              <a:buNone/>
            </a:pPr>
            <a:r>
              <a:rPr lang="en-US" sz="1900" dirty="0"/>
              <a:t>• May reduce test-maintenance effort in changing applications.</a:t>
            </a:r>
            <a:endParaRPr lang="en-US" sz="1900" dirty="0"/>
          </a:p>
          <a:p>
            <a:pPr marL="342900" lvl="0" indent="-139700" algn="just">
              <a:spcBef>
                <a:spcPts val="0"/>
              </a:spcBef>
              <a:buSzPts val="3200"/>
              <a:buNone/>
            </a:pPr>
            <a:endParaRPr lang="en-US" sz="1900" dirty="0"/>
          </a:p>
          <a:p>
            <a:pPr marL="342900" lvl="0" indent="-139700" algn="just">
              <a:spcBef>
                <a:spcPts val="0"/>
              </a:spcBef>
              <a:buSzPts val="3200"/>
              <a:buNone/>
            </a:pPr>
            <a:r>
              <a:rPr lang="en-US" sz="1900" b="1" dirty="0"/>
              <a:t> Disadvantages :-</a:t>
            </a:r>
            <a:endParaRPr lang="en-US" sz="1900" b="1" dirty="0"/>
          </a:p>
          <a:p>
            <a:pPr marL="342900" lvl="0" indent="-139700" algn="just">
              <a:spcBef>
                <a:spcPts val="0"/>
              </a:spcBef>
              <a:buSzPts val="3200"/>
              <a:buNone/>
            </a:pPr>
            <a:r>
              <a:rPr lang="en-US" sz="1900" dirty="0"/>
              <a:t>• Tools may be costly and require </a:t>
            </a:r>
            <a:r>
              <a:rPr lang="en-US" sz="1900" dirty="0" err="1"/>
              <a:t>specialised</a:t>
            </a:r>
            <a:r>
              <a:rPr lang="en-US" sz="1900" dirty="0"/>
              <a:t> skills. </a:t>
            </a:r>
            <a:endParaRPr lang="en-US" sz="1900" dirty="0"/>
          </a:p>
          <a:p>
            <a:pPr marL="342900" lvl="0" indent="-139700" algn="just">
              <a:spcBef>
                <a:spcPts val="0"/>
              </a:spcBef>
              <a:buSzPts val="3200"/>
              <a:buNone/>
            </a:pPr>
            <a:r>
              <a:rPr lang="en-US" sz="1900" dirty="0"/>
              <a:t>• Poor or biased data can produce unreliable suggestions.</a:t>
            </a:r>
            <a:endParaRPr lang="en-US" sz="1900" dirty="0"/>
          </a:p>
          <a:p>
            <a:pPr marL="342900" lvl="0" indent="-139700" algn="just">
              <a:spcBef>
                <a:spcPts val="0"/>
              </a:spcBef>
              <a:buSzPts val="3200"/>
              <a:buNone/>
            </a:pPr>
            <a:r>
              <a:rPr lang="en-US" sz="1900" dirty="0"/>
              <a:t>• AI can generate incorrect tests or false alarms.</a:t>
            </a:r>
            <a:endParaRPr lang="en-US" sz="1900" dirty="0"/>
          </a:p>
          <a:p>
            <a:pPr marL="342900" lvl="0" indent="-139700" algn="just">
              <a:spcBef>
                <a:spcPts val="0"/>
              </a:spcBef>
              <a:buSzPts val="3200"/>
              <a:buNone/>
            </a:pPr>
            <a:r>
              <a:rPr lang="en-US" sz="1900" dirty="0"/>
              <a:t>• Sensitive code, test data, or logs may create privacy risks. </a:t>
            </a:r>
            <a:endParaRPr lang="en-US" sz="1900" dirty="0"/>
          </a:p>
          <a:p>
            <a:pPr marL="342900" lvl="0" indent="-139700" algn="just">
              <a:spcBef>
                <a:spcPts val="0"/>
              </a:spcBef>
              <a:buSzPts val="3200"/>
              <a:buNone/>
            </a:pPr>
            <a:r>
              <a:rPr lang="en-US" sz="1900" dirty="0"/>
              <a:t>• Results need human verification; AI cannot guarantee bug-free software.</a:t>
            </a:r>
            <a:endParaRPr sz="1900" dirty="0"/>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5. Conclusion</a:t>
            </a:r>
            <a:endParaRPr lang="en-US" sz="3200"/>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900" dirty="0"/>
              <a:t>  AI is becoming a useful assistant in software testing. It can support test-case generation, defect prediction, test prioritization, visual testing, and failure analysis. These applications may improve speed and coverage when used with a suitable process and reliable data. However, AI outputs can be inaccurate, and privacy, cost, explainability, and maintenance must be considered. The best approach is to combine AI tools with the judgement and domain knowledge of software testers. AI supports testing; it does not guarantee that every defect will be found.</a:t>
            </a:r>
            <a:endParaRPr sz="1900" dirty="0"/>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6. Project Initiation</a:t>
            </a:r>
            <a:endParaRPr lang="en-US" sz="3200"/>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r>
              <a:rPr lang="en-US" sz="1900" b="1" dirty="0"/>
              <a:t>Proposed mini-project:-</a:t>
            </a:r>
            <a:endParaRPr lang="en-US" sz="1900" b="1" dirty="0"/>
          </a:p>
          <a:p>
            <a:pPr marL="342900" lvl="0" indent="-139700" algn="just">
              <a:spcBef>
                <a:spcPts val="0"/>
              </a:spcBef>
              <a:buSzPts val="3200"/>
              <a:buNone/>
            </a:pPr>
            <a:r>
              <a:rPr lang="en-US" sz="1900" dirty="0"/>
              <a:t>  AI-Assisted Test Case Recommendation. The project will take a small sample software requirement or feature description and produce a list of suggested test scenarios with expected results. A tester will review and approve the suggestions before execution. Proposed demonstration: use a sample login or registration feature; prepare normal, invalid, boundary, and security-related test scenarios; compare AI suggested cases with manually prepared cases; record useful suggestions and errors. This is a prototype for learning and evaluation, not a production testing platform</a:t>
            </a:r>
            <a:endParaRPr sz="1900" dirty="0"/>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lvl="0">
              <a:buSzPct val="100000"/>
            </a:pPr>
            <a:r>
              <a:rPr lang="en-US" sz="3600" dirty="0"/>
              <a:t>6.1 Description of problem statement. identification.</a:t>
            </a:r>
            <a:endParaRPr sz="3600" dirty="0"/>
          </a:p>
        </p:txBody>
      </p:sp>
      <p:sp>
        <p:nvSpPr>
          <p:cNvPr id="567" name="Google Shape;567;p22"/>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lvl="0" indent="0" algn="just">
              <a:spcBef>
                <a:spcPts val="0"/>
              </a:spcBef>
              <a:buSzPts val="3200"/>
              <a:buFont typeface="Arial" panose="020B0604020202020204" pitchFamily="34" charset="0"/>
              <a:buNone/>
            </a:pPr>
            <a:r>
              <a:rPr lang="en-US" sz="1900" b="1" dirty="0"/>
              <a:t>Problem statement:-</a:t>
            </a:r>
            <a:endParaRPr lang="en-US" sz="1900" b="1" dirty="0"/>
          </a:p>
          <a:p>
            <a:pPr marL="342900" lvl="0" indent="-139700" algn="just">
              <a:spcBef>
                <a:spcPts val="0"/>
              </a:spcBef>
              <a:buSzPts val="3200"/>
              <a:buNone/>
            </a:pPr>
            <a:r>
              <a:rPr lang="en-US" sz="1900" dirty="0"/>
              <a:t>  Manual preparation and maintenance of software test cases can be time-consuming. Testers may overlook boundary conditions or unusual user inputs, especially when requirements change frequently. Repeatedly reviewing large numbers of test results can also delay defect investigation. Proposed solution: Develop a small AI-assisted prototype that accepts a clearly defined requirement and suggests relevant test cases, including positive, negative, and boundary scenarios. The tester checks the cases, edits them when necessary, and records whether they are useful. Expected outcome: A demonstrable set of AI-assisted test cases and a simple evaluation of their relevance, completeness, and accuracy. The prototype will not claim to detect all defects automatically</a:t>
            </a:r>
            <a:r>
              <a:rPr lang="en-US" sz="2500" dirty="0"/>
              <a:t>.</a:t>
            </a:r>
            <a:endParaRPr sz="2500" dirty="0"/>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l" rtl="0">
              <a:spcBef>
                <a:spcPts val="0"/>
              </a:spcBef>
              <a:spcAft>
                <a:spcPts val="0"/>
              </a:spcAft>
              <a:buClr>
                <a:srgbClr val="002060"/>
              </a:buClr>
              <a:buSzPct val="100000"/>
              <a:buFont typeface="Arial" panose="020B0604020202020204"/>
              <a:buNone/>
            </a:pPr>
            <a:endParaRPr sz="3600"/>
          </a:p>
          <a:p>
            <a:pPr marL="0" lvl="0" indent="0" algn="ctr" rtl="0">
              <a:spcBef>
                <a:spcPts val="0"/>
              </a:spcBef>
              <a:spcAft>
                <a:spcPts val="0"/>
              </a:spcAft>
              <a:buClr>
                <a:srgbClr val="002060"/>
              </a:buClr>
              <a:buSzPct val="100000"/>
              <a:buFont typeface="Arial" panose="020B0604020202020204"/>
              <a:buNone/>
            </a:pPr>
            <a:r>
              <a:rPr lang="en-US" sz="3600"/>
              <a:t>6. 2 Scope and objectives.</a:t>
            </a:r>
            <a:endParaRPr sz="3600"/>
          </a:p>
          <a:p>
            <a:pPr marL="0" lvl="0" indent="0" algn="l" rtl="0">
              <a:spcBef>
                <a:spcPts val="0"/>
              </a:spcBef>
              <a:spcAft>
                <a:spcPts val="0"/>
              </a:spcAft>
              <a:buClr>
                <a:srgbClr val="002060"/>
              </a:buClr>
              <a:buSzPct val="100000"/>
              <a:buFont typeface="Arial" panose="020B0604020202020204"/>
              <a:buNone/>
            </a:pPr>
            <a:endParaRPr sz="3600"/>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900" b="1" dirty="0"/>
              <a:t>Scope:-</a:t>
            </a:r>
            <a:endParaRPr lang="en-US" sz="1900" b="1" dirty="0"/>
          </a:p>
          <a:p>
            <a:pPr marL="342900" lvl="0" indent="-139700" algn="just">
              <a:spcBef>
                <a:spcPts val="0"/>
              </a:spcBef>
              <a:buSzPts val="3200"/>
              <a:buNone/>
            </a:pPr>
            <a:r>
              <a:rPr lang="en-US" sz="1900" dirty="0"/>
              <a:t>1. Focus on one small web feature, such as login or registration.</a:t>
            </a:r>
            <a:endParaRPr lang="en-US" sz="1900" dirty="0"/>
          </a:p>
          <a:p>
            <a:pPr marL="342900" lvl="0" indent="-139700" algn="just">
              <a:spcBef>
                <a:spcPts val="0"/>
              </a:spcBef>
              <a:buSzPts val="3200"/>
              <a:buNone/>
            </a:pPr>
            <a:r>
              <a:rPr lang="en-US" sz="1900" dirty="0"/>
              <a:t>2. Generate suggested functional test cases from a short requirement.</a:t>
            </a:r>
            <a:endParaRPr lang="en-US" sz="1900" dirty="0"/>
          </a:p>
          <a:p>
            <a:pPr marL="342900" lvl="0" indent="-139700" algn="just">
              <a:spcBef>
                <a:spcPts val="0"/>
              </a:spcBef>
              <a:buSzPts val="3200"/>
              <a:buNone/>
            </a:pPr>
            <a:r>
              <a:rPr lang="en-US" sz="1900" dirty="0"/>
              <a:t>3. Include positive, negative, and boundary-value scenarios. </a:t>
            </a:r>
            <a:endParaRPr lang="en-US" sz="1900" dirty="0"/>
          </a:p>
          <a:p>
            <a:pPr marL="342900" lvl="0" indent="-139700" algn="just">
              <a:spcBef>
                <a:spcPts val="0"/>
              </a:spcBef>
              <a:buSzPts val="3200"/>
              <a:buNone/>
            </a:pPr>
            <a:r>
              <a:rPr lang="en-US" sz="1900" dirty="0"/>
              <a:t>4. Allow manual review and editing of suggestions. </a:t>
            </a:r>
            <a:endParaRPr lang="en-US" sz="1900" dirty="0"/>
          </a:p>
          <a:p>
            <a:pPr marL="342900" lvl="0" indent="-139700" algn="just">
              <a:spcBef>
                <a:spcPts val="0"/>
              </a:spcBef>
              <a:buSzPts val="3200"/>
              <a:buNone/>
            </a:pPr>
            <a:r>
              <a:rPr lang="en-US" sz="1900" dirty="0"/>
              <a:t>5. Compare AI suggestions with a small manually prepared test set.</a:t>
            </a:r>
            <a:endParaRPr lang="en-US" sz="1900" dirty="0"/>
          </a:p>
          <a:p>
            <a:pPr marL="342900" lvl="0" indent="-139700" algn="just">
              <a:spcBef>
                <a:spcPts val="0"/>
              </a:spcBef>
              <a:buSzPts val="3200"/>
              <a:buNone/>
            </a:pPr>
            <a:endParaRPr lang="en-US" sz="1900" dirty="0"/>
          </a:p>
          <a:p>
            <a:pPr marL="342900" lvl="0" indent="-139700" algn="just">
              <a:spcBef>
                <a:spcPts val="0"/>
              </a:spcBef>
              <a:buSzPts val="3200"/>
              <a:buNone/>
            </a:pPr>
            <a:r>
              <a:rPr lang="en-US" sz="1900" b="1" dirty="0"/>
              <a:t>Objectives:-</a:t>
            </a:r>
            <a:endParaRPr lang="en-US" sz="1900" b="1" dirty="0"/>
          </a:p>
          <a:p>
            <a:pPr marL="342900" lvl="0" indent="-139700" algn="just">
              <a:spcBef>
                <a:spcPts val="0"/>
              </a:spcBef>
              <a:buSzPts val="3200"/>
              <a:buNone/>
            </a:pPr>
            <a:r>
              <a:rPr lang="en-US" sz="1900" dirty="0"/>
              <a:t> 1. Understand the role of AI in software testing.</a:t>
            </a:r>
            <a:endParaRPr lang="en-US" sz="1900" dirty="0"/>
          </a:p>
          <a:p>
            <a:pPr marL="342900" lvl="0" indent="-139700" algn="just">
              <a:spcBef>
                <a:spcPts val="0"/>
              </a:spcBef>
              <a:buSzPts val="3200"/>
              <a:buNone/>
            </a:pPr>
            <a:r>
              <a:rPr lang="en-US" sz="1900" dirty="0"/>
              <a:t> 2. Reduce repetitive effort in drafting test cases.</a:t>
            </a:r>
            <a:endParaRPr lang="en-US" sz="1900" dirty="0"/>
          </a:p>
          <a:p>
            <a:pPr marL="342900" lvl="0" indent="-139700" algn="just">
              <a:spcBef>
                <a:spcPts val="0"/>
              </a:spcBef>
              <a:buSzPts val="3200"/>
              <a:buNone/>
            </a:pPr>
            <a:r>
              <a:rPr lang="en-US" sz="1900" dirty="0"/>
              <a:t> 3. Identify missing scenarios through comparison.</a:t>
            </a:r>
            <a:endParaRPr lang="en-US" sz="1900" dirty="0"/>
          </a:p>
          <a:p>
            <a:pPr marL="342900" lvl="0" indent="-139700" algn="just">
              <a:spcBef>
                <a:spcPts val="0"/>
              </a:spcBef>
              <a:buSzPts val="3200"/>
              <a:buNone/>
            </a:pPr>
            <a:r>
              <a:rPr lang="en-US" sz="1900" dirty="0"/>
              <a:t> 4. Evaluate the usefulness and correctness of suggestions.</a:t>
            </a:r>
            <a:endParaRPr lang="en-US" sz="1900" dirty="0"/>
          </a:p>
          <a:p>
            <a:pPr marL="342900" lvl="0" indent="-139700" algn="just">
              <a:spcBef>
                <a:spcPts val="0"/>
              </a:spcBef>
              <a:buSzPts val="3200"/>
              <a:buNone/>
            </a:pPr>
            <a:r>
              <a:rPr lang="en-US" sz="1900" dirty="0"/>
              <a:t> 5. Document limitations, privacy considerations, and future improvements. Out of scope: full enterprise automation, guaranteed defect detection, and unsupervised testing of production systems.</a:t>
            </a:r>
            <a:endParaRPr sz="1900" dirty="0"/>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600"/>
              <a:buFont typeface="Arial" panose="020B0604020202020204"/>
              <a:buNone/>
            </a:pPr>
            <a:r>
              <a:rPr lang="en-US" sz="3200"/>
              <a:t>6. 3 Stake holder</a:t>
            </a:r>
            <a:endParaRPr sz="3200"/>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900" b="1" dirty="0"/>
              <a:t>1. Student / Project Developer:</a:t>
            </a:r>
            <a:r>
              <a:rPr lang="en-US" sz="1900" dirty="0"/>
              <a:t> studies the topic, builds the prototype, and prepares documentation. </a:t>
            </a:r>
            <a:endParaRPr lang="en-US" sz="1900" dirty="0"/>
          </a:p>
          <a:p>
            <a:pPr marL="342900" lvl="0" indent="-139700" algn="just">
              <a:spcBef>
                <a:spcPts val="0"/>
              </a:spcBef>
              <a:buSzPts val="3200"/>
              <a:buNone/>
            </a:pPr>
            <a:endParaRPr lang="en-US" sz="1900" dirty="0"/>
          </a:p>
          <a:p>
            <a:pPr marL="342900" lvl="0" indent="-139700" algn="just">
              <a:spcBef>
                <a:spcPts val="0"/>
              </a:spcBef>
              <a:buSzPts val="3200"/>
              <a:buNone/>
            </a:pPr>
            <a:r>
              <a:rPr lang="en-US" sz="1900" b="1" dirty="0"/>
              <a:t>2. Project Guide / Faculty:</a:t>
            </a:r>
            <a:r>
              <a:rPr lang="en-US" sz="1900" dirty="0"/>
              <a:t> provides guidance and evaluates the seminar and project plan.</a:t>
            </a:r>
            <a:endParaRPr lang="en-US" sz="1900" dirty="0"/>
          </a:p>
          <a:p>
            <a:pPr marL="342900" lvl="0" indent="-139700" algn="just">
              <a:spcBef>
                <a:spcPts val="0"/>
              </a:spcBef>
              <a:buSzPts val="3200"/>
              <a:buNone/>
            </a:pPr>
            <a:r>
              <a:rPr lang="en-US" sz="1900" b="1" dirty="0"/>
              <a:t> </a:t>
            </a:r>
            <a:endParaRPr lang="en-US" sz="1900" b="1" dirty="0"/>
          </a:p>
          <a:p>
            <a:pPr marL="342900" lvl="0" indent="-139700" algn="just">
              <a:spcBef>
                <a:spcPts val="0"/>
              </a:spcBef>
              <a:buSzPts val="3200"/>
              <a:buNone/>
            </a:pPr>
            <a:r>
              <a:rPr lang="en-US" sz="1900" b="1" dirty="0"/>
              <a:t>3. Software Tester:</a:t>
            </a:r>
            <a:r>
              <a:rPr lang="en-US" sz="1900" dirty="0"/>
              <a:t> reviews suggested test cases and provides feedback on usefulness. </a:t>
            </a:r>
            <a:endParaRPr lang="en-US" sz="1900" dirty="0"/>
          </a:p>
          <a:p>
            <a:pPr marL="342900" lvl="0" indent="-139700" algn="just">
              <a:spcBef>
                <a:spcPts val="0"/>
              </a:spcBef>
              <a:buSzPts val="3200"/>
              <a:buNone/>
            </a:pPr>
            <a:endParaRPr lang="en-US" sz="1900" dirty="0"/>
          </a:p>
          <a:p>
            <a:pPr marL="342900" lvl="0" indent="-139700" algn="just">
              <a:spcBef>
                <a:spcPts val="0"/>
              </a:spcBef>
              <a:buSzPts val="3200"/>
              <a:buNone/>
            </a:pPr>
            <a:r>
              <a:rPr lang="en-US" sz="1900" b="1" dirty="0"/>
              <a:t>4. Developer: </a:t>
            </a:r>
            <a:r>
              <a:rPr lang="en-US" sz="1900" dirty="0"/>
              <a:t>uses validated test cases to identify and fix defects.</a:t>
            </a:r>
            <a:endParaRPr lang="en-US" sz="1900" dirty="0"/>
          </a:p>
          <a:p>
            <a:pPr marL="342900" lvl="0" indent="-139700" algn="just">
              <a:spcBef>
                <a:spcPts val="0"/>
              </a:spcBef>
              <a:buSzPts val="3200"/>
              <a:buNone/>
            </a:pPr>
            <a:endParaRPr lang="en-US" sz="1900" dirty="0"/>
          </a:p>
          <a:p>
            <a:pPr marL="342900" lvl="0" indent="-139700" algn="just">
              <a:spcBef>
                <a:spcPts val="0"/>
              </a:spcBef>
              <a:buSzPts val="3200"/>
              <a:buNone/>
            </a:pPr>
            <a:r>
              <a:rPr lang="en-US" sz="1900" b="1" dirty="0"/>
              <a:t>5. End User / Customer:</a:t>
            </a:r>
            <a:r>
              <a:rPr lang="en-US" sz="1900" dirty="0"/>
              <a:t> benefits indirectly from more reliable software.</a:t>
            </a:r>
            <a:endParaRPr lang="en-US" sz="1900" dirty="0"/>
          </a:p>
          <a:p>
            <a:pPr marL="342900" lvl="0" indent="-139700" algn="just">
              <a:spcBef>
                <a:spcPts val="0"/>
              </a:spcBef>
              <a:buSzPts val="3200"/>
              <a:buNone/>
            </a:pPr>
            <a:endParaRPr lang="en-US" sz="1900" dirty="0"/>
          </a:p>
          <a:p>
            <a:pPr marL="342900" lvl="0" indent="-139700" algn="just">
              <a:spcBef>
                <a:spcPts val="0"/>
              </a:spcBef>
              <a:buSzPts val="3200"/>
              <a:buNone/>
            </a:pPr>
            <a:r>
              <a:rPr lang="en-US" sz="1900" b="1" dirty="0"/>
              <a:t>6. Institution:</a:t>
            </a:r>
            <a:r>
              <a:rPr lang="en-US" sz="1900" dirty="0"/>
              <a:t> provides the academic framework and available laboratory resources. Human review is necessary because stakeholders must confirm that test scenarios match the actual requirements and expected </a:t>
            </a:r>
            <a:r>
              <a:rPr lang="en-US" sz="1900" dirty="0" err="1"/>
              <a:t>behaviour</a:t>
            </a:r>
            <a:r>
              <a:rPr lang="en-US" sz="1900" dirty="0"/>
              <a:t>.</a:t>
            </a:r>
            <a:endParaRPr sz="1900" dirty="0"/>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panose="020B0604020202020204"/>
              <a:buNone/>
            </a:pPr>
            <a:br>
              <a:rPr lang="en-US" sz="3200"/>
            </a:br>
            <a:r>
              <a:rPr lang="en-US" sz="3200"/>
              <a:t>6.</a:t>
            </a:r>
            <a:r>
              <a:rPr lang="en-IN" altLang="en-US" sz="3200"/>
              <a:t>4</a:t>
            </a:r>
            <a:r>
              <a:rPr lang="en-US" sz="3200"/>
              <a:t> Platform/ Equipment/ Resources</a:t>
            </a:r>
            <a:endParaRPr sz="3200"/>
          </a:p>
          <a:p>
            <a:pPr marL="0" lvl="0" indent="0" algn="ctr" rtl="0">
              <a:spcBef>
                <a:spcPts val="0"/>
              </a:spcBef>
              <a:spcAft>
                <a:spcPts val="0"/>
              </a:spcAft>
              <a:buClr>
                <a:srgbClr val="002060"/>
              </a:buClr>
              <a:buSzPts val="3200"/>
              <a:buFont typeface="Arial" panose="020B0604020202020204"/>
              <a:buNone/>
            </a:pPr>
            <a:endParaRPr sz="3200"/>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altLang="en-US" sz="1800" b="1" dirty="0"/>
              <a:t>1. Development Platform:</a:t>
            </a:r>
            <a:endParaRPr lang="en-US" altLang="en-US" sz="1800" b="1" dirty="0"/>
          </a:p>
          <a:p>
            <a:pPr marL="342900" lvl="0" indent="-139700" algn="just">
              <a:spcBef>
                <a:spcPts val="0"/>
              </a:spcBef>
              <a:buSzPts val="3200"/>
              <a:buNone/>
            </a:pPr>
            <a:endParaRPr lang="en-US" altLang="en-US" sz="1800" b="1" dirty="0"/>
          </a:p>
          <a:p>
            <a:pPr marL="488950" lvl="0" indent="-285750" algn="just">
              <a:spcBef>
                <a:spcPts val="0"/>
              </a:spcBef>
              <a:buSzPts val="3200"/>
            </a:pPr>
            <a:r>
              <a:rPr lang="en-US" altLang="en-US" sz="1800" dirty="0"/>
              <a:t>Windows computer or laptop.</a:t>
            </a:r>
            <a:endParaRPr lang="en-US" altLang="en-US" sz="1800" dirty="0"/>
          </a:p>
          <a:p>
            <a:pPr marL="488950" lvl="0" indent="-285750" algn="just">
              <a:spcBef>
                <a:spcPts val="0"/>
              </a:spcBef>
              <a:buSzPts val="3200"/>
            </a:pPr>
            <a:r>
              <a:rPr lang="en-US" altLang="en-US" sz="1800" dirty="0"/>
              <a:t>Python, Java, or JavaScript.</a:t>
            </a:r>
            <a:endParaRPr lang="en-US" altLang="en-US" sz="1800" dirty="0"/>
          </a:p>
          <a:p>
            <a:pPr marL="488950" lvl="0" indent="-285750" algn="just">
              <a:spcBef>
                <a:spcPts val="0"/>
              </a:spcBef>
              <a:buSzPts val="3200"/>
            </a:pPr>
            <a:r>
              <a:rPr lang="en-US" altLang="en-US" sz="1800" dirty="0"/>
              <a:t>AI tools and testing frameworks.</a:t>
            </a:r>
            <a:endParaRPr lang="en-US" altLang="en-US" sz="1800" dirty="0"/>
          </a:p>
          <a:p>
            <a:pPr marL="488950" lvl="0" indent="-285750" algn="just">
              <a:spcBef>
                <a:spcPts val="0"/>
              </a:spcBef>
              <a:buSzPts val="3200"/>
            </a:pPr>
            <a:endParaRPr lang="en-US" altLang="en-US" sz="1800" dirty="0"/>
          </a:p>
          <a:p>
            <a:pPr marL="342900" lvl="0" indent="-139700" algn="just">
              <a:spcBef>
                <a:spcPts val="0"/>
              </a:spcBef>
              <a:buSzPts val="3200"/>
              <a:buNone/>
            </a:pPr>
            <a:r>
              <a:rPr lang="en-US" altLang="en-US" sz="1800" b="1" dirty="0"/>
              <a:t>2. System Equipment: </a:t>
            </a:r>
            <a:endParaRPr lang="en-US" altLang="en-US" sz="1800" b="1" dirty="0"/>
          </a:p>
          <a:p>
            <a:pPr marL="342900" lvl="0" indent="-139700" algn="just">
              <a:spcBef>
                <a:spcPts val="0"/>
              </a:spcBef>
              <a:buSzPts val="3200"/>
              <a:buNone/>
            </a:pPr>
            <a:endParaRPr lang="en-US" altLang="en-US" sz="1800" b="1" dirty="0"/>
          </a:p>
          <a:p>
            <a:pPr marL="488950" lvl="0" indent="-285750" algn="just">
              <a:spcBef>
                <a:spcPts val="0"/>
              </a:spcBef>
              <a:buSzPts val="3200"/>
            </a:pPr>
            <a:r>
              <a:rPr lang="en-US" altLang="en-US" sz="1800" dirty="0"/>
              <a:t>Computer with sufficient RAM.</a:t>
            </a:r>
            <a:endParaRPr lang="en-US" altLang="en-US" sz="1800" dirty="0"/>
          </a:p>
          <a:p>
            <a:pPr marL="488950" lvl="0" indent="-285750" algn="just">
              <a:spcBef>
                <a:spcPts val="0"/>
              </a:spcBef>
              <a:buSzPts val="3200"/>
            </a:pPr>
            <a:r>
              <a:rPr lang="en-US" altLang="en-US" sz="1800" dirty="0"/>
              <a:t>Internet connection.</a:t>
            </a:r>
            <a:endParaRPr lang="en-US" altLang="en-US" sz="1800" dirty="0"/>
          </a:p>
          <a:p>
            <a:pPr marL="488950" lvl="0" indent="-285750" algn="just">
              <a:spcBef>
                <a:spcPts val="0"/>
              </a:spcBef>
              <a:buSzPts val="3200"/>
            </a:pPr>
            <a:r>
              <a:rPr lang="en-US" altLang="en-US" sz="1800" dirty="0"/>
              <a:t>Selenium, PyTest, or JUnit tools.</a:t>
            </a:r>
            <a:endParaRPr lang="en-US" altLang="en-US" sz="1800" dirty="0"/>
          </a:p>
          <a:p>
            <a:pPr marL="488950" lvl="0" indent="-285750" algn="just">
              <a:spcBef>
                <a:spcPts val="0"/>
              </a:spcBef>
              <a:buSzPts val="3200"/>
            </a:pPr>
            <a:endParaRPr lang="en-US" altLang="en-US" sz="1800" dirty="0"/>
          </a:p>
          <a:p>
            <a:pPr marL="342900" lvl="0" indent="-139700" algn="just">
              <a:spcBef>
                <a:spcPts val="0"/>
              </a:spcBef>
              <a:buSzPts val="3200"/>
              <a:buNone/>
            </a:pPr>
            <a:r>
              <a:rPr lang="en-US" altLang="en-US" sz="1800" b="1" dirty="0"/>
              <a:t>3. Supporting Resources:</a:t>
            </a:r>
            <a:endParaRPr lang="en-US" altLang="en-US" sz="1800" b="1" dirty="0"/>
          </a:p>
          <a:p>
            <a:pPr marL="342900" lvl="0" indent="-139700" algn="just">
              <a:spcBef>
                <a:spcPts val="0"/>
              </a:spcBef>
              <a:buSzPts val="3200"/>
              <a:buNone/>
            </a:pPr>
            <a:endParaRPr lang="en-US" altLang="en-US" sz="1800" b="1" dirty="0"/>
          </a:p>
          <a:p>
            <a:pPr marL="488950" lvl="0" indent="-285750" algn="just">
              <a:spcBef>
                <a:spcPts val="0"/>
              </a:spcBef>
              <a:buSzPts val="3200"/>
            </a:pPr>
            <a:r>
              <a:rPr lang="en-US" altLang="en-US" sz="1800" dirty="0"/>
              <a:t>Sample source code and test cases.</a:t>
            </a:r>
            <a:endParaRPr lang="en-US" altLang="en-US" sz="1800" dirty="0"/>
          </a:p>
          <a:p>
            <a:pPr marL="488950" lvl="0" indent="-285750" algn="just">
              <a:spcBef>
                <a:spcPts val="0"/>
              </a:spcBef>
              <a:buSzPts val="3200"/>
            </a:pPr>
            <a:r>
              <a:rPr lang="en-US" altLang="en-US" sz="1800" dirty="0"/>
              <a:t>Test datasets and bug reports.</a:t>
            </a:r>
            <a:endParaRPr lang="en-US" altLang="en-US" sz="1800" dirty="0"/>
          </a:p>
          <a:p>
            <a:pPr marL="488950" lvl="0" indent="-285750" algn="just">
              <a:spcBef>
                <a:spcPts val="0"/>
              </a:spcBef>
              <a:buSzPts val="3200"/>
            </a:pPr>
            <a:r>
              <a:rPr lang="en-US" altLang="en-US" sz="1800" dirty="0"/>
              <a:t>Evaluation metrics for testing performance.</a:t>
            </a:r>
            <a:endParaRPr lang="en-US" altLang="en-US" sz="1800" dirty="0"/>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Bibliography</a:t>
            </a:r>
            <a:endParaRPr lang="en-US" sz="3200"/>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fontScale="60000"/>
          </a:bodyPr>
          <a:lstStyle/>
          <a:p>
            <a:pPr marL="0" lvl="0" indent="0" algn="just" rtl="0">
              <a:spcBef>
                <a:spcPts val="0"/>
              </a:spcBef>
              <a:spcAft>
                <a:spcPts val="0"/>
              </a:spcAft>
              <a:buClr>
                <a:schemeClr val="dk1"/>
              </a:buClr>
              <a:buSzPts val="3500"/>
              <a:buNone/>
            </a:pPr>
            <a:r>
              <a:rPr lang="en-US" altLang="en-US" dirty="0"/>
              <a:t>1.National Statistical Office, Ministry of Statistics and Programme Implementation, Government of India, Energy Statistics India 2023, 2023. Available: </a:t>
            </a:r>
            <a:r>
              <a:rPr lang="en-US" altLang="en-US" dirty="0">
                <a:hlinkClick r:id="rId1" action="ppaction://hlinkfile"/>
              </a:rPr>
              <a:t>https://mospi.gov.in/publication/energy-statistics-india-2023</a:t>
            </a:r>
            <a:endParaRPr lang="en-US" altLang="en-US" dirty="0"/>
          </a:p>
          <a:p>
            <a:pPr marL="342900" lvl="0" indent="-342900" algn="just" rtl="0">
              <a:spcBef>
                <a:spcPts val="0"/>
              </a:spcBef>
              <a:spcAft>
                <a:spcPts val="0"/>
              </a:spcAft>
              <a:buClr>
                <a:schemeClr val="dk1"/>
              </a:buClr>
              <a:buSzPts val="3500"/>
              <a:buChar char="•"/>
            </a:pPr>
            <a:endParaRPr lang="en-US" altLang="en-US" dirty="0"/>
          </a:p>
          <a:p>
            <a:pPr marL="0" lvl="0" indent="0" algn="just" rtl="0">
              <a:spcBef>
                <a:spcPts val="0"/>
              </a:spcBef>
              <a:spcAft>
                <a:spcPts val="0"/>
              </a:spcAft>
              <a:buClr>
                <a:schemeClr val="dk1"/>
              </a:buClr>
              <a:buSzPts val="3500"/>
              <a:buNone/>
            </a:pPr>
            <a:r>
              <a:rPr lang="en-US" altLang="en-US" dirty="0"/>
              <a:t>2.M. Asif, Handbook of Energy Transitions. CRC Press, 2022.</a:t>
            </a:r>
            <a:endParaRPr lang="en-US" altLang="en-US" dirty="0"/>
          </a:p>
          <a:p>
            <a:pPr marL="342900" lvl="0" indent="-342900" algn="just" rtl="0">
              <a:spcBef>
                <a:spcPts val="0"/>
              </a:spcBef>
              <a:spcAft>
                <a:spcPts val="0"/>
              </a:spcAft>
              <a:buClr>
                <a:schemeClr val="dk1"/>
              </a:buClr>
              <a:buSzPts val="3500"/>
              <a:buChar char="•"/>
            </a:pPr>
            <a:endParaRPr lang="en-US" altLang="en-US" dirty="0"/>
          </a:p>
          <a:p>
            <a:pPr marL="0" lvl="0" indent="0" algn="just" rtl="0">
              <a:spcBef>
                <a:spcPts val="0"/>
              </a:spcBef>
              <a:spcAft>
                <a:spcPts val="0"/>
              </a:spcAft>
              <a:buClr>
                <a:schemeClr val="dk1"/>
              </a:buClr>
              <a:buSzPts val="3500"/>
              <a:buNone/>
            </a:pPr>
            <a:r>
              <a:rPr lang="en-US" altLang="en-US" dirty="0"/>
              <a:t>3.N. Venkatesan, J. Solanki, and S. K. Solanki, “Residential demand response model and impact on voltage profile and losses of an electric distribution network,” Applied Energy, vol. 96, pp. 84–91, 2012.</a:t>
            </a:r>
            <a:endParaRPr lang="en-US" altLang="en-US" dirty="0"/>
          </a:p>
          <a:p>
            <a:pPr marL="342900" lvl="0" indent="-342900" algn="just" rtl="0">
              <a:spcBef>
                <a:spcPts val="0"/>
              </a:spcBef>
              <a:spcAft>
                <a:spcPts val="0"/>
              </a:spcAft>
              <a:buClr>
                <a:schemeClr val="dk1"/>
              </a:buClr>
              <a:buSzPts val="3500"/>
              <a:buChar char="•"/>
            </a:pPr>
            <a:endParaRPr lang="en-US" altLang="en-US" dirty="0"/>
          </a:p>
          <a:p>
            <a:pPr marL="0" lvl="0" indent="0" algn="just" rtl="0">
              <a:spcBef>
                <a:spcPts val="0"/>
              </a:spcBef>
              <a:spcAft>
                <a:spcPts val="0"/>
              </a:spcAft>
              <a:buClr>
                <a:schemeClr val="dk1"/>
              </a:buClr>
              <a:buSzPts val="3500"/>
              <a:buNone/>
            </a:pPr>
            <a:r>
              <a:rPr lang="en-US" altLang="en-US" dirty="0"/>
              <a:t>4.S. Lin, L. Zhao, F. Li, Q. Liu, D. Li, and Y. Fu, “A nonintrusive load identification method for residential applications based on quadratic programming,” Electric Power Systems Research, vol. 133, pp. 241–248, 2016.</a:t>
            </a:r>
            <a:endParaRPr lang="en-US" altLang="en-US" dirty="0"/>
          </a:p>
          <a:p>
            <a:pPr marL="342900" lvl="0" indent="-342900" algn="just" rtl="0">
              <a:spcBef>
                <a:spcPts val="0"/>
              </a:spcBef>
              <a:spcAft>
                <a:spcPts val="0"/>
              </a:spcAft>
              <a:buClr>
                <a:schemeClr val="dk1"/>
              </a:buClr>
              <a:buSzPts val="3500"/>
              <a:buChar char="•"/>
            </a:pPr>
            <a:endParaRPr lang="en-US" altLang="en-US" dirty="0"/>
          </a:p>
          <a:p>
            <a:pPr marL="0" lvl="0" indent="0" algn="just" rtl="0">
              <a:spcBef>
                <a:spcPts val="0"/>
              </a:spcBef>
              <a:spcAft>
                <a:spcPts val="0"/>
              </a:spcAft>
              <a:buClr>
                <a:schemeClr val="dk1"/>
              </a:buClr>
              <a:buSzPts val="3500"/>
              <a:buNone/>
            </a:pPr>
            <a:r>
              <a:rPr lang="en-US" altLang="en-US" dirty="0"/>
              <a:t>5.X. Wu, X. Hu, X. Yin, C. Zhang, and S. Qian, “Optimal battery sizing of smart home via convex programming,” Energy, vol. 140, pp. 444–453, 2017.</a:t>
            </a:r>
            <a:endParaRPr lang="en-US" altLang="en-US"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sz="3200"/>
              <a:t>References</a:t>
            </a:r>
            <a:endParaRPr lang="en-US" sz="3200"/>
          </a:p>
        </p:txBody>
      </p:sp>
      <p:sp>
        <p:nvSpPr>
          <p:cNvPr id="609" name="Google Shape;609;p2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0000" lnSpcReduction="10000"/>
          </a:bodyPr>
          <a:lstStyle/>
          <a:p>
            <a:pPr marL="203200" lvl="0" indent="0" algn="just">
              <a:spcBef>
                <a:spcPts val="0"/>
              </a:spcBef>
              <a:buSzPts val="3200"/>
              <a:buNone/>
            </a:pPr>
            <a:r>
              <a:rPr lang="en-US" altLang="en-US" sz="1900" dirty="0"/>
              <a:t>1. National Statistical Office, Ministry of Statistics and Programme Implementation, Government of India, Energy Statistics India 2023, 2023. [Online]. Available: </a:t>
            </a:r>
            <a:r>
              <a:rPr lang="en-US" altLang="en-US" sz="1900" dirty="0">
                <a:hlinkClick r:id="rId1" action="ppaction://hlinkfile"/>
              </a:rPr>
              <a:t>https://mospi.gov.in/publication/energy-statistics-india-2023</a:t>
            </a:r>
            <a:endParaRPr lang="en-US" altLang="en-US" sz="1900" dirty="0"/>
          </a:p>
          <a:p>
            <a:pPr marL="203200" lvl="0" indent="0" algn="just">
              <a:spcBef>
                <a:spcPts val="0"/>
              </a:spcBef>
              <a:buSzPts val="3200"/>
              <a:buNone/>
            </a:pPr>
            <a:endParaRPr lang="en-US" altLang="en-US" sz="1900" dirty="0"/>
          </a:p>
          <a:p>
            <a:pPr marL="203200" lvl="0" indent="0" algn="just">
              <a:spcBef>
                <a:spcPts val="0"/>
              </a:spcBef>
              <a:buSzPts val="3200"/>
              <a:buNone/>
            </a:pPr>
            <a:r>
              <a:rPr lang="en-US" altLang="en-US" sz="1900" dirty="0"/>
              <a:t>2. M. Asif, Handbook of Energy Transitions. CRC Press, 2022.</a:t>
            </a:r>
            <a:endParaRPr lang="en-US" altLang="en-US" sz="1900" dirty="0"/>
          </a:p>
          <a:p>
            <a:pPr marL="203200" lvl="0" indent="0" algn="just">
              <a:spcBef>
                <a:spcPts val="0"/>
              </a:spcBef>
              <a:buSzPts val="3200"/>
              <a:buNone/>
            </a:pPr>
            <a:endParaRPr lang="en-US" altLang="en-US" sz="1900" dirty="0"/>
          </a:p>
          <a:p>
            <a:pPr marL="203200" lvl="0" indent="0" algn="just">
              <a:spcBef>
                <a:spcPts val="0"/>
              </a:spcBef>
              <a:buSzPts val="3200"/>
              <a:buNone/>
            </a:pPr>
            <a:r>
              <a:rPr lang="en-US" altLang="en-US" sz="1900" dirty="0"/>
              <a:t>3. N. Venkatesan, J. Solanki, and S. K. Solanki, “Residential demand response model and impact on voltage profile and losses of an electric distribution network,” Applied Energy, vol. 96, pp. 84–91, 2012. </a:t>
            </a:r>
            <a:r>
              <a:rPr lang="en-US" altLang="en-US" sz="1900" dirty="0">
                <a:hlinkClick r:id="rId2" action="ppaction://hlinkfile"/>
              </a:rPr>
              <a:t>https://doi.org/10.1016/j.apenergy.2011.12.076</a:t>
            </a:r>
            <a:endParaRPr lang="en-US" altLang="en-US" sz="1900" dirty="0"/>
          </a:p>
          <a:p>
            <a:pPr marL="203200" lvl="0" indent="0" algn="just">
              <a:spcBef>
                <a:spcPts val="0"/>
              </a:spcBef>
              <a:buSzPts val="3200"/>
              <a:buNone/>
            </a:pPr>
            <a:endParaRPr lang="en-US" altLang="en-US" sz="1900" dirty="0"/>
          </a:p>
          <a:p>
            <a:pPr marL="203200" lvl="0" indent="0" algn="just">
              <a:spcBef>
                <a:spcPts val="0"/>
              </a:spcBef>
              <a:buSzPts val="3200"/>
              <a:buNone/>
            </a:pPr>
            <a:r>
              <a:rPr lang="en-US" altLang="en-US" sz="1900" dirty="0"/>
              <a:t>4. S. Lin, L. Zhao, F. Li, Q. Liu, D. Li, and Y. Fu, “A nonintrusive load identification method for residential applications based on quadratic programming,” Electric Power Systems Research, vol. 133, pp. 241–248, 2016. </a:t>
            </a:r>
            <a:r>
              <a:rPr lang="en-US" altLang="en-US" sz="1900" dirty="0">
                <a:hlinkClick r:id="rId3" action="ppaction://hlinkfile"/>
              </a:rPr>
              <a:t>https://doi.org/10.1016/j.epsr.2015.12.014</a:t>
            </a:r>
            <a:endParaRPr lang="en-US" altLang="en-US" sz="1900" dirty="0"/>
          </a:p>
          <a:p>
            <a:pPr marL="203200" lvl="0" indent="0" algn="just">
              <a:spcBef>
                <a:spcPts val="0"/>
              </a:spcBef>
              <a:buSzPts val="3200"/>
              <a:buNone/>
            </a:pPr>
            <a:endParaRPr lang="en-US" altLang="en-US" sz="1900" dirty="0"/>
          </a:p>
          <a:p>
            <a:pPr marL="203200" lvl="0" indent="0" algn="just">
              <a:spcBef>
                <a:spcPts val="0"/>
              </a:spcBef>
              <a:buSzPts val="3200"/>
              <a:buNone/>
            </a:pPr>
            <a:r>
              <a:rPr lang="en-US" altLang="en-US" sz="1900" dirty="0"/>
              <a:t>5. X. Wu, X. Hu, X. Yin, C. Zhang, and S. Qian, “Optimal battery sizing of smart home via convex programming,” Energy, vol. 140, pp. 444–453, 2017. </a:t>
            </a:r>
            <a:r>
              <a:rPr lang="en-US" altLang="en-US" sz="1900" dirty="0">
                <a:hlinkClick r:id="rId4" action="ppaction://hlinkfile"/>
              </a:rPr>
              <a:t>https://doi.org/10.1016/j.energy.2017.08.097</a:t>
            </a:r>
            <a:endParaRPr lang="en-US" altLang="en-US" sz="1900" dirty="0"/>
          </a:p>
          <a:p>
            <a:pPr marL="203200" lvl="0" indent="0" algn="just">
              <a:spcBef>
                <a:spcPts val="0"/>
              </a:spcBef>
              <a:buSzPts val="3200"/>
              <a:buNone/>
            </a:pPr>
            <a:endParaRPr lang="en-US" altLang="en-US" sz="1900" dirty="0"/>
          </a:p>
          <a:p>
            <a:pPr marL="203200" lvl="0" indent="0" algn="just">
              <a:spcBef>
                <a:spcPts val="0"/>
              </a:spcBef>
              <a:buSzPts val="3200"/>
              <a:buNone/>
            </a:pPr>
            <a:r>
              <a:rPr lang="en-US" altLang="en-US" sz="1900" dirty="0"/>
              <a:t>6. K. M. Tsui and S. C. Chan, “Demand response optimization for smart home scheduling under real-time pricing,” IEEE Transactions on Smart Grid, vol. 3, no. 4, pp. 1812–1821, 2012. </a:t>
            </a:r>
            <a:r>
              <a:rPr lang="en-US" altLang="en-US" sz="1900" dirty="0">
                <a:hlinkClick r:id="rId5" action="ppaction://hlinkfile"/>
              </a:rPr>
              <a:t>https://doi.org/10.1109/TSG.2012.2218835</a:t>
            </a:r>
            <a:endParaRPr lang="en-US" altLang="en-US" sz="1900" dirty="0"/>
          </a:p>
          <a:p>
            <a:pPr marL="203200" lvl="0" indent="0" algn="just">
              <a:spcBef>
                <a:spcPts val="0"/>
              </a:spcBef>
              <a:buSzPts val="3200"/>
              <a:buNone/>
            </a:pPr>
            <a:endParaRPr lang="en-US" altLang="en-US" sz="1900" dirty="0"/>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457200" y="421640"/>
            <a:ext cx="8229600" cy="6131560"/>
          </a:xfrm>
        </p:spPr>
        <p:txBody>
          <a:bodyPr>
            <a:noAutofit/>
          </a:bodyPr>
          <a:p>
            <a:pPr marL="114300" indent="0">
              <a:buNone/>
            </a:pPr>
            <a:r>
              <a:rPr lang="en-US" altLang="en-US" sz="1800"/>
              <a:t>7. S. Aslam, A. Khalid, and N. Javaid, “Towards efficient energy management in smart grids considering microgrids with day-ahead energy forecasting,” Electric Power Systems Research, vol. 182, article 106232, 2020. </a:t>
            </a:r>
            <a:r>
              <a:rPr lang="en-US" altLang="en-US" sz="1800">
                <a:hlinkClick r:id="rId1" action="ppaction://hlinkfile"/>
              </a:rPr>
              <a:t>https://doi.org/10.1016/j.epsr.2020.106232</a:t>
            </a:r>
            <a:endParaRPr lang="en-US" altLang="en-US" sz="1800"/>
          </a:p>
          <a:p>
            <a:endParaRPr lang="en-US" altLang="en-US" sz="1800"/>
          </a:p>
          <a:p>
            <a:pPr marL="114300" indent="0">
              <a:buNone/>
            </a:pPr>
            <a:r>
              <a:rPr lang="en-US" altLang="en-US" sz="1800"/>
              <a:t>8. A. Rochd, A. Benazzouz, I. Ait Abdelmoula, A. Raihani, A. Ghennioui, Z. Naimi, and B. Ikken, “Design and implementation of an AI-based and IoT-enabled home energy management system: A case study in Benguerir—Morocco,” Energy Reports, vol. 7, pp. 699–719, 2021. </a:t>
            </a:r>
            <a:r>
              <a:rPr lang="en-US" altLang="en-US" sz="1800">
                <a:hlinkClick r:id="rId2" action="ppaction://hlinkfile"/>
              </a:rPr>
              <a:t>https://doi.org/10.1016/j.egyr.2021.07.084</a:t>
            </a:r>
            <a:endParaRPr lang="en-US" altLang="en-US" sz="1800"/>
          </a:p>
          <a:p>
            <a:endParaRPr lang="en-US" altLang="en-US" sz="1800"/>
          </a:p>
          <a:p>
            <a:pPr marL="114300" indent="0">
              <a:buNone/>
            </a:pPr>
            <a:r>
              <a:rPr lang="en-US" altLang="en-US" sz="1800"/>
              <a:t>9. S. S. Hosseini, K. Agbossou, S. Kelouwani, and A. Cardenas, “Non-intrusive load monitoring through home energy management systems: A comprehensive review,” Renewable and Sustainable Energy Reviews, vol. 79, pp. 1266–1274, 2017. https://doi.org/10.1016/j.rser.2017.05.096 </a:t>
            </a:r>
            <a:endParaRPr lang="en-US" altLang="en-US" sz="1800"/>
          </a:p>
          <a:p>
            <a:pPr marL="114300" indent="0">
              <a:buNone/>
            </a:pPr>
            <a:endParaRPr lang="en-US" altLang="en-US" sz="1800"/>
          </a:p>
          <a:p>
            <a:pPr marL="114300" indent="0">
              <a:buNone/>
            </a:pPr>
            <a:r>
              <a:rPr lang="en-US" altLang="en-US" sz="1800"/>
              <a:t>10. Y. Himeur, A. Alsalemi, F. Bensaali, A. Amira, and A. Al-Kababji, “Recent trends of smart nonintrusive load monitoring in buildings: A review, open challenges, and future directions,” International Journal of Intelligent Systems, vol. 37, no. 10, pp. 7124–7179, 2022. https://doi.org/10.1002/int.22876 </a:t>
            </a:r>
            <a:endParaRPr lang="en-US" altLang="en-US" sz="1800"/>
          </a:p>
          <a:p>
            <a:endParaRPr lang="en-US" altLang="en-US" sz="1800"/>
          </a:p>
          <a:p>
            <a:pPr marL="114300" indent="0">
              <a:buNone/>
            </a:pPr>
            <a:endParaRPr lang="en-US" altLang="en-US" sz="1800"/>
          </a:p>
        </p:txBody>
      </p:sp>
      <p:sp>
        <p:nvSpPr>
          <p:cNvPr id="4" name="Slide Number Placeholder 3"/>
          <p:cNvSpPr>
            <a:spLocks noGrp="1"/>
          </p:cNvSpPr>
          <p:nvPr>
            <p:ph type="sldNum" idx="12"/>
          </p:nvPr>
        </p:nvSpPr>
        <p:spPr/>
        <p:txBody>
          <a:bodyPr/>
          <a:p>
            <a:pPr marL="0" lvl="0" indent="0" algn="ctr" rtl="0">
              <a:spcBef>
                <a:spcPts val="0"/>
              </a:spcBef>
              <a:spcAft>
                <a:spcPts val="0"/>
              </a:spcAft>
              <a:buNone/>
            </a:pPr>
            <a:fld id="{00000000-1234-1234-1234-123412341234}" type="slidenum">
              <a:rPr lang="en-US"/>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panose="02020603050405020304"/>
                <a:ea typeface="Times New Roman" panose="02020603050405020304"/>
                <a:cs typeface="Times New Roman" panose="02020603050405020304"/>
                <a:sym typeface="Times New Roman" panose="02020603050405020304"/>
              </a:rPr>
              <a:t>Thank you</a:t>
            </a:r>
            <a:endParaRPr lang="en-US" sz="7200" b="1" i="0" u="none" strike="noStrike" cap="none">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11054</Words>
  <Application>WPS Presentation</Application>
  <PresentationFormat>On-screen Show (4:3)</PresentationFormat>
  <Paragraphs>285</Paragraphs>
  <Slides>19</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Arial</vt:lpstr>
      <vt:lpstr>SimSun</vt:lpstr>
      <vt:lpstr>Wingdings</vt:lpstr>
      <vt:lpstr>Arial</vt:lpstr>
      <vt:lpstr>Times New Roman</vt:lpstr>
      <vt:lpstr>Calibri</vt:lpstr>
      <vt:lpstr>Times New Roman</vt:lpstr>
      <vt:lpstr>Microsoft YaHei</vt:lpstr>
      <vt:lpstr>Arial Unicode MS</vt:lpstr>
      <vt:lpstr>Office Theme</vt:lpstr>
      <vt:lpstr>PowerPoint 演示文稿</vt:lpstr>
      <vt:lpstr>Contents</vt:lpstr>
      <vt:lpstr>Abstract</vt:lpstr>
      <vt:lpstr>1. Introduction</vt:lpstr>
      <vt:lpstr>2. Literature Survey</vt:lpstr>
      <vt:lpstr>PowerPoint 演示文稿</vt:lpstr>
      <vt:lpstr>PowerPoint 演示文稿</vt:lpstr>
      <vt:lpstr>3. Information to seminar topic</vt:lpstr>
      <vt:lpstr>4. Advantages / Disadvantages</vt:lpstr>
      <vt:lpstr>5. Conclusion</vt:lpstr>
      <vt:lpstr>6. Project Initiation</vt:lpstr>
      <vt:lpstr>6.1 Description of problem statement. identification.</vt:lpstr>
      <vt:lpstr>6. 2 Scope and objectives.</vt:lpstr>
      <vt:lpstr>6. 3 Stake holder</vt:lpstr>
      <vt:lpstr> 6.5 Platform/ Equipment/ Resources</vt:lpstr>
      <vt:lpstr>Bibliography</vt:lpstr>
      <vt:lpstr>References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Nikita Chaudhari</dc:creator>
  <cp:lastModifiedBy>DISHA JUGALKAR JUGALKAR</cp:lastModifiedBy>
  <cp:revision>8</cp:revision>
  <dcterms:created xsi:type="dcterms:W3CDTF">2026-10-13T14:08:00Z</dcterms:created>
  <dcterms:modified xsi:type="dcterms:W3CDTF">2026-10-17T08:29:37Z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2B16D4DEFFF642D6A87430AF3E0C1AE0_12</vt:lpwstr>
  </property>
</Properties>
</file>