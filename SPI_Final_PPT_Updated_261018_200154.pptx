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7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12748" y="340817"/>
            <a:ext cx="6918502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rgbClr val="001F5F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394585" y="2006549"/>
            <a:ext cx="6037580" cy="4385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10/19/2026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573134" y="6447975"/>
            <a:ext cx="241300" cy="1943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78787"/>
                </a:solidFill>
                <a:latin typeface="Times New Roman"/>
                <a:cs typeface="Times New Roman"/>
              </a:defRPr>
            </a:lvl1pPr>
          </a:lstStyle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who.int/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4135782"/>
              </p:ext>
            </p:extLst>
          </p:nvPr>
        </p:nvGraphicFramePr>
        <p:xfrm>
          <a:off x="222250" y="298450"/>
          <a:ext cx="8641715" cy="5763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7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06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526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6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255270" marR="248920" indent="-635" algn="ctr">
                        <a:lnSpc>
                          <a:spcPct val="100000"/>
                        </a:lnSpc>
                        <a:spcBef>
                          <a:spcPts val="260"/>
                        </a:spcBef>
                      </a:pP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S.S.V.P.S’s</a:t>
                      </a:r>
                      <a:r>
                        <a:rPr sz="2800" b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B.</a:t>
                      </a: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S.</a:t>
                      </a:r>
                      <a:r>
                        <a:rPr sz="28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Deore</a:t>
                      </a:r>
                      <a:r>
                        <a:rPr sz="2800" b="1" spc="-6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Polytechnic,</a:t>
                      </a:r>
                      <a:r>
                        <a:rPr sz="2800" b="1" spc="-7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Dhule 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Department</a:t>
                      </a:r>
                      <a:r>
                        <a:rPr sz="3200" b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3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b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Computer</a:t>
                      </a:r>
                      <a:r>
                        <a:rPr sz="3200" b="1" spc="-1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Engineering </a:t>
                      </a:r>
                      <a:r>
                        <a:rPr sz="32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Academic</a:t>
                      </a:r>
                      <a:r>
                        <a:rPr sz="3200" i="1" spc="-3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Year</a:t>
                      </a:r>
                      <a:r>
                        <a:rPr sz="3200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3200" i="1" spc="-5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3200" i="1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2026-</a:t>
                      </a:r>
                      <a:r>
                        <a:rPr sz="3200" i="1" spc="-20" dirty="0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2027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T="330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F81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090">
                <a:tc gridSpan="4">
                  <a:txBody>
                    <a:bodyPr/>
                    <a:lstStyle/>
                    <a:p>
                      <a:pPr marL="310515">
                        <a:lnSpc>
                          <a:spcPct val="100000"/>
                        </a:lnSpc>
                        <a:spcBef>
                          <a:spcPts val="560"/>
                        </a:spcBef>
                      </a:pPr>
                      <a:r>
                        <a:rPr sz="2800" b="1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SEMINAR</a:t>
                      </a:r>
                      <a:r>
                        <a:rPr sz="2800" b="1" spc="-110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AND</a:t>
                      </a:r>
                      <a:r>
                        <a:rPr sz="2800" b="1" spc="-100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PROJECT</a:t>
                      </a:r>
                      <a:r>
                        <a:rPr sz="2800" b="1" spc="-105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INITIATION</a:t>
                      </a:r>
                      <a:r>
                        <a:rPr sz="2800" b="1" spc="-110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800" b="1" spc="-10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COURSE</a:t>
                      </a:r>
                      <a:endParaRPr sz="2800">
                        <a:latin typeface="Times New Roman"/>
                        <a:cs typeface="Times New Roman"/>
                      </a:endParaRPr>
                    </a:p>
                  </a:txBody>
                  <a:tcPr marL="0" marR="0" marT="711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315">
                <a:tc gridSpan="2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595"/>
                        </a:spcBef>
                      </a:pPr>
                      <a:r>
                        <a:rPr sz="21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Sem</a:t>
                      </a:r>
                      <a:r>
                        <a:rPr sz="2100" b="1" spc="-15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21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CO</a:t>
                      </a:r>
                      <a:r>
                        <a:rPr sz="2100" b="1" spc="-1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5</a:t>
                      </a:r>
                      <a:r>
                        <a:rPr sz="2100" b="1" spc="-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1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K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4904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400" b="1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SPI</a:t>
                      </a:r>
                      <a:r>
                        <a:rPr sz="2400" b="1" spc="-30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–</a:t>
                      </a:r>
                      <a:r>
                        <a:rPr sz="2400" b="1" spc="-25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solidFill>
                            <a:srgbClr val="001F5F"/>
                          </a:solidFill>
                          <a:latin typeface="Times New Roman"/>
                          <a:cs typeface="Times New Roman"/>
                        </a:rPr>
                        <a:t>315003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595"/>
                        </a:spcBef>
                        <a:tabLst>
                          <a:tab pos="758825" algn="l"/>
                        </a:tabLst>
                      </a:pPr>
                      <a:r>
                        <a:rPr sz="2100" b="1" spc="-2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Date</a:t>
                      </a:r>
                      <a:r>
                        <a:rPr sz="2100" b="1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sz="2100" b="1" spc="-50" dirty="0">
                          <a:solidFill>
                            <a:srgbClr val="FF0000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7556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315">
                <a:tc gridSpan="4">
                  <a:txBody>
                    <a:bodyPr/>
                    <a:lstStyle/>
                    <a:p>
                      <a:pPr marL="90805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400" b="1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Topic</a:t>
                      </a:r>
                      <a:r>
                        <a:rPr sz="2400" b="1" spc="-2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:</a:t>
                      </a:r>
                      <a:r>
                        <a:rPr sz="2400" spc="-35" dirty="0">
                          <a:solidFill>
                            <a:srgbClr val="1F487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Machine Learning in Healthcare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8315">
                <a:tc gridSpan="2">
                  <a:txBody>
                    <a:bodyPr/>
                    <a:lstStyle/>
                    <a:p>
                      <a:pPr marL="38100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Roll </a:t>
                      </a:r>
                      <a:r>
                        <a:rPr sz="2400" b="1" spc="-25" dirty="0">
                          <a:latin typeface="Times New Roman"/>
                          <a:cs typeface="Times New Roman"/>
                        </a:rPr>
                        <a:t>No.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sz="2400" b="1" dirty="0">
                          <a:latin typeface="Times New Roman"/>
                          <a:cs typeface="Times New Roman"/>
                        </a:rPr>
                        <a:t>Name</a:t>
                      </a:r>
                      <a:r>
                        <a:rPr sz="2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dirty="0">
                          <a:latin typeface="Times New Roman"/>
                          <a:cs typeface="Times New Roman"/>
                        </a:rPr>
                        <a:t>of</a:t>
                      </a:r>
                      <a:r>
                        <a:rPr sz="2400" b="1" spc="-4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2400" b="1" spc="-10" dirty="0">
                          <a:latin typeface="Times New Roman"/>
                          <a:cs typeface="Times New Roman"/>
                        </a:rPr>
                        <a:t>Student</a:t>
                      </a: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US" sz="2400" spc="-25" dirty="0">
                          <a:latin typeface="Times New Roman"/>
                          <a:cs typeface="Times New Roman"/>
                        </a:rPr>
                        <a:t>81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US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Rohit Gorakh Patil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US" sz="2400" spc="-25" dirty="0">
                          <a:latin typeface="Times New Roman"/>
                          <a:cs typeface="Times New Roman"/>
                        </a:rPr>
                        <a:t>95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Manas Nilesh Sonawane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5"/>
                        </a:spcBef>
                      </a:pPr>
                      <a:r>
                        <a:rPr lang="en-US" sz="2400" spc="-25" dirty="0">
                          <a:latin typeface="Times New Roman"/>
                          <a:cs typeface="Times New Roman"/>
                        </a:rPr>
                        <a:t>97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14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Vivek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Nandkishor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Sonawane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8315">
                <a:tc gridSpan="2"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9"/>
                        </a:spcBef>
                      </a:pPr>
                      <a:r>
                        <a:rPr lang="en-US" sz="2400" spc="-25" dirty="0">
                          <a:latin typeface="Times New Roman"/>
                          <a:cs typeface="Times New Roman"/>
                        </a:rPr>
                        <a:t>107</a:t>
                      </a:r>
                      <a:endParaRPr sz="2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52069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Aditya Madhukar </a:t>
                      </a:r>
                      <a:r>
                        <a:rPr lang="en-IN" sz="24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wagh</a:t>
                      </a:r>
                      <a:endParaRPr sz="2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" y="457200"/>
            <a:ext cx="1219200" cy="162725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566418" y="1176273"/>
            <a:ext cx="6901181" cy="496225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97205" indent="-484505">
              <a:lnSpc>
                <a:spcPts val="2630"/>
              </a:lnSpc>
              <a:spcBef>
                <a:spcPts val="95"/>
              </a:spcBef>
              <a:buFont typeface="Arial"/>
              <a:buChar char="•"/>
              <a:tabLst>
                <a:tab pos="497205" algn="l"/>
              </a:tabLst>
            </a:pPr>
            <a:r>
              <a:rPr sz="2200" spc="-10" dirty="0">
                <a:latin typeface="Times New Roman"/>
                <a:cs typeface="Times New Roman"/>
              </a:rPr>
              <a:t>Certificate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610"/>
              </a:lnSpc>
              <a:buFont typeface="Arial"/>
              <a:buChar char="•"/>
              <a:tabLst>
                <a:tab pos="497205" algn="l"/>
              </a:tabLst>
            </a:pPr>
            <a:r>
              <a:rPr sz="2200" spc="-10" dirty="0">
                <a:latin typeface="Times New Roman"/>
                <a:cs typeface="Times New Roman"/>
              </a:rPr>
              <a:t>Abstract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610"/>
              </a:lnSpc>
              <a:buAutoNum type="arabicPeriod"/>
              <a:tabLst>
                <a:tab pos="497205" algn="l"/>
              </a:tabLst>
            </a:pPr>
            <a:r>
              <a:rPr sz="2200" spc="-10" dirty="0">
                <a:latin typeface="Times New Roman"/>
                <a:cs typeface="Times New Roman"/>
              </a:rPr>
              <a:t>Introduction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620"/>
              </a:lnSpc>
              <a:buAutoNum type="arabicPeriod"/>
              <a:tabLst>
                <a:tab pos="497205" algn="l"/>
              </a:tabLst>
            </a:pPr>
            <a:r>
              <a:rPr sz="2200" dirty="0">
                <a:latin typeface="Times New Roman"/>
                <a:cs typeface="Times New Roman"/>
              </a:rPr>
              <a:t>Literature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Review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610"/>
              </a:lnSpc>
              <a:buAutoNum type="arabicPeriod"/>
              <a:tabLst>
                <a:tab pos="497205" algn="l"/>
              </a:tabLst>
            </a:pPr>
            <a:r>
              <a:rPr sz="2200" dirty="0">
                <a:latin typeface="Times New Roman"/>
                <a:cs typeface="Times New Roman"/>
              </a:rPr>
              <a:t>Information</a:t>
            </a:r>
            <a:r>
              <a:rPr sz="2200" spc="-4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to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Seminar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20" dirty="0">
                <a:latin typeface="Times New Roman"/>
                <a:cs typeface="Times New Roman"/>
              </a:rPr>
              <a:t>topic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610"/>
              </a:lnSpc>
              <a:buAutoNum type="arabicPeriod"/>
              <a:tabLst>
                <a:tab pos="497205" algn="l"/>
              </a:tabLst>
            </a:pPr>
            <a:r>
              <a:rPr sz="2200" dirty="0">
                <a:latin typeface="Times New Roman"/>
                <a:cs typeface="Times New Roman"/>
              </a:rPr>
              <a:t>Advantages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Disadvantages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615"/>
              </a:lnSpc>
              <a:buAutoNum type="arabicPeriod"/>
              <a:tabLst>
                <a:tab pos="497205" algn="l"/>
              </a:tabLst>
            </a:pPr>
            <a:r>
              <a:rPr sz="2200" spc="-10" dirty="0">
                <a:latin typeface="Times New Roman"/>
                <a:cs typeface="Times New Roman"/>
              </a:rPr>
              <a:t>Conclusion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565"/>
              </a:lnSpc>
              <a:buAutoNum type="arabicPeriod"/>
              <a:tabLst>
                <a:tab pos="497205" algn="l"/>
              </a:tabLst>
            </a:pPr>
            <a:r>
              <a:rPr sz="2200" dirty="0">
                <a:latin typeface="Times New Roman"/>
                <a:cs typeface="Times New Roman"/>
              </a:rPr>
              <a:t>Project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Initiation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spc="-50" dirty="0">
                <a:latin typeface="Times New Roman"/>
                <a:cs typeface="Times New Roman"/>
              </a:rPr>
              <a:t>:</a:t>
            </a:r>
            <a:endParaRPr sz="2200" dirty="0">
              <a:latin typeface="Times New Roman"/>
              <a:cs typeface="Times New Roman"/>
            </a:endParaRPr>
          </a:p>
          <a:p>
            <a:pPr marL="1214120" lvl="1" indent="-488315">
              <a:lnSpc>
                <a:spcPts val="2510"/>
              </a:lnSpc>
              <a:buAutoNum type="arabicPeriod"/>
              <a:tabLst>
                <a:tab pos="1214120" algn="l"/>
              </a:tabLst>
            </a:pPr>
            <a:r>
              <a:rPr sz="2200" dirty="0">
                <a:latin typeface="Times New Roman"/>
                <a:cs typeface="Times New Roman"/>
              </a:rPr>
              <a:t>Description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of</a:t>
            </a:r>
            <a:r>
              <a:rPr sz="2200" spc="-6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problem</a:t>
            </a:r>
            <a:r>
              <a:rPr sz="2200" spc="-7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statement.</a:t>
            </a:r>
            <a:endParaRPr sz="2200" dirty="0">
              <a:latin typeface="Times New Roman"/>
              <a:cs typeface="Times New Roman"/>
            </a:endParaRPr>
          </a:p>
          <a:p>
            <a:pPr marL="1214120" lvl="1" indent="-488315">
              <a:lnSpc>
                <a:spcPts val="2515"/>
              </a:lnSpc>
              <a:buAutoNum type="arabicPeriod"/>
              <a:tabLst>
                <a:tab pos="1214120" algn="l"/>
              </a:tabLst>
            </a:pPr>
            <a:r>
              <a:rPr sz="2200" dirty="0">
                <a:latin typeface="Times New Roman"/>
                <a:cs typeface="Times New Roman"/>
              </a:rPr>
              <a:t>Scope</a:t>
            </a:r>
            <a:r>
              <a:rPr sz="2200" spc="-5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and</a:t>
            </a:r>
            <a:r>
              <a:rPr sz="2200" spc="-4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objectives.</a:t>
            </a:r>
            <a:endParaRPr sz="2200" dirty="0">
              <a:latin typeface="Times New Roman"/>
              <a:cs typeface="Times New Roman"/>
            </a:endParaRPr>
          </a:p>
          <a:p>
            <a:pPr marL="1214120" lvl="1" indent="-488315">
              <a:lnSpc>
                <a:spcPts val="2515"/>
              </a:lnSpc>
              <a:buAutoNum type="arabicPeriod"/>
              <a:tabLst>
                <a:tab pos="1214120" algn="l"/>
              </a:tabLst>
            </a:pPr>
            <a:r>
              <a:rPr sz="2200" dirty="0">
                <a:latin typeface="Times New Roman"/>
                <a:cs typeface="Times New Roman"/>
              </a:rPr>
              <a:t>Stake</a:t>
            </a:r>
            <a:r>
              <a:rPr sz="2200" spc="-5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holder</a:t>
            </a:r>
            <a:endParaRPr sz="2200" dirty="0">
              <a:latin typeface="Times New Roman"/>
              <a:cs typeface="Times New Roman"/>
            </a:endParaRPr>
          </a:p>
          <a:p>
            <a:pPr marL="1214120" lvl="1" indent="-488315">
              <a:lnSpc>
                <a:spcPts val="2510"/>
              </a:lnSpc>
              <a:buAutoNum type="arabicPeriod"/>
              <a:tabLst>
                <a:tab pos="1214120" algn="l"/>
                <a:tab pos="3594100" algn="l"/>
              </a:tabLst>
            </a:pPr>
            <a:r>
              <a:rPr sz="2200" dirty="0">
                <a:latin typeface="Times New Roman"/>
                <a:cs typeface="Times New Roman"/>
              </a:rPr>
              <a:t>seminar</a:t>
            </a:r>
            <a:r>
              <a:rPr sz="2200" spc="-30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exsicussion</a:t>
            </a:r>
            <a:r>
              <a:rPr sz="2200" dirty="0">
                <a:latin typeface="Times New Roman"/>
                <a:cs typeface="Times New Roman"/>
              </a:rPr>
              <a:t>	</a:t>
            </a:r>
            <a:r>
              <a:rPr sz="2200" spc="-20" dirty="0">
                <a:latin typeface="Times New Roman"/>
                <a:cs typeface="Times New Roman"/>
              </a:rPr>
              <a:t>plan</a:t>
            </a:r>
            <a:endParaRPr sz="2200" dirty="0">
              <a:latin typeface="Times New Roman"/>
              <a:cs typeface="Times New Roman"/>
            </a:endParaRPr>
          </a:p>
          <a:p>
            <a:pPr marL="1143635" lvl="1" indent="-417830">
              <a:lnSpc>
                <a:spcPts val="2565"/>
              </a:lnSpc>
              <a:buAutoNum type="arabicPeriod"/>
              <a:tabLst>
                <a:tab pos="1143635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Platform/</a:t>
            </a:r>
            <a:r>
              <a:rPr sz="2200" spc="-6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Equipment/</a:t>
            </a:r>
            <a:r>
              <a:rPr sz="2200" spc="-85" dirty="0">
                <a:latin typeface="Times New Roman"/>
                <a:cs typeface="Times New Roman"/>
              </a:rPr>
              <a:t> </a:t>
            </a:r>
            <a:r>
              <a:rPr sz="2200" dirty="0">
                <a:latin typeface="Times New Roman"/>
                <a:cs typeface="Times New Roman"/>
              </a:rPr>
              <a:t>Resources</a:t>
            </a:r>
            <a:r>
              <a:rPr lang="en-US" sz="2200" spc="-95" dirty="0">
                <a:latin typeface="Times New Roman"/>
                <a:cs typeface="Times New Roman"/>
              </a:rPr>
              <a:t> </a:t>
            </a:r>
            <a:r>
              <a:rPr sz="2200" spc="-10" dirty="0">
                <a:latin typeface="Times New Roman"/>
                <a:cs typeface="Times New Roman"/>
              </a:rPr>
              <a:t>identification.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615"/>
              </a:lnSpc>
              <a:buAutoNum type="arabicPeriod"/>
              <a:tabLst>
                <a:tab pos="497205" algn="l"/>
              </a:tabLst>
            </a:pPr>
            <a:r>
              <a:rPr sz="2200" spc="-10" dirty="0">
                <a:latin typeface="Times New Roman"/>
                <a:cs typeface="Times New Roman"/>
              </a:rPr>
              <a:t>Bibliography</a:t>
            </a:r>
            <a:endParaRPr sz="2200" dirty="0">
              <a:latin typeface="Times New Roman"/>
              <a:cs typeface="Times New Roman"/>
            </a:endParaRPr>
          </a:p>
          <a:p>
            <a:pPr marL="497205" indent="-484505">
              <a:lnSpc>
                <a:spcPts val="2630"/>
              </a:lnSpc>
              <a:buAutoNum type="arabicPeriod"/>
              <a:tabLst>
                <a:tab pos="497205" algn="l"/>
              </a:tabLst>
            </a:pPr>
            <a:r>
              <a:rPr sz="2200" spc="-10" dirty="0">
                <a:latin typeface="Times New Roman"/>
                <a:cs typeface="Times New Roman"/>
              </a:rPr>
              <a:t>References</a:t>
            </a:r>
            <a:endParaRPr sz="2200" dirty="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8575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pc="-10" dirty="0"/>
              <a:t>Contents</a:t>
            </a: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636634" y="6431381"/>
            <a:ext cx="1016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Times New Roman"/>
                <a:cs typeface="Times New Roman"/>
              </a:rPr>
              <a:t>2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pc="-10" dirty="0"/>
              <a:t>Abstract</a:t>
            </a:r>
          </a:p>
        </p:txBody>
      </p:sp>
      <p:sp>
        <p:nvSpPr>
          <p:cNvPr id="3" name="object 3"/>
          <p:cNvSpPr/>
          <p:nvPr/>
        </p:nvSpPr>
        <p:spPr>
          <a:xfrm>
            <a:off x="8411464" y="6356350"/>
            <a:ext cx="549275" cy="365125"/>
          </a:xfrm>
          <a:custGeom>
            <a:avLst/>
            <a:gdLst/>
            <a:ahLst/>
            <a:cxnLst/>
            <a:rect l="l" t="t" r="r" b="b"/>
            <a:pathLst>
              <a:path w="549275" h="365125">
                <a:moveTo>
                  <a:pt x="548703" y="0"/>
                </a:moveTo>
                <a:lnTo>
                  <a:pt x="0" y="0"/>
                </a:lnTo>
                <a:lnTo>
                  <a:pt x="0" y="365099"/>
                </a:lnTo>
                <a:lnTo>
                  <a:pt x="548703" y="365099"/>
                </a:lnTo>
                <a:lnTo>
                  <a:pt x="5487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272119"/>
              </p:ext>
            </p:extLst>
          </p:nvPr>
        </p:nvGraphicFramePr>
        <p:xfrm>
          <a:off x="444500" y="1206474"/>
          <a:ext cx="8502013" cy="550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4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37150">
                <a:tc gridSpan="2">
                  <a:txBody>
                    <a:bodyPr/>
                    <a:lstStyle/>
                    <a:p>
                      <a:pPr marL="546100" lvl="0" indent="-342900">
                        <a:spcBef>
                          <a:spcPts val="0"/>
                        </a:spcBef>
                        <a:buSzPts val="3200"/>
                        <a:buFont typeface="Arial" panose="020B0604020202020204" pitchFamily="34" charset="0"/>
                        <a:buChar char="•"/>
                      </a:pPr>
                      <a:endParaRPr lang="en-IN" sz="2200" dirty="0"/>
                    </a:p>
                    <a:p>
                      <a:pPr marL="203200" lvl="0" indent="0">
                        <a:spcBef>
                          <a:spcPts val="0"/>
                        </a:spcBef>
                        <a:buSzPts val="3200"/>
                        <a:buFont typeface="Arial" panose="020B0604020202020204" pitchFamily="34" charset="0"/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  Machine Learning (ML) helps computers learn from data and make </a:t>
                      </a:r>
                    </a:p>
                    <a:p>
                      <a:pPr marL="203200" lvl="0" indent="0">
                        <a:spcBef>
                          <a:spcPts val="0"/>
                        </a:spcBef>
                        <a:buSzPts val="3200"/>
                        <a:buFont typeface="Arial" panose="020B0604020202020204" pitchFamily="34" charset="0"/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predictions. It is used in healthcare to support doctors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  It helps predict diseases like diabetes and heart disease by   </a:t>
                      </a: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analyzing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patient data and medical history.</a:t>
                      </a: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  It can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X-rays and MRI scans to help doctors identify  </a:t>
                      </a: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d</a:t>
                      </a:r>
                      <a:r>
                        <a:rPr lang="en-US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iseases</a:t>
                      </a:r>
                      <a:r>
                        <a:rPr lang="en-US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at an early stage.</a:t>
                      </a: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  Machine Learning improves healthcare services, but data privacy  </a:t>
                      </a:r>
                    </a:p>
                    <a:p>
                      <a:pPr marL="342900" lvl="0" indent="-139700">
                        <a:spcBef>
                          <a:spcPts val="0"/>
                        </a:spcBef>
                        <a:buSzPts val="3200"/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  and prediction errors are major challenges</a:t>
                      </a:r>
                      <a:r>
                        <a:rPr lang="en-IN" sz="24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spc="-50" dirty="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2451735">
              <a:lnSpc>
                <a:spcPct val="100000"/>
              </a:lnSpc>
              <a:spcBef>
                <a:spcPts val="625"/>
              </a:spcBef>
            </a:pPr>
            <a:r>
              <a:rPr dirty="0"/>
              <a:t>1. </a:t>
            </a:r>
            <a:r>
              <a:rPr spc="-10" dirty="0"/>
              <a:t>Introduction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4</a:t>
            </a:fld>
            <a:endParaRPr spc="-5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A22450C-D1C3-4FA6-43E4-4316FA3AA01F}"/>
              </a:ext>
            </a:extLst>
          </p:cNvPr>
          <p:cNvSpPr txBox="1"/>
          <p:nvPr/>
        </p:nvSpPr>
        <p:spPr>
          <a:xfrm>
            <a:off x="533400" y="1447800"/>
            <a:ext cx="8039733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(ML) is a branch of Artificial Intelligence (AI) that enables computers to learn from data and make predictions.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13970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healthcare, Machine Learning helps doctors predict diseases, analyze medical reports, and identify health problems at an early stage.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uses patient information such as        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age, blood pressure, sugar levels, and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medical history to predict health risks.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supports doctors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in making decisions and improving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the quality of healthcare services.</a:t>
            </a: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2163CA1-4E81-D29E-D654-1FAA417383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0258" y="3224981"/>
            <a:ext cx="3352798" cy="3131369"/>
          </a:xfrm>
          <a:prstGeom prst="rect">
            <a:avLst/>
          </a:prstGeom>
        </p:spPr>
      </p:pic>
      <p:grpSp>
        <p:nvGrpSpPr>
          <p:cNvPr id="14" name="object 5">
            <a:extLst>
              <a:ext uri="{FF2B5EF4-FFF2-40B4-BE49-F238E27FC236}">
                <a16:creationId xmlns:a16="http://schemas.microsoft.com/office/drawing/2014/main" id="{05A67AF8-CBB2-3C45-FF1E-9675C33303CE}"/>
              </a:ext>
            </a:extLst>
          </p:cNvPr>
          <p:cNvGrpSpPr/>
          <p:nvPr/>
        </p:nvGrpSpPr>
        <p:grpSpPr>
          <a:xfrm>
            <a:off x="8411464" y="6356350"/>
            <a:ext cx="549275" cy="379412"/>
            <a:chOff x="8411464" y="6356350"/>
            <a:chExt cx="549275" cy="379412"/>
          </a:xfrm>
        </p:grpSpPr>
        <p:sp>
          <p:nvSpPr>
            <p:cNvPr id="15" name="object 6">
              <a:extLst>
                <a:ext uri="{FF2B5EF4-FFF2-40B4-BE49-F238E27FC236}">
                  <a16:creationId xmlns:a16="http://schemas.microsoft.com/office/drawing/2014/main" id="{86FCD0BC-2A64-6CFA-664C-BE10EEF0303E}"/>
                </a:ext>
              </a:extLst>
            </p:cNvPr>
            <p:cNvSpPr/>
            <p:nvPr/>
          </p:nvSpPr>
          <p:spPr>
            <a:xfrm>
              <a:off x="8411464" y="6370637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just"/>
              <a:r>
                <a:rPr lang="en-US" sz="2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 </a:t>
              </a:r>
              <a:r>
                <a:rPr lang="en-US" dirty="0">
                  <a:solidFill>
                    <a:schemeClr val="tx2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</a:t>
              </a:r>
              <a:endParaRPr sz="2200" dirty="0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object 7">
              <a:extLst>
                <a:ext uri="{FF2B5EF4-FFF2-40B4-BE49-F238E27FC236}">
                  <a16:creationId xmlns:a16="http://schemas.microsoft.com/office/drawing/2014/main" id="{69FB9BEC-3A2B-C189-1701-5801616F7A98}"/>
                </a:ext>
              </a:extLst>
            </p:cNvPr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457200"/>
            <a:ext cx="8229600" cy="660400"/>
          </a:xfrm>
          <a:prstGeom prst="rect">
            <a:avLst/>
          </a:prstGeom>
          <a:ln w="25400">
            <a:solidFill>
              <a:srgbClr val="4F80BC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ts val="4980"/>
              </a:lnSpc>
              <a:tabLst>
                <a:tab pos="2760980" algn="l"/>
              </a:tabLst>
            </a:pPr>
            <a:r>
              <a:rPr spc="-10" dirty="0">
                <a:solidFill>
                  <a:srgbClr val="0A2A6B"/>
                </a:solidFill>
              </a:rPr>
              <a:t>2.Literature</a:t>
            </a:r>
            <a:r>
              <a:rPr dirty="0">
                <a:solidFill>
                  <a:srgbClr val="0A2A6B"/>
                </a:solidFill>
              </a:rPr>
              <a:t>	</a:t>
            </a:r>
            <a:r>
              <a:rPr lang="en-US" spc="-10" dirty="0">
                <a:solidFill>
                  <a:srgbClr val="0A2A6B"/>
                </a:solidFill>
              </a:rPr>
              <a:t>Review</a:t>
            </a:r>
            <a:endParaRPr spc="-10" dirty="0">
              <a:solidFill>
                <a:srgbClr val="0A2A6B"/>
              </a:solidFill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40377839"/>
              </p:ext>
            </p:extLst>
          </p:nvPr>
        </p:nvGraphicFramePr>
        <p:xfrm>
          <a:off x="452119" y="1264919"/>
          <a:ext cx="8229600" cy="488886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76200" marR="67945" indent="-635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 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494665" marR="220345" indent="-2667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Approach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545465" marR="80645" indent="-4572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Objective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Limitations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92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1</a:t>
                      </a:r>
                      <a:endParaRPr sz="1800" dirty="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Review of AI in medicine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Medical AI   methods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Published studies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Summarise imaging and clinical AI applications.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Clinical usefulness and safety need validation.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92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Data-centric ML review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ML and data-quality methods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Healthcare datasets in reviewed studies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Explain deployment, data quality and data shift.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Performance may change in new settings.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9255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3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Deep-learning review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Neural networks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Medical images and clinical data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Describe deep learning in healthcare.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Requires suitable data and expert evaluation.</a:t>
                      </a:r>
                      <a:endParaRPr lang="en-IN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/>
          <p:nvPr/>
        </p:nvSpPr>
        <p:spPr>
          <a:xfrm>
            <a:off x="8356600" y="6375400"/>
            <a:ext cx="482600" cy="330200"/>
          </a:xfrm>
          <a:custGeom>
            <a:avLst/>
            <a:gdLst/>
            <a:ahLst/>
            <a:cxnLst/>
            <a:rect l="l" t="t" r="r" b="b"/>
            <a:pathLst>
              <a:path w="482600" h="330200">
                <a:moveTo>
                  <a:pt x="0" y="330200"/>
                </a:moveTo>
                <a:lnTo>
                  <a:pt x="482600" y="330200"/>
                </a:lnTo>
                <a:lnTo>
                  <a:pt x="482600" y="0"/>
                </a:lnTo>
                <a:lnTo>
                  <a:pt x="0" y="0"/>
                </a:lnTo>
                <a:lnTo>
                  <a:pt x="0" y="330200"/>
                </a:lnTo>
                <a:close/>
              </a:path>
            </a:pathLst>
          </a:custGeom>
          <a:ln w="25400">
            <a:solidFill>
              <a:srgbClr val="4F80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052363"/>
              </p:ext>
            </p:extLst>
          </p:nvPr>
        </p:nvGraphicFramePr>
        <p:xfrm>
          <a:off x="452119" y="312420"/>
          <a:ext cx="8229600" cy="60833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76200" marR="67945" indent="-635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 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494665" marR="220345" indent="-2667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Approach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545465" marR="80645" indent="-4572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Objective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Limitations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4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Human–AI collaboration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Clinical AI systems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Clinical research literature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Explore how AI can complement clinicians.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Technology must fit clinical workflows.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5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Ethics and governance guidance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Governance principles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Health AI use cases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Promote safe, transparent and accountable use.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Requires implementation and oversight.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6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Clinical decision support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Classification and regression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Clinical records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Support risk estimates and prioritisation.</a:t>
                      </a:r>
                      <a:endParaRPr lang="en-IN" sz="18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Poor integration can create alert fatigue.</a:t>
                      </a:r>
                      <a:endParaRPr lang="en-IN" sz="18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827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7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Clinical data quality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Preprocessing and validation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Electronic health records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Reduce errors and leakage in model building.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Missing and inconsistent data remain common.</a:t>
                      </a:r>
                      <a:endParaRPr lang="en-IN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8356600" y="6375400"/>
            <a:ext cx="482600" cy="330200"/>
          </a:xfrm>
          <a:custGeom>
            <a:avLst/>
            <a:gdLst/>
            <a:ahLst/>
            <a:cxnLst/>
            <a:rect l="l" t="t" r="r" b="b"/>
            <a:pathLst>
              <a:path w="482600" h="330200">
                <a:moveTo>
                  <a:pt x="0" y="330200"/>
                </a:moveTo>
                <a:lnTo>
                  <a:pt x="482600" y="330200"/>
                </a:lnTo>
                <a:lnTo>
                  <a:pt x="482600" y="0"/>
                </a:lnTo>
                <a:lnTo>
                  <a:pt x="0" y="0"/>
                </a:lnTo>
                <a:lnTo>
                  <a:pt x="0" y="330200"/>
                </a:lnTo>
                <a:close/>
              </a:path>
            </a:pathLst>
          </a:custGeom>
          <a:ln w="25400">
            <a:solidFill>
              <a:srgbClr val="4F80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040369"/>
              </p:ext>
            </p:extLst>
          </p:nvPr>
        </p:nvGraphicFramePr>
        <p:xfrm>
          <a:off x="452119" y="312420"/>
          <a:ext cx="8229600" cy="61258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5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marL="76200" marR="67945" indent="-635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25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Sr. No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494665" marR="220345" indent="-2667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Approach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Type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545465" marR="80645" indent="-457200">
                        <a:lnSpc>
                          <a:spcPts val="2100"/>
                        </a:lnSpc>
                        <a:spcBef>
                          <a:spcPts val="72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Technologies 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Used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914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Dataset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107314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Key </a:t>
                      </a: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Objective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tc>
                  <a:txBody>
                    <a:bodyPr/>
                    <a:lstStyle/>
                    <a:p>
                      <a:pPr marL="215265">
                        <a:lnSpc>
                          <a:spcPct val="100000"/>
                        </a:lnSpc>
                        <a:spcBef>
                          <a:spcPts val="1650"/>
                        </a:spcBef>
                      </a:pPr>
                      <a:r>
                        <a:rPr sz="1800" b="1" spc="-10" dirty="0">
                          <a:solidFill>
                            <a:srgbClr val="FFFFFF"/>
                          </a:solidFill>
                          <a:latin typeface="Arial"/>
                          <a:cs typeface="Arial"/>
                        </a:rPr>
                        <a:t>Limitations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2095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ACC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8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Medical image analysis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CNNs and deep learning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X-ray, CT, MRI and retinal images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Highlight patterns for professional review.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Equipment and population shifts affect results.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50" dirty="0">
                          <a:latin typeface="Arial"/>
                          <a:cs typeface="Arial"/>
                        </a:rPr>
                        <a:t>9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Disease-risk prediction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Logistic regression, trees, ensembles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Clinical measurements and history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Estimate risk for a defined outcome.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Risk scores are not diagnoses.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10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Privacy and security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Access control, encryption, minimisation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Sensitive health information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Protect patient data through the ML lifecycle.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Controls must be maintained and audited.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2552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11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Fairness and explainability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Subgroup evaluation and interpretation tools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Representative evaluation datasets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Identify bias and understand model limitations.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Explanations may not prove correctness.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2616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1800" spc="-25" dirty="0">
                          <a:latin typeface="Arial"/>
                          <a:cs typeface="Arial"/>
                        </a:rPr>
                        <a:t>12</a:t>
                      </a:r>
                      <a:endParaRPr sz="1800">
                        <a:latin typeface="Arial"/>
                        <a:cs typeface="Arial"/>
                      </a:endParaRPr>
                    </a:p>
                  </a:txBody>
                  <a:tcPr marL="0" marR="0" marT="5080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Deployment and monitoring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Drift monitoring and version control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Post-deployment performance data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Detect changing performance after launch.</a:t>
                      </a:r>
                      <a:endParaRPr lang="en-IN" sz="160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tc>
                  <a:txBody>
                    <a:bodyPr/>
                    <a:lstStyle/>
                    <a:p>
                      <a:pPr marL="36195">
                        <a:buNone/>
                      </a:pPr>
                      <a:r>
                        <a:rPr lang="en-US" sz="1800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Needs ongoing resources and clear ownership.</a:t>
                      </a:r>
                      <a:endParaRPr lang="en-IN" sz="1600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E8EF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" name="object 3"/>
          <p:cNvSpPr/>
          <p:nvPr/>
        </p:nvSpPr>
        <p:spPr>
          <a:xfrm>
            <a:off x="8356600" y="6375400"/>
            <a:ext cx="482600" cy="330200"/>
          </a:xfrm>
          <a:custGeom>
            <a:avLst/>
            <a:gdLst/>
            <a:ahLst/>
            <a:cxnLst/>
            <a:rect l="l" t="t" r="r" b="b"/>
            <a:pathLst>
              <a:path w="482600" h="330200">
                <a:moveTo>
                  <a:pt x="0" y="330200"/>
                </a:moveTo>
                <a:lnTo>
                  <a:pt x="482600" y="330200"/>
                </a:lnTo>
                <a:lnTo>
                  <a:pt x="482600" y="0"/>
                </a:lnTo>
                <a:lnTo>
                  <a:pt x="0" y="0"/>
                </a:lnTo>
                <a:lnTo>
                  <a:pt x="0" y="330200"/>
                </a:lnTo>
                <a:close/>
              </a:path>
            </a:pathLst>
          </a:custGeom>
          <a:ln w="25400">
            <a:solidFill>
              <a:srgbClr val="4F80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7</a:t>
            </a:fld>
            <a:endParaRPr spc="-50" dirty="0"/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757259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870710">
              <a:lnSpc>
                <a:spcPct val="100000"/>
              </a:lnSpc>
              <a:spcBef>
                <a:spcPts val="625"/>
              </a:spcBef>
            </a:pPr>
            <a:r>
              <a:rPr dirty="0"/>
              <a:t>2.</a:t>
            </a:r>
            <a:r>
              <a:rPr spc="-20" dirty="0"/>
              <a:t> </a:t>
            </a:r>
            <a:r>
              <a:rPr dirty="0"/>
              <a:t>Literature</a:t>
            </a:r>
            <a:r>
              <a:rPr spc="-35" dirty="0"/>
              <a:t> </a:t>
            </a:r>
            <a:r>
              <a:rPr lang="en-US" spc="-10" dirty="0"/>
              <a:t>Review</a:t>
            </a:r>
            <a:endParaRPr spc="-10" dirty="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8</a:t>
            </a:fld>
            <a:endParaRPr spc="-5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399299-ACAA-CE62-AC47-1006D8B2A79F}"/>
              </a:ext>
            </a:extLst>
          </p:cNvPr>
          <p:cNvSpPr txBox="1"/>
          <p:nvPr/>
        </p:nvSpPr>
        <p:spPr>
          <a:xfrm>
            <a:off x="609600" y="1455174"/>
            <a:ext cx="78486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2022, Angela Zhang and other researchers studied how Machine Learning can be used in healthcare. They explained the importance of medical data and the challenges of using ML in real hospitals.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2022, Pranav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Rajpurkar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other researchers studied AI in healthcare. They explained how AI helps analyze medical images, support doctors, and improve disease diagnosis.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DE93CD5F-AC02-7C05-8675-BEA0033AB4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917950"/>
            <a:ext cx="6970449" cy="2438400"/>
          </a:xfrm>
          <a:prstGeom prst="rect">
            <a:avLst/>
          </a:prstGeom>
        </p:spPr>
      </p:pic>
      <p:grpSp>
        <p:nvGrpSpPr>
          <p:cNvPr id="17" name="object 5">
            <a:extLst>
              <a:ext uri="{FF2B5EF4-FFF2-40B4-BE49-F238E27FC236}">
                <a16:creationId xmlns:a16="http://schemas.microsoft.com/office/drawing/2014/main" id="{F2D23677-7A27-7E12-ED68-F5FDE2307793}"/>
              </a:ext>
            </a:extLst>
          </p:cNvPr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18" name="object 6">
              <a:extLst>
                <a:ext uri="{FF2B5EF4-FFF2-40B4-BE49-F238E27FC236}">
                  <a16:creationId xmlns:a16="http://schemas.microsoft.com/office/drawing/2014/main" id="{D832CABA-4786-AC7E-B6DF-56B2CC179706}"/>
                </a:ext>
              </a:extLst>
            </p:cNvPr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US" sz="1200" dirty="0"/>
                <a:t>     </a:t>
              </a:r>
              <a:r>
                <a:rPr lang="en-US" sz="1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8</a:t>
              </a:r>
              <a:endParaRPr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9" name="object 7">
              <a:extLst>
                <a:ext uri="{FF2B5EF4-FFF2-40B4-BE49-F238E27FC236}">
                  <a16:creationId xmlns:a16="http://schemas.microsoft.com/office/drawing/2014/main" id="{A35EFF8C-2F7D-4A69-1DA7-1818A2783741}"/>
                </a:ext>
              </a:extLst>
            </p:cNvPr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94CDF3DA-765F-3F13-F38A-5D798F60B911}"/>
              </a:ext>
            </a:extLst>
          </p:cNvPr>
          <p:cNvSpPr txBox="1"/>
          <p:nvPr/>
        </p:nvSpPr>
        <p:spPr>
          <a:xfrm>
            <a:off x="838200" y="3617503"/>
            <a:ext cx="4419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Appllication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ML in Healthcare :-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628650">
              <a:lnSpc>
                <a:spcPct val="100000"/>
              </a:lnSpc>
              <a:spcBef>
                <a:spcPts val="625"/>
              </a:spcBef>
            </a:pPr>
            <a:r>
              <a:rPr dirty="0"/>
              <a:t>3.</a:t>
            </a:r>
            <a:r>
              <a:rPr spc="-10" dirty="0"/>
              <a:t> </a:t>
            </a:r>
            <a:r>
              <a:rPr dirty="0"/>
              <a:t>Information</a:t>
            </a:r>
            <a:r>
              <a:rPr spc="-40" dirty="0"/>
              <a:t> </a:t>
            </a:r>
            <a:r>
              <a:rPr dirty="0"/>
              <a:t>to</a:t>
            </a:r>
            <a:r>
              <a:rPr spc="-10" dirty="0"/>
              <a:t> </a:t>
            </a:r>
            <a:r>
              <a:rPr dirty="0"/>
              <a:t>seminar</a:t>
            </a:r>
            <a:r>
              <a:rPr spc="-5" dirty="0"/>
              <a:t> </a:t>
            </a:r>
            <a:r>
              <a:rPr spc="-10" dirty="0"/>
              <a:t>topic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8631" y="1243329"/>
            <a:ext cx="7848600" cy="436978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Data Collection: Patient information, medical images, laboratory  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reports and electronic health records are collected from healthcare  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systems.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Data Preparation: The collected data is cleaned and organized to 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improve its quality before training the machine learning model.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Machine Learning Analysis: A trained ML model analyzes medical 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data to identify patterns and help predict possible diseases.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Disease Prediction: The system provides predictions or highlights 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suspicious findings for review by healthcare professionals.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Clinical Support: Doctors use the model's results along with 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medical knowledge to support diagnosis, treatment planning and  </a:t>
            </a:r>
          </a:p>
          <a:p>
            <a:pPr marL="12065" marR="114300" algn="just">
              <a:lnSpc>
                <a:spcPct val="100000"/>
              </a:lnSpc>
              <a:spcBef>
                <a:spcPts val="95"/>
              </a:spcBef>
              <a:buSzPct val="145454"/>
              <a:tabLst>
                <a:tab pos="355600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patient monitoring.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6200">
              <a:lnSpc>
                <a:spcPts val="141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57200" y="274624"/>
            <a:ext cx="8229600" cy="868680"/>
          </a:xfrm>
          <a:custGeom>
            <a:avLst/>
            <a:gdLst/>
            <a:ahLst/>
            <a:cxnLst/>
            <a:rect l="l" t="t" r="r" b="b"/>
            <a:pathLst>
              <a:path w="8229600" h="868680">
                <a:moveTo>
                  <a:pt x="0" y="868502"/>
                </a:moveTo>
                <a:lnTo>
                  <a:pt x="8229600" y="868502"/>
                </a:lnTo>
                <a:lnTo>
                  <a:pt x="8229600" y="0"/>
                </a:lnTo>
                <a:lnTo>
                  <a:pt x="0" y="0"/>
                </a:lnTo>
                <a:lnTo>
                  <a:pt x="0" y="868502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4.</a:t>
            </a:r>
            <a:r>
              <a:rPr spc="-20" dirty="0"/>
              <a:t> </a:t>
            </a:r>
            <a:r>
              <a:rPr dirty="0"/>
              <a:t>Advantages</a:t>
            </a:r>
            <a:r>
              <a:rPr spc="-65" dirty="0"/>
              <a:t> </a:t>
            </a:r>
            <a:r>
              <a:rPr dirty="0"/>
              <a:t>/</a:t>
            </a:r>
            <a:r>
              <a:rPr spc="-20" dirty="0"/>
              <a:t> </a:t>
            </a:r>
            <a:r>
              <a:rPr spc="-10" dirty="0"/>
              <a:t>Disadvantages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444500" y="1195069"/>
            <a:ext cx="8528685" cy="5510531"/>
            <a:chOff x="444500" y="1195069"/>
            <a:chExt cx="8528685" cy="5539105"/>
          </a:xfrm>
        </p:grpSpPr>
        <p:sp>
          <p:nvSpPr>
            <p:cNvPr id="5" name="object 5"/>
            <p:cNvSpPr/>
            <p:nvPr/>
          </p:nvSpPr>
          <p:spPr>
            <a:xfrm>
              <a:off x="457200" y="1219199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11464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11464" y="6356349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457200" y="1201381"/>
              <a:ext cx="8229600" cy="871855"/>
            </a:xfrm>
            <a:custGeom>
              <a:avLst/>
              <a:gdLst/>
              <a:ahLst/>
              <a:cxnLst/>
              <a:rect l="l" t="t" r="r" b="b"/>
              <a:pathLst>
                <a:path w="8229600" h="871855">
                  <a:moveTo>
                    <a:pt x="8229600" y="0"/>
                  </a:moveTo>
                  <a:lnTo>
                    <a:pt x="4100068" y="0"/>
                  </a:lnTo>
                  <a:lnTo>
                    <a:pt x="0" y="0"/>
                  </a:lnTo>
                  <a:lnTo>
                    <a:pt x="0" y="871258"/>
                  </a:lnTo>
                  <a:lnTo>
                    <a:pt x="4100068" y="871258"/>
                  </a:lnTo>
                  <a:lnTo>
                    <a:pt x="8229600" y="871258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7200" y="2072601"/>
              <a:ext cx="8229600" cy="4462780"/>
            </a:xfrm>
            <a:custGeom>
              <a:avLst/>
              <a:gdLst/>
              <a:ahLst/>
              <a:cxnLst/>
              <a:rect l="l" t="t" r="r" b="b"/>
              <a:pathLst>
                <a:path w="8229600" h="4462780">
                  <a:moveTo>
                    <a:pt x="8229600" y="3564915"/>
                  </a:moveTo>
                  <a:lnTo>
                    <a:pt x="4100068" y="3564915"/>
                  </a:lnTo>
                  <a:lnTo>
                    <a:pt x="0" y="3564915"/>
                  </a:lnTo>
                  <a:lnTo>
                    <a:pt x="0" y="4462780"/>
                  </a:lnTo>
                  <a:lnTo>
                    <a:pt x="4100068" y="4462780"/>
                  </a:lnTo>
                  <a:lnTo>
                    <a:pt x="8229600" y="4462780"/>
                  </a:lnTo>
                  <a:lnTo>
                    <a:pt x="8229600" y="3564915"/>
                  </a:lnTo>
                  <a:close/>
                </a:path>
                <a:path w="8229600" h="4462780">
                  <a:moveTo>
                    <a:pt x="8229600" y="1769173"/>
                  </a:moveTo>
                  <a:lnTo>
                    <a:pt x="4100068" y="1769173"/>
                  </a:lnTo>
                  <a:lnTo>
                    <a:pt x="0" y="1769173"/>
                  </a:lnTo>
                  <a:lnTo>
                    <a:pt x="0" y="2667038"/>
                  </a:lnTo>
                  <a:lnTo>
                    <a:pt x="4100068" y="2667038"/>
                  </a:lnTo>
                  <a:lnTo>
                    <a:pt x="8229600" y="2667038"/>
                  </a:lnTo>
                  <a:lnTo>
                    <a:pt x="8229600" y="1769173"/>
                  </a:lnTo>
                  <a:close/>
                </a:path>
                <a:path w="8229600" h="4462780">
                  <a:moveTo>
                    <a:pt x="8229600" y="0"/>
                  </a:moveTo>
                  <a:lnTo>
                    <a:pt x="4100068" y="0"/>
                  </a:lnTo>
                  <a:lnTo>
                    <a:pt x="0" y="0"/>
                  </a:lnTo>
                  <a:lnTo>
                    <a:pt x="0" y="871258"/>
                  </a:lnTo>
                  <a:lnTo>
                    <a:pt x="4100068" y="871258"/>
                  </a:lnTo>
                  <a:lnTo>
                    <a:pt x="8229600" y="871258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E9F0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0850" y="1195069"/>
              <a:ext cx="8242300" cy="5346700"/>
            </a:xfrm>
            <a:custGeom>
              <a:avLst/>
              <a:gdLst/>
              <a:ahLst/>
              <a:cxnLst/>
              <a:rect l="l" t="t" r="r" b="b"/>
              <a:pathLst>
                <a:path w="8242300" h="5346700">
                  <a:moveTo>
                    <a:pt x="4106417" y="0"/>
                  </a:moveTo>
                  <a:lnTo>
                    <a:pt x="4106417" y="5346661"/>
                  </a:lnTo>
                </a:path>
                <a:path w="8242300" h="5346700">
                  <a:moveTo>
                    <a:pt x="0" y="877569"/>
                  </a:moveTo>
                  <a:lnTo>
                    <a:pt x="8242300" y="877569"/>
                  </a:lnTo>
                </a:path>
                <a:path w="8242300" h="5346700">
                  <a:moveTo>
                    <a:pt x="0" y="1748789"/>
                  </a:moveTo>
                  <a:lnTo>
                    <a:pt x="8242300" y="1748789"/>
                  </a:lnTo>
                </a:path>
                <a:path w="8242300" h="5346700">
                  <a:moveTo>
                    <a:pt x="0" y="2646679"/>
                  </a:moveTo>
                  <a:lnTo>
                    <a:pt x="8242300" y="2646679"/>
                  </a:lnTo>
                </a:path>
                <a:path w="8242300" h="5346700">
                  <a:moveTo>
                    <a:pt x="0" y="3544569"/>
                  </a:moveTo>
                  <a:lnTo>
                    <a:pt x="8242300" y="3544569"/>
                  </a:lnTo>
                </a:path>
                <a:path w="8242300" h="5346700">
                  <a:moveTo>
                    <a:pt x="0" y="4442447"/>
                  </a:moveTo>
                  <a:lnTo>
                    <a:pt x="8242300" y="4442447"/>
                  </a:lnTo>
                </a:path>
                <a:path w="8242300" h="5346700">
                  <a:moveTo>
                    <a:pt x="6350" y="0"/>
                  </a:moveTo>
                  <a:lnTo>
                    <a:pt x="6350" y="5346661"/>
                  </a:lnTo>
                </a:path>
                <a:path w="8242300" h="5346700">
                  <a:moveTo>
                    <a:pt x="8235950" y="0"/>
                  </a:moveTo>
                  <a:lnTo>
                    <a:pt x="8235950" y="5346661"/>
                  </a:lnTo>
                </a:path>
                <a:path w="8242300" h="5346700">
                  <a:moveTo>
                    <a:pt x="0" y="6350"/>
                  </a:moveTo>
                  <a:lnTo>
                    <a:pt x="8242300" y="6350"/>
                  </a:lnTo>
                </a:path>
                <a:path w="8242300" h="5346700">
                  <a:moveTo>
                    <a:pt x="0" y="5340311"/>
                  </a:moveTo>
                  <a:lnTo>
                    <a:pt x="8242300" y="5340311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1732914" y="1224153"/>
            <a:ext cx="58426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949700" algn="l"/>
              </a:tabLst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Advantages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Disadvantages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sp>
        <p:nvSpPr>
          <p:cNvPr id="12" name="object 12"/>
          <p:cNvSpPr txBox="1"/>
          <p:nvPr/>
        </p:nvSpPr>
        <p:spPr>
          <a:xfrm>
            <a:off x="535940" y="2098675"/>
            <a:ext cx="3566160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Helps detect diseases at an early stage.</a:t>
            </a:r>
            <a:r>
              <a:rPr sz="1800" spc="-10" dirty="0">
                <a:latin typeface="Arial"/>
                <a:cs typeface="Arial"/>
              </a:rPr>
              <a:t>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636770" y="2100198"/>
            <a:ext cx="3492500" cy="287258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lang="en-US" sz="1800" dirty="0">
                <a:latin typeface="Arial"/>
                <a:cs typeface="Arial"/>
              </a:rPr>
              <a:t>Predictions may be incorrect.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535940" y="2971546"/>
            <a:ext cx="361696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lang="en-US" sz="1800" dirty="0">
                <a:latin typeface="Arial"/>
                <a:cs typeface="Arial"/>
              </a:rPr>
              <a:t>Can analyze medical images and reports quickly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36770" y="2971546"/>
            <a:ext cx="3169285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lang="en-US" sz="1800" dirty="0">
                <a:latin typeface="Arial"/>
                <a:cs typeface="Arial"/>
              </a:rPr>
              <a:t>Requires large amounts of quality medical data.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40" y="3869563"/>
            <a:ext cx="371856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lang="en-US" sz="1800" dirty="0">
                <a:latin typeface="Arial"/>
                <a:cs typeface="Arial"/>
              </a:rPr>
              <a:t>Supports doctors in diagnosis and treatment planning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36770" y="3869563"/>
            <a:ext cx="375920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lang="en-US" sz="1800" dirty="0">
                <a:latin typeface="Arial"/>
                <a:cs typeface="Arial"/>
              </a:rPr>
              <a:t>Development and maintenance can be costly.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4767453"/>
            <a:ext cx="3796029" cy="27699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100"/>
              </a:spcBef>
            </a:pPr>
            <a:r>
              <a:rPr lang="en-IN" sz="1800" dirty="0">
                <a:latin typeface="Arial"/>
                <a:cs typeface="Arial"/>
              </a:rPr>
              <a:t>Helps predict disease risks.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36770" y="4767453"/>
            <a:ext cx="3906520" cy="5727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155"/>
              </a:lnSpc>
              <a:spcBef>
                <a:spcPts val="100"/>
              </a:spcBef>
            </a:pPr>
            <a:r>
              <a:rPr lang="en-US" sz="1800" dirty="0">
                <a:latin typeface="Arial"/>
                <a:cs typeface="Arial"/>
              </a:rPr>
              <a:t>Patient privacy and data security are important concerns.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35940" y="5665723"/>
            <a:ext cx="393192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lang="en-US" sz="1800" dirty="0">
                <a:latin typeface="Arial"/>
                <a:cs typeface="Arial"/>
              </a:rPr>
              <a:t>Can improve patient monitoring and healthcare efficiency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36770" y="5665723"/>
            <a:ext cx="3870960" cy="572770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2150"/>
              </a:lnSpc>
              <a:spcBef>
                <a:spcPts val="180"/>
              </a:spcBef>
            </a:pPr>
            <a:r>
              <a:rPr lang="en-US" sz="1800" dirty="0">
                <a:latin typeface="Arial"/>
                <a:cs typeface="Arial"/>
              </a:rPr>
              <a:t>Cannot completely replace doctors and clinical judgment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2559685">
              <a:lnSpc>
                <a:spcPct val="100000"/>
              </a:lnSpc>
              <a:spcBef>
                <a:spcPts val="625"/>
              </a:spcBef>
            </a:pPr>
            <a:r>
              <a:rPr dirty="0"/>
              <a:t>5. </a:t>
            </a:r>
            <a:r>
              <a:rPr spc="-10" dirty="0"/>
              <a:t>Conclusion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8631" y="1243329"/>
            <a:ext cx="7684770" cy="37362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is an important technology that helps improve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h</a:t>
            </a: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ealthcare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services and supports doctors in predicting diseases.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helps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patient data and medical images to identify possible diseases at an early stage.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can save time and support better medical decisions, but accurate data and patient privacy are important..</a:t>
            </a: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endParaRPr lang="en-IN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139700">
              <a:spcBef>
                <a:spcPts val="0"/>
              </a:spcBef>
              <a:buSzPts val="3200"/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 the future, Machine Learning can make healthcare smarter, faster, and more efficient.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marL="1946910">
              <a:lnSpc>
                <a:spcPct val="100000"/>
              </a:lnSpc>
              <a:spcBef>
                <a:spcPts val="625"/>
              </a:spcBef>
            </a:pPr>
            <a:r>
              <a:rPr dirty="0"/>
              <a:t>6. Project</a:t>
            </a:r>
            <a:r>
              <a:rPr spc="-25" dirty="0"/>
              <a:t> </a:t>
            </a:r>
            <a:r>
              <a:rPr spc="-10" dirty="0"/>
              <a:t>Initiation</a:t>
            </a:r>
          </a:p>
        </p:txBody>
      </p:sp>
      <p:sp>
        <p:nvSpPr>
          <p:cNvPr id="3" name="object 3"/>
          <p:cNvSpPr/>
          <p:nvPr/>
        </p:nvSpPr>
        <p:spPr>
          <a:xfrm>
            <a:off x="8411464" y="6356350"/>
            <a:ext cx="549275" cy="365125"/>
          </a:xfrm>
          <a:custGeom>
            <a:avLst/>
            <a:gdLst/>
            <a:ahLst/>
            <a:cxnLst/>
            <a:rect l="l" t="t" r="r" b="b"/>
            <a:pathLst>
              <a:path w="549275" h="365125">
                <a:moveTo>
                  <a:pt x="548703" y="0"/>
                </a:moveTo>
                <a:lnTo>
                  <a:pt x="0" y="0"/>
                </a:lnTo>
                <a:lnTo>
                  <a:pt x="0" y="365099"/>
                </a:lnTo>
                <a:lnTo>
                  <a:pt x="548703" y="365099"/>
                </a:lnTo>
                <a:lnTo>
                  <a:pt x="5487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0241580"/>
              </p:ext>
            </p:extLst>
          </p:nvPr>
        </p:nvGraphicFramePr>
        <p:xfrm>
          <a:off x="444500" y="1206474"/>
          <a:ext cx="8502013" cy="55016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4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37150">
                <a:tc gridSpan="2">
                  <a:txBody>
                    <a:bodyPr/>
                    <a:lstStyle/>
                    <a:p>
                      <a:pPr marL="114300" indent="0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The project focuses on using Machine Learning to help predict  </a:t>
                      </a:r>
                    </a:p>
                    <a:p>
                      <a:pPr marL="114300" indent="0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diseases and identify health risks using patient data.</a:t>
                      </a:r>
                    </a:p>
                    <a:p>
                      <a:pPr marL="114300" indent="0">
                        <a:buNone/>
                      </a:pP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0" indent="0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It aims to understand how Machine Learning </a:t>
                      </a:r>
                      <a:r>
                        <a:rPr lang="en-IN" sz="2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analyzes</a:t>
                      </a: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medical      </a:t>
                      </a:r>
                    </a:p>
                    <a:p>
                      <a:pPr marL="114300" indent="0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information and helps doctors in early diagnosis.</a:t>
                      </a:r>
                    </a:p>
                    <a:p>
                      <a:pPr marL="114300" indent="0">
                        <a:buNone/>
                      </a:pP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0" indent="0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The project will study patient data such as age, blood pressure, sugar </a:t>
                      </a:r>
                    </a:p>
                    <a:p>
                      <a:pPr marL="114300" indent="0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levels, and medical history.</a:t>
                      </a:r>
                    </a:p>
                    <a:p>
                      <a:pPr marL="114300" indent="0">
                        <a:buNone/>
                      </a:pPr>
                      <a:endParaRPr lang="en-IN" sz="2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marL="114300" indent="0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This project will explain how Machine Learning can support </a:t>
                      </a:r>
                    </a:p>
                    <a:p>
                      <a:pPr marL="114300" indent="0">
                        <a:buNone/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  healthcare and improve disease prediction.</a:t>
                      </a:r>
                    </a:p>
                    <a:p>
                      <a:pPr marL="294005" indent="0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 marL="636905">
                        <a:lnSpc>
                          <a:spcPts val="2085"/>
                        </a:lnSpc>
                      </a:pP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spc="-25" dirty="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lang="en-US" sz="1200" spc="-25" dirty="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136575"/>
            <a:ext cx="8229600" cy="125095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61594" rIns="0" bIns="0" rtlCol="0">
            <a:spAutoFit/>
          </a:bodyPr>
          <a:lstStyle/>
          <a:p>
            <a:pPr marL="2828290" marR="641350" indent="-2179955">
              <a:lnSpc>
                <a:spcPct val="100000"/>
              </a:lnSpc>
              <a:spcBef>
                <a:spcPts val="484"/>
              </a:spcBef>
            </a:pPr>
            <a:r>
              <a:rPr sz="3600" dirty="0"/>
              <a:t>6.1</a:t>
            </a:r>
            <a:r>
              <a:rPr sz="3600" spc="-20" dirty="0"/>
              <a:t> </a:t>
            </a:r>
            <a:r>
              <a:rPr sz="3600" dirty="0"/>
              <a:t>Description</a:t>
            </a:r>
            <a:r>
              <a:rPr sz="3600" spc="-5" dirty="0"/>
              <a:t> </a:t>
            </a:r>
            <a:r>
              <a:rPr sz="3600" dirty="0"/>
              <a:t>of</a:t>
            </a:r>
            <a:r>
              <a:rPr sz="3600" spc="-10" dirty="0"/>
              <a:t> </a:t>
            </a:r>
            <a:r>
              <a:rPr sz="3600" dirty="0"/>
              <a:t>problem</a:t>
            </a:r>
            <a:r>
              <a:rPr sz="3600" spc="-10" dirty="0"/>
              <a:t> statement, Identification.</a:t>
            </a:r>
            <a:endParaRPr sz="3600"/>
          </a:p>
        </p:txBody>
      </p:sp>
      <p:sp>
        <p:nvSpPr>
          <p:cNvPr id="3" name="object 3"/>
          <p:cNvSpPr/>
          <p:nvPr/>
        </p:nvSpPr>
        <p:spPr>
          <a:xfrm>
            <a:off x="8411464" y="6356350"/>
            <a:ext cx="549275" cy="365125"/>
          </a:xfrm>
          <a:custGeom>
            <a:avLst/>
            <a:gdLst/>
            <a:ahLst/>
            <a:cxnLst/>
            <a:rect l="l" t="t" r="r" b="b"/>
            <a:pathLst>
              <a:path w="549275" h="365125">
                <a:moveTo>
                  <a:pt x="548703" y="0"/>
                </a:moveTo>
                <a:lnTo>
                  <a:pt x="0" y="0"/>
                </a:lnTo>
                <a:lnTo>
                  <a:pt x="0" y="365099"/>
                </a:lnTo>
                <a:lnTo>
                  <a:pt x="548703" y="365099"/>
                </a:lnTo>
                <a:lnTo>
                  <a:pt x="548703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7803078"/>
              </p:ext>
            </p:extLst>
          </p:nvPr>
        </p:nvGraphicFramePr>
        <p:xfrm>
          <a:off x="444500" y="1506321"/>
          <a:ext cx="8502013" cy="52012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95400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9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36795">
                <a:tc gridSpan="2">
                  <a:txBody>
                    <a:bodyPr/>
                    <a:lstStyle/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Problem Statement: Traditional healthcare diagnosis may take time  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 and can be affected by human error. Analyzing large amounts of 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 medical data manually can make early disease detection difficult.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Proposed Solution: Develop a Machine Learning prototype that  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analyzes medical data, identifies patterns and helps predict possible 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diseases. Display the results through a simple dashboard for  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healthcare professionals.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IN" sz="2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</a:t>
                      </a: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Assumptions: The prototype will use a limited medical dataset and a  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trained ML model. It will provide predictions for selected diseases  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and support doctors in decision-making. It will not replace </a:t>
                      </a:r>
                    </a:p>
                    <a:p>
                      <a:pPr marL="293370" marR="82550" indent="0" algn="just">
                        <a:lnSpc>
                          <a:spcPct val="100000"/>
                        </a:lnSpc>
                        <a:spcBef>
                          <a:spcPts val="285"/>
                        </a:spcBef>
                        <a:buSzPct val="145454"/>
                        <a:buFont typeface="Arial"/>
                        <a:buNone/>
                        <a:tabLst>
                          <a:tab pos="636905" algn="l"/>
                        </a:tabLst>
                      </a:pPr>
                      <a:r>
                        <a:rPr lang="en-US" sz="2200" dirty="0">
                          <a:latin typeface="Times New Roman"/>
                          <a:cs typeface="Times New Roman"/>
                        </a:rPr>
                        <a:t>  professional medical diagnosis.</a:t>
                      </a:r>
                      <a:endParaRPr sz="2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6195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C"/>
                      </a:solidFill>
                      <a:prstDash val="solid"/>
                    </a:lnL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44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B w="28575">
                      <a:solidFill>
                        <a:srgbClr val="4F81BC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3175" algn="ctr">
                        <a:lnSpc>
                          <a:spcPct val="100000"/>
                        </a:lnSpc>
                        <a:spcBef>
                          <a:spcPts val="690"/>
                        </a:spcBef>
                      </a:pPr>
                      <a:r>
                        <a:rPr sz="1200" spc="-25" dirty="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r>
                        <a:rPr lang="en-US" sz="1200" spc="-25" dirty="0">
                          <a:solidFill>
                            <a:srgbClr val="878787"/>
                          </a:solidFill>
                          <a:latin typeface="Times New Roman"/>
                          <a:cs typeface="Times New Roman"/>
                        </a:rPr>
                        <a:t>3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87630" marB="0">
                    <a:lnL w="28575">
                      <a:solidFill>
                        <a:srgbClr val="4F81BC"/>
                      </a:solidFill>
                      <a:prstDash val="solid"/>
                    </a:lnL>
                    <a:lnR w="28575">
                      <a:solidFill>
                        <a:srgbClr val="4F81BC"/>
                      </a:solidFill>
                      <a:prstDash val="solid"/>
                    </a:lnR>
                    <a:lnT w="28575">
                      <a:solidFill>
                        <a:srgbClr val="4F81BC"/>
                      </a:solidFill>
                      <a:prstDash val="solid"/>
                    </a:lnT>
                    <a:lnB w="28575">
                      <a:solidFill>
                        <a:srgbClr val="4F81BC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1943100">
              <a:lnSpc>
                <a:spcPct val="100000"/>
              </a:lnSpc>
              <a:spcBef>
                <a:spcPts val="1395"/>
              </a:spcBef>
            </a:pPr>
            <a:r>
              <a:rPr sz="3200" dirty="0"/>
              <a:t>6.</a:t>
            </a:r>
            <a:r>
              <a:rPr sz="3200" spc="-10" dirty="0"/>
              <a:t> </a:t>
            </a:r>
            <a:r>
              <a:rPr sz="3200" dirty="0"/>
              <a:t>2</a:t>
            </a:r>
            <a:r>
              <a:rPr sz="3200" spc="-5" dirty="0"/>
              <a:t> </a:t>
            </a:r>
            <a:r>
              <a:rPr sz="3200" dirty="0"/>
              <a:t>Scope</a:t>
            </a:r>
            <a:r>
              <a:rPr sz="3200" spc="-35" dirty="0"/>
              <a:t> </a:t>
            </a:r>
            <a:r>
              <a:rPr sz="3200" dirty="0"/>
              <a:t>and</a:t>
            </a:r>
            <a:r>
              <a:rPr sz="3200" spc="5" dirty="0"/>
              <a:t> </a:t>
            </a:r>
            <a:r>
              <a:rPr sz="3200" spc="-10" dirty="0"/>
              <a:t>Objectives.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8630" y="1062941"/>
            <a:ext cx="7719570" cy="4737835"/>
          </a:xfrm>
          <a:prstGeom prst="rect">
            <a:avLst/>
          </a:prstGeom>
        </p:spPr>
        <p:txBody>
          <a:bodyPr vert="horz" wrap="square" lIns="0" tIns="1911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2400" b="1" spc="-10" dirty="0">
                <a:latin typeface="Times New Roman"/>
                <a:cs typeface="Times New Roman"/>
              </a:rPr>
              <a:t>Scope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SzPct val="145454"/>
              <a:tabLst>
                <a:tab pos="355600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medical data to identify patterns and predict possible  </a:t>
            </a:r>
          </a:p>
          <a:p>
            <a:pPr marL="12700">
              <a:lnSpc>
                <a:spcPct val="100000"/>
              </a:lnSpc>
              <a:buSzPct val="145454"/>
              <a:tabLst>
                <a:tab pos="355600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diseases.</a:t>
            </a: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buSzPct val="145454"/>
              <a:tabLst>
                <a:tab pos="355600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200" dirty="0">
                <a:latin typeface="Times New Roman"/>
                <a:cs typeface="Times New Roman"/>
              </a:rPr>
              <a:t>Support early disease detection using Machine Learning models.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buSzPct val="145454"/>
              <a:tabLst>
                <a:tab pos="355600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200" dirty="0">
                <a:latin typeface="Times New Roman"/>
                <a:cs typeface="Times New Roman"/>
              </a:rPr>
              <a:t>Provide a basic dashboard to display predictions and results.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buSzPct val="145454"/>
              <a:tabLst>
                <a:tab pos="355600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 </a:t>
            </a:r>
            <a:r>
              <a:rPr lang="en-US" sz="2200" dirty="0">
                <a:latin typeface="Times New Roman"/>
                <a:cs typeface="Times New Roman"/>
              </a:rPr>
              <a:t>Assist doctors in clinical decision-making and patient monitoring.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buSzPct val="145454"/>
              <a:tabLst>
                <a:tab pos="355600" algn="l"/>
              </a:tabLst>
            </a:pP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400" b="1" spc="-10" dirty="0">
                <a:latin typeface="Times New Roman"/>
                <a:cs typeface="Times New Roman"/>
              </a:rPr>
              <a:t>Objectives</a:t>
            </a:r>
            <a:endParaRPr sz="2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Collect and prepare a suitable medical dataset.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Train and test a Machine Learning model for selected diseases.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Evaluate the model's accuracy and prediction performance.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Support doctors by presenting results clearly while protecting </a:t>
            </a:r>
          </a:p>
          <a:p>
            <a:pPr>
              <a:lnSpc>
                <a:spcPct val="100000"/>
              </a:lnSpc>
              <a:spcBef>
                <a:spcPts val="130"/>
              </a:spcBef>
            </a:pPr>
            <a:r>
              <a:rPr lang="en-US" sz="2200" dirty="0">
                <a:latin typeface="Times New Roman"/>
                <a:cs typeface="Times New Roman"/>
              </a:rPr>
              <a:t>   patient data.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11464" y="6356350"/>
            <a:ext cx="549275" cy="365125"/>
            <a:chOff x="8411464" y="6356350"/>
            <a:chExt cx="549275" cy="3651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8598534" y="6447975"/>
            <a:ext cx="1778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r>
              <a:rPr lang="en-US"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4</a:t>
            </a:r>
            <a:endParaRPr sz="12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144780" rIns="0" bIns="0" rtlCol="0">
            <a:spAutoFit/>
          </a:bodyPr>
          <a:lstStyle/>
          <a:p>
            <a:pPr marL="2513965">
              <a:lnSpc>
                <a:spcPct val="100000"/>
              </a:lnSpc>
              <a:spcBef>
                <a:spcPts val="1140"/>
              </a:spcBef>
            </a:pPr>
            <a:r>
              <a:rPr sz="3600" dirty="0"/>
              <a:t>6.</a:t>
            </a:r>
            <a:r>
              <a:rPr sz="3600" spc="-5" dirty="0"/>
              <a:t> </a:t>
            </a:r>
            <a:r>
              <a:rPr sz="3600" dirty="0"/>
              <a:t>3</a:t>
            </a:r>
            <a:r>
              <a:rPr sz="3600" spc="-5" dirty="0"/>
              <a:t> </a:t>
            </a:r>
            <a:r>
              <a:rPr sz="3600" dirty="0"/>
              <a:t>Stake </a:t>
            </a:r>
            <a:r>
              <a:rPr sz="3600" spc="-10" dirty="0"/>
              <a:t>Holder</a:t>
            </a:r>
            <a:endParaRPr sz="3600"/>
          </a:p>
        </p:txBody>
      </p:sp>
      <p:grpSp>
        <p:nvGrpSpPr>
          <p:cNvPr id="3" name="object 3"/>
          <p:cNvGrpSpPr/>
          <p:nvPr/>
        </p:nvGrpSpPr>
        <p:grpSpPr>
          <a:xfrm>
            <a:off x="444500" y="1206500"/>
            <a:ext cx="8528685" cy="5527675"/>
            <a:chOff x="444500" y="1206500"/>
            <a:chExt cx="8528685" cy="5527675"/>
          </a:xfrm>
        </p:grpSpPr>
        <p:sp>
          <p:nvSpPr>
            <p:cNvPr id="4" name="object 4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11234" y="6460675"/>
            <a:ext cx="7620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spc="-50" dirty="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0850" y="1212850"/>
            <a:ext cx="8242300" cy="5346700"/>
            <a:chOff x="450850" y="1212850"/>
            <a:chExt cx="8242300" cy="5346700"/>
          </a:xfrm>
        </p:grpSpPr>
        <p:sp>
          <p:nvSpPr>
            <p:cNvPr id="9" name="object 9"/>
            <p:cNvSpPr/>
            <p:nvPr/>
          </p:nvSpPr>
          <p:spPr>
            <a:xfrm>
              <a:off x="457200" y="1219199"/>
              <a:ext cx="8229600" cy="762000"/>
            </a:xfrm>
            <a:custGeom>
              <a:avLst/>
              <a:gdLst/>
              <a:ahLst/>
              <a:cxnLst/>
              <a:rect l="l" t="t" r="r" b="b"/>
              <a:pathLst>
                <a:path w="8229600" h="762000">
                  <a:moveTo>
                    <a:pt x="8229600" y="0"/>
                  </a:moveTo>
                  <a:lnTo>
                    <a:pt x="4114800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4114800" y="762000"/>
                  </a:lnTo>
                  <a:lnTo>
                    <a:pt x="8229600" y="762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1981199"/>
              <a:ext cx="8229600" cy="3810000"/>
            </a:xfrm>
            <a:custGeom>
              <a:avLst/>
              <a:gdLst/>
              <a:ahLst/>
              <a:cxnLst/>
              <a:rect l="l" t="t" r="r" b="b"/>
              <a:pathLst>
                <a:path w="8229600" h="3810000">
                  <a:moveTo>
                    <a:pt x="8229600" y="3048000"/>
                  </a:moveTo>
                  <a:lnTo>
                    <a:pt x="4114800" y="3048000"/>
                  </a:lnTo>
                  <a:lnTo>
                    <a:pt x="0" y="3048000"/>
                  </a:lnTo>
                  <a:lnTo>
                    <a:pt x="0" y="3810000"/>
                  </a:lnTo>
                  <a:lnTo>
                    <a:pt x="4114800" y="3810000"/>
                  </a:lnTo>
                  <a:lnTo>
                    <a:pt x="8229600" y="3810000"/>
                  </a:lnTo>
                  <a:lnTo>
                    <a:pt x="8229600" y="3048000"/>
                  </a:lnTo>
                  <a:close/>
                </a:path>
                <a:path w="8229600" h="3810000">
                  <a:moveTo>
                    <a:pt x="8229600" y="1524000"/>
                  </a:moveTo>
                  <a:lnTo>
                    <a:pt x="4114800" y="1524000"/>
                  </a:lnTo>
                  <a:lnTo>
                    <a:pt x="0" y="1524000"/>
                  </a:lnTo>
                  <a:lnTo>
                    <a:pt x="0" y="2286000"/>
                  </a:lnTo>
                  <a:lnTo>
                    <a:pt x="4114800" y="2286000"/>
                  </a:lnTo>
                  <a:lnTo>
                    <a:pt x="8229600" y="2286000"/>
                  </a:lnTo>
                  <a:lnTo>
                    <a:pt x="8229600" y="1524000"/>
                  </a:lnTo>
                  <a:close/>
                </a:path>
                <a:path w="8229600" h="3810000">
                  <a:moveTo>
                    <a:pt x="8229600" y="0"/>
                  </a:moveTo>
                  <a:lnTo>
                    <a:pt x="4114800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4114800" y="762000"/>
                  </a:lnTo>
                  <a:lnTo>
                    <a:pt x="8229600" y="762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E9F0F5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1" name="object 11"/>
            <p:cNvSpPr/>
            <p:nvPr/>
          </p:nvSpPr>
          <p:spPr>
            <a:xfrm>
              <a:off x="4572000" y="5791200"/>
              <a:ext cx="4114800" cy="762000"/>
            </a:xfrm>
            <a:custGeom>
              <a:avLst/>
              <a:gdLst/>
              <a:ahLst/>
              <a:cxnLst/>
              <a:rect l="l" t="t" r="r" b="b"/>
              <a:pathLst>
                <a:path w="4114800" h="762000">
                  <a:moveTo>
                    <a:pt x="4114800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4114800" y="762000"/>
                  </a:lnTo>
                  <a:lnTo>
                    <a:pt x="41148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2" name="object 12"/>
            <p:cNvSpPr/>
            <p:nvPr/>
          </p:nvSpPr>
          <p:spPr>
            <a:xfrm>
              <a:off x="450850" y="1212850"/>
              <a:ext cx="8242300" cy="5346700"/>
            </a:xfrm>
            <a:custGeom>
              <a:avLst/>
              <a:gdLst/>
              <a:ahLst/>
              <a:cxnLst/>
              <a:rect l="l" t="t" r="r" b="b"/>
              <a:pathLst>
                <a:path w="8242300" h="5346700">
                  <a:moveTo>
                    <a:pt x="4121150" y="0"/>
                  </a:moveTo>
                  <a:lnTo>
                    <a:pt x="4121150" y="5346700"/>
                  </a:lnTo>
                </a:path>
                <a:path w="8242300" h="5346700">
                  <a:moveTo>
                    <a:pt x="0" y="768350"/>
                  </a:moveTo>
                  <a:lnTo>
                    <a:pt x="8242300" y="768350"/>
                  </a:lnTo>
                </a:path>
                <a:path w="8242300" h="5346700">
                  <a:moveTo>
                    <a:pt x="0" y="1530350"/>
                  </a:moveTo>
                  <a:lnTo>
                    <a:pt x="8242300" y="1530350"/>
                  </a:lnTo>
                </a:path>
                <a:path w="8242300" h="5346700">
                  <a:moveTo>
                    <a:pt x="0" y="2292350"/>
                  </a:moveTo>
                  <a:lnTo>
                    <a:pt x="8242300" y="2292350"/>
                  </a:lnTo>
                </a:path>
                <a:path w="8242300" h="5346700">
                  <a:moveTo>
                    <a:pt x="0" y="3054350"/>
                  </a:moveTo>
                  <a:lnTo>
                    <a:pt x="8242300" y="3054350"/>
                  </a:lnTo>
                </a:path>
                <a:path w="8242300" h="5346700">
                  <a:moveTo>
                    <a:pt x="0" y="3816350"/>
                  </a:moveTo>
                  <a:lnTo>
                    <a:pt x="8242300" y="3816350"/>
                  </a:lnTo>
                </a:path>
                <a:path w="8242300" h="5346700">
                  <a:moveTo>
                    <a:pt x="0" y="4578350"/>
                  </a:moveTo>
                  <a:lnTo>
                    <a:pt x="8242300" y="4578350"/>
                  </a:lnTo>
                </a:path>
                <a:path w="8242300" h="5346700">
                  <a:moveTo>
                    <a:pt x="6350" y="0"/>
                  </a:moveTo>
                  <a:lnTo>
                    <a:pt x="6350" y="5346700"/>
                  </a:lnTo>
                </a:path>
                <a:path w="8242300" h="5346700">
                  <a:moveTo>
                    <a:pt x="8235950" y="0"/>
                  </a:moveTo>
                  <a:lnTo>
                    <a:pt x="8235950" y="5346700"/>
                  </a:lnTo>
                </a:path>
                <a:path w="8242300" h="5346700">
                  <a:moveTo>
                    <a:pt x="0" y="6350"/>
                  </a:moveTo>
                  <a:lnTo>
                    <a:pt x="8242300" y="6350"/>
                  </a:lnTo>
                </a:path>
                <a:path w="8242300" h="5346700">
                  <a:moveTo>
                    <a:pt x="0" y="5340350"/>
                  </a:moveTo>
                  <a:lnTo>
                    <a:pt x="8242300" y="5340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13357" y="1241805"/>
            <a:ext cx="577596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4068445" algn="l"/>
              </a:tabLst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Stakeholder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Role/Interest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sldNum" sz="quarter" idx="7"/>
          </p:nvPr>
        </p:nvSpPr>
        <p:spPr>
          <a:xfrm>
            <a:off x="8573134" y="6447975"/>
            <a:ext cx="2413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r>
              <a:rPr lang="en-US" spc="-50" dirty="0"/>
              <a:t>5</a:t>
            </a:r>
            <a:endParaRPr spc="-50" dirty="0"/>
          </a:p>
        </p:txBody>
      </p:sp>
      <p:sp>
        <p:nvSpPr>
          <p:cNvPr id="14" name="object 14"/>
          <p:cNvSpPr txBox="1"/>
          <p:nvPr/>
        </p:nvSpPr>
        <p:spPr>
          <a:xfrm>
            <a:off x="535940" y="2006549"/>
            <a:ext cx="39503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Times New Roman"/>
                <a:cs typeface="Times New Roman"/>
              </a:rPr>
              <a:t>Doctors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651375" y="2006549"/>
            <a:ext cx="3830954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Use ML predictions to support diagnosis and treatment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35940" y="2769234"/>
            <a:ext cx="234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1800" dirty="0">
                <a:latin typeface="Times New Roman"/>
                <a:cs typeface="Times New Roman"/>
              </a:rPr>
              <a:t>Patients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651375" y="2769234"/>
            <a:ext cx="37973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Benefit from early disease detection and better monitoring.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35940" y="3530930"/>
            <a:ext cx="17024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Project Team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651375" y="3530930"/>
            <a:ext cx="3498850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Designs, develops, tests and documents the ML prototype.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7850" y="4293489"/>
            <a:ext cx="1403350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Faculty Guide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1375" y="4293489"/>
            <a:ext cx="36442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Reviews progress and provides technical guidance.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35940" y="5055184"/>
            <a:ext cx="127571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Hospitals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651375" y="5055184"/>
            <a:ext cx="34556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Provide suitable medical data and healthcare requirements.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35940" y="5817819"/>
            <a:ext cx="281432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dirty="0">
                <a:latin typeface="Times New Roman"/>
                <a:cs typeface="Times New Roman"/>
              </a:rPr>
              <a:t>Data Scientist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651376" y="5817818"/>
            <a:ext cx="3830954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800" dirty="0">
                <a:latin typeface="Times New Roman"/>
                <a:cs typeface="Times New Roman"/>
              </a:rPr>
              <a:t>Prepare datasets, train models and </a:t>
            </a:r>
            <a:r>
              <a:rPr lang="en-US" sz="1800" dirty="0" err="1">
                <a:latin typeface="Times New Roman"/>
                <a:cs typeface="Times New Roman"/>
              </a:rPr>
              <a:t>aluate</a:t>
            </a:r>
            <a:r>
              <a:rPr lang="en-US" sz="1800" dirty="0">
                <a:latin typeface="Times New Roman"/>
                <a:cs typeface="Times New Roman"/>
              </a:rPr>
              <a:t> accuracy.</a:t>
            </a:r>
            <a:endParaRPr sz="1800" dirty="0">
              <a:latin typeface="Times New Roman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ACF54EF-3E7D-5C87-FF58-0DC92822FF7B}"/>
              </a:ext>
            </a:extLst>
          </p:cNvPr>
          <p:cNvSpPr txBox="1"/>
          <p:nvPr/>
        </p:nvSpPr>
        <p:spPr>
          <a:xfrm>
            <a:off x="3008671" y="295951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1646555">
              <a:lnSpc>
                <a:spcPct val="100000"/>
              </a:lnSpc>
              <a:spcBef>
                <a:spcPts val="1395"/>
              </a:spcBef>
            </a:pPr>
            <a:r>
              <a:rPr sz="3200" dirty="0"/>
              <a:t>6.</a:t>
            </a:r>
            <a:r>
              <a:rPr sz="3200" spc="-10" dirty="0"/>
              <a:t> </a:t>
            </a:r>
            <a:r>
              <a:rPr sz="3200" dirty="0"/>
              <a:t>4</a:t>
            </a:r>
            <a:r>
              <a:rPr sz="3200" spc="-10" dirty="0"/>
              <a:t> </a:t>
            </a:r>
            <a:r>
              <a:rPr sz="3200" dirty="0"/>
              <a:t>Seminar</a:t>
            </a:r>
            <a:r>
              <a:rPr sz="3200" spc="-35" dirty="0"/>
              <a:t> </a:t>
            </a:r>
            <a:r>
              <a:rPr sz="3200" dirty="0"/>
              <a:t>Exsicussion</a:t>
            </a:r>
            <a:r>
              <a:rPr sz="3200" spc="-20" dirty="0"/>
              <a:t> Plan</a:t>
            </a:r>
            <a:endParaRPr sz="3200"/>
          </a:p>
        </p:txBody>
      </p:sp>
      <p:grpSp>
        <p:nvGrpSpPr>
          <p:cNvPr id="3" name="object 3"/>
          <p:cNvGrpSpPr/>
          <p:nvPr/>
        </p:nvGrpSpPr>
        <p:grpSpPr>
          <a:xfrm>
            <a:off x="444500" y="1206500"/>
            <a:ext cx="8528685" cy="5527675"/>
            <a:chOff x="444500" y="1206500"/>
            <a:chExt cx="8528685" cy="5527675"/>
          </a:xfrm>
        </p:grpSpPr>
        <p:sp>
          <p:nvSpPr>
            <p:cNvPr id="4" name="object 4"/>
            <p:cNvSpPr/>
            <p:nvPr/>
          </p:nvSpPr>
          <p:spPr>
            <a:xfrm>
              <a:off x="457200" y="1219200"/>
              <a:ext cx="8229600" cy="5334000"/>
            </a:xfrm>
            <a:custGeom>
              <a:avLst/>
              <a:gdLst/>
              <a:ahLst/>
              <a:cxnLst/>
              <a:rect l="l" t="t" r="r" b="b"/>
              <a:pathLst>
                <a:path w="8229600" h="5334000">
                  <a:moveTo>
                    <a:pt x="0" y="5334000"/>
                  </a:moveTo>
                  <a:lnTo>
                    <a:pt x="8229600" y="5334000"/>
                  </a:lnTo>
                  <a:lnTo>
                    <a:pt x="8229600" y="0"/>
                  </a:lnTo>
                  <a:lnTo>
                    <a:pt x="0" y="0"/>
                  </a:lnTo>
                  <a:lnTo>
                    <a:pt x="0" y="5334000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8611234" y="6460675"/>
            <a:ext cx="76200" cy="1689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spc="-50" dirty="0">
                <a:solidFill>
                  <a:srgbClr val="878787"/>
                </a:solidFill>
                <a:latin typeface="Times New Roman"/>
                <a:cs typeface="Times New Roman"/>
              </a:rPr>
              <a:t>1</a:t>
            </a:r>
            <a:endParaRPr sz="1200">
              <a:latin typeface="Times New Roman"/>
              <a:cs typeface="Times New Roman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0850" y="1212850"/>
            <a:ext cx="8242300" cy="5346700"/>
            <a:chOff x="450850" y="1212850"/>
            <a:chExt cx="8242300" cy="5346700"/>
          </a:xfrm>
        </p:grpSpPr>
        <p:sp>
          <p:nvSpPr>
            <p:cNvPr id="9" name="object 9"/>
            <p:cNvSpPr/>
            <p:nvPr/>
          </p:nvSpPr>
          <p:spPr>
            <a:xfrm>
              <a:off x="457200" y="1219199"/>
              <a:ext cx="8229600" cy="762000"/>
            </a:xfrm>
            <a:custGeom>
              <a:avLst/>
              <a:gdLst/>
              <a:ahLst/>
              <a:cxnLst/>
              <a:rect l="l" t="t" r="r" b="b"/>
              <a:pathLst>
                <a:path w="8229600" h="762000">
                  <a:moveTo>
                    <a:pt x="5088128" y="0"/>
                  </a:moveTo>
                  <a:lnTo>
                    <a:pt x="1858264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1858264" y="762000"/>
                  </a:lnTo>
                  <a:lnTo>
                    <a:pt x="5088128" y="762000"/>
                  </a:lnTo>
                  <a:lnTo>
                    <a:pt x="5088128" y="0"/>
                  </a:lnTo>
                  <a:close/>
                </a:path>
                <a:path w="8229600" h="762000">
                  <a:moveTo>
                    <a:pt x="8229600" y="0"/>
                  </a:moveTo>
                  <a:lnTo>
                    <a:pt x="5088255" y="0"/>
                  </a:lnTo>
                  <a:lnTo>
                    <a:pt x="5088255" y="762000"/>
                  </a:lnTo>
                  <a:lnTo>
                    <a:pt x="8229600" y="762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4AACC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7200" y="1981199"/>
              <a:ext cx="8229600" cy="3810000"/>
            </a:xfrm>
            <a:custGeom>
              <a:avLst/>
              <a:gdLst/>
              <a:ahLst/>
              <a:cxnLst/>
              <a:rect l="l" t="t" r="r" b="b"/>
              <a:pathLst>
                <a:path w="8229600" h="3810000">
                  <a:moveTo>
                    <a:pt x="5088128" y="3048000"/>
                  </a:moveTo>
                  <a:lnTo>
                    <a:pt x="1858264" y="3048000"/>
                  </a:lnTo>
                  <a:lnTo>
                    <a:pt x="0" y="3048000"/>
                  </a:lnTo>
                  <a:lnTo>
                    <a:pt x="0" y="3810000"/>
                  </a:lnTo>
                  <a:lnTo>
                    <a:pt x="1858264" y="3810000"/>
                  </a:lnTo>
                  <a:lnTo>
                    <a:pt x="5088128" y="3810000"/>
                  </a:lnTo>
                  <a:lnTo>
                    <a:pt x="5088128" y="3048000"/>
                  </a:lnTo>
                  <a:close/>
                </a:path>
                <a:path w="8229600" h="3810000">
                  <a:moveTo>
                    <a:pt x="5088128" y="1524000"/>
                  </a:moveTo>
                  <a:lnTo>
                    <a:pt x="1858264" y="1524000"/>
                  </a:lnTo>
                  <a:lnTo>
                    <a:pt x="0" y="1524000"/>
                  </a:lnTo>
                  <a:lnTo>
                    <a:pt x="0" y="2286000"/>
                  </a:lnTo>
                  <a:lnTo>
                    <a:pt x="1858264" y="2286000"/>
                  </a:lnTo>
                  <a:lnTo>
                    <a:pt x="5088128" y="2286000"/>
                  </a:lnTo>
                  <a:lnTo>
                    <a:pt x="5088128" y="1524000"/>
                  </a:lnTo>
                  <a:close/>
                </a:path>
                <a:path w="8229600" h="3810000">
                  <a:moveTo>
                    <a:pt x="5088128" y="0"/>
                  </a:moveTo>
                  <a:lnTo>
                    <a:pt x="1858264" y="0"/>
                  </a:lnTo>
                  <a:lnTo>
                    <a:pt x="0" y="0"/>
                  </a:lnTo>
                  <a:lnTo>
                    <a:pt x="0" y="762000"/>
                  </a:lnTo>
                  <a:lnTo>
                    <a:pt x="1858264" y="762000"/>
                  </a:lnTo>
                  <a:lnTo>
                    <a:pt x="5088128" y="762000"/>
                  </a:lnTo>
                  <a:lnTo>
                    <a:pt x="5088128" y="0"/>
                  </a:lnTo>
                  <a:close/>
                </a:path>
                <a:path w="8229600" h="3810000">
                  <a:moveTo>
                    <a:pt x="8229600" y="3048000"/>
                  </a:moveTo>
                  <a:lnTo>
                    <a:pt x="5088255" y="3048000"/>
                  </a:lnTo>
                  <a:lnTo>
                    <a:pt x="5088255" y="3810000"/>
                  </a:lnTo>
                  <a:lnTo>
                    <a:pt x="8229600" y="3810000"/>
                  </a:lnTo>
                  <a:lnTo>
                    <a:pt x="8229600" y="3048000"/>
                  </a:lnTo>
                  <a:close/>
                </a:path>
                <a:path w="8229600" h="3810000">
                  <a:moveTo>
                    <a:pt x="8229600" y="1524000"/>
                  </a:moveTo>
                  <a:lnTo>
                    <a:pt x="5088255" y="1524000"/>
                  </a:lnTo>
                  <a:lnTo>
                    <a:pt x="5088255" y="2286000"/>
                  </a:lnTo>
                  <a:lnTo>
                    <a:pt x="8229600" y="2286000"/>
                  </a:lnTo>
                  <a:lnTo>
                    <a:pt x="8229600" y="1524000"/>
                  </a:lnTo>
                  <a:close/>
                </a:path>
                <a:path w="8229600" h="3810000">
                  <a:moveTo>
                    <a:pt x="8229600" y="0"/>
                  </a:moveTo>
                  <a:lnTo>
                    <a:pt x="5088255" y="0"/>
                  </a:lnTo>
                  <a:lnTo>
                    <a:pt x="5088255" y="762000"/>
                  </a:lnTo>
                  <a:lnTo>
                    <a:pt x="8229600" y="762000"/>
                  </a:lnTo>
                  <a:lnTo>
                    <a:pt x="8229600" y="0"/>
                  </a:lnTo>
                  <a:close/>
                </a:path>
              </a:pathLst>
            </a:custGeom>
            <a:solidFill>
              <a:srgbClr val="E9F0F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545454" y="5791200"/>
              <a:ext cx="3141345" cy="762000"/>
            </a:xfrm>
            <a:custGeom>
              <a:avLst/>
              <a:gdLst/>
              <a:ahLst/>
              <a:cxnLst/>
              <a:rect l="l" t="t" r="r" b="b"/>
              <a:pathLst>
                <a:path w="3141345" h="762000">
                  <a:moveTo>
                    <a:pt x="3141345" y="0"/>
                  </a:moveTo>
                  <a:lnTo>
                    <a:pt x="0" y="0"/>
                  </a:lnTo>
                  <a:lnTo>
                    <a:pt x="0" y="762000"/>
                  </a:lnTo>
                  <a:lnTo>
                    <a:pt x="3141345" y="762000"/>
                  </a:lnTo>
                  <a:lnTo>
                    <a:pt x="314134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450850" y="1212850"/>
              <a:ext cx="8242300" cy="5346700"/>
            </a:xfrm>
            <a:custGeom>
              <a:avLst/>
              <a:gdLst/>
              <a:ahLst/>
              <a:cxnLst/>
              <a:rect l="l" t="t" r="r" b="b"/>
              <a:pathLst>
                <a:path w="8242300" h="5346700">
                  <a:moveTo>
                    <a:pt x="1864614" y="0"/>
                  </a:moveTo>
                  <a:lnTo>
                    <a:pt x="1864614" y="5346700"/>
                  </a:lnTo>
                </a:path>
                <a:path w="8242300" h="5346700">
                  <a:moveTo>
                    <a:pt x="5094605" y="0"/>
                  </a:moveTo>
                  <a:lnTo>
                    <a:pt x="5094605" y="5346700"/>
                  </a:lnTo>
                </a:path>
                <a:path w="8242300" h="5346700">
                  <a:moveTo>
                    <a:pt x="0" y="768350"/>
                  </a:moveTo>
                  <a:lnTo>
                    <a:pt x="8242300" y="768350"/>
                  </a:lnTo>
                </a:path>
                <a:path w="8242300" h="5346700">
                  <a:moveTo>
                    <a:pt x="0" y="1530350"/>
                  </a:moveTo>
                  <a:lnTo>
                    <a:pt x="8242300" y="1530350"/>
                  </a:lnTo>
                </a:path>
                <a:path w="8242300" h="5346700">
                  <a:moveTo>
                    <a:pt x="0" y="2292350"/>
                  </a:moveTo>
                  <a:lnTo>
                    <a:pt x="8242300" y="2292350"/>
                  </a:lnTo>
                </a:path>
                <a:path w="8242300" h="5346700">
                  <a:moveTo>
                    <a:pt x="0" y="3054350"/>
                  </a:moveTo>
                  <a:lnTo>
                    <a:pt x="8242300" y="3054350"/>
                  </a:lnTo>
                </a:path>
                <a:path w="8242300" h="5346700">
                  <a:moveTo>
                    <a:pt x="0" y="3816350"/>
                  </a:moveTo>
                  <a:lnTo>
                    <a:pt x="8242300" y="3816350"/>
                  </a:lnTo>
                </a:path>
                <a:path w="8242300" h="5346700">
                  <a:moveTo>
                    <a:pt x="0" y="4578350"/>
                  </a:moveTo>
                  <a:lnTo>
                    <a:pt x="8242300" y="4578350"/>
                  </a:lnTo>
                </a:path>
                <a:path w="8242300" h="5346700">
                  <a:moveTo>
                    <a:pt x="6350" y="0"/>
                  </a:moveTo>
                  <a:lnTo>
                    <a:pt x="6350" y="5346700"/>
                  </a:lnTo>
                </a:path>
                <a:path w="8242300" h="5346700">
                  <a:moveTo>
                    <a:pt x="8235950" y="0"/>
                  </a:moveTo>
                  <a:lnTo>
                    <a:pt x="8235950" y="5346700"/>
                  </a:lnTo>
                </a:path>
                <a:path w="8242300" h="5346700">
                  <a:moveTo>
                    <a:pt x="0" y="6350"/>
                  </a:moveTo>
                  <a:lnTo>
                    <a:pt x="8242300" y="6350"/>
                  </a:lnTo>
                </a:path>
                <a:path w="8242300" h="5346700">
                  <a:moveTo>
                    <a:pt x="0" y="5340350"/>
                  </a:moveTo>
                  <a:lnTo>
                    <a:pt x="8242300" y="5340350"/>
                  </a:lnTo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899261" y="1241805"/>
            <a:ext cx="73005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513965" algn="l"/>
                <a:tab pos="5145405" algn="l"/>
              </a:tabLst>
            </a:pP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Session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Activity</a:t>
            </a:r>
            <a:r>
              <a:rPr sz="2400" b="1" dirty="0">
                <a:solidFill>
                  <a:srgbClr val="FFFFFF"/>
                </a:solidFill>
                <a:latin typeface="Times New Roman"/>
                <a:cs typeface="Times New Roman"/>
              </a:rPr>
              <a:t>	Expected</a:t>
            </a:r>
            <a:r>
              <a:rPr sz="2400" b="1" spc="-70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FFFFFF"/>
                </a:solidFill>
                <a:latin typeface="Times New Roman"/>
                <a:cs typeface="Times New Roman"/>
              </a:rPr>
              <a:t>output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8573134" y="6447975"/>
            <a:ext cx="241300" cy="1795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4300">
              <a:lnSpc>
                <a:spcPts val="1410"/>
              </a:lnSpc>
            </a:pPr>
            <a:r>
              <a:rPr lang="en-US" spc="-50" dirty="0"/>
              <a:t>6</a:t>
            </a:r>
            <a:endParaRPr spc="-50" dirty="0"/>
          </a:p>
        </p:txBody>
      </p:sp>
      <p:sp>
        <p:nvSpPr>
          <p:cNvPr id="14" name="object 14"/>
          <p:cNvSpPr txBox="1"/>
          <p:nvPr/>
        </p:nvSpPr>
        <p:spPr>
          <a:xfrm>
            <a:off x="1287907" y="2006549"/>
            <a:ext cx="196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1.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87907" y="2769234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2.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287907" y="3530930"/>
            <a:ext cx="196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3.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287907" y="4293489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4.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287907" y="5055184"/>
            <a:ext cx="196850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5.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287907" y="5817819"/>
            <a:ext cx="1968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25" dirty="0">
                <a:latin typeface="Times New Roman"/>
                <a:cs typeface="Times New Roman"/>
              </a:rPr>
              <a:t>6.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body" idx="1"/>
          </p:nvPr>
        </p:nvSpPr>
        <p:spPr>
          <a:xfrm>
            <a:off x="2394584" y="2006548"/>
            <a:ext cx="6825616" cy="442685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242310" algn="l"/>
              </a:tabLst>
            </a:pPr>
            <a:r>
              <a:rPr dirty="0"/>
              <a:t>Define</a:t>
            </a:r>
            <a:r>
              <a:rPr spc="-5" dirty="0"/>
              <a:t> </a:t>
            </a:r>
            <a:r>
              <a:rPr dirty="0"/>
              <a:t>the problem</a:t>
            </a:r>
            <a:r>
              <a:rPr spc="-20" dirty="0"/>
              <a:t> </a:t>
            </a:r>
            <a:r>
              <a:rPr dirty="0"/>
              <a:t>and </a:t>
            </a:r>
            <a:r>
              <a:rPr spc="-10" dirty="0"/>
              <a:t>project</a:t>
            </a:r>
            <a:r>
              <a:rPr dirty="0"/>
              <a:t>	Approved</a:t>
            </a:r>
            <a:r>
              <a:rPr spc="-15" dirty="0"/>
              <a:t> </a:t>
            </a:r>
            <a:r>
              <a:rPr dirty="0"/>
              <a:t>problem</a:t>
            </a:r>
            <a:r>
              <a:rPr spc="-10" dirty="0"/>
              <a:t> statement</a:t>
            </a:r>
            <a:r>
              <a:rPr lang="en-US" spc="-10" dirty="0"/>
              <a:t>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lang="en-IN" spc="-10" dirty="0"/>
              <a:t>G</a:t>
            </a:r>
            <a:r>
              <a:rPr spc="-10" dirty="0" err="1"/>
              <a:t>oals</a:t>
            </a:r>
            <a:r>
              <a:rPr lang="en-US" spc="-10" dirty="0"/>
              <a:t>.</a:t>
            </a:r>
            <a:endParaRPr spc="-10" dirty="0"/>
          </a:p>
          <a:p>
            <a:pPr marL="12700" marR="1345565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Study</a:t>
            </a:r>
            <a:r>
              <a:rPr spc="-30" dirty="0"/>
              <a:t> </a:t>
            </a:r>
            <a:r>
              <a:rPr lang="en-US" spc="-30" dirty="0"/>
              <a:t>ML</a:t>
            </a:r>
            <a:r>
              <a:rPr spc="-15" dirty="0"/>
              <a:t> </a:t>
            </a:r>
            <a:r>
              <a:rPr lang="en-US" spc="-15" dirty="0"/>
              <a:t>applications in</a:t>
            </a:r>
            <a:r>
              <a:rPr dirty="0"/>
              <a:t>	Literature</a:t>
            </a:r>
            <a:r>
              <a:rPr spc="-90" dirty="0"/>
              <a:t> </a:t>
            </a:r>
            <a:r>
              <a:rPr lang="en-US" spc="-10" dirty="0"/>
              <a:t>review notes.</a:t>
            </a:r>
            <a:r>
              <a:rPr lang="en-IN" spc="-10" dirty="0"/>
              <a:t> healthcare.</a:t>
            </a:r>
            <a:endParaRPr spc="-10" dirty="0"/>
          </a:p>
          <a:p>
            <a:pPr marL="12700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Prepare</a:t>
            </a:r>
            <a:r>
              <a:rPr spc="5" dirty="0"/>
              <a:t> </a:t>
            </a:r>
            <a:r>
              <a:rPr dirty="0"/>
              <a:t>system</a:t>
            </a:r>
            <a:r>
              <a:rPr spc="-25" dirty="0"/>
              <a:t> </a:t>
            </a:r>
            <a:r>
              <a:rPr dirty="0"/>
              <a:t>architecture</a:t>
            </a:r>
            <a:r>
              <a:rPr spc="-25" dirty="0"/>
              <a:t> and</a:t>
            </a:r>
            <a:r>
              <a:rPr dirty="0"/>
              <a:t>	Architecture</a:t>
            </a:r>
            <a:r>
              <a:rPr spc="-30" dirty="0"/>
              <a:t> </a:t>
            </a:r>
            <a:r>
              <a:rPr spc="-10" dirty="0"/>
              <a:t>di</a:t>
            </a:r>
            <a:r>
              <a:rPr lang="en-IN" spc="-10" dirty="0" err="1"/>
              <a:t>agram</a:t>
            </a:r>
            <a:endParaRPr spc="-10" dirty="0"/>
          </a:p>
          <a:p>
            <a:pPr marL="12700">
              <a:lnSpc>
                <a:spcPct val="100000"/>
              </a:lnSpc>
            </a:pPr>
            <a:r>
              <a:rPr spc="-10" dirty="0"/>
              <a:t>workflow.</a:t>
            </a:r>
          </a:p>
          <a:p>
            <a:pPr marL="12700" marR="1598295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Identify</a:t>
            </a:r>
            <a:r>
              <a:rPr spc="-55" dirty="0"/>
              <a:t> </a:t>
            </a:r>
            <a:r>
              <a:rPr dirty="0"/>
              <a:t>tools,</a:t>
            </a:r>
            <a:r>
              <a:rPr spc="-30" dirty="0"/>
              <a:t> </a:t>
            </a:r>
            <a:r>
              <a:rPr lang="en-US" spc="-30" dirty="0"/>
              <a:t>datasets</a:t>
            </a:r>
            <a:r>
              <a:rPr spc="-30" dirty="0"/>
              <a:t> </a:t>
            </a:r>
            <a:r>
              <a:rPr spc="-25" dirty="0"/>
              <a:t>and</a:t>
            </a:r>
            <a:r>
              <a:rPr lang="en-US" spc="-25" dirty="0"/>
              <a:t> </a:t>
            </a:r>
            <a:r>
              <a:rPr dirty="0"/>
              <a:t>	Resource</a:t>
            </a:r>
            <a:r>
              <a:rPr spc="-70" dirty="0"/>
              <a:t> </a:t>
            </a:r>
            <a:r>
              <a:rPr spc="-20" dirty="0"/>
              <a:t>list</a:t>
            </a:r>
            <a:r>
              <a:rPr lang="en-US" spc="-20" dirty="0"/>
              <a:t>.</a:t>
            </a:r>
            <a:r>
              <a:rPr spc="-20" dirty="0"/>
              <a:t> </a:t>
            </a:r>
            <a:r>
              <a:rPr lang="en-US" spc="-25" dirty="0"/>
              <a:t>resources. </a:t>
            </a:r>
            <a:r>
              <a:rPr dirty="0"/>
              <a:t>	</a:t>
            </a:r>
            <a:r>
              <a:rPr spc="-5" dirty="0"/>
              <a:t> </a:t>
            </a:r>
            <a:endParaRPr lang="en-US" spc="-5" dirty="0"/>
          </a:p>
          <a:p>
            <a:pPr marL="12700" marR="1598295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lang="en-US" spc="-10" dirty="0"/>
              <a:t>Plan model development and           Test Plan and  testing.                                               Evaluation criteria.</a:t>
            </a:r>
            <a:endParaRPr spc="-10" dirty="0"/>
          </a:p>
          <a:p>
            <a:pPr marL="12700" marR="359410">
              <a:lnSpc>
                <a:spcPct val="100000"/>
              </a:lnSpc>
              <a:spcBef>
                <a:spcPts val="1680"/>
              </a:spcBef>
              <a:tabLst>
                <a:tab pos="3242310" algn="l"/>
              </a:tabLst>
            </a:pPr>
            <a:r>
              <a:rPr dirty="0"/>
              <a:t>Review</a:t>
            </a:r>
            <a:r>
              <a:rPr spc="-45" dirty="0"/>
              <a:t> </a:t>
            </a:r>
            <a:r>
              <a:rPr dirty="0"/>
              <a:t>findings</a:t>
            </a:r>
            <a:r>
              <a:rPr spc="-5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prepare</a:t>
            </a:r>
            <a:r>
              <a:rPr dirty="0"/>
              <a:t>	Final</a:t>
            </a:r>
            <a:r>
              <a:rPr spc="-35" dirty="0"/>
              <a:t> </a:t>
            </a:r>
            <a:r>
              <a:rPr dirty="0"/>
              <a:t>seminar</a:t>
            </a:r>
            <a:r>
              <a:rPr spc="-30" dirty="0"/>
              <a:t> </a:t>
            </a:r>
            <a:r>
              <a:rPr spc="-10" dirty="0"/>
              <a:t>presentation presentation.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177165" rIns="0" bIns="0" rtlCol="0">
            <a:spAutoFit/>
          </a:bodyPr>
          <a:lstStyle/>
          <a:p>
            <a:pPr marL="1155700">
              <a:lnSpc>
                <a:spcPct val="100000"/>
              </a:lnSpc>
              <a:spcBef>
                <a:spcPts val="1395"/>
              </a:spcBef>
            </a:pPr>
            <a:r>
              <a:rPr sz="3200" dirty="0"/>
              <a:t>6.5</a:t>
            </a:r>
            <a:r>
              <a:rPr sz="3200" spc="-20" dirty="0"/>
              <a:t> </a:t>
            </a:r>
            <a:r>
              <a:rPr sz="3200" dirty="0"/>
              <a:t>Platform/</a:t>
            </a:r>
            <a:r>
              <a:rPr sz="3200" spc="-35" dirty="0"/>
              <a:t> </a:t>
            </a:r>
            <a:r>
              <a:rPr sz="3200" dirty="0"/>
              <a:t>Equipment/</a:t>
            </a:r>
            <a:r>
              <a:rPr sz="3200" spc="-45" dirty="0"/>
              <a:t> </a:t>
            </a:r>
            <a:r>
              <a:rPr sz="3200" spc="-10" dirty="0"/>
              <a:t>Resources</a:t>
            </a:r>
            <a:endParaRPr sz="3200"/>
          </a:p>
        </p:txBody>
      </p:sp>
      <p:sp>
        <p:nvSpPr>
          <p:cNvPr id="3" name="object 3"/>
          <p:cNvSpPr/>
          <p:nvPr/>
        </p:nvSpPr>
        <p:spPr>
          <a:xfrm>
            <a:off x="457200" y="1297876"/>
            <a:ext cx="8229600" cy="5285500"/>
          </a:xfrm>
          <a:custGeom>
            <a:avLst/>
            <a:gdLst/>
            <a:ahLst/>
            <a:cxnLst/>
            <a:rect l="l" t="t" r="r" b="b"/>
            <a:pathLst>
              <a:path w="8229600" h="5161915">
                <a:moveTo>
                  <a:pt x="0" y="5161915"/>
                </a:moveTo>
                <a:lnTo>
                  <a:pt x="8229600" y="5161915"/>
                </a:lnTo>
                <a:lnTo>
                  <a:pt x="8229600" y="0"/>
                </a:lnTo>
                <a:lnTo>
                  <a:pt x="0" y="0"/>
                </a:lnTo>
                <a:lnTo>
                  <a:pt x="0" y="5161915"/>
                </a:lnTo>
                <a:close/>
              </a:path>
            </a:pathLst>
          </a:custGeom>
          <a:ln w="25399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4540758" y="3770757"/>
            <a:ext cx="6350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50" dirty="0">
                <a:solidFill>
                  <a:srgbClr val="878787"/>
                </a:solidFill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8423" y="1474089"/>
            <a:ext cx="7399020" cy="174406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9085" indent="-286385">
              <a:lnSpc>
                <a:spcPts val="2050"/>
              </a:lnSpc>
              <a:spcBef>
                <a:spcPts val="100"/>
              </a:spcBef>
              <a:buFont typeface="Arial"/>
              <a:buChar char="•"/>
              <a:tabLst>
                <a:tab pos="299085" algn="l"/>
              </a:tabLst>
            </a:pPr>
            <a:r>
              <a:rPr lang="en-US" b="1" dirty="0">
                <a:latin typeface="Times New Roman"/>
                <a:cs typeface="Times New Roman"/>
              </a:rPr>
              <a:t>P</a:t>
            </a:r>
            <a:r>
              <a:rPr sz="1800" b="1" dirty="0">
                <a:latin typeface="Times New Roman"/>
                <a:cs typeface="Times New Roman"/>
              </a:rPr>
              <a:t>rogramming: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Python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lang="en-US" spc="-40" dirty="0">
                <a:latin typeface="Times New Roman"/>
                <a:cs typeface="Times New Roman"/>
              </a:rPr>
              <a:t>ML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model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developmen</a:t>
            </a:r>
            <a:r>
              <a:rPr lang="en-US" sz="1800" dirty="0">
                <a:latin typeface="Times New Roman"/>
                <a:cs typeface="Times New Roman"/>
              </a:rPr>
              <a:t>t.</a:t>
            </a:r>
            <a:endParaRPr sz="1800" dirty="0">
              <a:latin typeface="Times New Roman"/>
              <a:cs typeface="Times New Roman"/>
            </a:endParaRP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lang="en-US" sz="1800" b="1" spc="-15" dirty="0">
                <a:latin typeface="Times New Roman"/>
                <a:cs typeface="Times New Roman"/>
              </a:rPr>
              <a:t>ML Libraries: </a:t>
            </a:r>
            <a:r>
              <a:rPr lang="en-US" sz="1800" spc="-15" dirty="0">
                <a:latin typeface="Times New Roman"/>
                <a:cs typeface="Times New Roman"/>
              </a:rPr>
              <a:t>Scikit-learn, TensorFlow or </a:t>
            </a:r>
            <a:r>
              <a:rPr lang="en-US" sz="1800" spc="-15" dirty="0" err="1">
                <a:latin typeface="Times New Roman"/>
                <a:cs typeface="Times New Roman"/>
              </a:rPr>
              <a:t>PyTorch</a:t>
            </a:r>
            <a:r>
              <a:rPr lang="en-US" sz="1800" spc="-15" dirty="0">
                <a:latin typeface="Times New Roman"/>
                <a:cs typeface="Times New Roman"/>
              </a:rPr>
              <a:t>.</a:t>
            </a: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lang="en-US" sz="1800" b="1" spc="-15" dirty="0">
                <a:latin typeface="Times New Roman"/>
                <a:cs typeface="Times New Roman"/>
              </a:rPr>
              <a:t>Data Processing: </a:t>
            </a:r>
            <a:r>
              <a:rPr lang="en-US" sz="1800" spc="-15" dirty="0">
                <a:latin typeface="Times New Roman"/>
                <a:cs typeface="Times New Roman"/>
              </a:rPr>
              <a:t>Pandas and NumPy.</a:t>
            </a: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lang="en-US" sz="1800" b="1" spc="-15" dirty="0">
                <a:latin typeface="Times New Roman"/>
                <a:cs typeface="Times New Roman"/>
              </a:rPr>
              <a:t>Frontend / Dashboard: </a:t>
            </a:r>
            <a:r>
              <a:rPr lang="en-US" sz="1800" spc="-15" dirty="0">
                <a:latin typeface="Times New Roman"/>
                <a:cs typeface="Times New Roman"/>
              </a:rPr>
              <a:t>HTML, CSS and JavaScript.</a:t>
            </a: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lang="en-US" sz="1800" b="1" spc="-15" dirty="0">
                <a:latin typeface="Times New Roman"/>
                <a:cs typeface="Times New Roman"/>
              </a:rPr>
              <a:t>Hardware: </a:t>
            </a:r>
            <a:r>
              <a:rPr lang="en-US" sz="1800" spc="-15" dirty="0">
                <a:latin typeface="Times New Roman"/>
                <a:cs typeface="Times New Roman"/>
              </a:rPr>
              <a:t>Laptop or computer with sufficient memory.</a:t>
            </a: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lang="en-US" sz="1800" b="1" spc="-15" dirty="0">
                <a:latin typeface="Times New Roman"/>
                <a:cs typeface="Times New Roman"/>
              </a:rPr>
              <a:t>Dataset:</a:t>
            </a:r>
            <a:r>
              <a:rPr lang="en-US" sz="1800" spc="-15" dirty="0">
                <a:latin typeface="Times New Roman"/>
                <a:cs typeface="Times New Roman"/>
              </a:rPr>
              <a:t> Suitable medical dataset for selected disease prediction.</a:t>
            </a:r>
          </a:p>
          <a:p>
            <a:pPr marL="299085" indent="-286385">
              <a:lnSpc>
                <a:spcPts val="1945"/>
              </a:lnSpc>
              <a:buFont typeface="Arial"/>
              <a:buChar char="•"/>
              <a:tabLst>
                <a:tab pos="299085" algn="l"/>
              </a:tabLst>
            </a:pPr>
            <a:r>
              <a:rPr lang="en-US" sz="1800" b="1" spc="-15" dirty="0">
                <a:latin typeface="Times New Roman"/>
                <a:cs typeface="Times New Roman"/>
              </a:rPr>
              <a:t>Testing: </a:t>
            </a:r>
            <a:r>
              <a:rPr lang="en-US" sz="1800" spc="-15" dirty="0">
                <a:latin typeface="Times New Roman"/>
                <a:cs typeface="Times New Roman"/>
              </a:rPr>
              <a:t>Sample data, test cases and model accuracy evaluation.</a:t>
            </a:r>
            <a:endParaRPr sz="1800" dirty="0">
              <a:latin typeface="Arial"/>
              <a:cs typeface="Arial"/>
            </a:endParaRPr>
          </a:p>
        </p:txBody>
      </p:sp>
      <p:grpSp>
        <p:nvGrpSpPr>
          <p:cNvPr id="8" name="object 5">
            <a:extLst>
              <a:ext uri="{FF2B5EF4-FFF2-40B4-BE49-F238E27FC236}">
                <a16:creationId xmlns:a16="http://schemas.microsoft.com/office/drawing/2014/main" id="{3592BFE1-F8D7-F858-3459-9E2D3D9F2677}"/>
              </a:ext>
            </a:extLst>
          </p:cNvPr>
          <p:cNvGrpSpPr/>
          <p:nvPr/>
        </p:nvGrpSpPr>
        <p:grpSpPr>
          <a:xfrm>
            <a:off x="8411463" y="6356350"/>
            <a:ext cx="549276" cy="409588"/>
            <a:chOff x="8411463" y="6356350"/>
            <a:chExt cx="549276" cy="409588"/>
          </a:xfrm>
        </p:grpSpPr>
        <p:sp>
          <p:nvSpPr>
            <p:cNvPr id="9" name="object 6">
              <a:extLst>
                <a:ext uri="{FF2B5EF4-FFF2-40B4-BE49-F238E27FC236}">
                  <a16:creationId xmlns:a16="http://schemas.microsoft.com/office/drawing/2014/main" id="{44657BAB-3544-4968-E933-E66E7EE40FC4}"/>
                </a:ext>
              </a:extLst>
            </p:cNvPr>
            <p:cNvSpPr/>
            <p:nvPr/>
          </p:nvSpPr>
          <p:spPr>
            <a:xfrm>
              <a:off x="8411463" y="6400813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US" dirty="0"/>
                <a:t>   </a:t>
              </a:r>
              <a:r>
                <a:rPr lang="en-US" sz="1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17</a:t>
              </a:r>
              <a:endParaRPr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object 7">
              <a:extLst>
                <a:ext uri="{FF2B5EF4-FFF2-40B4-BE49-F238E27FC236}">
                  <a16:creationId xmlns:a16="http://schemas.microsoft.com/office/drawing/2014/main" id="{DCF503A4-150D-3FCE-CC74-B5D5392223B1}"/>
                </a:ext>
              </a:extLst>
            </p:cNvPr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8575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pc="-10" dirty="0"/>
              <a:t>Bibliography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8575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5940" y="1240281"/>
            <a:ext cx="8989060" cy="50776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buSzPct val="125000"/>
              <a:tabLst>
                <a:tab pos="354965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    </a:t>
            </a:r>
            <a:r>
              <a:rPr sz="2400" b="1" spc="-10" dirty="0">
                <a:latin typeface="Times New Roman"/>
                <a:cs typeface="Times New Roman"/>
              </a:rPr>
              <a:t>Books</a:t>
            </a:r>
            <a:endParaRPr sz="2400" dirty="0">
              <a:latin typeface="Times New Roman"/>
              <a:cs typeface="Times New Roman"/>
            </a:endParaRPr>
          </a:p>
          <a:p>
            <a:pPr marL="12700" algn="l">
              <a:lnSpc>
                <a:spcPct val="100000"/>
              </a:lnSpc>
              <a:spcBef>
                <a:spcPts val="25"/>
              </a:spcBef>
              <a:buSzPct val="115909"/>
              <a:tabLst>
                <a:tab pos="354965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/>
                <a:cs typeface="Times New Roman"/>
              </a:rPr>
              <a:t>Artificial Intelligence: A Modern Approach — Stuart </a:t>
            </a:r>
          </a:p>
          <a:p>
            <a:pPr marL="12700" algn="l">
              <a:lnSpc>
                <a:spcPct val="100000"/>
              </a:lnSpc>
              <a:spcBef>
                <a:spcPts val="25"/>
              </a:spcBef>
              <a:buSzPct val="115909"/>
              <a:tabLst>
                <a:tab pos="354965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     Russell and Peter Norvig.</a:t>
            </a:r>
          </a:p>
          <a:p>
            <a:pPr marL="12700" algn="l">
              <a:lnSpc>
                <a:spcPct val="100000"/>
              </a:lnSpc>
              <a:spcBef>
                <a:spcPts val="25"/>
              </a:spcBef>
              <a:buSzPct val="115909"/>
              <a:tabLst>
                <a:tab pos="354965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• </a:t>
            </a:r>
            <a:r>
              <a:rPr lang="en-US" sz="2200" dirty="0">
                <a:latin typeface="Times New Roman"/>
                <a:cs typeface="Times New Roman"/>
              </a:rPr>
              <a:t>Hands-On Machine Learning with Scikit-Learn, </a:t>
            </a:r>
            <a:r>
              <a:rPr lang="en-US" sz="2200" dirty="0" err="1">
                <a:latin typeface="Times New Roman"/>
                <a:cs typeface="Times New Roman"/>
              </a:rPr>
              <a:t>Keras</a:t>
            </a:r>
            <a:r>
              <a:rPr lang="en-US" sz="2200" dirty="0">
                <a:latin typeface="Times New Roman"/>
                <a:cs typeface="Times New Roman"/>
              </a:rPr>
              <a:t>,   </a:t>
            </a:r>
          </a:p>
          <a:p>
            <a:pPr marL="12700" algn="l">
              <a:lnSpc>
                <a:spcPct val="100000"/>
              </a:lnSpc>
              <a:spcBef>
                <a:spcPts val="25"/>
              </a:spcBef>
              <a:buSzPct val="115909"/>
              <a:tabLst>
                <a:tab pos="354965" algn="l"/>
              </a:tabLst>
            </a:pPr>
            <a:r>
              <a:rPr lang="en-US" sz="2200" dirty="0">
                <a:latin typeface="Times New Roman"/>
                <a:cs typeface="Times New Roman"/>
              </a:rPr>
              <a:t>        and TensorFlow — Aurélien </a:t>
            </a:r>
            <a:r>
              <a:rPr lang="en-US" sz="2200" dirty="0" err="1">
                <a:latin typeface="Times New Roman"/>
                <a:cs typeface="Times New Roman"/>
              </a:rPr>
              <a:t>Géron</a:t>
            </a:r>
            <a:r>
              <a:rPr lang="en-US" sz="2200" dirty="0">
                <a:latin typeface="Times New Roman"/>
                <a:cs typeface="Times New Roman"/>
              </a:rPr>
              <a:t>.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buSzPct val="125000"/>
              <a:tabLst>
                <a:tab pos="354965" algn="l"/>
              </a:tabLst>
            </a:pPr>
            <a:r>
              <a:rPr lang="en-US" sz="2400" b="1" spc="-10" dirty="0">
                <a:latin typeface="Times New Roman"/>
                <a:cs typeface="Times New Roman"/>
              </a:rPr>
              <a:t>    </a:t>
            </a:r>
            <a:r>
              <a:rPr sz="2400" b="1" spc="-10" dirty="0">
                <a:latin typeface="Times New Roman"/>
                <a:cs typeface="Times New Roman"/>
              </a:rPr>
              <a:t>Websites</a:t>
            </a:r>
            <a:endParaRPr sz="2400" dirty="0">
              <a:latin typeface="Times New Roman"/>
              <a:cs typeface="Times New Roman"/>
            </a:endParaRPr>
          </a:p>
          <a:p>
            <a:pPr marL="12700">
              <a:spcBef>
                <a:spcPts val="725"/>
              </a:spcBef>
              <a:buClr>
                <a:srgbClr val="000000"/>
              </a:buClr>
              <a:buSzPct val="122727"/>
              <a:tabLst>
                <a:tab pos="354965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2"/>
              </a:rPr>
              <a:t>https://scikit-learn.org</a:t>
            </a:r>
            <a:endParaRPr lang="en-IN" sz="2200" b="1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Times New Roman"/>
              <a:cs typeface="Times New Roman"/>
            </a:endParaRPr>
          </a:p>
          <a:p>
            <a:pPr marL="12700">
              <a:spcBef>
                <a:spcPts val="725"/>
              </a:spcBef>
              <a:buClr>
                <a:srgbClr val="000000"/>
              </a:buClr>
              <a:buSzPct val="122727"/>
              <a:tabLst>
                <a:tab pos="354965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</a:t>
            </a:r>
            <a:r>
              <a:rPr lang="en-IN" sz="22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</a:t>
            </a:r>
            <a:r>
              <a:rPr lang="en-IN" sz="22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  <a:hlinkClick r:id="rId3"/>
              </a:rPr>
              <a:t>https://www.who.int</a:t>
            </a:r>
            <a:endParaRPr lang="en-IN" sz="2200" b="1" u="sng" spc="-10" dirty="0">
              <a:solidFill>
                <a:srgbClr val="0000FF"/>
              </a:solidFill>
              <a:uFill>
                <a:solidFill>
                  <a:srgbClr val="0000FF"/>
                </a:solidFill>
              </a:uFill>
              <a:latin typeface="Times New Roman"/>
              <a:cs typeface="Times New Roman"/>
            </a:endParaRPr>
          </a:p>
          <a:p>
            <a:pPr marL="12700">
              <a:spcBef>
                <a:spcPts val="725"/>
              </a:spcBef>
              <a:buClr>
                <a:srgbClr val="000000"/>
              </a:buClr>
              <a:buSzPct val="122727"/>
              <a:tabLst>
                <a:tab pos="354965" algn="l"/>
              </a:tabLst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IN" sz="2200" b="1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https://www.tensorflow.org</a:t>
            </a:r>
          </a:p>
          <a:p>
            <a:pPr marL="12700">
              <a:spcBef>
                <a:spcPts val="725"/>
              </a:spcBef>
              <a:buClr>
                <a:srgbClr val="000000"/>
              </a:buClr>
              <a:buSzPct val="122727"/>
              <a:tabLst>
                <a:tab pos="354965" algn="l"/>
              </a:tabLst>
            </a:pPr>
            <a:endParaRPr lang="en-IN" sz="2200" dirty="0">
              <a:latin typeface="Times New Roman"/>
              <a:cs typeface="Times New Roman"/>
            </a:endParaRPr>
          </a:p>
          <a:p>
            <a:pPr marL="12700">
              <a:spcBef>
                <a:spcPts val="725"/>
              </a:spcBef>
              <a:buClr>
                <a:srgbClr val="000000"/>
              </a:buClr>
              <a:buSzPct val="122727"/>
              <a:tabLst>
                <a:tab pos="354965" algn="l"/>
              </a:tabLst>
            </a:pPr>
            <a:endParaRPr lang="en-IN" sz="22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25"/>
              </a:spcBef>
              <a:buClr>
                <a:srgbClr val="000000"/>
              </a:buClr>
              <a:buSzPct val="122727"/>
              <a:tabLst>
                <a:tab pos="354965" algn="l"/>
              </a:tabLst>
            </a:pP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411464" y="6356350"/>
            <a:ext cx="549275" cy="409575"/>
            <a:chOff x="8411464" y="6356350"/>
            <a:chExt cx="549275" cy="409575"/>
          </a:xfrm>
        </p:grpSpPr>
        <p:sp>
          <p:nvSpPr>
            <p:cNvPr id="6" name="object 6"/>
            <p:cNvSpPr/>
            <p:nvPr/>
          </p:nvSpPr>
          <p:spPr>
            <a:xfrm>
              <a:off x="8411464" y="640080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18</a:t>
            </a:fld>
            <a:endParaRPr spc="-2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457200" y="274624"/>
            <a:ext cx="8229600" cy="868680"/>
          </a:xfrm>
          <a:prstGeom prst="rect">
            <a:avLst/>
          </a:prstGeom>
          <a:ln w="25400">
            <a:solidFill>
              <a:srgbClr val="4F81BC"/>
            </a:solidFill>
          </a:ln>
        </p:spPr>
        <p:txBody>
          <a:bodyPr vert="horz" wrap="square" lIns="0" tIns="7937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625"/>
              </a:spcBef>
            </a:pPr>
            <a:r>
              <a:rPr spc="-10" dirty="0"/>
              <a:t>References</a:t>
            </a:r>
          </a:p>
        </p:txBody>
      </p:sp>
      <p:sp>
        <p:nvSpPr>
          <p:cNvPr id="3" name="object 3"/>
          <p:cNvSpPr/>
          <p:nvPr/>
        </p:nvSpPr>
        <p:spPr>
          <a:xfrm>
            <a:off x="457200" y="1219200"/>
            <a:ext cx="8229600" cy="5334000"/>
          </a:xfrm>
          <a:custGeom>
            <a:avLst/>
            <a:gdLst/>
            <a:ahLst/>
            <a:cxnLst/>
            <a:rect l="l" t="t" r="r" b="b"/>
            <a:pathLst>
              <a:path w="8229600" h="5334000">
                <a:moveTo>
                  <a:pt x="0" y="5334000"/>
                </a:moveTo>
                <a:lnTo>
                  <a:pt x="8229600" y="5334000"/>
                </a:lnTo>
                <a:lnTo>
                  <a:pt x="8229600" y="0"/>
                </a:lnTo>
                <a:lnTo>
                  <a:pt x="0" y="0"/>
                </a:lnTo>
                <a:lnTo>
                  <a:pt x="0" y="5334000"/>
                </a:lnTo>
                <a:close/>
              </a:path>
            </a:pathLst>
          </a:custGeom>
          <a:ln w="25400">
            <a:solidFill>
              <a:srgbClr val="4F81B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38631" y="1435873"/>
            <a:ext cx="7871459" cy="433452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200" b="1" dirty="0">
                <a:latin typeface="Times New Roman"/>
                <a:cs typeface="Times New Roman"/>
              </a:rPr>
              <a:t>Research</a:t>
            </a:r>
            <a:r>
              <a:rPr sz="2200" b="1" spc="-80" dirty="0">
                <a:latin typeface="Times New Roman"/>
                <a:cs typeface="Times New Roman"/>
              </a:rPr>
              <a:t> </a:t>
            </a:r>
            <a:r>
              <a:rPr sz="2200" b="1" spc="-10" dirty="0">
                <a:latin typeface="Times New Roman"/>
                <a:cs typeface="Times New Roman"/>
              </a:rPr>
              <a:t>Papers</a:t>
            </a:r>
            <a:endParaRPr sz="22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Esteva, A. et al. (2019). A Guide to Deep Learning in Healthcare. 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US" sz="2200" dirty="0">
                <a:latin typeface="Times New Roman"/>
                <a:cs typeface="Times New Roman"/>
              </a:rPr>
              <a:t>  Nature Medicine.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 err="1">
                <a:latin typeface="Times New Roman"/>
                <a:cs typeface="Times New Roman"/>
              </a:rPr>
              <a:t>Rajpurkar</a:t>
            </a:r>
            <a:r>
              <a:rPr lang="en-US" sz="2200" dirty="0">
                <a:latin typeface="Times New Roman"/>
                <a:cs typeface="Times New Roman"/>
              </a:rPr>
              <a:t>, P. et al. (2022). Research on AI and medical imaging — 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US" sz="2200" dirty="0">
                <a:latin typeface="Times New Roman"/>
                <a:cs typeface="Times New Roman"/>
              </a:rPr>
              <a:t>  use the exact paper title and publication details from your  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US" sz="2200" dirty="0">
                <a:latin typeface="Times New Roman"/>
                <a:cs typeface="Times New Roman"/>
              </a:rPr>
              <a:t>  report.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Zhang, A. et al. (2022). Research on Machine Learning in healthcare     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US" sz="2200" dirty="0">
                <a:latin typeface="Times New Roman"/>
                <a:cs typeface="Times New Roman"/>
              </a:rPr>
              <a:t>   — verify the exact citation from your report.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US" sz="2200" b="1" dirty="0">
                <a:latin typeface="Times New Roman"/>
                <a:cs typeface="Times New Roman"/>
              </a:rPr>
              <a:t>Technical Resources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Scikit-learn documentation for machine learning.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TensorFlow documentation for model development.</a:t>
            </a:r>
          </a:p>
          <a:p>
            <a:pPr>
              <a:lnSpc>
                <a:spcPct val="100000"/>
              </a:lnSpc>
              <a:spcBef>
                <a:spcPts val="110"/>
              </a:spcBef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200" dirty="0">
                <a:latin typeface="Times New Roman"/>
                <a:cs typeface="Times New Roman"/>
              </a:rPr>
              <a:t>World Health Organization resources on digital health.</a:t>
            </a:r>
            <a:endParaRPr sz="2200" dirty="0">
              <a:latin typeface="Times New Roman"/>
              <a:cs typeface="Times New Roman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8398764" y="6343650"/>
            <a:ext cx="574675" cy="390525"/>
            <a:chOff x="8398764" y="6343650"/>
            <a:chExt cx="574675" cy="390525"/>
          </a:xfrm>
        </p:grpSpPr>
        <p:sp>
          <p:nvSpPr>
            <p:cNvPr id="6" name="object 6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8430006" y="6447975"/>
            <a:ext cx="177800" cy="1943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10"/>
              </a:lnSpc>
            </a:pPr>
            <a:r>
              <a:rPr sz="1200" spc="-25" dirty="0">
                <a:solidFill>
                  <a:srgbClr val="878787"/>
                </a:solidFill>
                <a:latin typeface="Times New Roman"/>
                <a:cs typeface="Times New Roman"/>
              </a:rPr>
              <a:t>23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1447800" y="2810103"/>
            <a:ext cx="6248400" cy="1200785"/>
          </a:xfrm>
          <a:prstGeom prst="rect">
            <a:avLst/>
          </a:prstGeom>
          <a:ln w="28575">
            <a:solidFill>
              <a:srgbClr val="4F81BC"/>
            </a:solidFill>
          </a:ln>
        </p:spPr>
        <p:txBody>
          <a:bodyPr vert="horz" wrap="square" lIns="0" tIns="2349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85"/>
              </a:spcBef>
            </a:pPr>
            <a:r>
              <a:rPr sz="5400" b="1" dirty="0">
                <a:solidFill>
                  <a:srgbClr val="252525"/>
                </a:solidFill>
                <a:latin typeface="Times New Roman"/>
                <a:cs typeface="Times New Roman"/>
              </a:rPr>
              <a:t>Thank</a:t>
            </a:r>
            <a:r>
              <a:rPr sz="5400" b="1" spc="-25" dirty="0">
                <a:solidFill>
                  <a:srgbClr val="252525"/>
                </a:solidFill>
                <a:latin typeface="Times New Roman"/>
                <a:cs typeface="Times New Roman"/>
              </a:rPr>
              <a:t> you</a:t>
            </a:r>
            <a:endParaRPr sz="5400">
              <a:latin typeface="Times New Roman"/>
              <a:cs typeface="Times New Roman"/>
            </a:endParaRPr>
          </a:p>
        </p:txBody>
      </p:sp>
      <p:grpSp>
        <p:nvGrpSpPr>
          <p:cNvPr id="4" name="object 5">
            <a:extLst>
              <a:ext uri="{FF2B5EF4-FFF2-40B4-BE49-F238E27FC236}">
                <a16:creationId xmlns:a16="http://schemas.microsoft.com/office/drawing/2014/main" id="{6EB0C9EA-AB7D-280A-6893-F06AB5FFDD5C}"/>
              </a:ext>
            </a:extLst>
          </p:cNvPr>
          <p:cNvGrpSpPr/>
          <p:nvPr/>
        </p:nvGrpSpPr>
        <p:grpSpPr>
          <a:xfrm>
            <a:off x="8398764" y="6248400"/>
            <a:ext cx="574675" cy="390525"/>
            <a:chOff x="8398764" y="6343650"/>
            <a:chExt cx="574675" cy="390525"/>
          </a:xfrm>
        </p:grpSpPr>
        <p:sp>
          <p:nvSpPr>
            <p:cNvPr id="5" name="object 6">
              <a:extLst>
                <a:ext uri="{FF2B5EF4-FFF2-40B4-BE49-F238E27FC236}">
                  <a16:creationId xmlns:a16="http://schemas.microsoft.com/office/drawing/2014/main" id="{696CFF5D-1AB5-F44B-A90B-16F1D6276368}"/>
                </a:ext>
              </a:extLst>
            </p:cNvPr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548703" y="0"/>
                  </a:moveTo>
                  <a:lnTo>
                    <a:pt x="0" y="0"/>
                  </a:lnTo>
                  <a:lnTo>
                    <a:pt x="0" y="365099"/>
                  </a:lnTo>
                  <a:lnTo>
                    <a:pt x="548703" y="365099"/>
                  </a:lnTo>
                  <a:lnTo>
                    <a:pt x="548703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r>
                <a:rPr lang="en-US" sz="1200" dirty="0"/>
                <a:t>    </a:t>
              </a:r>
              <a:r>
                <a:rPr lang="en-US" sz="1200" dirty="0">
                  <a:solidFill>
                    <a:schemeClr val="accent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20</a:t>
              </a:r>
              <a:endParaRPr sz="12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" name="object 7">
              <a:extLst>
                <a:ext uri="{FF2B5EF4-FFF2-40B4-BE49-F238E27FC236}">
                  <a16:creationId xmlns:a16="http://schemas.microsoft.com/office/drawing/2014/main" id="{3C78D517-8BE8-0861-8DE1-747AE2FD0E4A}"/>
                </a:ext>
              </a:extLst>
            </p:cNvPr>
            <p:cNvSpPr/>
            <p:nvPr/>
          </p:nvSpPr>
          <p:spPr>
            <a:xfrm>
              <a:off x="8411464" y="6356350"/>
              <a:ext cx="549275" cy="365125"/>
            </a:xfrm>
            <a:custGeom>
              <a:avLst/>
              <a:gdLst/>
              <a:ahLst/>
              <a:cxnLst/>
              <a:rect l="l" t="t" r="r" b="b"/>
              <a:pathLst>
                <a:path w="549275" h="365125">
                  <a:moveTo>
                    <a:pt x="0" y="365099"/>
                  </a:moveTo>
                  <a:lnTo>
                    <a:pt x="548703" y="365099"/>
                  </a:lnTo>
                  <a:lnTo>
                    <a:pt x="548703" y="0"/>
                  </a:lnTo>
                  <a:lnTo>
                    <a:pt x="0" y="0"/>
                  </a:lnTo>
                  <a:lnTo>
                    <a:pt x="0" y="365099"/>
                  </a:lnTo>
                  <a:close/>
                </a:path>
              </a:pathLst>
            </a:custGeom>
            <a:ln w="25400">
              <a:solidFill>
                <a:srgbClr val="4F81B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102</TotalTime>
  <Words>1728</Words>
  <Application>Microsoft Office PowerPoint</Application>
  <PresentationFormat>On-screen Show (4:3)</PresentationFormat>
  <Paragraphs>314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Times New Roman</vt:lpstr>
      <vt:lpstr>Wingdings</vt:lpstr>
      <vt:lpstr>Office Theme</vt:lpstr>
      <vt:lpstr>PowerPoint Presentation</vt:lpstr>
      <vt:lpstr>Contents</vt:lpstr>
      <vt:lpstr>Abstract</vt:lpstr>
      <vt:lpstr>1. Introduction</vt:lpstr>
      <vt:lpstr>2.Literature Review</vt:lpstr>
      <vt:lpstr>PowerPoint Presentation</vt:lpstr>
      <vt:lpstr>PowerPoint Presentation</vt:lpstr>
      <vt:lpstr>2. Literature Review</vt:lpstr>
      <vt:lpstr>3. Information to seminar topic</vt:lpstr>
      <vt:lpstr>4. Advantages / Disadvantages</vt:lpstr>
      <vt:lpstr>5. Conclusion</vt:lpstr>
      <vt:lpstr>6. Project Initiation</vt:lpstr>
      <vt:lpstr>6.1 Description of problem statement, Identification.</vt:lpstr>
      <vt:lpstr>6. 2 Scope and Objectives.</vt:lpstr>
      <vt:lpstr>6. 3 Stake Holder</vt:lpstr>
      <vt:lpstr>6. 4 Seminar Exsicussion Plan</vt:lpstr>
      <vt:lpstr>6.5 Platform/ Equipment/ Resources</vt:lpstr>
      <vt:lpstr>Bibliography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Rohit Patil</cp:lastModifiedBy>
  <cp:revision>8</cp:revision>
  <dcterms:created xsi:type="dcterms:W3CDTF">2026-10-19T05:20:57Z</dcterms:created>
  <dcterms:modified xsi:type="dcterms:W3CDTF">2026-10-19T07:05:08Z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2026-10-19T00:00:00Z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2026-10-19T00:00:00Z</vt:filetime>
  </property>
</Properties>
</file>