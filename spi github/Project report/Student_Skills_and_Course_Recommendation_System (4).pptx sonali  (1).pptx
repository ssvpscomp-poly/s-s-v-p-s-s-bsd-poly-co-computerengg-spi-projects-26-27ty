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
  </p:notesMasterIdLst>
  <p:sldIdLst>
    <p:sldId id="256" r:id="rId3"/>
    <p:sldId id="299" r:id="rId4"/>
    <p:sldId id="288" r:id="rId5"/>
    <p:sldId id="298" r:id="rId6"/>
    <p:sldId id="306" r:id="rId7"/>
    <p:sldId id="307" r:id="rId9"/>
    <p:sldId id="308" r:id="rId10"/>
    <p:sldId id="309" r:id="rId11"/>
    <p:sldId id="289" r:id="rId12"/>
    <p:sldId id="290" r:id="rId13"/>
    <p:sldId id="291" r:id="rId14"/>
    <p:sldId id="292" r:id="rId15"/>
    <p:sldId id="300" r:id="rId16"/>
    <p:sldId id="301" r:id="rId17"/>
    <p:sldId id="302" r:id="rId18"/>
    <p:sldId id="303" r:id="rId19"/>
    <p:sldId id="286" r:id="rId20"/>
    <p:sldId id="304" r:id="rId21"/>
    <p:sldId id="310" r:id="rId22"/>
    <p:sldId id="27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D3E1406F-3E0B-4A76-BC53-D38CF81A0145}">
          <p14:sldIdLst>
            <p14:sldId id="256"/>
            <p14:sldId id="299"/>
            <p14:sldId id="288"/>
            <p14:sldId id="298"/>
            <p14:sldId id="306"/>
            <p14:sldId id="307"/>
            <p14:sldId id="308"/>
            <p14:sldId id="309"/>
            <p14:sldId id="289"/>
            <p14:sldId id="290"/>
            <p14:sldId id="291"/>
            <p14:sldId id="292"/>
            <p14:sldId id="300"/>
            <p14:sldId id="301"/>
            <p14:sldId id="302"/>
            <p14:sldId id="303"/>
            <p14:sldId id="286"/>
            <p14:sldId id="304"/>
            <p14:sldId id="310"/>
            <p14:sldId id="276"/>
          </p14:sldIdLst>
        </p14:section>
      </p14:sectionLst>
    </p:ext>
    <p:ext uri="{EFAFB233-063F-42B5-8137-9DF3F51BA10A}">
      <p15:sldGuideLst xmlns:p15="http://schemas.microsoft.com/office/powerpoint/2012/main">
        <p15:guide id="1" orient="horz" pos="217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3" d="100"/>
          <a:sy n="73" d="100"/>
        </p:scale>
        <p:origin x="1008" y="44"/>
      </p:cViewPr>
      <p:guideLst>
        <p:guide orient="horz" pos="2173"/>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customXml" Target="../customXml/item3.xml"/><Relationship Id="rId28" Type="http://schemas.openxmlformats.org/officeDocument/2006/relationships/customXml" Target="../customXml/item2.xml"/><Relationship Id="rId27" Type="http://schemas.openxmlformats.org/officeDocument/2006/relationships/customXml" Target="../customXml/item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F88BA2-E329-49E8-A2CE-E0F8A4332C44}"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7AF6FA-6E3A-44B1-85F9-6F12943D675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95A2CFAB-EAD8-48B6-877C-51B5044397D3}"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style>
          <a:lnRef idx="2">
            <a:schemeClr val="accent1"/>
          </a:lnRef>
          <a:fillRef idx="1">
            <a:schemeClr val="lt1"/>
          </a:fillRef>
          <a:effectRef idx="0">
            <a:schemeClr val="accent1"/>
          </a:effectRef>
          <a:fontRef idx="minor">
            <a:schemeClr val="dk1"/>
          </a:fontRef>
        </p:style>
        <p:txBody>
          <a:bodyPr/>
          <a:lstStyle>
            <a:lvl1pPr>
              <a:defRPr>
                <a:solidFill>
                  <a:srgbClr val="002060"/>
                </a:solidFill>
              </a:defRPr>
            </a:lvl1pPr>
          </a:lstStyle>
          <a:p>
            <a:r>
              <a:rPr lang="en-US" dirty="0"/>
              <a:t>Click to edit Master title style</a:t>
            </a:r>
            <a:endParaRPr lang="en-US" dirty="0"/>
          </a:p>
        </p:txBody>
      </p:sp>
      <p:sp>
        <p:nvSpPr>
          <p:cNvPr id="3" name="Content Placeholder 2"/>
          <p:cNvSpPr>
            <a:spLocks noGrp="1"/>
          </p:cNvSpPr>
          <p:nvPr>
            <p:ph idx="1"/>
          </p:nvPr>
        </p:nvSpPr>
        <p:spPr>
          <a:xfrm>
            <a:off x="457200" y="1219200"/>
            <a:ext cx="8229600" cy="5334000"/>
          </a:xfrm>
        </p:spPr>
        <p:style>
          <a:lnRef idx="2">
            <a:schemeClr val="accent1"/>
          </a:lnRef>
          <a:fillRef idx="1">
            <a:schemeClr val="lt1"/>
          </a:fillRef>
          <a:effectRef idx="0">
            <a:schemeClr val="accent1"/>
          </a:effectRef>
          <a:fontRef idx="minor">
            <a:schemeClr val="dk1"/>
          </a:fontRef>
        </p:style>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style>
          <a:lnRef idx="2">
            <a:schemeClr val="accent1"/>
          </a:lnRef>
          <a:fillRef idx="1">
            <a:schemeClr val="lt1"/>
          </a:fillRef>
          <a:effectRef idx="0">
            <a:schemeClr val="accent1"/>
          </a:effectRef>
          <a:fontRef idx="minor">
            <a:schemeClr val="dk1"/>
          </a:fontRef>
        </p:style>
        <p:txBody>
          <a:bodyPr/>
          <a:lstStyle/>
          <a:p>
            <a:fld id="{8416966D-A0FB-4775-A5C9-29F4874A3325}" type="datetime1">
              <a:rPr lang="en-US" smtClean="0"/>
            </a:fld>
            <a:endParaRPr lang="en-US"/>
          </a:p>
        </p:txBody>
      </p:sp>
      <p:sp>
        <p:nvSpPr>
          <p:cNvPr id="5" name="Footer Placeholder 4"/>
          <p:cNvSpPr>
            <a:spLocks noGrp="1"/>
          </p:cNvSpPr>
          <p:nvPr>
            <p:ph type="ftr" sz="quarter" idx="11"/>
          </p:nvPr>
        </p:nvSpPr>
        <p:spPr/>
        <p:style>
          <a:lnRef idx="2">
            <a:schemeClr val="accent1"/>
          </a:lnRef>
          <a:fillRef idx="1">
            <a:schemeClr val="lt1"/>
          </a:fillRef>
          <a:effectRef idx="0">
            <a:schemeClr val="accent1"/>
          </a:effectRef>
          <a:fontRef idx="minor">
            <a:schemeClr val="dk1"/>
          </a:fontRef>
        </p:style>
        <p:txBody>
          <a:bodyPr/>
          <a:lstStyle/>
          <a:p>
            <a:endParaRPr lang="en-US"/>
          </a:p>
        </p:txBody>
      </p:sp>
      <p:sp>
        <p:nvSpPr>
          <p:cNvPr id="6" name="Slide Number Placeholder 5"/>
          <p:cNvSpPr>
            <a:spLocks noGrp="1"/>
          </p:cNvSpPr>
          <p:nvPr>
            <p:ph type="sldNum" sz="quarter" idx="12"/>
          </p:nvPr>
        </p:nvSpPr>
        <p:spPr>
          <a:xfrm>
            <a:off x="8411428" y="6356350"/>
            <a:ext cx="548640" cy="365125"/>
          </a:xfrm>
        </p:spPr>
        <p:style>
          <a:lnRef idx="2">
            <a:schemeClr val="accent1"/>
          </a:lnRef>
          <a:fillRef idx="1">
            <a:schemeClr val="lt1"/>
          </a:fillRef>
          <a:effectRef idx="0">
            <a:schemeClr val="accent1"/>
          </a:effectRef>
          <a:fontRef idx="minor">
            <a:schemeClr val="dk1"/>
          </a:fontRef>
        </p:style>
        <p:txBody>
          <a:bodyPr/>
          <a:lstStyle>
            <a:lvl1pPr algn="ctr">
              <a:defRPr/>
            </a:lvl1pPr>
          </a:lstStyle>
          <a:p>
            <a:fld id="{4AF1F8D0-972F-472E-AFE5-1F27E299DB0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A785E2E-43E3-41AC-BE03-EA57F5AAE4DF}"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A73DE89-DCBE-43AC-8131-C0E45E617E0F}"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3F5EB2E2-2776-4DF6-98AB-1D4F574FC524}"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A552B1B-6417-48E2-A01D-53C5473401D7}"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33C0DC-0E7D-4A39-89F0-59F705A3D546}"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F0E1999-7F97-45AB-9004-44C592CE2741}"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D19A760-14F1-4C1A-A93A-35F0A33C2A95}"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3A323C3-32B4-47F9-9199-4F2415DD9DA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DDF27A7-0C1F-4275-A9A8-72F104EEA568}"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15962"/>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066800"/>
            <a:ext cx="8229600" cy="51816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38E260-A86D-4C74-9289-17B5FA32937E}" type="datetime1">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F1F8D0-972F-472E-AFE5-1F27E299DB0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nvGraphicFramePr>
        <p:xfrm>
          <a:off x="304800" y="381000"/>
          <a:ext cx="8646204" cy="5831787"/>
        </p:xfrm>
        <a:graphic>
          <a:graphicData uri="http://schemas.openxmlformats.org/drawingml/2006/table">
            <a:tbl>
              <a:tblPr firstRow="1" bandRow="1">
                <a:tableStyleId>{69012ECD-51FC-41F1-AA8D-1B2483CD663E}</a:tableStyleId>
              </a:tblPr>
              <a:tblGrid>
                <a:gridCol w="1476736"/>
                <a:gridCol w="358732"/>
                <a:gridCol w="4191000"/>
                <a:gridCol w="2619736"/>
              </a:tblGrid>
              <a:tr h="1767926">
                <a:tc>
                  <a:txBody>
                    <a:bodyPr/>
                    <a:lstStyle/>
                    <a:p>
                      <a:pPr algn="ctr"/>
                      <a:endParaRPr lang="en-US" sz="22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2800" dirty="0" smtClean="0">
                          <a:solidFill>
                            <a:schemeClr val="bg1"/>
                          </a:solidFill>
                        </a:rPr>
                        <a:t>S.S.V.P.S’s </a:t>
                      </a:r>
                      <a:r>
                        <a:rPr lang="en-US" sz="2800" dirty="0">
                          <a:solidFill>
                            <a:schemeClr val="bg1"/>
                          </a:solidFill>
                        </a:rPr>
                        <a:t>B. S. </a:t>
                      </a:r>
                      <a:r>
                        <a:rPr lang="en-US" sz="2800" baseline="0" dirty="0">
                          <a:solidFill>
                            <a:schemeClr val="bg1"/>
                          </a:solidFill>
                        </a:rPr>
                        <a:t>Deore Polytechnic, </a:t>
                      </a:r>
                      <a:r>
                        <a:rPr lang="en-US" sz="2800" baseline="0" dirty="0" err="1" smtClean="0">
                          <a:solidFill>
                            <a:schemeClr val="bg1"/>
                          </a:solidFill>
                        </a:rPr>
                        <a:t>Dhule</a:t>
                      </a:r>
                      <a:endParaRPr lang="en-US" sz="2800" baseline="0" dirty="0" smtClean="0">
                        <a:solidFill>
                          <a:schemeClr val="bg1"/>
                        </a:solidFill>
                      </a:endParaRPr>
                    </a:p>
                    <a:p>
                      <a:pPr marL="0" marR="0" indent="0" algn="ctr" defTabSz="914400" rtl="0" eaLnBrk="1" fontAlgn="auto" latinLnBrk="0" hangingPunct="1">
                        <a:lnSpc>
                          <a:spcPct val="100000"/>
                        </a:lnSpc>
                        <a:spcBef>
                          <a:spcPts val="0"/>
                        </a:spcBef>
                        <a:spcAft>
                          <a:spcPts val="0"/>
                        </a:spcAft>
                        <a:buClrTx/>
                        <a:buSzTx/>
                        <a:buFontTx/>
                        <a:buNone/>
                        <a:defRPr/>
                      </a:pPr>
                      <a:r>
                        <a:rPr lang="en-US" sz="3200" dirty="0" smtClean="0">
                          <a:solidFill>
                            <a:schemeClr val="bg1"/>
                          </a:solidFill>
                        </a:rPr>
                        <a:t>Department of Computer Engineering</a:t>
                      </a:r>
                      <a:endParaRPr lang="en-US" sz="3200" dirty="0" smtClean="0">
                        <a:solidFill>
                          <a:schemeClr val="bg1"/>
                        </a:solidFill>
                      </a:endParaRPr>
                    </a:p>
                    <a:p>
                      <a:pPr algn="ctr"/>
                      <a:r>
                        <a:rPr lang="en-US" sz="3200" b="0" i="1" baseline="0" dirty="0" smtClean="0">
                          <a:solidFill>
                            <a:schemeClr val="bg1"/>
                          </a:solidFill>
                        </a:rPr>
                        <a:t>Academic </a:t>
                      </a:r>
                      <a:r>
                        <a:rPr lang="en-US" sz="3200" b="0" i="1" baseline="0" dirty="0">
                          <a:solidFill>
                            <a:schemeClr val="bg1"/>
                          </a:solidFill>
                        </a:rPr>
                        <a:t>Year : </a:t>
                      </a:r>
                      <a:r>
                        <a:rPr lang="en-US" sz="3200" b="0" i="1" baseline="0" dirty="0" smtClean="0">
                          <a:solidFill>
                            <a:schemeClr val="bg1"/>
                          </a:solidFill>
                        </a:rPr>
                        <a:t>2025-2026</a:t>
                      </a:r>
                      <a:endParaRPr lang="en-US" sz="3200" b="0" i="1" baseline="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r>
              <a:tr h="598415">
                <a:tc gridSpan="4">
                  <a:txBody>
                    <a:bodyPr/>
                    <a:lstStyle/>
                    <a:p>
                      <a:pPr algn="ctr"/>
                      <a:r>
                        <a:rPr lang="en-US" sz="2800" b="1" kern="1200" baseline="0" dirty="0" smtClean="0">
                          <a:solidFill>
                            <a:srgbClr val="002060"/>
                          </a:solidFill>
                          <a:latin typeface="+mn-lt"/>
                          <a:ea typeface="+mn-ea"/>
                          <a:cs typeface="+mn-cs"/>
                        </a:rPr>
                        <a:t>SEMINAR AND PROJECT INITIATION COURSE</a:t>
                      </a:r>
                      <a:endParaRPr lang="en-US" sz="2800" b="1" kern="1200" baseline="0" dirty="0" smtClean="0">
                        <a:solidFill>
                          <a:srgbClr val="00206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r>
              <a:tr h="498066">
                <a:tc gridSpan="2">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100" b="1" dirty="0" err="1" smtClean="0">
                          <a:solidFill>
                            <a:srgbClr val="FF0000"/>
                          </a:solidFill>
                        </a:rPr>
                        <a:t>Sem</a:t>
                      </a:r>
                      <a:r>
                        <a:rPr lang="en-US" sz="2100" b="1" dirty="0" smtClean="0">
                          <a:solidFill>
                            <a:srgbClr val="FF0000"/>
                          </a:solidFill>
                        </a:rPr>
                        <a:t> : CO 5</a:t>
                      </a:r>
                      <a:r>
                        <a:rPr lang="en-US" sz="2100" b="1" baseline="0" dirty="0" smtClean="0">
                          <a:solidFill>
                            <a:srgbClr val="FF0000"/>
                          </a:solidFill>
                        </a:rPr>
                        <a:t> K</a:t>
                      </a:r>
                      <a:endParaRPr lang="en-US" sz="2100" b="1" dirty="0" smtClean="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400" b="1" kern="1200" baseline="0" dirty="0" smtClean="0">
                          <a:solidFill>
                            <a:srgbClr val="002060"/>
                          </a:solidFill>
                          <a:latin typeface="+mn-lt"/>
                          <a:ea typeface="+mn-ea"/>
                          <a:cs typeface="+mn-cs"/>
                        </a:rPr>
                        <a:t>SPI – 315003</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100" b="1" dirty="0" smtClean="0">
                          <a:solidFill>
                            <a:srgbClr val="FF0000"/>
                          </a:solidFill>
                        </a:rPr>
                        <a:t>Date  : 11 Oct’ 2025</a:t>
                      </a:r>
                      <a:endParaRPr lang="en-US" sz="21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98066">
                <a:tc gridSpan="4">
                  <a:txBody>
                    <a:bodyPr/>
                    <a:lstStyle/>
                    <a:p>
                      <a:r>
                        <a:t>Topic : Student Skills and Course Recommendation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r>
              <a:tr h="498066">
                <a:tc gridSpan="2">
                  <a:txBody>
                    <a:bodyPr/>
                    <a:lstStyle/>
                    <a:p>
                      <a:pPr algn="ctr"/>
                      <a:r>
                        <a:rPr lang="en-US" sz="2400" b="1" dirty="0" smtClean="0"/>
                        <a:t>Roll</a:t>
                      </a:r>
                      <a:r>
                        <a:rPr lang="en-US" sz="2400" b="1" baseline="0" dirty="0" smtClean="0"/>
                        <a:t> No.</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gridSpan="2">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400" b="1" dirty="0" smtClean="0"/>
                        <a:t>Name</a:t>
                      </a:r>
                      <a:r>
                        <a:rPr lang="en-US" sz="2400" b="1" baseline="0" dirty="0" smtClean="0"/>
                        <a:t> of Student</a:t>
                      </a:r>
                      <a:endParaRPr 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2812">
                <a:tc gridSpan="2">
                  <a:txBody>
                    <a:bodyPr/>
                    <a:lstStyle/>
                    <a:p>
                      <a:pPr algn="ctr"/>
                      <a:r>
                        <a:rPr lang="en-US" sz="2000" dirty="0"/>
                        <a:t>02</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gridSpan="2">
                  <a:txBody>
                    <a:bodyPr/>
                    <a:lstStyle/>
                    <a:p>
                      <a:r>
                        <a:rPr lang="en-US"/>
                        <a:t>Gaytri Rajendra Khairnar </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2812">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000" dirty="0" smtClean="0"/>
                        <a:t>05</a:t>
                      </a:r>
                      <a:endParaRPr lang="en-US" sz="2000"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gridSpan="2">
                  <a:txBody>
                    <a:bodyPr/>
                    <a:lstStyle/>
                    <a:p>
                      <a:r>
                        <a:rPr lang="en-US"/>
                        <a:t>Sanskriti Nitin Thakare </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2812">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000" dirty="0" smtClean="0"/>
                        <a:t>16</a:t>
                      </a:r>
                      <a:endParaRPr lang="en-US" sz="2000"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gridSpan="2">
                  <a:txBody>
                    <a:bodyPr/>
                    <a:lstStyle/>
                    <a:p>
                      <a:r>
                        <a:rPr lang="en-US"/>
                        <a:t>Tejashri Jitendra Borse </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2812">
                <a:tc gridSpan="2">
                  <a:txBody>
                    <a:bodyPr/>
                    <a:lstStyle/>
                    <a:p>
                      <a:pPr algn="ctr"/>
                      <a:r>
                        <a:rPr lang="en-US" sz="2000" b="0" dirty="0">
                          <a:solidFill>
                            <a:schemeClr val="tx1"/>
                          </a:solidFill>
                          <a:latin typeface="+mn-lt"/>
                        </a:rPr>
                        <a:t>74</a:t>
                      </a:r>
                      <a:endParaRPr lang="en-US" sz="2000"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gridSpan="2">
                  <a:txBody>
                    <a:bodyPr/>
                    <a:lstStyle/>
                    <a:p>
                      <a:r>
                        <a:t>S</a:t>
                      </a:r>
                      <a:r>
                        <a:rPr lang="en-US"/>
                        <a:t>onali Mahesh Patil</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16" name="Picture 15" descr="ssvpslogo.png"/>
          <p:cNvPicPr>
            <a:picLocks noChangeAspect="1"/>
          </p:cNvPicPr>
          <p:nvPr/>
        </p:nvPicPr>
        <p:blipFill>
          <a:blip r:embed="rId1" cstate="print"/>
          <a:stretch>
            <a:fillRect/>
          </a:stretch>
        </p:blipFill>
        <p:spPr>
          <a:xfrm>
            <a:off x="381000" y="457200"/>
            <a:ext cx="1219200" cy="1627237"/>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7500" lnSpcReduction="20000"/>
          </a:bodyPr>
          <a:lstStyle/>
          <a:p/>
          <a:p>
            <a:r>
              <a:rPr sz="2580"/>
              <a:t>Abstract</a:t>
            </a:r>
            <a:endParaRPr sz="2580"/>
          </a:p>
          <a:p>
            <a:r>
              <a:rPr sz="2580"/>
              <a:t>Introduction</a:t>
            </a:r>
            <a:endParaRPr sz="2580"/>
          </a:p>
          <a:p>
            <a:r>
              <a:rPr sz="2580"/>
              <a:t>Literature Review</a:t>
            </a:r>
            <a:endParaRPr sz="2580"/>
          </a:p>
          <a:p>
            <a:r>
              <a:rPr sz="2580"/>
              <a:t>Information to Seminar topic</a:t>
            </a:r>
            <a:endParaRPr sz="2580"/>
          </a:p>
          <a:p>
            <a:r>
              <a:rPr sz="2580"/>
              <a:t>Advantages and Disadvantages</a:t>
            </a:r>
            <a:endParaRPr sz="2580"/>
          </a:p>
          <a:p>
            <a:r>
              <a:rPr sz="2580"/>
              <a:t>Conclusion</a:t>
            </a:r>
            <a:endParaRPr sz="2580"/>
          </a:p>
          <a:p>
            <a:r>
              <a:rPr sz="2580"/>
              <a:t>Project Initiation :</a:t>
            </a:r>
            <a:endParaRPr sz="2580"/>
          </a:p>
          <a:p>
            <a:r>
              <a:rPr sz="2580"/>
              <a:t>Description of problem statement.</a:t>
            </a:r>
            <a:endParaRPr sz="2580"/>
          </a:p>
          <a:p>
            <a:r>
              <a:rPr sz="2580"/>
              <a:t>Scope and objectives.</a:t>
            </a:r>
            <a:endParaRPr sz="2580"/>
          </a:p>
          <a:p>
            <a:r>
              <a:rPr sz="2580"/>
              <a:t>Stake holder</a:t>
            </a:r>
            <a:endParaRPr sz="2580"/>
          </a:p>
          <a:p>
            <a:r>
              <a:rPr sz="2580"/>
              <a:t>Platform/ Equipment/ Resources identification.</a:t>
            </a:r>
            <a:endParaRPr sz="2580"/>
          </a:p>
          <a:p>
            <a:r>
              <a:rPr sz="2580"/>
              <a:t>Bibliography</a:t>
            </a:r>
            <a:endParaRPr sz="2580"/>
          </a:p>
          <a:p>
            <a:r>
              <a:rPr sz="2580"/>
              <a:t>References</a:t>
            </a:r>
            <a:endParaRPr sz="2580"/>
          </a:p>
          <a:p>
            <a:endParaRPr sz="2580"/>
          </a:p>
        </p:txBody>
      </p:sp>
      <p:sp>
        <p:nvSpPr>
          <p:cNvPr id="4" name="Title 1"/>
          <p:cNvSpPr>
            <a:spLocks noGrp="1"/>
          </p:cNvSpPr>
          <p:nvPr>
            <p:ph type="title"/>
          </p:nvPr>
        </p:nvSpPr>
        <p:spPr>
          <a:ln w="28575">
            <a:solidFill>
              <a:schemeClr val="accent1"/>
            </a:solidFill>
          </a:ln>
        </p:spPr>
        <p:txBody>
          <a:bodyPr/>
          <a:lstStyle/>
          <a:p>
            <a:r>
              <a:rPr lang="en-US" dirty="0"/>
              <a:t>Contents</a:t>
            </a:r>
            <a:endParaRPr lang="en-US" dirty="0"/>
          </a:p>
        </p:txBody>
      </p:sp>
      <p:sp>
        <p:nvSpPr>
          <p:cNvPr id="5" name="Slide Number Placeholder 4"/>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Abstract</a:t>
            </a:r>
          </a:p>
        </p:txBody>
      </p:sp>
      <p:sp>
        <p:nvSpPr>
          <p:cNvPr id="3" name="Content Placeholder 2"/>
          <p:cNvSpPr>
            <a:spLocks noGrp="1"/>
          </p:cNvSpPr>
          <p:nvPr>
            <p:ph idx="1"/>
          </p:nvPr>
        </p:nvSpPr>
        <p:spPr/>
        <p:txBody>
          <a:bodyPr>
            <a:normAutofit lnSpcReduction="10000"/>
          </a:bodyPr>
          <a:lstStyle/>
          <a:p>
            <a:r>
              <a:rPr sz="2400"/>
              <a:t>The Student Skills and Course </a:t>
            </a:r>
            <a:r>
              <a:rPr sz="2400"/>
              <a:t>Recommendation System is a proposed platform that helps students identify suitable courses based on their skills, interests, academic background and career goals. Students may find it difficult to choose from the large number of courses available online and in educational institutions. The proposed system collects student information and compares it with course requirements.</a:t>
            </a:r>
            <a:endParaRPr sz="2400"/>
          </a:p>
          <a:p>
            <a:endParaRPr sz="2400"/>
          </a:p>
          <a:p>
            <a:r>
              <a:rPr sz="2400"/>
              <a:t>The system can use rule-based matching or recommendation algorithms to suggest relevant courses. It aims to support informed decision-making, make course discovery easier and help students identify skills they may need to improve. Recommendations should be reviewed by students, teachers or career counsellors before a final decision is made.</a:t>
            </a:r>
            <a:endParaRPr sz="2400"/>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Introduction</a:t>
            </a:r>
          </a:p>
        </p:txBody>
      </p:sp>
      <p:sp>
        <p:nvSpPr>
          <p:cNvPr id="3" name="Content Placeholder 2"/>
          <p:cNvSpPr>
            <a:spLocks noGrp="1"/>
          </p:cNvSpPr>
          <p:nvPr>
            <p:ph idx="1"/>
          </p:nvPr>
        </p:nvSpPr>
        <p:spPr/>
        <p:txBody>
          <a:bodyPr>
            <a:normAutofit/>
          </a:bodyPr>
          <a:lstStyle/>
          <a:p>
            <a:r>
              <a:rPr sz="1800"/>
              <a:t>Choosing the right course is an important step</a:t>
            </a:r>
            <a:r>
              <a:rPr sz="1800"/>
              <a:t> in a student's education and career.</a:t>
            </a:r>
            <a:endParaRPr sz="1800"/>
          </a:p>
          <a:p>
            <a:r>
              <a:rPr sz="1800"/>
              <a:t>A student's skills and interests can help guide course selection.</a:t>
            </a:r>
            <a:endParaRPr sz="1800"/>
          </a:p>
          <a:p>
            <a:r>
              <a:rPr sz="1800"/>
              <a:t>Many students are unaware of all the courses related to their abilities.</a:t>
            </a:r>
            <a:endParaRPr sz="1800"/>
          </a:p>
          <a:p>
            <a:r>
              <a:rPr sz="1800"/>
              <a:t>Course information may be spread across different websites and institutions.</a:t>
            </a:r>
            <a:endParaRPr sz="1800"/>
          </a:p>
          <a:p>
            <a:r>
              <a:rPr sz="1800"/>
              <a:t>A recommendation system can compare student profiles with course details.</a:t>
            </a:r>
            <a:endParaRPr sz="1800"/>
          </a:p>
          <a:p>
            <a:r>
              <a:rPr sz="1800"/>
              <a:t>Artificial Intelligence (AI) and recommendation techniques can support personalized suggestions.</a:t>
            </a:r>
            <a:endParaRPr sz="1800"/>
          </a:p>
          <a:p>
            <a:r>
              <a:rPr sz="1800"/>
              <a:t>The proposed system aims to make course discovery easier and more organized.</a:t>
            </a:r>
            <a:endParaRPr sz="1800"/>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pic>
        <p:nvPicPr>
          <p:cNvPr id="6" name="Picture 5" descr="WhatsApp Image 2026-10-15 at 11.15.33 PM.jpeg"/>
          <p:cNvPicPr>
            <a:picLocks noChangeAspect="1"/>
          </p:cNvPicPr>
          <p:nvPr/>
        </p:nvPicPr>
        <p:blipFill>
          <a:blip r:embed="rId1" cstate="print"/>
          <a:stretch>
            <a:fillRect/>
          </a:stretch>
        </p:blipFill>
        <p:spPr>
          <a:xfrm>
            <a:off x="4800600" y="3886200"/>
            <a:ext cx="2567305" cy="250571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183872" y="274638"/>
            <a:ext cx="8502928"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t>2. Literature Survey</a:t>
            </a:r>
          </a:p>
        </p:txBody>
      </p:sp>
      <p:sp>
        <p:nvSpPr>
          <p:cNvPr id="532" name="Google Shape;532;p17"/>
          <p:cNvSpPr txBox="1">
            <a:spLocks noGrp="1"/>
          </p:cNvSpPr>
          <p:nvPr>
            <p:ph type="body" idx="1"/>
          </p:nvPr>
        </p:nvSpPr>
        <p:spPr>
          <a:xfrm>
            <a:off x="183872" y="1219200"/>
            <a:ext cx="8502928" cy="53641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r>
              <a:rPr lang="en-GB" dirty="0"/>
              <a:t>              </a:t>
            </a:r>
            <a:endParaRPr dirty="0"/>
          </a:p>
        </p:txBody>
      </p:sp>
      <p:sp>
        <p:nvSpPr>
          <p:cNvPr id="533" name="Google Shape;533;p1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US" sz="1200" b="0" i="0" u="none" strike="noStrike" kern="0" cap="none" spc="0" normalizeH="0" baseline="0" noProof="0">
                <a:ln>
                  <a:noFill/>
                </a:ln>
                <a:solidFill>
                  <a:srgbClr val="888888"/>
                </a:solidFill>
                <a:effectLst/>
                <a:uLnTx/>
                <a:uFillTx/>
                <a:latin typeface="Times New Roman" panose="02020603050405020304"/>
                <a:cs typeface="Times New Roman" panose="02020603050405020304"/>
                <a:sym typeface="Times New Roman" panose="02020603050405020304"/>
              </a:rPr>
            </a:fld>
            <a:endParaRPr kumimoji="0" sz="1200" b="0" i="0" u="none" strike="noStrike" kern="0" cap="none" spc="0" normalizeH="0" baseline="0" noProof="0">
              <a:ln>
                <a:noFill/>
              </a:ln>
              <a:solidFill>
                <a:srgbClr val="888888"/>
              </a:solidFill>
              <a:effectLst/>
              <a:uLnTx/>
              <a:uFillTx/>
              <a:latin typeface="Times New Roman" panose="02020603050405020304"/>
              <a:cs typeface="Times New Roman" panose="02020603050405020304"/>
              <a:sym typeface="Times New Roman" panose="02020603050405020304"/>
            </a:endParaRPr>
          </a:p>
        </p:txBody>
      </p:sp>
      <p:graphicFrame>
        <p:nvGraphicFramePr>
          <p:cNvPr id="3" name="Table 2"/>
          <p:cNvGraphicFramePr>
            <a:graphicFrameLocks noGrp="1"/>
          </p:cNvGraphicFramePr>
          <p:nvPr/>
        </p:nvGraphicFramePr>
        <p:xfrm>
          <a:off x="313690" y="1337310"/>
          <a:ext cx="8373110" cy="4984750"/>
        </p:xfrm>
        <a:graphic>
          <a:graphicData uri="http://schemas.openxmlformats.org/drawingml/2006/table">
            <a:tbl>
              <a:tblPr firstRow="1" firstCol="1" bandRow="1">
                <a:tableStyleId>{BC89EF96-8CEA-46FF-86C4-4CE0E7609802}</a:tableStyleId>
              </a:tblPr>
              <a:tblGrid>
                <a:gridCol w="395605"/>
                <a:gridCol w="1355090"/>
                <a:gridCol w="1737360"/>
                <a:gridCol w="1261110"/>
                <a:gridCol w="1922780"/>
                <a:gridCol w="1701165"/>
              </a:tblGrid>
              <a:tr h="772160">
                <a:tc>
                  <a:txBody>
                    <a:bodyPr/>
                    <a:lstStyle/>
                    <a:p>
                      <a:pPr algn="ctr">
                        <a:defRPr sz="850" b="1"/>
                      </a:pPr>
                      <a:r>
                        <a:rPr sz="1600"/>
                        <a:t>Sr. No.</a:t>
                      </a:r>
                      <a:r>
                        <a:rPr lang="en-US" sz="1600"/>
                        <a:t>s</a:t>
                      </a:r>
                      <a:endParaRPr lang="en-US" sz="1600"/>
                    </a:p>
                  </a:txBody>
                  <a:tcPr marL="20590" marR="20590" marT="20590" marB="20590" anchor="ctr"/>
                </a:tc>
                <a:tc>
                  <a:txBody>
                    <a:bodyPr/>
                    <a:lstStyle/>
                    <a:p>
                      <a:pPr algn="ctr">
                        <a:defRPr sz="850" b="1"/>
                      </a:pPr>
                      <a:r>
                        <a:rPr sz="1600"/>
                        <a:t>Approach Type</a:t>
                      </a:r>
                      <a:endParaRPr sz="1600"/>
                    </a:p>
                  </a:txBody>
                  <a:tcPr marL="20590" marR="20590" marT="20590" marB="20590" anchor="ctr"/>
                </a:tc>
                <a:tc>
                  <a:txBody>
                    <a:bodyPr/>
                    <a:lstStyle/>
                    <a:p>
                      <a:pPr algn="ctr">
                        <a:defRPr sz="850" b="1"/>
                      </a:pPr>
                      <a:r>
                        <a:rPr sz="1600"/>
                        <a:t>Technologies Used</a:t>
                      </a:r>
                      <a:endParaRPr sz="1600"/>
                    </a:p>
                  </a:txBody>
                  <a:tcPr marL="20590" marR="20590" marT="20590" marB="20590" anchor="ctr"/>
                </a:tc>
                <a:tc>
                  <a:txBody>
                    <a:bodyPr/>
                    <a:lstStyle/>
                    <a:p>
                      <a:pPr algn="ctr">
                        <a:defRPr sz="850" b="1"/>
                      </a:pPr>
                      <a:r>
                        <a:rPr sz="1600"/>
                        <a:t>Dataset</a:t>
                      </a:r>
                      <a:endParaRPr sz="1600"/>
                    </a:p>
                  </a:txBody>
                  <a:tcPr marL="20590" marR="20590" marT="20590" marB="20590" anchor="ctr"/>
                </a:tc>
                <a:tc>
                  <a:txBody>
                    <a:bodyPr/>
                    <a:lstStyle/>
                    <a:p>
                      <a:pPr algn="ctr">
                        <a:defRPr sz="850" b="1"/>
                      </a:pPr>
                      <a:r>
                        <a:rPr sz="1600"/>
                        <a:t>Key Objective</a:t>
                      </a:r>
                      <a:endParaRPr sz="1600"/>
                    </a:p>
                  </a:txBody>
                  <a:tcPr marL="20590" marR="20590" marT="20590" marB="20590" anchor="ctr"/>
                </a:tc>
                <a:tc>
                  <a:txBody>
                    <a:bodyPr/>
                    <a:lstStyle/>
                    <a:p>
                      <a:pPr algn="ctr">
                        <a:defRPr sz="850" b="1"/>
                      </a:pPr>
                      <a:r>
                        <a:rPr sz="1600"/>
                        <a:t>Limitations</a:t>
                      </a:r>
                      <a:endParaRPr sz="1600"/>
                    </a:p>
                  </a:txBody>
                  <a:tcPr marL="20590" marR="20590" marT="20590" marB="20590" anchor="ctr"/>
                </a:tc>
              </a:tr>
              <a:tr h="1242695">
                <a:tc>
                  <a:txBody>
                    <a:bodyPr/>
                    <a:lstStyle/>
                    <a:p>
                      <a:pPr algn="ctr">
                        <a:defRPr sz="800"/>
                      </a:pPr>
                      <a:r>
                        <a:rPr sz="1600"/>
                        <a:t>1</a:t>
                      </a:r>
                      <a:endParaRPr sz="1600"/>
                    </a:p>
                  </a:txBody>
                  <a:tcPr marL="18302" marR="18302" marT="16014" marB="16014" anchor="ctr"/>
                </a:tc>
                <a:tc>
                  <a:txBody>
                    <a:bodyPr/>
                    <a:lstStyle/>
                    <a:p>
                      <a:pPr algn="ctr">
                        <a:defRPr sz="800"/>
                      </a:pPr>
                      <a:r>
                        <a:rPr sz="1600"/>
                        <a:t>Content-based recommendation</a:t>
                      </a:r>
                      <a:endParaRPr sz="1600"/>
                    </a:p>
                  </a:txBody>
                  <a:tcPr marL="18302" marR="18302" marT="16014" marB="16014"/>
                </a:tc>
                <a:tc>
                  <a:txBody>
                    <a:bodyPr/>
                    <a:lstStyle/>
                    <a:p>
                      <a:pPr algn="ctr">
                        <a:defRPr sz="800"/>
                      </a:pPr>
                      <a:r>
                        <a:rPr sz="1600"/>
                        <a:t>Course attributes, skill tags, matching rules</a:t>
                      </a:r>
                      <a:endParaRPr sz="1600"/>
                    </a:p>
                  </a:txBody>
                  <a:tcPr marL="18302" marR="18302" marT="16014" marB="16014"/>
                </a:tc>
                <a:tc>
                  <a:txBody>
                    <a:bodyPr/>
                    <a:lstStyle/>
                    <a:p>
                      <a:pPr algn="ctr">
                        <a:defRPr sz="800"/>
                      </a:pPr>
                      <a:r>
                        <a:rPr sz="1600">
                          <a:sym typeface="+mn-ea"/>
                        </a:rPr>
                        <a:t>Course descriptions and student skill profiles</a:t>
                      </a:r>
                      <a:endParaRPr sz="1600">
                        <a:sym typeface="+mn-ea"/>
                      </a:endParaRPr>
                    </a:p>
                  </a:txBody>
                  <a:tcPr anchor="ctr"/>
                </a:tc>
                <a:tc>
                  <a:txBody>
                    <a:bodyPr/>
                    <a:lstStyle/>
                    <a:p>
                      <a:pPr algn="ctr">
                        <a:defRPr sz="800"/>
                      </a:pPr>
                      <a:r>
                        <a:rPr sz="1600"/>
                        <a:t>Suggest courses sharing relevant skills and topics</a:t>
                      </a:r>
                      <a:endParaRPr sz="1600"/>
                    </a:p>
                  </a:txBody>
                  <a:tcPr anchor="ctr"/>
                </a:tc>
                <a:tc>
                  <a:txBody>
                    <a:bodyPr/>
                    <a:lstStyle/>
                    <a:p>
                      <a:pPr algn="ctr">
                        <a:defRPr sz="800"/>
                      </a:pPr>
                      <a:r>
                        <a:rPr sz="1600"/>
                        <a:t>Depends on accurate course tags</a:t>
                      </a:r>
                      <a:endParaRPr sz="1600"/>
                    </a:p>
                  </a:txBody>
                  <a:tcPr marL="18302" marR="18302" marT="16014" marB="16014"/>
                </a:tc>
              </a:tr>
              <a:tr h="1484630">
                <a:tc>
                  <a:txBody>
                    <a:bodyPr/>
                    <a:lstStyle/>
                    <a:p>
                      <a:pPr algn="ctr">
                        <a:defRPr sz="800"/>
                      </a:pPr>
                      <a:r>
                        <a:rPr sz="1600"/>
                        <a:t>2</a:t>
                      </a:r>
                      <a:endParaRPr sz="1600"/>
                    </a:p>
                  </a:txBody>
                  <a:tcPr marL="18302" marR="18302" marT="16014" marB="16014" anchor="ctr"/>
                </a:tc>
                <a:tc>
                  <a:txBody>
                    <a:bodyPr/>
                    <a:lstStyle/>
                    <a:p>
                      <a:pPr algn="ctr">
                        <a:defRPr sz="800"/>
                      </a:pPr>
                      <a:r>
                        <a:rPr sz="1600"/>
                        <a:t>Collaborative filtering</a:t>
                      </a:r>
                      <a:endParaRPr sz="1600"/>
                    </a:p>
                  </a:txBody>
                  <a:tcPr marL="18302" marR="18302" marT="16014" marB="16014"/>
                </a:tc>
                <a:tc>
                  <a:txBody>
                    <a:bodyPr/>
                    <a:lstStyle/>
                    <a:p>
                      <a:pPr algn="ctr">
                        <a:defRPr sz="800"/>
                      </a:pPr>
                      <a:r>
                        <a:rPr sz="1600"/>
                        <a:t>Recommendation algorithms, user-item ratings</a:t>
                      </a:r>
                      <a:endParaRPr sz="1600"/>
                    </a:p>
                  </a:txBody>
                  <a:tcPr marL="18302" marR="18302" marT="16014" marB="16014"/>
                </a:tc>
                <a:tc>
                  <a:txBody>
                    <a:bodyPr/>
                    <a:lstStyle/>
                    <a:p>
                      <a:pPr algn="ctr">
                        <a:defRPr sz="800"/>
                      </a:pPr>
                      <a:r>
                        <a:rPr sz="1600"/>
                        <a:t>Course ratings or interaction history</a:t>
                      </a:r>
                      <a:endParaRPr sz="1600"/>
                    </a:p>
                  </a:txBody>
                  <a:tcPr marL="18302" marR="18302" marT="16014" marB="16014"/>
                </a:tc>
                <a:tc>
                  <a:txBody>
                    <a:bodyPr/>
                    <a:lstStyle/>
                    <a:p>
                      <a:pPr algn="ctr">
                        <a:defRPr sz="800"/>
                      </a:pPr>
                      <a:r>
                        <a:rPr sz="1600"/>
                        <a:t>Recommend courses liked by similar learners</a:t>
                      </a:r>
                      <a:endParaRPr sz="1600"/>
                    </a:p>
                  </a:txBody>
                  <a:tcPr marL="18302" marR="18302" marT="16014" marB="16014"/>
                </a:tc>
                <a:tc>
                  <a:txBody>
                    <a:bodyPr/>
                    <a:lstStyle/>
                    <a:p>
                      <a:pPr algn="ctr">
                        <a:defRPr sz="800"/>
                      </a:pPr>
                      <a:r>
                        <a:rPr sz="1600"/>
                        <a:t>Needs sufficient interaction data</a:t>
                      </a:r>
                      <a:endParaRPr sz="1600"/>
                    </a:p>
                  </a:txBody>
                  <a:tcPr marL="18302" marR="18302" marT="16014" marB="16014"/>
                </a:tc>
              </a:tr>
              <a:tr h="1485265">
                <a:tc>
                  <a:txBody>
                    <a:bodyPr/>
                    <a:lstStyle/>
                    <a:p>
                      <a:pPr algn="ctr">
                        <a:defRPr sz="800"/>
                      </a:pPr>
                      <a:r>
                        <a:rPr sz="1600"/>
                        <a:t>3</a:t>
                      </a:r>
                      <a:endParaRPr sz="1600"/>
                    </a:p>
                  </a:txBody>
                  <a:tcPr marL="18302" marR="18302" marT="16014" marB="16014" anchor="ctr"/>
                </a:tc>
                <a:tc>
                  <a:txBody>
                    <a:bodyPr/>
                    <a:lstStyle/>
                    <a:p>
                      <a:pPr algn="ctr">
                        <a:defRPr sz="800"/>
                      </a:pPr>
                      <a:r>
                        <a:rPr sz="1600"/>
                        <a:t>Rule-based matching</a:t>
                      </a:r>
                      <a:endParaRPr sz="1600"/>
                    </a:p>
                  </a:txBody>
                  <a:tcPr marL="18302" marR="18302" marT="16014" marB="16014"/>
                </a:tc>
                <a:tc>
                  <a:txBody>
                    <a:bodyPr/>
                    <a:lstStyle/>
                    <a:p>
                      <a:pPr algn="ctr">
                        <a:defRPr sz="800"/>
                      </a:pPr>
                      <a:r>
                        <a:rPr sz="1600"/>
                        <a:t>If-then rules, prerequisite matching</a:t>
                      </a:r>
                      <a:endParaRPr sz="1600"/>
                    </a:p>
                  </a:txBody>
                  <a:tcPr marL="18302" marR="18302" marT="16014" marB="16014"/>
                </a:tc>
                <a:tc>
                  <a:txBody>
                    <a:bodyPr/>
                    <a:lstStyle/>
                    <a:p>
                      <a:pPr algn="ctr">
                        <a:defRPr sz="800"/>
                      </a:pPr>
                      <a:r>
                        <a:rPr sz="1600"/>
                        <a:t>Student profile and course prerequisites</a:t>
                      </a:r>
                      <a:endParaRPr sz="1600"/>
                    </a:p>
                  </a:txBody>
                  <a:tcPr marL="18302" marR="18302" marT="16014" marB="16014"/>
                </a:tc>
                <a:tc>
                  <a:txBody>
                    <a:bodyPr/>
                    <a:lstStyle/>
                    <a:p>
                      <a:pPr algn="ctr">
                        <a:defRPr sz="800"/>
                      </a:pPr>
                      <a:r>
                        <a:rPr sz="1600"/>
                        <a:t>Match skills and goals to course requirements</a:t>
                      </a:r>
                      <a:endParaRPr sz="1600"/>
                    </a:p>
                  </a:txBody>
                  <a:tcPr marL="18302" marR="18302" marT="16014" marB="16014"/>
                </a:tc>
                <a:tc>
                  <a:txBody>
                    <a:bodyPr/>
                    <a:lstStyle/>
                    <a:p>
                      <a:pPr algn="ctr">
                        <a:defRPr sz="800"/>
                      </a:pPr>
                      <a:r>
                        <a:rPr sz="1600"/>
                        <a:t>Rules require regular updates</a:t>
                      </a:r>
                      <a:endParaRPr sz="1600"/>
                    </a:p>
                  </a:txBody>
                  <a:tcPr anchor="ct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346364"/>
            <a:ext cx="8229600" cy="6206836"/>
          </a:xfrm>
        </p:spPr>
        <p:txBody>
          <a:bodyPr/>
          <a:lstStyle/>
          <a:p>
            <a:pPr marL="114300" indent="0">
              <a:buNone/>
            </a:pPr>
            <a:r>
              <a:rPr lang="en-GB" dirty="0"/>
              <a:t>                    </a:t>
            </a:r>
            <a:endParaRPr lang="en-IN" dirty="0"/>
          </a:p>
        </p:txBody>
      </p:sp>
      <p:sp>
        <p:nvSpPr>
          <p:cNvPr id="4" name="Slide Number Placeholder 3"/>
          <p:cNvSpPr>
            <a:spLocks noGrp="1"/>
          </p:cNvSpPr>
          <p:nvPr>
            <p:ph type="sldNum" idx="12"/>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Times New Roman" panose="02020603050405020304"/>
                <a:cs typeface="Times New Roman" panose="02020603050405020304"/>
                <a:sym typeface="Times New Roman" panose="02020603050405020304"/>
              </a:rPr>
            </a:fld>
            <a:endParaRPr kumimoji="0" lang="en-US" sz="1200" b="0" i="0" u="none" strike="noStrike" kern="0" cap="none" spc="0" normalizeH="0" baseline="0" noProof="0">
              <a:ln>
                <a:noFill/>
              </a:ln>
              <a:solidFill>
                <a:srgbClr val="888888"/>
              </a:solidFill>
              <a:effectLst/>
              <a:uLnTx/>
              <a:uFillTx/>
              <a:latin typeface="Times New Roman" panose="02020603050405020304"/>
              <a:cs typeface="Times New Roman" panose="02020603050405020304"/>
              <a:sym typeface="Times New Roman" panose="02020603050405020304"/>
            </a:endParaRPr>
          </a:p>
        </p:txBody>
      </p:sp>
      <p:graphicFrame>
        <p:nvGraphicFramePr>
          <p:cNvPr id="5" name="Table 4"/>
          <p:cNvGraphicFramePr>
            <a:graphicFrameLocks noGrp="1"/>
          </p:cNvGraphicFramePr>
          <p:nvPr/>
        </p:nvGraphicFramePr>
        <p:xfrm>
          <a:off x="457200" y="346365"/>
          <a:ext cx="8229601" cy="6073848"/>
        </p:xfrm>
        <a:graphic>
          <a:graphicData uri="http://schemas.openxmlformats.org/drawingml/2006/table">
            <a:tbl>
              <a:tblPr firstRow="1" firstCol="1" bandRow="1">
                <a:tableStyleId>{BC89EF96-8CEA-46FF-86C4-4CE0E7609802}</a:tableStyleId>
              </a:tblPr>
              <a:tblGrid>
                <a:gridCol w="393032"/>
                <a:gridCol w="1432158"/>
                <a:gridCol w="1680145"/>
                <a:gridCol w="1218929"/>
                <a:gridCol w="1594583"/>
                <a:gridCol w="1910754"/>
              </a:tblGrid>
              <a:tr h="639969">
                <a:tc>
                  <a:txBody>
                    <a:bodyPr/>
                    <a:lstStyle/>
                    <a:p>
                      <a:pPr algn="ctr">
                        <a:defRPr sz="850" b="1"/>
                      </a:pPr>
                      <a:r>
                        <a:rPr sz="1600"/>
                        <a:t>Sr. No.</a:t>
                      </a:r>
                      <a:endParaRPr sz="1600"/>
                    </a:p>
                  </a:txBody>
                  <a:tcPr marL="20590" marR="20590" marT="20590" marB="20590" anchor="ctr"/>
                </a:tc>
                <a:tc>
                  <a:txBody>
                    <a:bodyPr/>
                    <a:lstStyle/>
                    <a:p>
                      <a:pPr algn="ctr">
                        <a:defRPr sz="850" b="1"/>
                      </a:pPr>
                      <a:r>
                        <a:rPr sz="1600"/>
                        <a:t>Approach Type</a:t>
                      </a:r>
                      <a:endParaRPr sz="1600"/>
                    </a:p>
                  </a:txBody>
                  <a:tcPr marL="20590" marR="20590" marT="20590" marB="20590" anchor="ctr"/>
                </a:tc>
                <a:tc>
                  <a:txBody>
                    <a:bodyPr/>
                    <a:lstStyle/>
                    <a:p>
                      <a:pPr algn="ctr">
                        <a:defRPr sz="850" b="1"/>
                      </a:pPr>
                      <a:r>
                        <a:rPr sz="1600"/>
                        <a:t>Technologies Used</a:t>
                      </a:r>
                      <a:endParaRPr sz="1600"/>
                    </a:p>
                  </a:txBody>
                  <a:tcPr marL="20590" marR="20590" marT="20590" marB="20590" anchor="ctr"/>
                </a:tc>
                <a:tc>
                  <a:txBody>
                    <a:bodyPr/>
                    <a:lstStyle/>
                    <a:p>
                      <a:pPr algn="ctr">
                        <a:defRPr sz="850" b="1"/>
                      </a:pPr>
                      <a:r>
                        <a:rPr sz="1600"/>
                        <a:t>Dataset</a:t>
                      </a:r>
                      <a:endParaRPr sz="1600"/>
                    </a:p>
                  </a:txBody>
                  <a:tcPr marL="20590" marR="20590" marT="20590" marB="20590" anchor="ctr"/>
                </a:tc>
                <a:tc>
                  <a:txBody>
                    <a:bodyPr/>
                    <a:lstStyle/>
                    <a:p>
                      <a:pPr algn="ctr">
                        <a:defRPr sz="850" b="1"/>
                      </a:pPr>
                      <a:r>
                        <a:rPr sz="1600"/>
                        <a:t>Key Objective</a:t>
                      </a:r>
                      <a:endParaRPr sz="1600"/>
                    </a:p>
                  </a:txBody>
                  <a:tcPr marL="20590" marR="20590" marT="20590" marB="20590" anchor="ctr"/>
                </a:tc>
                <a:tc>
                  <a:txBody>
                    <a:bodyPr/>
                    <a:lstStyle/>
                    <a:p>
                      <a:pPr algn="ctr">
                        <a:defRPr sz="850" b="1"/>
                      </a:pPr>
                      <a:r>
                        <a:rPr sz="1600"/>
                        <a:t>Limitations</a:t>
                      </a:r>
                      <a:endParaRPr sz="1600"/>
                    </a:p>
                  </a:txBody>
                  <a:tcPr marL="20590" marR="20590" marT="20590" marB="20590" anchor="ctr"/>
                </a:tc>
              </a:tr>
              <a:tr h="1614086">
                <a:tc>
                  <a:txBody>
                    <a:bodyPr/>
                    <a:lstStyle/>
                    <a:p>
                      <a:pPr algn="ctr">
                        <a:defRPr sz="800"/>
                      </a:pPr>
                      <a:r>
                        <a:rPr sz="1600"/>
                        <a:t>4</a:t>
                      </a:r>
                      <a:endParaRPr sz="1600"/>
                    </a:p>
                  </a:txBody>
                  <a:tcPr marL="18302" marR="18302" marT="16014" marB="16014" anchor="ctr"/>
                </a:tc>
                <a:tc>
                  <a:txBody>
                    <a:bodyPr/>
                    <a:lstStyle/>
                    <a:p>
                      <a:pPr algn="ctr">
                        <a:defRPr sz="800"/>
                      </a:pPr>
                      <a:r>
                        <a:rPr sz="1600"/>
                        <a:t>Profile-based recommendation</a:t>
                      </a:r>
                      <a:endParaRPr sz="1600"/>
                    </a:p>
                  </a:txBody>
                  <a:tcPr marL="18302" marR="18302" marT="16014" marB="16014" anchor="ctr"/>
                </a:tc>
                <a:tc>
                  <a:txBody>
                    <a:bodyPr/>
                    <a:lstStyle/>
                    <a:p>
                      <a:pPr algn="ctr">
                        <a:defRPr sz="800"/>
                      </a:pPr>
                      <a:r>
                        <a:rPr sz="1600"/>
                        <a:t>Web forms, databases, filtering</a:t>
                      </a:r>
                      <a:endParaRPr sz="1600"/>
                    </a:p>
                  </a:txBody>
                  <a:tcPr marL="18302" marR="18302" marT="16014" marB="16014" anchor="ctr"/>
                </a:tc>
                <a:tc>
                  <a:txBody>
                    <a:bodyPr/>
                    <a:lstStyle/>
                    <a:p>
                      <a:pPr algn="ctr">
                        <a:defRPr sz="800"/>
                      </a:pPr>
                      <a:r>
                        <a:rPr sz="1600"/>
                        <a:t>Student interests, education and goals</a:t>
                      </a:r>
                      <a:endParaRPr sz="1600"/>
                    </a:p>
                  </a:txBody>
                  <a:tcPr marL="18302" marR="18302" marT="16014" marB="16014" anchor="ctr"/>
                </a:tc>
                <a:tc>
                  <a:txBody>
                    <a:bodyPr/>
                    <a:lstStyle/>
                    <a:p>
                      <a:pPr algn="ctr">
                        <a:defRPr sz="800"/>
                      </a:pPr>
                      <a:r>
                        <a:rPr sz="1600"/>
                        <a:t>Create suggestions from individual profiles</a:t>
                      </a:r>
                      <a:endParaRPr sz="1600"/>
                    </a:p>
                  </a:txBody>
                  <a:tcPr marL="18302" marR="18302" marT="16014" marB="16014" anchor="ctr"/>
                </a:tc>
                <a:tc>
                  <a:txBody>
                    <a:bodyPr/>
                    <a:lstStyle/>
                    <a:p>
                      <a:pPr algn="ctr">
                        <a:defRPr sz="800"/>
                      </a:pPr>
                      <a:r>
                        <a:rPr sz="1600"/>
                        <a:t>Profile details may be incomplete</a:t>
                      </a:r>
                      <a:endParaRPr sz="1600"/>
                    </a:p>
                  </a:txBody>
                  <a:tcPr marL="18302" marR="18302" marT="16014" marB="16014" anchor="ctr"/>
                </a:tc>
              </a:tr>
              <a:tr h="2141845">
                <a:tc>
                  <a:txBody>
                    <a:bodyPr/>
                    <a:lstStyle/>
                    <a:p>
                      <a:pPr algn="ctr">
                        <a:defRPr sz="800"/>
                      </a:pPr>
                      <a:r>
                        <a:rPr sz="1600"/>
                        <a:t>5</a:t>
                      </a:r>
                      <a:endParaRPr sz="1600"/>
                    </a:p>
                  </a:txBody>
                  <a:tcPr marL="18302" marR="18302" marT="16014" marB="16014" anchor="ctr"/>
                </a:tc>
                <a:tc>
                  <a:txBody>
                    <a:bodyPr/>
                    <a:lstStyle/>
                    <a:p>
                      <a:pPr algn="ctr">
                        <a:defRPr sz="800"/>
                      </a:pPr>
                      <a:r>
                        <a:rPr sz="1600"/>
                        <a:t>Machine-learning recommendation</a:t>
                      </a:r>
                      <a:endParaRPr sz="1600"/>
                    </a:p>
                  </a:txBody>
                  <a:tcPr marL="18302" marR="18302" marT="16014" marB="16014" anchor="ctr"/>
                </a:tc>
                <a:tc>
                  <a:txBody>
                    <a:bodyPr/>
                    <a:lstStyle/>
                    <a:p>
                      <a:pPr algn="ctr">
                        <a:defRPr sz="800"/>
                      </a:pPr>
                      <a:r>
                        <a:rPr sz="1600"/>
                        <a:t>Classification or ranking models</a:t>
                      </a:r>
                      <a:endParaRPr sz="1600"/>
                    </a:p>
                  </a:txBody>
                  <a:tcPr marL="18302" marR="18302" marT="16014" marB="16014" anchor="ctr"/>
                </a:tc>
                <a:tc>
                  <a:txBody>
                    <a:bodyPr/>
                    <a:lstStyle/>
                    <a:p>
                      <a:pPr algn="ctr">
                        <a:defRPr sz="800"/>
                      </a:pPr>
                      <a:r>
                        <a:rPr sz="1600"/>
                        <a:t>Historical course-selection data</a:t>
                      </a:r>
                      <a:endParaRPr sz="1600"/>
                    </a:p>
                  </a:txBody>
                  <a:tcPr marL="18302" marR="18302" marT="16014" marB="16014" anchor="ctr"/>
                </a:tc>
                <a:tc>
                  <a:txBody>
                    <a:bodyPr/>
                    <a:lstStyle/>
                    <a:p>
                      <a:pPr algn="ctr">
                        <a:defRPr sz="800"/>
                      </a:pPr>
                      <a:r>
                        <a:rPr sz="1600"/>
                        <a:t>Rank courses likely to be relevant</a:t>
                      </a:r>
                      <a:endParaRPr sz="1600"/>
                    </a:p>
                  </a:txBody>
                  <a:tcPr marL="18302" marR="18302" marT="16014" marB="16014" anchor="ctr"/>
                </a:tc>
                <a:tc>
                  <a:txBody>
                    <a:bodyPr/>
                    <a:lstStyle/>
                    <a:p>
                      <a:pPr algn="ctr">
                        <a:defRPr sz="800"/>
                      </a:pPr>
                      <a:r>
                        <a:rPr sz="1600"/>
                        <a:t>Model quality depends on data</a:t>
                      </a:r>
                      <a:endParaRPr sz="1600"/>
                    </a:p>
                  </a:txBody>
                  <a:tcPr marL="18302" marR="18302" marT="16014" marB="16014" anchor="ctr"/>
                </a:tc>
              </a:tr>
              <a:tr h="1614086">
                <a:tc>
                  <a:txBody>
                    <a:bodyPr/>
                    <a:lstStyle/>
                    <a:p>
                      <a:pPr algn="ctr">
                        <a:defRPr sz="800"/>
                      </a:pPr>
                      <a:r>
                        <a:rPr sz="1600"/>
                        <a:t>6</a:t>
                      </a:r>
                      <a:endParaRPr sz="1600"/>
                    </a:p>
                  </a:txBody>
                  <a:tcPr marL="18302" marR="18302" marT="16014" marB="16014" anchor="ctr"/>
                </a:tc>
                <a:tc>
                  <a:txBody>
                    <a:bodyPr/>
                    <a:lstStyle/>
                    <a:p>
                      <a:pPr algn="ctr">
                        <a:defRPr sz="800"/>
                      </a:pPr>
                      <a:r>
                        <a:rPr sz="1600"/>
                        <a:t>Hybrid recommendation</a:t>
                      </a:r>
                      <a:endParaRPr sz="1600"/>
                    </a:p>
                  </a:txBody>
                  <a:tcPr marL="18302" marR="18302" marT="16014" marB="16014" anchor="ctr"/>
                </a:tc>
                <a:tc>
                  <a:txBody>
                    <a:bodyPr/>
                    <a:lstStyle/>
                    <a:p>
                      <a:pPr algn="ctr">
                        <a:defRPr sz="800"/>
                      </a:pPr>
                      <a:r>
                        <a:rPr sz="1600"/>
                        <a:t>Content-based + collaborative methods</a:t>
                      </a:r>
                      <a:endParaRPr sz="1600"/>
                    </a:p>
                  </a:txBody>
                  <a:tcPr marL="18302" marR="18302" marT="16014" marB="16014" anchor="ctr"/>
                </a:tc>
                <a:tc>
                  <a:txBody>
                    <a:bodyPr/>
                    <a:lstStyle/>
                    <a:p>
                      <a:pPr algn="ctr">
                        <a:defRPr sz="800"/>
                      </a:pPr>
                      <a:r>
                        <a:rPr sz="1600"/>
                        <a:t>Course data and user interactions</a:t>
                      </a:r>
                      <a:endParaRPr sz="1600"/>
                    </a:p>
                  </a:txBody>
                  <a:tcPr marL="18302" marR="18302" marT="16014" marB="16014" anchor="ctr"/>
                </a:tc>
                <a:tc>
                  <a:txBody>
                    <a:bodyPr/>
                    <a:lstStyle/>
                    <a:p>
                      <a:pPr algn="ctr">
                        <a:defRPr sz="800"/>
                      </a:pPr>
                      <a:r>
                        <a:rPr sz="1600"/>
                        <a:t>Combine multiple signals for better suggestions</a:t>
                      </a:r>
                      <a:endParaRPr sz="1600"/>
                    </a:p>
                  </a:txBody>
                  <a:tcPr marL="18302" marR="18302" marT="16014" marB="16014" anchor="ctr"/>
                </a:tc>
                <a:tc>
                  <a:txBody>
                    <a:bodyPr/>
                    <a:lstStyle/>
                    <a:p>
                      <a:pPr algn="ctr">
                        <a:defRPr sz="800"/>
                      </a:pPr>
                      <a:r>
                        <a:rPr sz="1600"/>
                        <a:t>More complex to build and maintain</a:t>
                      </a:r>
                      <a:endParaRPr sz="1600"/>
                    </a:p>
                  </a:txBody>
                  <a:tcPr marL="18302" marR="18302" marT="16014" marB="16014" anchor="ct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360218"/>
            <a:ext cx="8229600" cy="6192982"/>
          </a:xfrm>
        </p:spPr>
        <p:txBody>
          <a:bodyPr/>
          <a:lstStyle/>
          <a:p>
            <a:pPr marL="114300" indent="0">
              <a:buNone/>
            </a:pPr>
            <a:r>
              <a:rPr lang="en-GB" dirty="0"/>
              <a:t>     </a:t>
            </a:r>
            <a:endParaRPr lang="en-IN" dirty="0"/>
          </a:p>
        </p:txBody>
      </p:sp>
      <p:sp>
        <p:nvSpPr>
          <p:cNvPr id="4" name="Slide Number Placeholder 3"/>
          <p:cNvSpPr>
            <a:spLocks noGrp="1"/>
          </p:cNvSpPr>
          <p:nvPr>
            <p:ph type="sldNum" idx="12"/>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Times New Roman" panose="02020603050405020304"/>
                <a:cs typeface="Times New Roman" panose="02020603050405020304"/>
                <a:sym typeface="Times New Roman" panose="02020603050405020304"/>
              </a:rPr>
            </a:fld>
            <a:endParaRPr kumimoji="0" lang="en-US" sz="1200" b="0" i="0" u="none" strike="noStrike" kern="0" cap="none" spc="0" normalizeH="0" baseline="0" noProof="0">
              <a:ln>
                <a:noFill/>
              </a:ln>
              <a:solidFill>
                <a:srgbClr val="888888"/>
              </a:solidFill>
              <a:effectLst/>
              <a:uLnTx/>
              <a:uFillTx/>
              <a:latin typeface="Times New Roman" panose="02020603050405020304"/>
              <a:cs typeface="Times New Roman" panose="02020603050405020304"/>
              <a:sym typeface="Times New Roman" panose="02020603050405020304"/>
            </a:endParaRPr>
          </a:p>
        </p:txBody>
      </p:sp>
      <p:graphicFrame>
        <p:nvGraphicFramePr>
          <p:cNvPr id="5" name="Table 4"/>
          <p:cNvGraphicFramePr>
            <a:graphicFrameLocks noGrp="1"/>
          </p:cNvGraphicFramePr>
          <p:nvPr/>
        </p:nvGraphicFramePr>
        <p:xfrm>
          <a:off x="457200" y="360045"/>
          <a:ext cx="8228965" cy="5996940"/>
        </p:xfrm>
        <a:graphic>
          <a:graphicData uri="http://schemas.openxmlformats.org/drawingml/2006/table">
            <a:tbl>
              <a:tblPr firstRow="1" firstCol="1" bandRow="1">
                <a:tableStyleId>{BC89EF96-8CEA-46FF-86C4-4CE0E7609802}</a:tableStyleId>
              </a:tblPr>
              <a:tblGrid>
                <a:gridCol w="415925"/>
                <a:gridCol w="1409065"/>
                <a:gridCol w="1680210"/>
                <a:gridCol w="1218565"/>
                <a:gridCol w="1594485"/>
                <a:gridCol w="1910715"/>
              </a:tblGrid>
              <a:tr h="613410">
                <a:tc>
                  <a:txBody>
                    <a:bodyPr/>
                    <a:lstStyle/>
                    <a:p>
                      <a:pPr algn="ctr">
                        <a:defRPr sz="850" b="1"/>
                      </a:pPr>
                      <a:r>
                        <a:rPr sz="1600"/>
                        <a:t>Sr. No.</a:t>
                      </a:r>
                      <a:endParaRPr sz="1600"/>
                    </a:p>
                  </a:txBody>
                  <a:tcPr marL="20590" marR="20590" marT="20590" marB="20590" anchor="ctr"/>
                </a:tc>
                <a:tc>
                  <a:txBody>
                    <a:bodyPr/>
                    <a:lstStyle/>
                    <a:p>
                      <a:pPr algn="ctr">
                        <a:defRPr sz="850" b="1"/>
                      </a:pPr>
                      <a:r>
                        <a:rPr sz="1600"/>
                        <a:t>Approach Type</a:t>
                      </a:r>
                      <a:endParaRPr sz="1600"/>
                    </a:p>
                  </a:txBody>
                  <a:tcPr marL="20590" marR="20590" marT="20590" marB="20590" anchor="ctr"/>
                </a:tc>
                <a:tc>
                  <a:txBody>
                    <a:bodyPr/>
                    <a:lstStyle/>
                    <a:p>
                      <a:pPr algn="ctr">
                        <a:defRPr sz="850" b="1"/>
                      </a:pPr>
                      <a:r>
                        <a:rPr sz="1600"/>
                        <a:t>Technologies Used</a:t>
                      </a:r>
                      <a:endParaRPr sz="1600"/>
                    </a:p>
                  </a:txBody>
                  <a:tcPr marL="20590" marR="20590" marT="20590" marB="20590" anchor="ctr"/>
                </a:tc>
                <a:tc>
                  <a:txBody>
                    <a:bodyPr/>
                    <a:lstStyle/>
                    <a:p>
                      <a:pPr algn="ctr">
                        <a:defRPr sz="850" b="1"/>
                      </a:pPr>
                      <a:r>
                        <a:rPr sz="1600"/>
                        <a:t>Dataset</a:t>
                      </a:r>
                      <a:endParaRPr sz="1600"/>
                    </a:p>
                  </a:txBody>
                  <a:tcPr marL="20590" marR="20590" marT="20590" marB="20590" anchor="ctr"/>
                </a:tc>
                <a:tc>
                  <a:txBody>
                    <a:bodyPr/>
                    <a:lstStyle/>
                    <a:p>
                      <a:pPr algn="ctr">
                        <a:defRPr sz="850" b="1"/>
                      </a:pPr>
                      <a:r>
                        <a:rPr sz="1600"/>
                        <a:t>Key Objective</a:t>
                      </a:r>
                      <a:endParaRPr sz="1600"/>
                    </a:p>
                  </a:txBody>
                  <a:tcPr marL="20590" marR="20590" marT="20590" marB="20590" anchor="ctr"/>
                </a:tc>
                <a:tc>
                  <a:txBody>
                    <a:bodyPr/>
                    <a:lstStyle/>
                    <a:p>
                      <a:pPr algn="ctr">
                        <a:defRPr sz="850" b="1"/>
                      </a:pPr>
                      <a:r>
                        <a:rPr sz="1600"/>
                        <a:t>Limitations</a:t>
                      </a:r>
                      <a:endParaRPr sz="1600"/>
                    </a:p>
                  </a:txBody>
                  <a:tcPr marL="20590" marR="20590" marT="20590" marB="20590" anchor="ctr"/>
                </a:tc>
              </a:tr>
              <a:tr h="1882775">
                <a:tc>
                  <a:txBody>
                    <a:bodyPr/>
                    <a:lstStyle/>
                    <a:p>
                      <a:pPr algn="ctr">
                        <a:defRPr sz="800"/>
                      </a:pPr>
                      <a:r>
                        <a:rPr sz="1600"/>
                        <a:t>7</a:t>
                      </a:r>
                      <a:endParaRPr sz="1600"/>
                    </a:p>
                  </a:txBody>
                  <a:tcPr marL="18302" marR="18302" marT="16014" marB="16014" anchor="ctr"/>
                </a:tc>
                <a:tc>
                  <a:txBody>
                    <a:bodyPr/>
                    <a:lstStyle/>
                    <a:p>
                      <a:pPr algn="ctr">
                        <a:defRPr sz="800"/>
                      </a:pPr>
                      <a:r>
                        <a:rPr sz="1600"/>
                        <a:t>Skill-gap analysis</a:t>
                      </a:r>
                      <a:endParaRPr sz="1600"/>
                    </a:p>
                  </a:txBody>
                  <a:tcPr marL="18302" marR="18302" marT="16014" marB="16014" anchor="ctr"/>
                </a:tc>
                <a:tc>
                  <a:txBody>
                    <a:bodyPr/>
                    <a:lstStyle/>
                    <a:p>
                      <a:pPr algn="ctr">
                        <a:defRPr sz="800"/>
                      </a:pPr>
                      <a:r>
                        <a:rPr sz="1600"/>
                        <a:t>Skill mapping, prerequisite comparison</a:t>
                      </a:r>
                      <a:endParaRPr sz="1600"/>
                    </a:p>
                  </a:txBody>
                  <a:tcPr marL="18302" marR="18302" marT="16014" marB="16014" anchor="ctr"/>
                </a:tc>
                <a:tc>
                  <a:txBody>
                    <a:bodyPr/>
                    <a:lstStyle/>
                    <a:p>
                      <a:pPr algn="ctr">
                        <a:defRPr sz="800"/>
                      </a:pPr>
                      <a:r>
                        <a:rPr sz="1600"/>
                        <a:t>Skills required and skills reported</a:t>
                      </a:r>
                      <a:endParaRPr sz="1600"/>
                    </a:p>
                  </a:txBody>
                  <a:tcPr marL="18302" marR="18302" marT="16014" marB="16014" anchor="ctr"/>
                </a:tc>
                <a:tc>
                  <a:txBody>
                    <a:bodyPr/>
                    <a:lstStyle/>
                    <a:p>
                      <a:pPr algn="ctr">
                        <a:defRPr sz="800"/>
                      </a:pPr>
                      <a:r>
                        <a:rPr sz="1600"/>
                        <a:t>Show skills a learner may need to develop</a:t>
                      </a:r>
                      <a:endParaRPr sz="1600"/>
                    </a:p>
                  </a:txBody>
                  <a:tcPr marL="18302" marR="18302" marT="16014" marB="16014" anchor="ctr"/>
                </a:tc>
                <a:tc>
                  <a:txBody>
                    <a:bodyPr/>
                    <a:lstStyle/>
                    <a:p>
                      <a:pPr algn="ctr">
                        <a:defRPr sz="800"/>
                      </a:pPr>
                      <a:r>
                        <a:rPr sz="1600"/>
                        <a:t>Self-reported skills may be inaccurate</a:t>
                      </a:r>
                      <a:endParaRPr sz="1600"/>
                    </a:p>
                  </a:txBody>
                  <a:tcPr marL="18302" marR="18302" marT="16014" marB="16014" anchor="ctr"/>
                </a:tc>
              </a:tr>
              <a:tr h="1617980">
                <a:tc>
                  <a:txBody>
                    <a:bodyPr/>
                    <a:lstStyle/>
                    <a:p>
                      <a:pPr algn="ctr">
                        <a:defRPr sz="800"/>
                      </a:pPr>
                      <a:r>
                        <a:rPr sz="1600"/>
                        <a:t>8</a:t>
                      </a:r>
                      <a:endParaRPr sz="1600"/>
                    </a:p>
                  </a:txBody>
                  <a:tcPr marL="18302" marR="18302" marT="16014" marB="16014" anchor="ctr"/>
                </a:tc>
                <a:tc>
                  <a:txBody>
                    <a:bodyPr/>
                    <a:lstStyle/>
                    <a:p>
                      <a:pPr algn="ctr">
                        <a:defRPr sz="800"/>
                      </a:pPr>
                      <a:r>
                        <a:rPr sz="1600"/>
                        <a:t>Feedback-based refinement</a:t>
                      </a:r>
                      <a:endParaRPr sz="1600"/>
                    </a:p>
                  </a:txBody>
                  <a:tcPr marL="18302" marR="18302" marT="16014" marB="16014" anchor="ctr"/>
                </a:tc>
                <a:tc>
                  <a:txBody>
                    <a:bodyPr/>
                    <a:lstStyle/>
                    <a:p>
                      <a:pPr algn="ctr">
                        <a:defRPr sz="800"/>
                      </a:pPr>
                      <a:r>
                        <a:rPr sz="1600"/>
                        <a:t>Ratings, feedback forms, analytics</a:t>
                      </a:r>
                      <a:endParaRPr sz="1600"/>
                    </a:p>
                  </a:txBody>
                  <a:tcPr marL="18302" marR="18302" marT="16014" marB="16014" anchor="ctr"/>
                </a:tc>
                <a:tc>
                  <a:txBody>
                    <a:bodyPr/>
                    <a:lstStyle/>
                    <a:p>
                      <a:pPr algn="ctr">
                        <a:defRPr sz="800"/>
                      </a:pPr>
                      <a:r>
                        <a:rPr sz="1600"/>
                        <a:t>Student feedback and clicks</a:t>
                      </a:r>
                      <a:endParaRPr sz="1600"/>
                    </a:p>
                  </a:txBody>
                  <a:tcPr marL="18302" marR="18302" marT="16014" marB="16014" anchor="ctr"/>
                </a:tc>
                <a:tc>
                  <a:txBody>
                    <a:bodyPr/>
                    <a:lstStyle/>
                    <a:p>
                      <a:pPr algn="ctr">
                        <a:defRPr sz="800"/>
                      </a:pPr>
                      <a:r>
                        <a:rPr sz="1600"/>
                        <a:t>Improve future recommendations</a:t>
                      </a:r>
                      <a:endParaRPr sz="1600"/>
                    </a:p>
                  </a:txBody>
                  <a:tcPr marL="18302" marR="18302" marT="16014" marB="16014" anchor="ctr"/>
                </a:tc>
                <a:tc>
                  <a:txBody>
                    <a:bodyPr/>
                    <a:lstStyle/>
                    <a:p>
                      <a:pPr algn="ctr">
                        <a:defRPr sz="800"/>
                      </a:pPr>
                      <a:r>
                        <a:rPr sz="1600"/>
                        <a:t>Feedback may be limited or biased</a:t>
                      </a:r>
                      <a:endParaRPr sz="1600"/>
                    </a:p>
                  </a:txBody>
                  <a:tcPr marL="18302" marR="18302" marT="16014" marB="16014" anchor="ctr"/>
                </a:tc>
              </a:tr>
              <a:tr h="1882775">
                <a:tc>
                  <a:txBody>
                    <a:bodyPr/>
                    <a:lstStyle/>
                    <a:p>
                      <a:pPr algn="ctr">
                        <a:defRPr sz="800"/>
                      </a:pPr>
                      <a:r>
                        <a:rPr sz="1600"/>
                        <a:t>9</a:t>
                      </a:r>
                      <a:endParaRPr sz="1600"/>
                    </a:p>
                  </a:txBody>
                  <a:tcPr marL="18302" marR="18302" marT="16014" marB="16014" anchor="ctr"/>
                </a:tc>
                <a:tc>
                  <a:txBody>
                    <a:bodyPr/>
                    <a:lstStyle/>
                    <a:p>
                      <a:pPr algn="ctr">
                        <a:defRPr sz="800"/>
                      </a:pPr>
                      <a:r>
                        <a:rPr sz="1600"/>
                        <a:t>Career-goal matching</a:t>
                      </a:r>
                      <a:endParaRPr sz="1600"/>
                    </a:p>
                  </a:txBody>
                  <a:tcPr marL="18302" marR="18302" marT="16014" marB="16014" anchor="ctr"/>
                </a:tc>
                <a:tc>
                  <a:txBody>
                    <a:bodyPr/>
                    <a:lstStyle/>
                    <a:p>
                      <a:pPr algn="ctr">
                        <a:defRPr sz="800"/>
                      </a:pPr>
                      <a:r>
                        <a:rPr sz="1600"/>
                        <a:t>Career taxonomy, course metadata</a:t>
                      </a:r>
                      <a:endParaRPr sz="1600"/>
                    </a:p>
                  </a:txBody>
                  <a:tcPr marL="18302" marR="18302" marT="16014" marB="16014" anchor="ctr"/>
                </a:tc>
                <a:tc>
                  <a:txBody>
                    <a:bodyPr/>
                    <a:lstStyle/>
                    <a:p>
                      <a:pPr algn="ctr">
                        <a:defRPr sz="800"/>
                      </a:pPr>
                      <a:r>
                        <a:rPr sz="1600"/>
                        <a:t>Career interests and course outcomes</a:t>
                      </a:r>
                      <a:endParaRPr sz="1600"/>
                    </a:p>
                  </a:txBody>
                  <a:tcPr marL="18302" marR="18302" marT="16014" marB="16014" anchor="ctr"/>
                </a:tc>
                <a:tc>
                  <a:txBody>
                    <a:bodyPr/>
                    <a:lstStyle/>
                    <a:p>
                      <a:pPr algn="ctr">
                        <a:defRPr sz="800"/>
                      </a:pPr>
                      <a:r>
                        <a:rPr sz="1600"/>
                        <a:t>Connect courses with longer-term goals</a:t>
                      </a:r>
                      <a:endParaRPr sz="1600"/>
                    </a:p>
                  </a:txBody>
                  <a:tcPr marL="18302" marR="18302" marT="16014" marB="16014" anchor="ctr"/>
                </a:tc>
                <a:tc>
                  <a:txBody>
                    <a:bodyPr/>
                    <a:lstStyle/>
                    <a:p>
                      <a:pPr algn="ctr">
                        <a:defRPr sz="800"/>
                      </a:pPr>
                      <a:r>
                        <a:rPr sz="1600"/>
                        <a:t>Career goals can change over time</a:t>
                      </a:r>
                      <a:endParaRPr sz="1600"/>
                    </a:p>
                  </a:txBody>
                  <a:tcPr marL="18302" marR="18302" marT="16014" marB="16014"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387927"/>
            <a:ext cx="8229600" cy="6165273"/>
          </a:xfrm>
        </p:spPr>
        <p:txBody>
          <a:bodyPr/>
          <a:lstStyle/>
          <a:p>
            <a:pPr marL="114300" indent="0">
              <a:buNone/>
            </a:pPr>
            <a:r>
              <a:rPr lang="en-GB" dirty="0"/>
              <a:t>               </a:t>
            </a:r>
            <a:endParaRPr lang="en-IN" dirty="0"/>
          </a:p>
        </p:txBody>
      </p:sp>
      <p:sp>
        <p:nvSpPr>
          <p:cNvPr id="4" name="Slide Number Placeholder 3"/>
          <p:cNvSpPr>
            <a:spLocks noGrp="1"/>
          </p:cNvSpPr>
          <p:nvPr>
            <p:ph type="sldNum" idx="12"/>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Times New Roman" panose="02020603050405020304"/>
                <a:cs typeface="Times New Roman" panose="02020603050405020304"/>
                <a:sym typeface="Times New Roman" panose="02020603050405020304"/>
              </a:rPr>
            </a:fld>
            <a:endParaRPr kumimoji="0" lang="en-US" sz="1200" b="0" i="0" u="none" strike="noStrike" kern="0" cap="none" spc="0" normalizeH="0" baseline="0" noProof="0">
              <a:ln>
                <a:noFill/>
              </a:ln>
              <a:solidFill>
                <a:srgbClr val="888888"/>
              </a:solidFill>
              <a:effectLst/>
              <a:uLnTx/>
              <a:uFillTx/>
              <a:latin typeface="Times New Roman" panose="02020603050405020304"/>
              <a:cs typeface="Times New Roman" panose="02020603050405020304"/>
              <a:sym typeface="Times New Roman" panose="02020603050405020304"/>
            </a:endParaRPr>
          </a:p>
        </p:txBody>
      </p:sp>
      <p:graphicFrame>
        <p:nvGraphicFramePr>
          <p:cNvPr id="5" name="Table 4"/>
          <p:cNvGraphicFramePr>
            <a:graphicFrameLocks noGrp="1"/>
          </p:cNvGraphicFramePr>
          <p:nvPr/>
        </p:nvGraphicFramePr>
        <p:xfrm>
          <a:off x="457200" y="387985"/>
          <a:ext cx="8229600" cy="5978525"/>
        </p:xfrm>
        <a:graphic>
          <a:graphicData uri="http://schemas.openxmlformats.org/drawingml/2006/table">
            <a:tbl>
              <a:tblPr firstRow="1" firstCol="1" bandRow="1">
                <a:tableStyleId>{BC89EF96-8CEA-46FF-86C4-4CE0E7609802}</a:tableStyleId>
              </a:tblPr>
              <a:tblGrid>
                <a:gridCol w="441325"/>
                <a:gridCol w="1383665"/>
                <a:gridCol w="1680210"/>
                <a:gridCol w="1219200"/>
                <a:gridCol w="1594485"/>
                <a:gridCol w="1910715"/>
              </a:tblGrid>
              <a:tr h="626745">
                <a:tc>
                  <a:txBody>
                    <a:bodyPr/>
                    <a:lstStyle/>
                    <a:p>
                      <a:pPr algn="ctr">
                        <a:defRPr sz="850" b="1"/>
                      </a:pPr>
                      <a:r>
                        <a:rPr sz="1600"/>
                        <a:t>Sr. No.</a:t>
                      </a:r>
                      <a:endParaRPr sz="1600"/>
                    </a:p>
                  </a:txBody>
                  <a:tcPr marL="20590" marR="20590" marT="20590" marB="20590" anchor="ctr"/>
                </a:tc>
                <a:tc>
                  <a:txBody>
                    <a:bodyPr/>
                    <a:lstStyle/>
                    <a:p>
                      <a:pPr algn="ctr">
                        <a:defRPr sz="850" b="1"/>
                      </a:pPr>
                      <a:r>
                        <a:rPr sz="1600"/>
                        <a:t>Approach Type</a:t>
                      </a:r>
                      <a:endParaRPr sz="1600"/>
                    </a:p>
                  </a:txBody>
                  <a:tcPr marL="20590" marR="20590" marT="20590" marB="20590" anchor="ctr"/>
                </a:tc>
                <a:tc>
                  <a:txBody>
                    <a:bodyPr/>
                    <a:lstStyle/>
                    <a:p>
                      <a:pPr algn="ctr">
                        <a:defRPr sz="850" b="1"/>
                      </a:pPr>
                      <a:r>
                        <a:rPr sz="1600"/>
                        <a:t>Technologies Used</a:t>
                      </a:r>
                      <a:endParaRPr sz="1600"/>
                    </a:p>
                  </a:txBody>
                  <a:tcPr marL="20590" marR="20590" marT="20590" marB="20590" anchor="ctr"/>
                </a:tc>
                <a:tc>
                  <a:txBody>
                    <a:bodyPr/>
                    <a:lstStyle/>
                    <a:p>
                      <a:pPr algn="ctr">
                        <a:defRPr sz="850" b="1"/>
                      </a:pPr>
                      <a:r>
                        <a:rPr sz="1600"/>
                        <a:t>Dataset</a:t>
                      </a:r>
                      <a:endParaRPr sz="1600"/>
                    </a:p>
                  </a:txBody>
                  <a:tcPr marL="20590" marR="20590" marT="20590" marB="20590" anchor="ctr"/>
                </a:tc>
                <a:tc>
                  <a:txBody>
                    <a:bodyPr/>
                    <a:lstStyle/>
                    <a:p>
                      <a:pPr algn="ctr">
                        <a:defRPr sz="850" b="1"/>
                      </a:pPr>
                      <a:r>
                        <a:rPr sz="1600"/>
                        <a:t>Key Objective</a:t>
                      </a:r>
                      <a:endParaRPr sz="1600"/>
                    </a:p>
                  </a:txBody>
                  <a:tcPr marL="20590" marR="20590" marT="20590" marB="20590" anchor="ctr"/>
                </a:tc>
                <a:tc>
                  <a:txBody>
                    <a:bodyPr/>
                    <a:lstStyle/>
                    <a:p>
                      <a:pPr algn="ctr">
                        <a:defRPr sz="850" b="1"/>
                      </a:pPr>
                      <a:r>
                        <a:rPr sz="1600"/>
                        <a:t>Limitations</a:t>
                      </a:r>
                      <a:endParaRPr sz="1600"/>
                    </a:p>
                  </a:txBody>
                  <a:tcPr marL="20590" marR="20590" marT="20590" marB="20590" anchor="ctr"/>
                </a:tc>
              </a:tr>
              <a:tr h="2075815">
                <a:tc>
                  <a:txBody>
                    <a:bodyPr/>
                    <a:lstStyle/>
                    <a:p>
                      <a:pPr algn="ctr">
                        <a:defRPr sz="800"/>
                      </a:pPr>
                      <a:r>
                        <a:rPr sz="1600"/>
                        <a:t>10</a:t>
                      </a:r>
                      <a:endParaRPr sz="1600"/>
                    </a:p>
                  </a:txBody>
                  <a:tcPr marL="18302" marR="18302" marT="16014" marB="16014" anchor="ctr"/>
                </a:tc>
                <a:tc>
                  <a:txBody>
                    <a:bodyPr/>
                    <a:lstStyle/>
                    <a:p>
                      <a:pPr algn="ctr">
                        <a:defRPr sz="800"/>
                      </a:pPr>
                      <a:r>
                        <a:rPr sz="1600"/>
                        <a:t>Search and filtering</a:t>
                      </a:r>
                      <a:endParaRPr sz="1600"/>
                    </a:p>
                  </a:txBody>
                  <a:tcPr marL="18302" marR="18302" marT="16014" marB="16014"/>
                </a:tc>
                <a:tc>
                  <a:txBody>
                    <a:bodyPr/>
                    <a:lstStyle/>
                    <a:p>
                      <a:pPr algn="ctr">
                        <a:defRPr sz="800"/>
                      </a:pPr>
                      <a:r>
                        <a:rPr sz="1600"/>
                        <a:t>Keyword search, filters, database queries</a:t>
                      </a:r>
                      <a:endParaRPr sz="1600"/>
                    </a:p>
                  </a:txBody>
                  <a:tcPr marL="18302" marR="18302" marT="16014" marB="16014"/>
                </a:tc>
                <a:tc>
                  <a:txBody>
                    <a:bodyPr/>
                    <a:lstStyle/>
                    <a:p>
                      <a:pPr algn="ctr">
                        <a:defRPr sz="800"/>
                      </a:pPr>
                      <a:r>
                        <a:rPr sz="1600"/>
                        <a:t>Course catalogue</a:t>
                      </a:r>
                      <a:endParaRPr sz="1600"/>
                    </a:p>
                  </a:txBody>
                  <a:tcPr marL="18302" marR="18302" marT="16014" marB="16014"/>
                </a:tc>
                <a:tc>
                  <a:txBody>
                    <a:bodyPr/>
                    <a:lstStyle/>
                    <a:p>
                      <a:pPr algn="ctr">
                        <a:defRPr sz="800"/>
                      </a:pPr>
                      <a:r>
                        <a:rPr sz="1600"/>
                        <a:t>Help students narrow course options</a:t>
                      </a:r>
                      <a:endParaRPr sz="1600"/>
                    </a:p>
                  </a:txBody>
                  <a:tcPr marL="18302" marR="18302" marT="16014" marB="16014"/>
                </a:tc>
                <a:tc>
                  <a:txBody>
                    <a:bodyPr/>
                    <a:lstStyle/>
                    <a:p>
                      <a:pPr algn="ctr">
                        <a:defRPr sz="800"/>
                      </a:pPr>
                      <a:r>
                        <a:rPr sz="1600"/>
                        <a:t>Requires clear search terms</a:t>
                      </a:r>
                      <a:endParaRPr sz="1600"/>
                    </a:p>
                  </a:txBody>
                  <a:tcPr marL="18302" marR="18302" marT="16014" marB="16014"/>
                </a:tc>
              </a:tr>
              <a:tr h="1783715">
                <a:tc>
                  <a:txBody>
                    <a:bodyPr/>
                    <a:lstStyle/>
                    <a:p>
                      <a:pPr algn="ctr">
                        <a:defRPr sz="800"/>
                      </a:pPr>
                      <a:r>
                        <a:rPr sz="1600"/>
                        <a:t>11</a:t>
                      </a:r>
                      <a:endParaRPr sz="1600"/>
                    </a:p>
                  </a:txBody>
                  <a:tcPr marL="18302" marR="18302" marT="16014" marB="16014" anchor="ctr"/>
                </a:tc>
                <a:tc>
                  <a:txBody>
                    <a:bodyPr/>
                    <a:lstStyle/>
                    <a:p>
                      <a:pPr algn="ctr">
                        <a:defRPr sz="800"/>
                      </a:pPr>
                      <a:r>
                        <a:rPr sz="1600"/>
                        <a:t>Personalized learning paths</a:t>
                      </a:r>
                      <a:endParaRPr sz="1600"/>
                    </a:p>
                  </a:txBody>
                  <a:tcPr marL="18302" marR="18302" marT="16014" marB="16014"/>
                </a:tc>
                <a:tc>
                  <a:txBody>
                    <a:bodyPr/>
                    <a:lstStyle/>
                    <a:p>
                      <a:pPr algn="ctr">
                        <a:defRPr sz="800"/>
                      </a:pPr>
                      <a:r>
                        <a:rPr sz="1600"/>
                        <a:t>Prerequisite graphs, sequencing rules</a:t>
                      </a:r>
                      <a:endParaRPr sz="1600"/>
                    </a:p>
                  </a:txBody>
                  <a:tcPr marL="18302" marR="18302" marT="16014" marB="16014"/>
                </a:tc>
                <a:tc>
                  <a:txBody>
                    <a:bodyPr/>
                    <a:lstStyle/>
                    <a:p>
                      <a:pPr algn="ctr">
                        <a:defRPr sz="800"/>
                      </a:pPr>
                      <a:r>
                        <a:rPr sz="1600"/>
                        <a:t>Course levels and prerequisites</a:t>
                      </a:r>
                      <a:endParaRPr sz="1600"/>
                    </a:p>
                  </a:txBody>
                  <a:tcPr marL="18302" marR="18302" marT="16014" marB="16014"/>
                </a:tc>
                <a:tc>
                  <a:txBody>
                    <a:bodyPr/>
                    <a:lstStyle/>
                    <a:p>
                      <a:pPr algn="ctr">
                        <a:defRPr sz="800"/>
                      </a:pPr>
                      <a:r>
                        <a:rPr sz="1600"/>
                        <a:t>Suggest an order for learning related skills</a:t>
                      </a:r>
                      <a:endParaRPr sz="1600"/>
                    </a:p>
                  </a:txBody>
                  <a:tcPr marL="18302" marR="18302" marT="16014" marB="16014"/>
                </a:tc>
                <a:tc>
                  <a:txBody>
                    <a:bodyPr/>
                    <a:lstStyle/>
                    <a:p>
                      <a:pPr algn="ctr">
                        <a:defRPr sz="800"/>
                      </a:pPr>
                      <a:r>
                        <a:rPr sz="1600"/>
                        <a:t>Path may not fit every learner</a:t>
                      </a:r>
                      <a:endParaRPr sz="1600"/>
                    </a:p>
                  </a:txBody>
                  <a:tcPr marL="18302" marR="18302" marT="16014" marB="16014"/>
                </a:tc>
              </a:tr>
              <a:tr h="1492250">
                <a:tc>
                  <a:txBody>
                    <a:bodyPr/>
                    <a:lstStyle/>
                    <a:p>
                      <a:pPr algn="ctr">
                        <a:defRPr sz="800"/>
                      </a:pPr>
                      <a:r>
                        <a:rPr sz="1600"/>
                        <a:t>12</a:t>
                      </a:r>
                      <a:endParaRPr sz="1600"/>
                    </a:p>
                  </a:txBody>
                  <a:tcPr marL="18302" marR="18302" marT="16014" marB="16014" anchor="ctr"/>
                </a:tc>
                <a:tc>
                  <a:txBody>
                    <a:bodyPr/>
                    <a:lstStyle/>
                    <a:p>
                      <a:pPr algn="ctr">
                        <a:defRPr sz="800"/>
                      </a:pPr>
                      <a:r>
                        <a:rPr sz="1600"/>
                        <a:t>Explainable recommendations</a:t>
                      </a:r>
                      <a:endParaRPr sz="1600"/>
                    </a:p>
                  </a:txBody>
                  <a:tcPr marL="18302" marR="18302" marT="16014" marB="16014"/>
                </a:tc>
                <a:tc>
                  <a:txBody>
                    <a:bodyPr/>
                    <a:lstStyle/>
                    <a:p>
                      <a:pPr algn="ctr">
                        <a:defRPr sz="800"/>
                      </a:pPr>
                      <a:r>
                        <a:rPr sz="1600"/>
                        <a:t>Match scores, feature-based explanations</a:t>
                      </a:r>
                      <a:endParaRPr sz="1600"/>
                    </a:p>
                  </a:txBody>
                  <a:tcPr marL="18302" marR="18302" marT="16014" marB="16014"/>
                </a:tc>
                <a:tc>
                  <a:txBody>
                    <a:bodyPr/>
                    <a:lstStyle/>
                    <a:p>
                      <a:pPr algn="ctr">
                        <a:defRPr sz="800"/>
                      </a:pPr>
                      <a:r>
                        <a:rPr sz="1600"/>
                        <a:t>Student profile and course attributes</a:t>
                      </a:r>
                      <a:endParaRPr sz="1600"/>
                    </a:p>
                  </a:txBody>
                  <a:tcPr marL="18302" marR="18302" marT="16014" marB="16014"/>
                </a:tc>
                <a:tc>
                  <a:txBody>
                    <a:bodyPr/>
                    <a:lstStyle/>
                    <a:p>
                      <a:pPr algn="ctr">
                        <a:defRPr sz="800"/>
                      </a:pPr>
                      <a:r>
                        <a:rPr sz="1600"/>
                        <a:t>Explain why a course was suggested</a:t>
                      </a:r>
                      <a:endParaRPr sz="1600"/>
                    </a:p>
                  </a:txBody>
                  <a:tcPr marL="18302" marR="18302" marT="16014" marB="16014"/>
                </a:tc>
                <a:tc>
                  <a:txBody>
                    <a:bodyPr/>
                    <a:lstStyle/>
                    <a:p>
                      <a:pPr algn="ctr">
                        <a:defRPr sz="800"/>
                      </a:pPr>
                      <a:r>
                        <a:rPr sz="1600"/>
                        <a:t>Explanations may be simplified</a:t>
                      </a:r>
                      <a:endParaRPr sz="1600"/>
                    </a:p>
                  </a:txBody>
                  <a:tcPr anchor="ct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 Information to seminar topic</a:t>
            </a:r>
          </a:p>
        </p:txBody>
      </p:sp>
      <p:sp>
        <p:nvSpPr>
          <p:cNvPr id="3" name="Content Placeholder 2"/>
          <p:cNvSpPr>
            <a:spLocks noGrp="1"/>
          </p:cNvSpPr>
          <p:nvPr>
            <p:ph idx="1"/>
          </p:nvPr>
        </p:nvSpPr>
        <p:spPr/>
        <p:txBody>
          <a:bodyPr>
            <a:normAutofit/>
          </a:bodyPr>
          <a:lstStyle/>
          <a:p>
            <a:r>
              <a:rPr sz="2000"/>
              <a:t>Technology: Recommendation systems, databases, web technologies and optional Artificial Intelligence (AI) or Machine Learning (ML).</a:t>
            </a:r>
            <a:endParaRPr sz="2000"/>
          </a:p>
          <a:p>
            <a:r>
              <a:rPr sz="2000"/>
              <a:t>Main Purpose: To recommend courses based on students' skills, interests and goals.</a:t>
            </a:r>
            <a:endParaRPr sz="2000"/>
          </a:p>
          <a:p>
            <a:r>
              <a:rPr sz="2000"/>
              <a:t>Key Concept: Match student profiles with course prerequisites, learning outcomes and skill requirements.</a:t>
            </a:r>
            <a:endParaRPr sz="2000"/>
          </a:p>
          <a:p>
            <a:r>
              <a:rPr sz="2000"/>
              <a:t>Approach: Collect student information, process it, compare it with course data and display relevant suggestions.</a:t>
            </a:r>
            <a:endParaRPr sz="2000"/>
          </a:p>
          <a:p>
            <a:r>
              <a:rPr sz="2000"/>
              <a:t>Main Benefit: Supports course discovery and helps students make more informed choices.</a:t>
            </a:r>
            <a:endParaRPr sz="2000"/>
          </a:p>
          <a:p>
            <a:r>
              <a:rPr sz="2000"/>
              <a:t>Applications: Schools, colleges, online learning platforms, career guidance portals and skill-development programs.</a:t>
            </a:r>
            <a:endParaRPr sz="2000"/>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 Advantages / Disadvantages</a:t>
            </a:r>
          </a:p>
        </p:txBody>
      </p:sp>
      <p:sp>
        <p:nvSpPr>
          <p:cNvPr id="3" name="Content Placeholder 2"/>
          <p:cNvSpPr>
            <a:spLocks noGrp="1"/>
          </p:cNvSpPr>
          <p:nvPr>
            <p:ph idx="1"/>
          </p:nvPr>
        </p:nvSpPr>
        <p:spPr/>
        <p:txBody>
          <a:bodyPr>
            <a:noAutofit/>
          </a:bodyPr>
          <a:lstStyle/>
          <a:p>
            <a:r>
              <a:rPr sz="1800"/>
              <a:t>Advantages:</a:t>
            </a:r>
            <a:endParaRPr sz="1800"/>
          </a:p>
          <a:p>
            <a:r>
              <a:rPr sz="1800"/>
              <a:t>Provides course suggestions based on student profiles.</a:t>
            </a:r>
            <a:endParaRPr sz="1800"/>
          </a:p>
          <a:p>
            <a:r>
              <a:rPr sz="1800"/>
              <a:t>Helps students explore courses related to their interests.</a:t>
            </a:r>
            <a:endParaRPr sz="1800"/>
          </a:p>
          <a:p>
            <a:r>
              <a:rPr sz="1800"/>
              <a:t>Makes course information easier to organize and search.</a:t>
            </a:r>
            <a:endParaRPr sz="1800"/>
          </a:p>
          <a:p>
            <a:r>
              <a:rPr sz="1800"/>
              <a:t>Can identify skills that students may need to develop.</a:t>
            </a:r>
            <a:endParaRPr sz="1800"/>
          </a:p>
          <a:p>
            <a:r>
              <a:rPr sz="1800"/>
              <a:t>Can save time compared with searching manually.</a:t>
            </a:r>
            <a:endParaRPr sz="1800"/>
          </a:p>
          <a:p>
            <a:r>
              <a:rPr sz="1800"/>
              <a:t>Can be updated as new courses and skills are added.</a:t>
            </a:r>
            <a:endParaRPr sz="1800"/>
          </a:p>
          <a:p>
            <a:endParaRPr sz="1800"/>
          </a:p>
          <a:p>
            <a:r>
              <a:rPr sz="1800"/>
              <a:t>Disadvantages:</a:t>
            </a:r>
            <a:endParaRPr sz="1800"/>
          </a:p>
          <a:p>
            <a:r>
              <a:rPr sz="1800"/>
              <a:t>Recommendations depend on the accuracy of student information.</a:t>
            </a:r>
            <a:endParaRPr sz="1800"/>
          </a:p>
          <a:p>
            <a:r>
              <a:rPr sz="1800"/>
              <a:t>Incomplete course data can reduce recommendation quality.</a:t>
            </a:r>
            <a:endParaRPr sz="1800"/>
          </a:p>
          <a:p>
            <a:r>
              <a:rPr sz="1800"/>
              <a:t>Students may receive unsuitable suggestions if their interests are unclear.</a:t>
            </a:r>
            <a:endParaRPr sz="1800"/>
          </a:p>
          <a:p>
            <a:r>
              <a:rPr sz="1800"/>
              <a:t>Personal data must be stored and handled securely.</a:t>
            </a:r>
            <a:endParaRPr sz="1800"/>
          </a:p>
          <a:p>
            <a:r>
              <a:rPr sz="1800"/>
              <a:t>The system may not fully understand personal circumstances.</a:t>
            </a:r>
            <a:endParaRPr sz="1800"/>
          </a:p>
          <a:p>
            <a:r>
              <a:rPr sz="1800"/>
              <a:t>Teacher or counsellor guidance is still valuable.</a:t>
            </a:r>
            <a:endParaRPr sz="1800"/>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5. Conclusion</a:t>
            </a:r>
          </a:p>
        </p:txBody>
      </p:sp>
      <p:sp>
        <p:nvSpPr>
          <p:cNvPr id="3" name="Content Placeholder 2"/>
          <p:cNvSpPr>
            <a:spLocks noGrp="1"/>
          </p:cNvSpPr>
          <p:nvPr>
            <p:ph idx="1"/>
          </p:nvPr>
        </p:nvSpPr>
        <p:spPr/>
        <p:txBody>
          <a:bodyPr>
            <a:normAutofit/>
          </a:bodyPr>
          <a:lstStyle/>
          <a:p>
            <a:r>
              <a:rPr sz="1800"/>
              <a:t>The Student Skills and Course Recommendation System aims to help students explore courses that match their skills, interests and educational goals. By organizing student profiles and course information, the system can provide relevant suggestions and make course selection more convenient. Its usefulness depends on accurate data, clear recommendations and responsible handling of personal information. It should support students' decisions rather than make decisions for them.</a:t>
            </a:r>
            <a:endParaRPr sz="1800"/>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524000" y="3109912"/>
            <a:ext cx="6096000" cy="34290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 Project Initiation</a:t>
            </a:r>
          </a:p>
        </p:txBody>
      </p:sp>
      <p:sp>
        <p:nvSpPr>
          <p:cNvPr id="3" name="Content Placeholder 2"/>
          <p:cNvSpPr>
            <a:spLocks noGrp="1"/>
          </p:cNvSpPr>
          <p:nvPr>
            <p:ph idx="1"/>
          </p:nvPr>
        </p:nvSpPr>
        <p:spPr/>
        <p:txBody>
          <a:bodyPr>
            <a:normAutofit/>
          </a:bodyPr>
          <a:lstStyle/>
          <a:p>
            <a:r>
              <a:rPr sz="2000"/>
              <a:t>The proposed Student Skills and Course Recommendation System addresses the difficulty students may face when selecting courses from a wide range of options. Students may not know which courses match their current skills, interests or future goals.</a:t>
            </a:r>
            <a:endParaRPr sz="2000"/>
          </a:p>
          <a:p>
            <a:endParaRPr sz="2000"/>
          </a:p>
          <a:p>
            <a:r>
              <a:rPr sz="2000"/>
              <a:t>The proposed system collects relevant student details and compares them with course information such as prerequisites, topics and skills taught. It then displays courses that may be suitable for the student.</a:t>
            </a:r>
            <a:endParaRPr sz="2000"/>
          </a:p>
          <a:p>
            <a:endParaRPr sz="2000"/>
          </a:p>
          <a:p>
            <a:r>
              <a:rPr sz="2000"/>
              <a:t>The project aims to organize course discovery, provide personalized guidance and help students make better-informed choices.</a:t>
            </a:r>
            <a:endParaRPr sz="2000"/>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6(a) Problem Statement</a:t>
            </a:r>
          </a:p>
        </p:txBody>
      </p:sp>
      <p:sp>
        <p:nvSpPr>
          <p:cNvPr id="3" name="Content Placeholder 2"/>
          <p:cNvSpPr>
            <a:spLocks noGrp="1"/>
          </p:cNvSpPr>
          <p:nvPr>
            <p:ph idx="1"/>
          </p:nvPr>
        </p:nvSpPr>
        <p:spPr/>
        <p:txBody>
          <a:bodyPr>
            <a:normAutofit/>
          </a:bodyPr>
          <a:lstStyle/>
          <a:p>
            <a:r>
              <a:rPr sz="2000"/>
              <a:t>Students often find it difficult to choose suitable courses because course information is spread across different sources and the relationship between skills, interests and course requirements may not be clear.</a:t>
            </a:r>
            <a:endParaRPr sz="2000"/>
          </a:p>
          <a:p>
            <a:endParaRPr sz="2000"/>
          </a:p>
          <a:p>
            <a:r>
              <a:rPr sz="2000"/>
              <a:t>Manual searching can take time, and students may overlook courses that fit their goals. The proposed system aims to address this problem by matching student profiles with available course information and presenting relevant recommendations. The recommendations are intended as guidance and should not replace independent judgement or advice from teachers and counsellors.</a:t>
            </a:r>
            <a:endParaRPr sz="2000"/>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pic>
        <p:nvPicPr>
          <p:cNvPr id="6" name="Picture 5" descr="WhatsApp Image 2026-10-16 at 2.19.16 AM.jpeg"/>
          <p:cNvPicPr>
            <a:picLocks noChangeAspect="1"/>
          </p:cNvPicPr>
          <p:nvPr/>
        </p:nvPicPr>
        <p:blipFill>
          <a:blip r:embed="rId1"/>
          <a:stretch>
            <a:fillRect/>
          </a:stretch>
        </p:blipFill>
        <p:spPr>
          <a:xfrm>
            <a:off x="1676400" y="4267200"/>
            <a:ext cx="5638800" cy="216961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a:t>
            </a:r>
            <a:r>
              <a:rPr lang="en-US"/>
              <a:t> </a:t>
            </a:r>
            <a:r>
              <a:t>(b) Scope and Objective</a:t>
            </a:r>
          </a:p>
        </p:txBody>
      </p:sp>
      <p:sp>
        <p:nvSpPr>
          <p:cNvPr id="3" name="Content Placeholder 2"/>
          <p:cNvSpPr>
            <a:spLocks noGrp="1"/>
          </p:cNvSpPr>
          <p:nvPr>
            <p:ph idx="1"/>
          </p:nvPr>
        </p:nvSpPr>
        <p:spPr/>
        <p:txBody>
          <a:bodyPr>
            <a:normAutofit lnSpcReduction="20000"/>
          </a:bodyPr>
          <a:lstStyle/>
          <a:p>
            <a:r>
              <a:rPr sz="2000"/>
              <a:t>Objectives:</a:t>
            </a:r>
            <a:endParaRPr sz="2000"/>
          </a:p>
          <a:p>
            <a:r>
              <a:rPr sz="2000"/>
              <a:t>Collect student skills, interests and learning goals.</a:t>
            </a:r>
            <a:endParaRPr sz="2000"/>
          </a:p>
          <a:p>
            <a:r>
              <a:rPr sz="2000"/>
              <a:t>Maintain a structured list of courses and their requirements.</a:t>
            </a:r>
            <a:endParaRPr sz="2000"/>
          </a:p>
          <a:p>
            <a:r>
              <a:rPr sz="2000"/>
              <a:t>Compare student profiles with course information.</a:t>
            </a:r>
            <a:endParaRPr sz="2000"/>
          </a:p>
          <a:p>
            <a:r>
              <a:rPr sz="2000"/>
              <a:t>Recommend courses that may match the student's profile.</a:t>
            </a:r>
            <a:endParaRPr sz="2000"/>
          </a:p>
          <a:p>
            <a:r>
              <a:rPr sz="2000"/>
              <a:t>Present course details in a clear and user-friendly format.</a:t>
            </a:r>
            <a:endParaRPr sz="2000"/>
          </a:p>
          <a:p>
            <a:r>
              <a:rPr sz="2000"/>
              <a:t>Allow course data and recommendations to be updated.</a:t>
            </a:r>
            <a:endParaRPr sz="2000"/>
          </a:p>
          <a:p>
            <a:endParaRPr sz="2000"/>
          </a:p>
          <a:p>
            <a:r>
              <a:rPr sz="2000"/>
              <a:t>Scope:</a:t>
            </a:r>
            <a:endParaRPr sz="2000"/>
          </a:p>
          <a:p>
            <a:r>
              <a:rPr sz="2000"/>
              <a:t>Course discovery for students and learners.</a:t>
            </a:r>
            <a:endParaRPr sz="2000"/>
          </a:p>
          <a:p>
            <a:r>
              <a:rPr sz="2000"/>
              <a:t>Basic profile creation and skill selection.</a:t>
            </a:r>
            <a:endParaRPr sz="2000"/>
          </a:p>
          <a:p>
            <a:r>
              <a:rPr sz="2000"/>
              <a:t>Course matching based on skills, interests and prerequisites.</a:t>
            </a:r>
            <a:endParaRPr sz="2000"/>
          </a:p>
          <a:p>
            <a:r>
              <a:rPr sz="2000"/>
              <a:t>Display of course descriptions and relevant details.</a:t>
            </a:r>
            <a:endParaRPr sz="2000"/>
          </a:p>
          <a:p>
            <a:r>
              <a:rPr sz="2000"/>
              <a:t>Possible future addition of AI/ML-based recommendations.</a:t>
            </a:r>
            <a:endParaRPr sz="2000"/>
          </a:p>
          <a:p>
            <a:r>
              <a:rPr sz="2000"/>
              <a:t>Future improvement through student feedback </a:t>
            </a:r>
            <a:r>
              <a:rPr sz="2000"/>
              <a:t>and updated course data.</a:t>
            </a:r>
            <a:endParaRPr sz="2000"/>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a:t>
            </a:r>
            <a:r>
              <a:rPr lang="en-US"/>
              <a:t> </a:t>
            </a:r>
            <a:r>
              <a:t>(c) Stake holders</a:t>
            </a:r>
          </a:p>
        </p:txBody>
      </p:sp>
      <p:sp>
        <p:nvSpPr>
          <p:cNvPr id="3" name="Content Placeholder 2"/>
          <p:cNvSpPr>
            <a:spLocks noGrp="1"/>
          </p:cNvSpPr>
          <p:nvPr>
            <p:ph idx="1"/>
          </p:nvPr>
        </p:nvSpPr>
        <p:spPr/>
        <p:txBody>
          <a:bodyPr>
            <a:noAutofit/>
          </a:bodyPr>
          <a:lstStyle/>
          <a:p>
            <a:r>
              <a:rPr sz="1600"/>
              <a:t>Students:</a:t>
            </a:r>
            <a:endParaRPr sz="1600"/>
          </a:p>
          <a:p>
            <a:r>
              <a:rPr sz="1600"/>
              <a:t>Provide skills, interests and learning goals, then review suggested courses.</a:t>
            </a:r>
            <a:endParaRPr sz="1600"/>
          </a:p>
          <a:p>
            <a:endParaRPr sz="1600"/>
          </a:p>
          <a:p>
            <a:r>
              <a:rPr sz="1600"/>
              <a:t>Teachers and Career Counsellors:</a:t>
            </a:r>
            <a:endParaRPr sz="1600"/>
          </a:p>
          <a:p>
            <a:r>
              <a:rPr sz="1600"/>
              <a:t>Help students interpret recommendations and make informed choices.</a:t>
            </a:r>
            <a:endParaRPr sz="1600"/>
          </a:p>
          <a:p>
            <a:endParaRPr sz="1600"/>
          </a:p>
          <a:p>
            <a:r>
              <a:rPr sz="1600"/>
              <a:t>Course Providers / Institutions:</a:t>
            </a:r>
            <a:endParaRPr sz="1600"/>
          </a:p>
          <a:p>
            <a:r>
              <a:rPr sz="1600"/>
              <a:t>Provide accurate course descriptions, prerequisites and learning outcomes.</a:t>
            </a:r>
            <a:endParaRPr sz="1600"/>
          </a:p>
          <a:p>
            <a:endParaRPr sz="1600"/>
          </a:p>
          <a:p>
            <a:r>
              <a:rPr sz="1600"/>
              <a:t>Project Team:</a:t>
            </a:r>
            <a:endParaRPr sz="1600"/>
          </a:p>
          <a:p>
            <a:r>
              <a:rPr sz="1600"/>
              <a:t>Design, develop, test and maintain the system.</a:t>
            </a:r>
            <a:endParaRPr sz="1600"/>
          </a:p>
          <a:p>
            <a:endParaRPr sz="1600"/>
          </a:p>
          <a:p>
            <a:r>
              <a:rPr sz="1600"/>
              <a:t>Project Guide:</a:t>
            </a:r>
            <a:endParaRPr sz="1600"/>
          </a:p>
          <a:p>
            <a:r>
              <a:rPr sz="1600"/>
              <a:t>Provide guidance, review progress and evaluate the project.</a:t>
            </a:r>
            <a:endParaRPr sz="1600"/>
          </a:p>
          <a:p>
            <a:endParaRPr sz="1600"/>
          </a:p>
          <a:p>
            <a:r>
              <a:rPr sz="1600"/>
              <a:t>System Administrator:</a:t>
            </a:r>
            <a:endParaRPr sz="1600"/>
          </a:p>
          <a:p>
            <a:r>
              <a:rPr sz="1600"/>
              <a:t>Maintain course records, user access and data security.</a:t>
            </a:r>
            <a:endParaRPr sz="1600"/>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2800"/>
              <a:t>6</a:t>
            </a:r>
            <a:r>
              <a:rPr lang="en-US" sz="2800"/>
              <a:t> </a:t>
            </a:r>
            <a:r>
              <a:rPr sz="2800"/>
              <a:t>(d) Platform / Equipment / Resources identification</a:t>
            </a:r>
            <a:endParaRPr sz="2800"/>
          </a:p>
        </p:txBody>
      </p:sp>
      <p:sp>
        <p:nvSpPr>
          <p:cNvPr id="3" name="Content Placeholder 2"/>
          <p:cNvSpPr>
            <a:spLocks noGrp="1"/>
          </p:cNvSpPr>
          <p:nvPr>
            <p:ph idx="1"/>
          </p:nvPr>
        </p:nvSpPr>
        <p:spPr/>
        <p:txBody>
          <a:bodyPr>
            <a:normAutofit fontScale="57500" lnSpcReduction="20000"/>
          </a:bodyPr>
          <a:lstStyle/>
          <a:p>
            <a:r>
              <a:rPr sz="3370"/>
              <a:t>1. Development Platform</a:t>
            </a:r>
            <a:endParaRPr sz="3370"/>
          </a:p>
          <a:p>
            <a:r>
              <a:rPr sz="3370"/>
              <a:t>Windows or Linux operating system.</a:t>
            </a:r>
            <a:endParaRPr sz="3370"/>
          </a:p>
          <a:p>
            <a:r>
              <a:rPr sz="3370"/>
              <a:t>Python or JavaScript development environment.</a:t>
            </a:r>
            <a:endParaRPr sz="3370"/>
          </a:p>
          <a:p>
            <a:r>
              <a:rPr sz="3370"/>
              <a:t>Web browser for viewing and testing the website.</a:t>
            </a:r>
            <a:endParaRPr sz="3370"/>
          </a:p>
          <a:p>
            <a:endParaRPr sz="3370"/>
          </a:p>
          <a:p>
            <a:r>
              <a:rPr sz="3370"/>
              <a:t>2. System Equipment</a:t>
            </a:r>
            <a:endParaRPr sz="3370"/>
          </a:p>
          <a:p>
            <a:r>
              <a:rPr sz="3370"/>
              <a:t>Computer or laptop for development and testing.</a:t>
            </a:r>
            <a:endParaRPr sz="3370"/>
          </a:p>
          <a:p>
            <a:r>
              <a:rPr sz="3370"/>
              <a:t>Internet connection for research and accessing course information.</a:t>
            </a:r>
            <a:endParaRPr sz="3370"/>
          </a:p>
          <a:p>
            <a:r>
              <a:rPr sz="3370"/>
              <a:t>Keyboard and mouse for development work.</a:t>
            </a:r>
            <a:endParaRPr sz="3370"/>
          </a:p>
          <a:p>
            <a:endParaRPr sz="3370"/>
          </a:p>
          <a:p>
            <a:r>
              <a:rPr sz="3370"/>
              <a:t>3. Supporting Resources</a:t>
            </a:r>
            <a:endParaRPr sz="3370"/>
          </a:p>
          <a:p>
            <a:r>
              <a:rPr sz="3370"/>
              <a:t>HTML and CSS for the website interface.</a:t>
            </a:r>
            <a:endParaRPr sz="3370"/>
          </a:p>
          <a:p>
            <a:r>
              <a:rPr sz="3370"/>
              <a:t>Python / JavaScript for application logic.</a:t>
            </a:r>
            <a:endParaRPr sz="3370"/>
          </a:p>
          <a:p>
            <a:r>
              <a:rPr sz="3370"/>
              <a:t>A database such as MySQL or MongoDB, if included in implementation.</a:t>
            </a:r>
            <a:endParaRPr sz="3370"/>
          </a:p>
          <a:p>
            <a:r>
              <a:rPr sz="3370"/>
              <a:t>Course information, skill lists and sample student profiles.</a:t>
            </a:r>
            <a:endParaRPr sz="3370"/>
          </a:p>
          <a:p>
            <a:r>
              <a:rPr sz="3370"/>
              <a:t>Visual Studio Code or a similar code editor.</a:t>
            </a:r>
            <a:endParaRPr sz="3370"/>
          </a:p>
          <a:p>
            <a:r>
              <a:rPr sz="3370"/>
              <a:t>Documentation on recommendation systems and data privacy</a:t>
            </a:r>
            <a:r>
              <a:t>.</a:t>
            </a:r>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w="28575">
            <a:solidFill>
              <a:schemeClr val="accent1"/>
            </a:solidFill>
          </a:ln>
        </p:spPr>
        <p:txBody>
          <a:bodyPr>
            <a:normAutofit/>
          </a:bodyPr>
          <a:lstStyle/>
          <a:p>
            <a:r>
              <a:t>Bibliography</a:t>
            </a:r>
          </a:p>
        </p:txBody>
      </p:sp>
      <p:sp>
        <p:nvSpPr>
          <p:cNvPr id="3" name="Content Placeholder 2"/>
          <p:cNvSpPr>
            <a:spLocks noGrp="1"/>
          </p:cNvSpPr>
          <p:nvPr>
            <p:ph idx="1"/>
          </p:nvPr>
        </p:nvSpPr>
        <p:spPr>
          <a:ln w="28575">
            <a:solidFill>
              <a:schemeClr val="accent1"/>
            </a:solidFill>
          </a:ln>
        </p:spPr>
        <p:txBody>
          <a:bodyPr>
            <a:normAutofit/>
          </a:bodyPr>
          <a:lstStyle/>
          <a:p>
            <a:r>
              <a:rPr sz="2000"/>
              <a:t>Books</a:t>
            </a:r>
            <a:endParaRPr sz="2000"/>
          </a:p>
          <a:p>
            <a:r>
              <a:rPr sz="2000"/>
              <a:t>Recommender Systems: An Introduction — Dietmar Jannach, Markus Zanker, Alexander Felfernig and Gerhard Friedrich.</a:t>
            </a:r>
            <a:endParaRPr sz="2000"/>
          </a:p>
          <a:p>
            <a:r>
              <a:rPr sz="2000"/>
              <a:t>Artificial Intelligence: A Modern Approach — Stuart Russell and Peter Norvig.</a:t>
            </a:r>
            <a:endParaRPr sz="2000"/>
          </a:p>
          <a:p>
            <a:r>
              <a:rPr sz="2000"/>
              <a:t>Software Engineering — Ian Sommerville.</a:t>
            </a:r>
            <a:endParaRPr sz="2000"/>
          </a:p>
          <a:p>
            <a:endParaRPr sz="2000"/>
          </a:p>
          <a:p>
            <a:r>
              <a:rPr sz="2000"/>
              <a:t>Websites</a:t>
            </a:r>
            <a:endParaRPr sz="2000"/>
          </a:p>
          <a:p>
            <a:r>
              <a:rPr sz="2000"/>
              <a:t>Python Official Website — </a:t>
            </a:r>
            <a:r>
              <a:rPr sz="2000">
                <a:solidFill>
                  <a:srgbClr val="00B0F0"/>
                </a:solidFill>
              </a:rPr>
              <a:t>https://www.python.org</a:t>
            </a:r>
            <a:endParaRPr sz="2000">
              <a:solidFill>
                <a:srgbClr val="0070C0"/>
              </a:solidFill>
            </a:endParaRPr>
          </a:p>
          <a:p>
            <a:r>
              <a:rPr sz="2000"/>
              <a:t> scikit-learn User Guide — </a:t>
            </a:r>
            <a:r>
              <a:rPr sz="2000">
                <a:solidFill>
                  <a:srgbClr val="00B0F0"/>
                </a:solidFill>
              </a:rPr>
              <a:t>https://scikit-learn.org/stable/user_guide.html</a:t>
            </a:r>
            <a:endParaRPr sz="2000">
              <a:solidFill>
                <a:srgbClr val="00B0F0"/>
              </a:solidFill>
            </a:endParaRPr>
          </a:p>
          <a:p>
            <a:r>
              <a:rPr sz="2000"/>
              <a:t>Google for Developers, Machine Learning — </a:t>
            </a:r>
            <a:r>
              <a:rPr sz="2000">
                <a:solidFill>
                  <a:srgbClr val="00B0F0"/>
                </a:solidFill>
              </a:rPr>
              <a:t>https://developers.google.com/machine-learning</a:t>
            </a:r>
            <a:endParaRPr sz="2000"/>
          </a:p>
          <a:p>
            <a:r>
              <a:rPr sz="2000"/>
              <a:t>MongoDB Documentation —</a:t>
            </a:r>
            <a:r>
              <a:rPr sz="2000">
                <a:solidFill>
                  <a:srgbClr val="00B0F0"/>
                </a:solidFill>
              </a:rPr>
              <a:t> https://www.mongodb.com/docs</a:t>
            </a:r>
            <a:endParaRPr sz="2000">
              <a:solidFill>
                <a:srgbClr val="00B0F0"/>
              </a:solidFill>
            </a:endParaRPr>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normAutofit/>
          </a:bodyPr>
          <a:lstStyle/>
          <a:p>
            <a:r>
              <a:rPr sz="2000"/>
              <a:t>1. F. Ricci, L. Rokach and B. Shapira, eds., Recommender Systems Handbook, 3rd ed., Springer, 2022.</a:t>
            </a:r>
            <a:endParaRPr sz="2000"/>
          </a:p>
          <a:p>
            <a:endParaRPr sz="2000"/>
          </a:p>
          <a:p>
            <a:r>
              <a:rPr sz="2000"/>
              <a:t>2. C. C. Aggarwal, Recommender Systems: The Textbook, Springer, 2016.</a:t>
            </a:r>
            <a:endParaRPr sz="2000"/>
          </a:p>
          <a:p>
            <a:endParaRPr sz="2000"/>
          </a:p>
          <a:p>
            <a:r>
              <a:rPr sz="2000"/>
              <a:t>3. F. Jannach, M. Zanker, A. Felfernig and G. Friedrich, Recommender Systems: An Introduction, Cambridge University Press, 2010.</a:t>
            </a:r>
            <a:endParaRPr sz="2000"/>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normAutofit/>
          </a:bodyPr>
          <a:lstStyle/>
          <a:p>
            <a:r>
              <a:rPr sz="2335"/>
              <a:t>4. F. Ricci, L. Rokach and B. Shapira, “Introduction to Recommender Systems Handbook,” in Recommender Systems Handbook, Springer.</a:t>
            </a:r>
            <a:endParaRPr sz="2335"/>
          </a:p>
          <a:p>
            <a:endParaRPr sz="2335"/>
          </a:p>
          <a:p>
            <a:r>
              <a:rPr sz="2335"/>
              <a:t>5. scikit-learn developers, “Nearest Neighbors,” scikit-learn User Guide. Available: https://scikit-learn.org/stable/modules/neighbors.html</a:t>
            </a:r>
            <a:endParaRPr sz="2335"/>
          </a:p>
          <a:p>
            <a:endParaRPr sz="2335"/>
          </a:p>
          <a:p>
            <a:r>
              <a:rPr sz="2335"/>
              <a:t>6. Google for Developers, “Recommendation Systems,” Machine Learning Crash Course. Available: https://developers.google.com/machine-learning/recommendation</a:t>
            </a:r>
            <a:endParaRPr sz="2335"/>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47800" y="2809875"/>
            <a:ext cx="6663055" cy="829945"/>
          </a:xfrm>
          <a:prstGeom prst="rect">
            <a:avLst/>
          </a:prstGeom>
          <a:noFill/>
          <a:ln w="28575">
            <a:solidFill>
              <a:schemeClr val="accent1"/>
            </a:solidFill>
          </a:ln>
        </p:spPr>
        <p:txBody>
          <a:bodyPr wrap="square" lIns="91440" tIns="45720" rIns="91440" bIns="45720">
            <a:spAutoFit/>
          </a:bodyPr>
          <a:lstStyle/>
          <a:p>
            <a:pPr algn="ctr"/>
            <a:r>
              <a:rPr sz="4800"/>
              <a:t>Thank you</a:t>
            </a:r>
            <a:endParaRPr sz="4800"/>
          </a:p>
        </p:txBody>
      </p:sp>
      <p:sp>
        <p:nvSpPr>
          <p:cNvPr id="4" name="Slide Number Placeholder 3"/>
          <p:cNvSpPr>
            <a:spLocks noGrp="1"/>
          </p:cNvSpPr>
          <p:nvPr>
            <p:ph type="sldNum" sz="quarter" idx="12"/>
          </p:nvPr>
        </p:nvSpPr>
        <p:spPr/>
        <p:txBody>
          <a:bodyPr/>
          <a:lstStyle/>
          <a:p>
            <a:fld id="{4AF1F8D0-972F-472E-AFE5-1F27E299DB0B}" type="slidenum">
              <a:rPr lang="en-US" smtClean="0"/>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B45C23AA495248876994551EBC0B0D" ma:contentTypeVersion="6" ma:contentTypeDescription="Create a new document." ma:contentTypeScope="" ma:versionID="79eb160fa61b479c849f569640ab7fda">
  <xsd:schema xmlns:xsd="http://www.w3.org/2001/XMLSchema" xmlns:xs="http://www.w3.org/2001/XMLSchema" xmlns:p="http://schemas.microsoft.com/office/2006/metadata/properties" xmlns:ns2="05e192a1-976a-4ea8-b7f3-58c86a22ffe4" targetNamespace="http://schemas.microsoft.com/office/2006/metadata/properties" ma:root="true" ma:fieldsID="ad5e13a2b368e1adc336d9fe921cd917" ns2:_="">
    <xsd:import namespace="05e192a1-976a-4ea8-b7f3-58c86a22ffe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e192a1-976a-4ea8-b7f3-58c86a22ff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2B96158-47AC-4B87-8B3C-D13EC7A9D122}">
  <ds:schemaRefs/>
</ds:datastoreItem>
</file>

<file path=customXml/itemProps2.xml><?xml version="1.0" encoding="utf-8"?>
<ds:datastoreItem xmlns:ds="http://schemas.openxmlformats.org/officeDocument/2006/customXml" ds:itemID="{65F70FD7-F058-458D-A9D8-BACA9DA8676A}">
  <ds:schemaRefs/>
</ds:datastoreItem>
</file>

<file path=customXml/itemProps3.xml><?xml version="1.0" encoding="utf-8"?>
<ds:datastoreItem xmlns:ds="http://schemas.openxmlformats.org/officeDocument/2006/customXml" ds:itemID="{FFA14DBB-52E1-4F10-9F3F-60AA0AB20DD9}">
  <ds:schemaRefs/>
</ds:datastoreItem>
</file>

<file path=docProps/app.xml><?xml version="1.0" encoding="utf-8"?>
<Properties xmlns="http://schemas.openxmlformats.org/officeDocument/2006/extended-properties" xmlns:vt="http://schemas.openxmlformats.org/officeDocument/2006/docPropsVTypes">
  <TotalTime>0</TotalTime>
  <Words>11198</Words>
  <Application>WPS Presentation</Application>
  <PresentationFormat>On-screen Show (4:3)</PresentationFormat>
  <Paragraphs>483</Paragraphs>
  <Slides>20</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SimSun</vt:lpstr>
      <vt:lpstr>Wingdings</vt:lpstr>
      <vt:lpstr>Arial</vt:lpstr>
      <vt:lpstr>Times New Roman</vt:lpstr>
      <vt:lpstr>Microsoft YaHei</vt:lpstr>
      <vt:lpstr>Arial Unicode MS</vt:lpstr>
      <vt:lpstr>Calibri</vt:lpstr>
      <vt:lpstr>Times New Roman</vt:lpstr>
      <vt:lpstr>Office Theme</vt:lpstr>
      <vt:lpstr>PowerPoint 演示文稿</vt:lpstr>
      <vt:lpstr>Contents</vt:lpstr>
      <vt:lpstr>Abstract</vt:lpstr>
      <vt:lpstr>1. Introduction</vt:lpstr>
      <vt:lpstr>2. Literature Survey</vt:lpstr>
      <vt:lpstr>PowerPoint 演示文稿</vt:lpstr>
      <vt:lpstr>PowerPoint 演示文稿</vt:lpstr>
      <vt:lpstr>PowerPoint 演示文稿</vt:lpstr>
      <vt:lpstr>3. Information to seminar topic</vt:lpstr>
      <vt:lpstr>4. Advantages / Disadvantages</vt:lpstr>
      <vt:lpstr>5. Conclusion</vt:lpstr>
      <vt:lpstr>6. Project Initiation</vt:lpstr>
      <vt:lpstr>6(a) Problem Statement</vt:lpstr>
      <vt:lpstr>6 (b) Scope and Objective</vt:lpstr>
      <vt:lpstr>6 (c) Stake holders</vt:lpstr>
      <vt:lpstr>6 (d) Platform / Equipment / Resources identification</vt:lpstr>
      <vt:lpstr>Bibliography</vt:lpstr>
      <vt:lpstr>References</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ssvps</dc:creator>
  <cp:lastModifiedBy>WPS_1792041886</cp:lastModifiedBy>
  <cp:revision>110</cp:revision>
  <dcterms:created xsi:type="dcterms:W3CDTF">2015-09-18T08:45:00Z</dcterms:created>
  <dcterms:modified xsi:type="dcterms:W3CDTF">2026-10-17T08:14:19Z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0x0101008FB45C23AA495248876994551EBC0B0D</vt:lpwstr>
  </property>
  <property fmtid="{D5CDD505-2E9C-101B-9397-08002B2CF9AE}" pid="3" name="KSOProductBuildVer">
    <vt:lpwstr>1033-12.1.0.29162</vt:lpwstr>
  </property>
  <property fmtid="{D5CDD505-2E9C-101B-9397-08002B2CF9AE}" pid="4" name="ICV">
    <vt:lpwstr>911226F1DF1C45FEA9BA77629D90A0AF_13</vt:lpwstr>
  </property>
</Properties>
</file>