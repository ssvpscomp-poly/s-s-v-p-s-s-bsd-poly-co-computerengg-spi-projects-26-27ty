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76" r:id="rId6"/>
    <p:sldId id="277" r:id="rId7"/>
    <p:sldId id="278" r:id="rId8"/>
    <p:sldId id="261" r:id="rId9"/>
    <p:sldId id="273" r:id="rId10"/>
    <p:sldId id="262" r:id="rId11"/>
    <p:sldId id="263" r:id="rId12"/>
    <p:sldId id="264" r:id="rId13"/>
    <p:sldId id="265" r:id="rId14"/>
    <p:sldId id="266" r:id="rId15"/>
    <p:sldId id="267" r:id="rId16"/>
    <p:sldId id="268" r:id="rId17"/>
    <p:sldId id="269" r:id="rId18"/>
    <p:sldId id="270" r:id="rId19"/>
    <p:sldId id="271" r:id="rId20"/>
    <p:sldId id="279" r:id="rId21"/>
    <p:sldId id="272"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1" autoAdjust="0"/>
    <p:restoredTop sz="94660"/>
  </p:normalViewPr>
  <p:slideViewPr>
    <p:cSldViewPr snapToGrid="0">
      <p:cViewPr varScale="1">
        <p:scale>
          <a:sx n="60" d="100"/>
          <a:sy n="60" d="100"/>
        </p:scale>
        <p:origin x="170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patil1742005@gmail.com" userId="1cdc495904f5e8f8" providerId="LiveId" clId="{24CBE02C-DDCD-44CA-93C4-023E068CABD2}"/>
    <pc:docChg chg="undo custSel addSld modSld">
      <pc:chgData name="kpatil1742005@gmail.com" userId="1cdc495904f5e8f8" providerId="LiveId" clId="{24CBE02C-DDCD-44CA-93C4-023E068CABD2}" dt="2026-10-15T05:28:34.031" v="876" actId="1076"/>
      <pc:docMkLst>
        <pc:docMk/>
      </pc:docMkLst>
      <pc:sldChg chg="modSp mod">
        <pc:chgData name="kpatil1742005@gmail.com" userId="1cdc495904f5e8f8" providerId="LiveId" clId="{24CBE02C-DDCD-44CA-93C4-023E068CABD2}" dt="2026-10-13T15:22:26.872" v="2" actId="255"/>
        <pc:sldMkLst>
          <pc:docMk/>
          <pc:sldMk cId="0" sldId="257"/>
        </pc:sldMkLst>
        <pc:spChg chg="mod">
          <ac:chgData name="kpatil1742005@gmail.com" userId="1cdc495904f5e8f8" providerId="LiveId" clId="{24CBE02C-DDCD-44CA-93C4-023E068CABD2}" dt="2026-10-13T15:22:26.872" v="2" actId="255"/>
          <ac:spMkLst>
            <pc:docMk/>
            <pc:sldMk cId="0" sldId="257"/>
            <ac:spMk id="510" creationId="{00000000-0000-0000-0000-000000000000}"/>
          </ac:spMkLst>
        </pc:spChg>
      </pc:sldChg>
      <pc:sldChg chg="modSp mod">
        <pc:chgData name="kpatil1742005@gmail.com" userId="1cdc495904f5e8f8" providerId="LiveId" clId="{24CBE02C-DDCD-44CA-93C4-023E068CABD2}" dt="2026-10-13T15:37:28.686" v="251" actId="14100"/>
        <pc:sldMkLst>
          <pc:docMk/>
          <pc:sldMk cId="0" sldId="258"/>
        </pc:sldMkLst>
        <pc:spChg chg="mod">
          <ac:chgData name="kpatil1742005@gmail.com" userId="1cdc495904f5e8f8" providerId="LiveId" clId="{24CBE02C-DDCD-44CA-93C4-023E068CABD2}" dt="2026-10-13T15:37:28.686" v="251" actId="14100"/>
          <ac:spMkLst>
            <pc:docMk/>
            <pc:sldMk cId="0" sldId="258"/>
            <ac:spMk id="518" creationId="{00000000-0000-0000-0000-000000000000}"/>
          </ac:spMkLst>
        </pc:spChg>
      </pc:sldChg>
      <pc:sldChg chg="addSp modSp mod">
        <pc:chgData name="kpatil1742005@gmail.com" userId="1cdc495904f5e8f8" providerId="LiveId" clId="{24CBE02C-DDCD-44CA-93C4-023E068CABD2}" dt="2026-10-15T05:25:46.054" v="810" actId="255"/>
        <pc:sldMkLst>
          <pc:docMk/>
          <pc:sldMk cId="0" sldId="259"/>
        </pc:sldMkLst>
        <pc:spChg chg="mod">
          <ac:chgData name="kpatil1742005@gmail.com" userId="1cdc495904f5e8f8" providerId="LiveId" clId="{24CBE02C-DDCD-44CA-93C4-023E068CABD2}" dt="2026-10-15T05:25:46.054" v="810" actId="255"/>
          <ac:spMkLst>
            <pc:docMk/>
            <pc:sldMk cId="0" sldId="259"/>
            <ac:spMk id="525" creationId="{00000000-0000-0000-0000-000000000000}"/>
          </ac:spMkLst>
        </pc:spChg>
        <pc:picChg chg="add mod">
          <ac:chgData name="kpatil1742005@gmail.com" userId="1cdc495904f5e8f8" providerId="LiveId" clId="{24CBE02C-DDCD-44CA-93C4-023E068CABD2}" dt="2026-10-15T05:13:28.058" v="622" actId="1076"/>
          <ac:picMkLst>
            <pc:docMk/>
            <pc:sldMk cId="0" sldId="259"/>
            <ac:picMk id="3" creationId="{1F8E5300-5232-1742-66CB-4A507EAC1C56}"/>
          </ac:picMkLst>
        </pc:picChg>
      </pc:sldChg>
      <pc:sldChg chg="addSp modSp mod">
        <pc:chgData name="kpatil1742005@gmail.com" userId="1cdc495904f5e8f8" providerId="LiveId" clId="{24CBE02C-DDCD-44CA-93C4-023E068CABD2}" dt="2026-10-15T05:25:33.977" v="809" actId="113"/>
        <pc:sldMkLst>
          <pc:docMk/>
          <pc:sldMk cId="0" sldId="260"/>
        </pc:sldMkLst>
        <pc:spChg chg="mod">
          <ac:chgData name="kpatil1742005@gmail.com" userId="1cdc495904f5e8f8" providerId="LiveId" clId="{24CBE02C-DDCD-44CA-93C4-023E068CABD2}" dt="2026-10-15T05:25:33.977" v="809" actId="113"/>
          <ac:spMkLst>
            <pc:docMk/>
            <pc:sldMk cId="0" sldId="260"/>
            <ac:spMk id="532" creationId="{00000000-0000-0000-0000-000000000000}"/>
          </ac:spMkLst>
        </pc:spChg>
        <pc:picChg chg="add mod">
          <ac:chgData name="kpatil1742005@gmail.com" userId="1cdc495904f5e8f8" providerId="LiveId" clId="{24CBE02C-DDCD-44CA-93C4-023E068CABD2}" dt="2026-10-15T05:18:01.796" v="705" actId="1076"/>
          <ac:picMkLst>
            <pc:docMk/>
            <pc:sldMk cId="0" sldId="260"/>
            <ac:picMk id="3" creationId="{0610885B-7E00-A8B2-F831-E1C437C25BD9}"/>
          </ac:picMkLst>
        </pc:picChg>
      </pc:sldChg>
      <pc:sldChg chg="modSp mod">
        <pc:chgData name="kpatil1742005@gmail.com" userId="1cdc495904f5e8f8" providerId="LiveId" clId="{24CBE02C-DDCD-44CA-93C4-023E068CABD2}" dt="2026-10-13T15:38:05.510" v="255" actId="5793"/>
        <pc:sldMkLst>
          <pc:docMk/>
          <pc:sldMk cId="0" sldId="261"/>
        </pc:sldMkLst>
        <pc:spChg chg="mod">
          <ac:chgData name="kpatil1742005@gmail.com" userId="1cdc495904f5e8f8" providerId="LiveId" clId="{24CBE02C-DDCD-44CA-93C4-023E068CABD2}" dt="2026-10-13T15:38:05.510" v="255" actId="5793"/>
          <ac:spMkLst>
            <pc:docMk/>
            <pc:sldMk cId="0" sldId="261"/>
            <ac:spMk id="539" creationId="{00000000-0000-0000-0000-000000000000}"/>
          </ac:spMkLst>
        </pc:spChg>
      </pc:sldChg>
      <pc:sldChg chg="modSp mod">
        <pc:chgData name="kpatil1742005@gmail.com" userId="1cdc495904f5e8f8" providerId="LiveId" clId="{24CBE02C-DDCD-44CA-93C4-023E068CABD2}" dt="2026-10-13T15:39:09.256" v="275" actId="20577"/>
        <pc:sldMkLst>
          <pc:docMk/>
          <pc:sldMk cId="0" sldId="264"/>
        </pc:sldMkLst>
        <pc:spChg chg="mod">
          <ac:chgData name="kpatil1742005@gmail.com" userId="1cdc495904f5e8f8" providerId="LiveId" clId="{24CBE02C-DDCD-44CA-93C4-023E068CABD2}" dt="2026-10-13T15:39:09.256" v="275" actId="20577"/>
          <ac:spMkLst>
            <pc:docMk/>
            <pc:sldMk cId="0" sldId="264"/>
            <ac:spMk id="560" creationId="{00000000-0000-0000-0000-000000000000}"/>
          </ac:spMkLst>
        </pc:spChg>
      </pc:sldChg>
      <pc:sldChg chg="addSp delSp modSp mod">
        <pc:chgData name="kpatil1742005@gmail.com" userId="1cdc495904f5e8f8" providerId="LiveId" clId="{24CBE02C-DDCD-44CA-93C4-023E068CABD2}" dt="2026-10-13T18:57:42.890" v="503" actId="20577"/>
        <pc:sldMkLst>
          <pc:docMk/>
          <pc:sldMk cId="0" sldId="266"/>
        </pc:sldMkLst>
        <pc:spChg chg="mod">
          <ac:chgData name="kpatil1742005@gmail.com" userId="1cdc495904f5e8f8" providerId="LiveId" clId="{24CBE02C-DDCD-44CA-93C4-023E068CABD2}" dt="2026-10-13T18:57:42.890" v="503" actId="20577"/>
          <ac:spMkLst>
            <pc:docMk/>
            <pc:sldMk cId="0" sldId="266"/>
            <ac:spMk id="574" creationId="{00000000-0000-0000-0000-000000000000}"/>
          </ac:spMkLst>
        </pc:spChg>
      </pc:sldChg>
      <pc:sldChg chg="addSp delSp modSp mod">
        <pc:chgData name="kpatil1742005@gmail.com" userId="1cdc495904f5e8f8" providerId="LiveId" clId="{24CBE02C-DDCD-44CA-93C4-023E068CABD2}" dt="2026-10-13T19:04:50.558" v="555" actId="14100"/>
        <pc:sldMkLst>
          <pc:docMk/>
          <pc:sldMk cId="0" sldId="269"/>
        </pc:sldMkLst>
        <pc:spChg chg="add mod">
          <ac:chgData name="kpatil1742005@gmail.com" userId="1cdc495904f5e8f8" providerId="LiveId" clId="{24CBE02C-DDCD-44CA-93C4-023E068CABD2}" dt="2026-10-13T19:04:49.683" v="553" actId="5793"/>
          <ac:spMkLst>
            <pc:docMk/>
            <pc:sldMk cId="0" sldId="269"/>
            <ac:spMk id="4" creationId="{83081173-8344-EE37-A4CA-E59BC5365E71}"/>
          </ac:spMkLst>
        </pc:spChg>
        <pc:spChg chg="mod">
          <ac:chgData name="kpatil1742005@gmail.com" userId="1cdc495904f5e8f8" providerId="LiveId" clId="{24CBE02C-DDCD-44CA-93C4-023E068CABD2}" dt="2026-10-13T19:04:50.558" v="555" actId="14100"/>
          <ac:spMkLst>
            <pc:docMk/>
            <pc:sldMk cId="0" sldId="269"/>
            <ac:spMk id="596" creationId="{00000000-0000-0000-0000-000000000000}"/>
          </ac:spMkLst>
        </pc:spChg>
      </pc:sldChg>
      <pc:sldChg chg="modSp mod">
        <pc:chgData name="kpatil1742005@gmail.com" userId="1cdc495904f5e8f8" providerId="LiveId" clId="{24CBE02C-DDCD-44CA-93C4-023E068CABD2}" dt="2026-10-13T15:23:34.959" v="8" actId="20577"/>
        <pc:sldMkLst>
          <pc:docMk/>
          <pc:sldMk cId="0" sldId="271"/>
        </pc:sldMkLst>
        <pc:spChg chg="mod">
          <ac:chgData name="kpatil1742005@gmail.com" userId="1cdc495904f5e8f8" providerId="LiveId" clId="{24CBE02C-DDCD-44CA-93C4-023E068CABD2}" dt="2026-10-13T15:23:34.959" v="8" actId="20577"/>
          <ac:spMkLst>
            <pc:docMk/>
            <pc:sldMk cId="0" sldId="271"/>
            <ac:spMk id="609" creationId="{00000000-0000-0000-0000-000000000000}"/>
          </ac:spMkLst>
        </pc:spChg>
      </pc:sldChg>
      <pc:sldChg chg="modSp mod">
        <pc:chgData name="kpatil1742005@gmail.com" userId="1cdc495904f5e8f8" providerId="LiveId" clId="{24CBE02C-DDCD-44CA-93C4-023E068CABD2}" dt="2026-10-13T15:46:40.398" v="453" actId="255"/>
        <pc:sldMkLst>
          <pc:docMk/>
          <pc:sldMk cId="0" sldId="272"/>
        </pc:sldMkLst>
        <pc:spChg chg="mod">
          <ac:chgData name="kpatil1742005@gmail.com" userId="1cdc495904f5e8f8" providerId="LiveId" clId="{24CBE02C-DDCD-44CA-93C4-023E068CABD2}" dt="2026-10-13T15:46:40.398" v="453" actId="255"/>
          <ac:spMkLst>
            <pc:docMk/>
            <pc:sldMk cId="0" sldId="272"/>
            <ac:spMk id="615" creationId="{00000000-0000-0000-0000-000000000000}"/>
          </ac:spMkLst>
        </pc:spChg>
      </pc:sldChg>
      <pc:sldChg chg="addSp modSp mod">
        <pc:chgData name="kpatil1742005@gmail.com" userId="1cdc495904f5e8f8" providerId="LiveId" clId="{24CBE02C-DDCD-44CA-93C4-023E068CABD2}" dt="2026-10-15T05:25:17.494" v="807" actId="122"/>
        <pc:sldMkLst>
          <pc:docMk/>
          <pc:sldMk cId="3840443592" sldId="274"/>
        </pc:sldMkLst>
        <pc:spChg chg="mod">
          <ac:chgData name="kpatil1742005@gmail.com" userId="1cdc495904f5e8f8" providerId="LiveId" clId="{24CBE02C-DDCD-44CA-93C4-023E068CABD2}" dt="2026-10-15T05:25:17.494" v="807" actId="122"/>
          <ac:spMkLst>
            <pc:docMk/>
            <pc:sldMk cId="3840443592" sldId="274"/>
            <ac:spMk id="3" creationId="{2AE6977D-14CA-6592-6BD9-7848F5601B1A}"/>
          </ac:spMkLst>
        </pc:spChg>
        <pc:picChg chg="add mod">
          <ac:chgData name="kpatil1742005@gmail.com" userId="1cdc495904f5e8f8" providerId="LiveId" clId="{24CBE02C-DDCD-44CA-93C4-023E068CABD2}" dt="2026-10-15T05:23:53.719" v="742" actId="208"/>
          <ac:picMkLst>
            <pc:docMk/>
            <pc:sldMk cId="3840443592" sldId="274"/>
            <ac:picMk id="6" creationId="{D0458DDC-03A0-2AA4-92E7-A14B7FF92970}"/>
          </ac:picMkLst>
        </pc:picChg>
      </pc:sldChg>
      <pc:sldChg chg="addSp modSp new mod">
        <pc:chgData name="kpatil1742005@gmail.com" userId="1cdc495904f5e8f8" providerId="LiveId" clId="{24CBE02C-DDCD-44CA-93C4-023E068CABD2}" dt="2026-10-15T05:28:34.031" v="876" actId="1076"/>
        <pc:sldMkLst>
          <pc:docMk/>
          <pc:sldMk cId="2410179005" sldId="275"/>
        </pc:sldMkLst>
        <pc:spChg chg="mod">
          <ac:chgData name="kpatil1742005@gmail.com" userId="1cdc495904f5e8f8" providerId="LiveId" clId="{24CBE02C-DDCD-44CA-93C4-023E068CABD2}" dt="2026-10-15T05:26:27.536" v="812"/>
          <ac:spMkLst>
            <pc:docMk/>
            <pc:sldMk cId="2410179005" sldId="275"/>
            <ac:spMk id="2" creationId="{B1B38126-2469-54D8-D51E-629CFB3B3F11}"/>
          </ac:spMkLst>
        </pc:spChg>
        <pc:spChg chg="mod">
          <ac:chgData name="kpatil1742005@gmail.com" userId="1cdc495904f5e8f8" providerId="LiveId" clId="{24CBE02C-DDCD-44CA-93C4-023E068CABD2}" dt="2026-10-15T05:28:17.064" v="875" actId="113"/>
          <ac:spMkLst>
            <pc:docMk/>
            <pc:sldMk cId="2410179005" sldId="275"/>
            <ac:spMk id="3" creationId="{34F22F1D-8CFE-743B-7399-093522461973}"/>
          </ac:spMkLst>
        </pc:spChg>
        <pc:picChg chg="add mod">
          <ac:chgData name="kpatil1742005@gmail.com" userId="1cdc495904f5e8f8" providerId="LiveId" clId="{24CBE02C-DDCD-44CA-93C4-023E068CABD2}" dt="2026-10-15T05:28:34.031" v="876" actId="1076"/>
          <ac:picMkLst>
            <pc:docMk/>
            <pc:sldMk cId="2410179005" sldId="275"/>
            <ac:picMk id="6" creationId="{E3A38E4E-8701-8373-7355-C92FAED869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41748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3105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904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6095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3790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2816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9626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042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8015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0924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730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60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5415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0138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3038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7778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7115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9817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lantix.net/e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tensorflow.org/" TargetMode="External"/><Relationship Id="rId5" Type="http://schemas.openxmlformats.org/officeDocument/2006/relationships/hyperlink" Target="https://www.sciencedirect.com/" TargetMode="External"/><Relationship Id="rId4" Type="http://schemas.openxmlformats.org/officeDocument/2006/relationships/hyperlink" Target="https://www.fao.or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89/fpls.2016.01419"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doi.org/10.1016/j.compeleceng.2019.04.011?utm_source=chatgpt.com" TargetMode="External"/><Relationship Id="rId4" Type="http://schemas.openxmlformats.org/officeDocument/2006/relationships/hyperlink" Target="https://doi.org/10.3389/fpls.2019.00941?utm_source=chatgpt.com" TargetMode="External"/></Relationships>
</file>

<file path=ppt/slides/_rels/slide20.xml.rels><?xml version="1.0" encoding="UTF-8" standalone="yes"?>
<Relationships xmlns="http://schemas.openxmlformats.org/package/2006/relationships"><Relationship Id="rId2" Type="http://schemas.openxmlformats.org/officeDocument/2006/relationships/hyperlink" Target="https://doi.org/10.3389/fpls.2016.01419"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483904987"/>
              </p:ext>
            </p:extLst>
          </p:nvPr>
        </p:nvGraphicFramePr>
        <p:xfrm>
          <a:off x="228600" y="304800"/>
          <a:ext cx="8639525" cy="5734335"/>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a:t>
                      </a:r>
                      <a:r>
                        <a:rPr lang="en-US" sz="2800" u="none" strike="noStrike" cap="none" dirty="0" err="1">
                          <a:solidFill>
                            <a:schemeClr val="lt1"/>
                          </a:solidFill>
                        </a:rPr>
                        <a:t>Deore</a:t>
                      </a:r>
                      <a:r>
                        <a:rPr lang="en-US" sz="2800" u="none" strike="noStrike" cap="none" dirty="0">
                          <a:solidFill>
                            <a:schemeClr val="lt1"/>
                          </a:solidFill>
                        </a:rPr>
                        <a:t> Polytechnic, </a:t>
                      </a:r>
                      <a:r>
                        <a:rPr lang="en-US" sz="2800" u="none" strike="noStrike" cap="none" dirty="0" err="1">
                          <a:solidFill>
                            <a:schemeClr val="lt1"/>
                          </a:solidFill>
                        </a:rPr>
                        <a:t>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a:ea typeface="Times New Roman"/>
                          <a:cs typeface="Times New Roman"/>
                          <a:sym typeface="Times New Roman"/>
                        </a:rPr>
                        <a:t>SEMINAR AND PROJECT INITIATION COURSE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Date  : 17/10/2026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2400" b="1" u="none" strike="noStrike" cap="none" dirty="0">
                          <a:solidFill>
                            <a:schemeClr val="dk2"/>
                          </a:solidFill>
                        </a:rPr>
                        <a:t>Topic</a:t>
                      </a:r>
                      <a:r>
                        <a:rPr lang="en-US" sz="2400" b="0" u="none" strike="noStrike" cap="none" dirty="0">
                          <a:solidFill>
                            <a:schemeClr val="dk2"/>
                          </a:solidFill>
                        </a:rPr>
                        <a:t> : </a:t>
                      </a:r>
                      <a:r>
                        <a:rPr lang="en-US" sz="2400" b="0" u="none" strike="noStrike" cap="none" dirty="0">
                          <a:solidFill>
                            <a:schemeClr val="tx1"/>
                          </a:solidFill>
                        </a:rPr>
                        <a:t>AI BASED CROP DISEASE DETECTION</a:t>
                      </a:r>
                      <a:endParaRPr sz="2400" b="0" u="none" strike="noStrike" cap="none"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0">
                <a:tc gridSpan="2">
                  <a:txBody>
                    <a:bodyPr/>
                    <a:lstStyle/>
                    <a:p>
                      <a:pPr marL="0" marR="0" lvl="0" indent="0" algn="ctr" rtl="0">
                        <a:spcBef>
                          <a:spcPts val="0"/>
                        </a:spcBef>
                        <a:spcAft>
                          <a:spcPts val="0"/>
                        </a:spcAft>
                        <a:buNone/>
                      </a:pPr>
                      <a:r>
                        <a:rPr lang="en-US" sz="2400" b="1" u="none" strike="noStrike" cap="none" dirty="0"/>
                        <a:t>Roll No.</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US" sz="2400" dirty="0"/>
                        <a:t>17</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Chaitali</a:t>
                      </a:r>
                      <a:r>
                        <a:rPr lang="en-IN" sz="2400" dirty="0"/>
                        <a:t> Sanjay Chaudhari</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US" sz="2400" dirty="0"/>
                        <a:t>35</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Yogita</a:t>
                      </a:r>
                      <a:r>
                        <a:rPr lang="en-US" sz="2400" baseline="0" dirty="0"/>
                        <a:t> Jitendra Khairnar</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US" sz="2400" b="0" dirty="0">
                          <a:solidFill>
                            <a:schemeClr val="tx1"/>
                          </a:solidFill>
                        </a:rPr>
                        <a:t>60</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Kalyani</a:t>
                      </a:r>
                      <a:r>
                        <a:rPr lang="en-US" sz="2400" baseline="0" dirty="0"/>
                        <a:t> Santosh </a:t>
                      </a:r>
                      <a:r>
                        <a:rPr lang="en-US" sz="2400" dirty="0"/>
                        <a:t>Patil</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US" sz="2400" b="0" dirty="0">
                          <a:solidFill>
                            <a:schemeClr val="tx1"/>
                          </a:solidFill>
                        </a:rPr>
                        <a:t>61</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a:t>Kashish</a:t>
                      </a:r>
                      <a:r>
                        <a:rPr lang="en-US" sz="2400" baseline="0" dirty="0"/>
                        <a:t> Atul </a:t>
                      </a:r>
                      <a:r>
                        <a:rPr lang="en-US" sz="2400" dirty="0"/>
                        <a:t>Patil</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92500" lnSpcReduction="20000"/>
          </a:bodyPr>
          <a:lstStyle/>
          <a:p>
            <a:pPr marL="514350" lvl="0" indent="-483870" algn="l" rtl="0">
              <a:spcBef>
                <a:spcPts val="496"/>
              </a:spcBef>
              <a:spcAft>
                <a:spcPts val="0"/>
              </a:spcAft>
              <a:buClr>
                <a:schemeClr val="dk1"/>
              </a:buClr>
              <a:buSzPct val="100000"/>
              <a:buChar char="•"/>
            </a:pPr>
            <a:r>
              <a:rPr lang="en-US" sz="2600" dirty="0"/>
              <a:t>Abstract </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Introduction</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Literature Review</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Information to Seminar topic</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Advantages and Disadvantages</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Conclusion</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Project Initiation : </a:t>
            </a:r>
            <a:endParaRPr sz="2600" dirty="0"/>
          </a:p>
          <a:p>
            <a:pPr marL="742950" lvl="0" indent="0" algn="l" rtl="0">
              <a:spcBef>
                <a:spcPts val="434"/>
              </a:spcBef>
              <a:spcAft>
                <a:spcPts val="0"/>
              </a:spcAft>
              <a:buNone/>
            </a:pPr>
            <a:r>
              <a:rPr lang="en-US" sz="2600" dirty="0"/>
              <a:t>6. 1 Description of problem statement.</a:t>
            </a:r>
            <a:endParaRPr sz="2600" dirty="0"/>
          </a:p>
          <a:p>
            <a:pPr marL="742950" lvl="0" indent="0" algn="l" rtl="0">
              <a:spcBef>
                <a:spcPts val="434"/>
              </a:spcBef>
              <a:spcAft>
                <a:spcPts val="0"/>
              </a:spcAft>
              <a:buNone/>
            </a:pPr>
            <a:r>
              <a:rPr lang="en-US" sz="2600" dirty="0"/>
              <a:t>6. 2 Scope and objectives.</a:t>
            </a:r>
            <a:endParaRPr sz="2600" dirty="0"/>
          </a:p>
          <a:p>
            <a:pPr marL="742950" lvl="0" indent="0" algn="l" rtl="0">
              <a:spcBef>
                <a:spcPts val="434"/>
              </a:spcBef>
              <a:spcAft>
                <a:spcPts val="0"/>
              </a:spcAft>
              <a:buNone/>
            </a:pPr>
            <a:r>
              <a:rPr lang="en-US" sz="2600" dirty="0"/>
              <a:t>6. 3 Stake holder</a:t>
            </a:r>
            <a:endParaRPr sz="2600" dirty="0"/>
          </a:p>
          <a:p>
            <a:pPr marL="742950" lvl="0" indent="0" algn="l" rtl="0">
              <a:spcBef>
                <a:spcPts val="434"/>
              </a:spcBef>
              <a:spcAft>
                <a:spcPts val="0"/>
              </a:spcAft>
              <a:buNone/>
            </a:pPr>
            <a:r>
              <a:rPr lang="en-US" sz="2600" dirty="0"/>
              <a:t>6. 4 seminar </a:t>
            </a:r>
            <a:r>
              <a:rPr lang="en-US" sz="2600" dirty="0" err="1"/>
              <a:t>exsicussion</a:t>
            </a:r>
            <a:r>
              <a:rPr lang="en-US" sz="2600" dirty="0"/>
              <a:t>  plan</a:t>
            </a:r>
            <a:endParaRPr sz="2600" dirty="0"/>
          </a:p>
          <a:p>
            <a:pPr marL="742950" lvl="0" indent="0" algn="l" rtl="0">
              <a:spcBef>
                <a:spcPts val="434"/>
              </a:spcBef>
              <a:spcAft>
                <a:spcPts val="0"/>
              </a:spcAft>
              <a:buNone/>
            </a:pPr>
            <a:r>
              <a:rPr lang="en-US" sz="2600" dirty="0"/>
              <a:t>6.5 Platform/ Equipment/ Resources identification.</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Bibliography</a:t>
            </a:r>
            <a:endParaRPr sz="2600" dirty="0"/>
          </a:p>
          <a:p>
            <a:pPr marL="514350" lvl="0" indent="-483870" algn="l" rtl="0">
              <a:spcBef>
                <a:spcPts val="496"/>
              </a:spcBef>
              <a:spcAft>
                <a:spcPts val="0"/>
              </a:spcAft>
              <a:buClr>
                <a:schemeClr val="dk1"/>
              </a:buClr>
              <a:buSzPct val="100000"/>
              <a:buFont typeface="Arial"/>
              <a:buAutoNum type="arabicPeriod"/>
            </a:pPr>
            <a:r>
              <a:rPr lang="en-US" sz="2600" dirty="0"/>
              <a:t>References</a:t>
            </a:r>
            <a:endParaRPr sz="2600"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Abstract</a:t>
            </a:r>
            <a:endParaRPr/>
          </a:p>
        </p:txBody>
      </p:sp>
      <p:sp>
        <p:nvSpPr>
          <p:cNvPr id="518" name="Google Shape;518;p15"/>
          <p:cNvSpPr txBox="1">
            <a:spLocks noGrp="1"/>
          </p:cNvSpPr>
          <p:nvPr>
            <p:ph type="body" idx="1"/>
          </p:nvPr>
        </p:nvSpPr>
        <p:spPr>
          <a:xfrm>
            <a:off x="457200" y="1219200"/>
            <a:ext cx="8229600" cy="55022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488950" lvl="0" indent="-285750" algn="just">
              <a:spcBef>
                <a:spcPts val="0"/>
              </a:spcBef>
              <a:buSzPts val="3200"/>
              <a:buFont typeface="Arial" panose="020B0604020202020204" pitchFamily="34" charset="0"/>
              <a:buChar char="•"/>
            </a:pPr>
            <a:r>
              <a:rPr lang="en-US" sz="1800" dirty="0"/>
              <a:t>Crop diseases are a major problem in agriculture because they can reduce crop quality and productivity. Early identification of diseases is important to protect crops.</a:t>
            </a:r>
          </a:p>
          <a:p>
            <a:pPr marL="488950" lvl="0" indent="-285750" algn="just">
              <a:spcBef>
                <a:spcPts val="0"/>
              </a:spcBef>
              <a:buSzPts val="3200"/>
              <a:buFont typeface="Arial" panose="020B0604020202020204" pitchFamily="34" charset="0"/>
              <a:buChar char="•"/>
            </a:pPr>
            <a:endParaRPr lang="en-US" sz="1800" dirty="0"/>
          </a:p>
          <a:p>
            <a:pPr marL="488950" lvl="0" indent="-285750" algn="just">
              <a:spcBef>
                <a:spcPts val="0"/>
              </a:spcBef>
              <a:buSzPts val="3200"/>
              <a:buFont typeface="Arial" panose="020B0604020202020204" pitchFamily="34" charset="0"/>
              <a:buChar char="•"/>
            </a:pPr>
            <a:r>
              <a:rPr lang="en-US" sz="1800" dirty="0"/>
              <a:t> An AI-Based Crop Disease Detection System uses Artificial Intelligence, Machine Learning and Deep Learning to analyze images of crop leaves and identify possible diseases.</a:t>
            </a:r>
          </a:p>
          <a:p>
            <a:pPr marL="488950" lvl="0" indent="-285750" algn="just">
              <a:spcBef>
                <a:spcPts val="0"/>
              </a:spcBef>
              <a:buSzPts val="3200"/>
              <a:buFont typeface="Arial" panose="020B0604020202020204" pitchFamily="34" charset="0"/>
              <a:buChar char="•"/>
            </a:pPr>
            <a:endParaRPr lang="en-US" sz="1800" dirty="0"/>
          </a:p>
          <a:p>
            <a:pPr marL="488950" lvl="0" indent="-285750" algn="just">
              <a:spcBef>
                <a:spcPts val="0"/>
              </a:spcBef>
              <a:buSzPts val="3200"/>
              <a:buFont typeface="Arial" panose="020B0604020202020204" pitchFamily="34" charset="0"/>
              <a:buChar char="•"/>
            </a:pPr>
            <a:r>
              <a:rPr lang="en-US" sz="1800" dirty="0"/>
              <a:t>The system uses image processing and a trained Convolutional Neural Network (CNN) model to classify leaf images into supported healthy or diseased categories. It can display the predicted result and help farmers seek suitable expert advice.</a:t>
            </a:r>
          </a:p>
          <a:p>
            <a:pPr marL="488950" lvl="0" indent="-285750" algn="just">
              <a:spcBef>
                <a:spcPts val="0"/>
              </a:spcBef>
              <a:buSzPts val="3200"/>
              <a:buFont typeface="Arial" panose="020B0604020202020204" pitchFamily="34" charset="0"/>
              <a:buChar char="•"/>
            </a:pPr>
            <a:endParaRPr lang="en-US" sz="1800" dirty="0"/>
          </a:p>
          <a:p>
            <a:pPr marL="488950" lvl="0" indent="-285750" algn="just">
              <a:spcBef>
                <a:spcPts val="0"/>
              </a:spcBef>
              <a:buSzPts val="3200"/>
              <a:buFont typeface="Arial" panose="020B0604020202020204" pitchFamily="34" charset="0"/>
              <a:buChar char="•"/>
            </a:pPr>
            <a:r>
              <a:rPr lang="en-US" sz="1800" dirty="0"/>
              <a:t>Keywords: Artificial Intelligence, Crop Disease, CNN, Deep Learning, Image Processing, Agriculture.</a:t>
            </a:r>
            <a:endParaRPr sz="1800" dirty="0"/>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22900" algn="just">
              <a:spcBef>
                <a:spcPts val="0"/>
              </a:spcBef>
              <a:buSzPts val="3200"/>
            </a:pPr>
            <a:r>
              <a:rPr lang="en-US" sz="2200" dirty="0"/>
              <a:t>Agriculture is one of the most important sectors in India. Crop diseases can reduce crop quality and production, causing financial losses to farmers. Traditional methods of disease detection require expert knowledge and can take time. An AI-Based Crop Disease </a:t>
            </a:r>
            <a:r>
              <a:rPr lang="en-US" sz="1800" dirty="0"/>
              <a:t>Detection</a:t>
            </a:r>
            <a:r>
              <a:rPr lang="en-US" sz="2200" dirty="0"/>
              <a:t> System uses Artificial Intelligence (AI) and image processing to identify diseases in crops by analyzing images of plant leaves. The system detects possible diseases and helps farmers take timely action to protect their crops.</a:t>
            </a:r>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522900" algn="just">
              <a:spcBef>
                <a:spcPts val="0"/>
              </a:spcBef>
              <a:buSzPts val="3200"/>
            </a:pPr>
            <a:endParaRPr lang="en-US" sz="2200" dirty="0"/>
          </a:p>
          <a:p>
            <a:pPr marL="180000" indent="0" algn="ctr">
              <a:spcBef>
                <a:spcPts val="0"/>
              </a:spcBef>
              <a:buSzPts val="3200"/>
              <a:buNone/>
            </a:pPr>
            <a:endParaRPr lang="en-US" sz="2200" b="1" dirty="0"/>
          </a:p>
          <a:p>
            <a:pPr marL="546100">
              <a:spcBef>
                <a:spcPts val="0"/>
              </a:spcBef>
              <a:buSzPts val="3200"/>
            </a:pPr>
            <a:endParaRPr sz="2000" dirty="0"/>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b="66024"/>
          <a:stretch/>
        </p:blipFill>
        <p:spPr>
          <a:xfrm>
            <a:off x="1059543" y="3945668"/>
            <a:ext cx="7351885" cy="24106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0224C-5077-05FC-4123-B3572CDA3A27}"/>
              </a:ext>
            </a:extLst>
          </p:cNvPr>
          <p:cNvSpPr>
            <a:spLocks noGrp="1"/>
          </p:cNvSpPr>
          <p:nvPr>
            <p:ph type="title"/>
          </p:nvPr>
        </p:nvSpPr>
        <p:spPr>
          <a:xfrm>
            <a:off x="456178" y="182450"/>
            <a:ext cx="8229600" cy="868500"/>
          </a:xfrm>
        </p:spPr>
        <p:txBody>
          <a:bodyPr/>
          <a:lstStyle/>
          <a:p>
            <a:r>
              <a:rPr lang="en-US" dirty="0"/>
              <a:t>2.Literature Survey</a:t>
            </a:r>
            <a:endParaRPr lang="en-IN" dirty="0"/>
          </a:p>
        </p:txBody>
      </p:sp>
      <p:sp>
        <p:nvSpPr>
          <p:cNvPr id="4" name="Slide Number Placeholder 3">
            <a:extLst>
              <a:ext uri="{FF2B5EF4-FFF2-40B4-BE49-F238E27FC236}">
                <a16:creationId xmlns:a16="http://schemas.microsoft.com/office/drawing/2014/main" id="{D8D9784F-992D-F273-0D0F-445BC80BC36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graphicFrame>
        <p:nvGraphicFramePr>
          <p:cNvPr id="5" name="Table 4">
            <a:extLst>
              <a:ext uri="{FF2B5EF4-FFF2-40B4-BE49-F238E27FC236}">
                <a16:creationId xmlns:a16="http://schemas.microsoft.com/office/drawing/2014/main" id="{072430C1-EB72-CD23-726D-0CC6DDF956CB}"/>
              </a:ext>
            </a:extLst>
          </p:cNvPr>
          <p:cNvGraphicFramePr>
            <a:graphicFrameLocks noGrp="1"/>
          </p:cNvGraphicFramePr>
          <p:nvPr>
            <p:extLst>
              <p:ext uri="{D42A27DB-BD31-4B8C-83A1-F6EECF244321}">
                <p14:modId xmlns:p14="http://schemas.microsoft.com/office/powerpoint/2010/main" val="3435577790"/>
              </p:ext>
            </p:extLst>
          </p:nvPr>
        </p:nvGraphicFramePr>
        <p:xfrm>
          <a:off x="304801" y="1123951"/>
          <a:ext cx="8655327" cy="5219699"/>
        </p:xfrm>
        <a:graphic>
          <a:graphicData uri="http://schemas.openxmlformats.org/drawingml/2006/table">
            <a:tbl>
              <a:tblPr firstRow="1" bandRow="1">
                <a:tableStyleId>{FABFCF23-3B69-468F-B69F-88F6DE6A72F2}</a:tableStyleId>
              </a:tblPr>
              <a:tblGrid>
                <a:gridCol w="539099">
                  <a:extLst>
                    <a:ext uri="{9D8B030D-6E8A-4147-A177-3AD203B41FA5}">
                      <a16:colId xmlns:a16="http://schemas.microsoft.com/office/drawing/2014/main" val="2369163239"/>
                    </a:ext>
                  </a:extLst>
                </a:gridCol>
                <a:gridCol w="1692442">
                  <a:extLst>
                    <a:ext uri="{9D8B030D-6E8A-4147-A177-3AD203B41FA5}">
                      <a16:colId xmlns:a16="http://schemas.microsoft.com/office/drawing/2014/main" val="2902781800"/>
                    </a:ext>
                  </a:extLst>
                </a:gridCol>
                <a:gridCol w="1924629">
                  <a:extLst>
                    <a:ext uri="{9D8B030D-6E8A-4147-A177-3AD203B41FA5}">
                      <a16:colId xmlns:a16="http://schemas.microsoft.com/office/drawing/2014/main" val="2957613272"/>
                    </a:ext>
                  </a:extLst>
                </a:gridCol>
                <a:gridCol w="1499719">
                  <a:extLst>
                    <a:ext uri="{9D8B030D-6E8A-4147-A177-3AD203B41FA5}">
                      <a16:colId xmlns:a16="http://schemas.microsoft.com/office/drawing/2014/main" val="1746942238"/>
                    </a:ext>
                  </a:extLst>
                </a:gridCol>
                <a:gridCol w="1499719">
                  <a:extLst>
                    <a:ext uri="{9D8B030D-6E8A-4147-A177-3AD203B41FA5}">
                      <a16:colId xmlns:a16="http://schemas.microsoft.com/office/drawing/2014/main" val="2145179550"/>
                    </a:ext>
                  </a:extLst>
                </a:gridCol>
                <a:gridCol w="1499719">
                  <a:extLst>
                    <a:ext uri="{9D8B030D-6E8A-4147-A177-3AD203B41FA5}">
                      <a16:colId xmlns:a16="http://schemas.microsoft.com/office/drawing/2014/main" val="1716882587"/>
                    </a:ext>
                  </a:extLst>
                </a:gridCol>
              </a:tblGrid>
              <a:tr h="706541">
                <a:tc>
                  <a:txBody>
                    <a:bodyPr/>
                    <a:lstStyle/>
                    <a:p>
                      <a:pPr algn="ctr"/>
                      <a:r>
                        <a:rPr lang="en-US" sz="1800" dirty="0"/>
                        <a:t>Sr.</a:t>
                      </a:r>
                    </a:p>
                    <a:p>
                      <a:pPr algn="ctr"/>
                      <a:r>
                        <a:rPr lang="en-US" sz="1800" dirty="0"/>
                        <a:t>No</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Approach</a:t>
                      </a:r>
                    </a:p>
                    <a:p>
                      <a:pPr algn="ctr"/>
                      <a:r>
                        <a:rPr lang="en-US" sz="1800" dirty="0"/>
                        <a:t>Types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Technologies  used </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Dataset</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Key Objective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Limitations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8698234"/>
                  </a:ext>
                </a:extLst>
              </a:tr>
              <a:tr h="1165169">
                <a:tc>
                  <a:txBody>
                    <a:bodyPr/>
                    <a:lstStyle/>
                    <a:p>
                      <a:pPr algn="ctr"/>
                      <a:r>
                        <a:rPr lang="en-US"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Mohanty et al. (2016), Plant Disease Detection</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CNN, Deep Learning</a:t>
                      </a:r>
                    </a:p>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PlantVillage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Identify plant</a:t>
                      </a:r>
                      <a:r>
                        <a:rPr lang="en-US" sz="1800" baseline="0" dirty="0"/>
                        <a:t> diseases from leaf images</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aseline="0" dirty="0"/>
                        <a:t>may not work well in real field</a:t>
                      </a:r>
                      <a:endParaRPr lang="en-IN" sz="1800" dirty="0"/>
                    </a:p>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0450039"/>
                  </a:ext>
                </a:extLst>
              </a:tr>
              <a:tr h="1165169">
                <a:tc>
                  <a:txBody>
                    <a:bodyPr/>
                    <a:lstStyle/>
                    <a:p>
                      <a:pPr algn="ctr"/>
                      <a:r>
                        <a:rPr lang="en-US" sz="1800" dirty="0"/>
                        <a:t>2</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Ferentinos (2018),</a:t>
                      </a:r>
                      <a:r>
                        <a:rPr lang="en-US" sz="1800" baseline="0" dirty="0"/>
                        <a:t> </a:t>
                      </a:r>
                      <a:r>
                        <a:rPr lang="en-US" sz="1800" dirty="0"/>
                        <a:t>Plant Disease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Deep</a:t>
                      </a:r>
                      <a:r>
                        <a:rPr lang="en-US" sz="1800" baseline="0" dirty="0"/>
                        <a:t> </a:t>
                      </a:r>
                      <a:r>
                        <a:rPr lang="en-US" sz="1800" dirty="0"/>
                        <a:t>Learning,CNN</a:t>
                      </a:r>
                    </a:p>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Plant</a:t>
                      </a:r>
                      <a:r>
                        <a:rPr lang="en-US" sz="1800" baseline="0" dirty="0"/>
                        <a:t> diseases images</a:t>
                      </a:r>
                      <a:endParaRPr lang="en-US" sz="1800" dirty="0"/>
                    </a:p>
                    <a:p>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aseline="0" dirty="0"/>
                        <a:t>Identify plant   disease accurately</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aseline="0" dirty="0"/>
                        <a:t> Depends on dataset quality</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5032477"/>
                  </a:ext>
                </a:extLst>
              </a:tr>
              <a:tr h="1171391">
                <a:tc>
                  <a:txBody>
                    <a:bodyPr/>
                    <a:lstStyle/>
                    <a:p>
                      <a:pPr algn="ctr"/>
                      <a:r>
                        <a:rPr lang="en-US" sz="1800" dirty="0"/>
                        <a:t>3</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Too et al. (2019), Comparative Study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CNN, Transfer Learning</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PlantVillage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Compare models for disease identification</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t>Needs</a:t>
                      </a:r>
                      <a:r>
                        <a:rPr lang="en-US" sz="1800" baseline="0" dirty="0"/>
                        <a:t> </a:t>
                      </a:r>
                      <a:r>
                        <a:rPr lang="en-US" sz="1800" dirty="0"/>
                        <a:t>real field testing</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965895"/>
                  </a:ext>
                </a:extLst>
              </a:tr>
              <a:tr h="946998">
                <a:tc>
                  <a:txBody>
                    <a:bodyPr/>
                    <a:lstStyle/>
                    <a:p>
                      <a:pPr algn="ctr"/>
                      <a:r>
                        <a:rPr lang="en-US" sz="1800" b="0" dirty="0">
                          <a:latin typeface="Times New Roman" panose="02020603050405020304" pitchFamily="18" charset="0"/>
                          <a:cs typeface="Times New Roman" panose="02020603050405020304" pitchFamily="18" charset="0"/>
                        </a:rPr>
                        <a:t>4</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latin typeface="Times New Roman" panose="02020603050405020304" pitchFamily="18" charset="0"/>
                          <a:cs typeface="Times New Roman" panose="02020603050405020304" pitchFamily="18" charset="0"/>
                        </a:rPr>
                        <a:t>CNN-based disease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dirty="0">
                          <a:latin typeface="Times New Roman" panose="02020603050405020304" pitchFamily="18" charset="0"/>
                          <a:cs typeface="Times New Roman" panose="02020603050405020304" pitchFamily="18" charset="0"/>
                        </a:rPr>
                        <a:t>CNN, TensorFlow</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dirty="0">
                          <a:latin typeface="Times New Roman" panose="02020603050405020304" pitchFamily="18" charset="0"/>
                          <a:cs typeface="Times New Roman" panose="02020603050405020304" pitchFamily="18" charset="0"/>
                        </a:rPr>
                        <a:t>Labelled leaf images</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latin typeface="Times New Roman" panose="02020603050405020304" pitchFamily="18" charset="0"/>
                          <a:cs typeface="Times New Roman" panose="02020603050405020304" pitchFamily="18" charset="0"/>
                        </a:rPr>
                        <a:t>Healthy and diseased leaves</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latin typeface="Times New Roman" panose="02020603050405020304" pitchFamily="18" charset="0"/>
                          <a:cs typeface="Times New Roman" panose="02020603050405020304" pitchFamily="18" charset="0"/>
                        </a:rPr>
                        <a:t>Labelled training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41012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5FDDE-483D-E081-5995-C8FF9FAF5D83}"/>
              </a:ext>
            </a:extLst>
          </p:cNvPr>
          <p:cNvSpPr>
            <a:spLocks noGrp="1"/>
          </p:cNvSpPr>
          <p:nvPr>
            <p:ph type="title"/>
          </p:nvPr>
        </p:nvSpPr>
        <p:spPr/>
        <p:txBody>
          <a:bodyPr/>
          <a:lstStyle/>
          <a:p>
            <a:r>
              <a:rPr lang="en-US" dirty="0"/>
              <a:t>2.Literature Survey</a:t>
            </a:r>
            <a:endParaRPr lang="en-IN" dirty="0"/>
          </a:p>
        </p:txBody>
      </p:sp>
      <p:sp>
        <p:nvSpPr>
          <p:cNvPr id="4" name="Slide Number Placeholder 3">
            <a:extLst>
              <a:ext uri="{FF2B5EF4-FFF2-40B4-BE49-F238E27FC236}">
                <a16:creationId xmlns:a16="http://schemas.microsoft.com/office/drawing/2014/main" id="{E99C4675-DEC5-D2B0-6C92-D27347AE210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5" name="Table 4">
            <a:extLst>
              <a:ext uri="{FF2B5EF4-FFF2-40B4-BE49-F238E27FC236}">
                <a16:creationId xmlns:a16="http://schemas.microsoft.com/office/drawing/2014/main" id="{D2039327-6ADA-BA76-1799-0241F9D4ACE3}"/>
              </a:ext>
            </a:extLst>
          </p:cNvPr>
          <p:cNvGraphicFramePr>
            <a:graphicFrameLocks noGrp="1"/>
          </p:cNvGraphicFramePr>
          <p:nvPr>
            <p:extLst>
              <p:ext uri="{D42A27DB-BD31-4B8C-83A1-F6EECF244321}">
                <p14:modId xmlns:p14="http://schemas.microsoft.com/office/powerpoint/2010/main" val="259205302"/>
              </p:ext>
            </p:extLst>
          </p:nvPr>
        </p:nvGraphicFramePr>
        <p:xfrm>
          <a:off x="190501" y="1276271"/>
          <a:ext cx="8769627" cy="5120640"/>
        </p:xfrm>
        <a:graphic>
          <a:graphicData uri="http://schemas.openxmlformats.org/drawingml/2006/table">
            <a:tbl>
              <a:tblPr firstRow="1" bandRow="1">
                <a:tableStyleId>{BDBED569-4797-4DF1-A0F4-6AAB3CD982D8}</a:tableStyleId>
              </a:tblPr>
              <a:tblGrid>
                <a:gridCol w="579372">
                  <a:extLst>
                    <a:ext uri="{9D8B030D-6E8A-4147-A177-3AD203B41FA5}">
                      <a16:colId xmlns:a16="http://schemas.microsoft.com/office/drawing/2014/main" val="3919455633"/>
                    </a:ext>
                  </a:extLst>
                </a:gridCol>
                <a:gridCol w="1729267">
                  <a:extLst>
                    <a:ext uri="{9D8B030D-6E8A-4147-A177-3AD203B41FA5}">
                      <a16:colId xmlns:a16="http://schemas.microsoft.com/office/drawing/2014/main" val="3578246618"/>
                    </a:ext>
                  </a:extLst>
                </a:gridCol>
                <a:gridCol w="1829500">
                  <a:extLst>
                    <a:ext uri="{9D8B030D-6E8A-4147-A177-3AD203B41FA5}">
                      <a16:colId xmlns:a16="http://schemas.microsoft.com/office/drawing/2014/main" val="1179373384"/>
                    </a:ext>
                  </a:extLst>
                </a:gridCol>
                <a:gridCol w="1533141">
                  <a:extLst>
                    <a:ext uri="{9D8B030D-6E8A-4147-A177-3AD203B41FA5}">
                      <a16:colId xmlns:a16="http://schemas.microsoft.com/office/drawing/2014/main" val="165889621"/>
                    </a:ext>
                  </a:extLst>
                </a:gridCol>
                <a:gridCol w="1495125">
                  <a:extLst>
                    <a:ext uri="{9D8B030D-6E8A-4147-A177-3AD203B41FA5}">
                      <a16:colId xmlns:a16="http://schemas.microsoft.com/office/drawing/2014/main" val="2441120341"/>
                    </a:ext>
                  </a:extLst>
                </a:gridCol>
                <a:gridCol w="1603222">
                  <a:extLst>
                    <a:ext uri="{9D8B030D-6E8A-4147-A177-3AD203B41FA5}">
                      <a16:colId xmlns:a16="http://schemas.microsoft.com/office/drawing/2014/main" val="35508166"/>
                    </a:ext>
                  </a:extLst>
                </a:gridCol>
              </a:tblGrid>
              <a:tr h="609610">
                <a:tc>
                  <a:txBody>
                    <a:bodyPr/>
                    <a:lstStyle/>
                    <a:p>
                      <a:pPr algn="ctr"/>
                      <a:r>
                        <a:rPr lang="en-US" sz="1800" b="1" dirty="0">
                          <a:solidFill>
                            <a:schemeClr val="bg1"/>
                          </a:solidFill>
                        </a:rPr>
                        <a:t>Sr.</a:t>
                      </a:r>
                    </a:p>
                    <a:p>
                      <a:pPr algn="ctr"/>
                      <a:r>
                        <a:rPr lang="en-US" sz="1800" b="1" dirty="0">
                          <a:solidFill>
                            <a:schemeClr val="bg1"/>
                          </a:solidFill>
                        </a:rPr>
                        <a:t>No</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b="1" dirty="0">
                          <a:solidFill>
                            <a:schemeClr val="bg1"/>
                          </a:solidFill>
                        </a:rPr>
                        <a:t>Approach</a:t>
                      </a:r>
                    </a:p>
                    <a:p>
                      <a:pPr algn="ctr"/>
                      <a:r>
                        <a:rPr lang="en-US" sz="1800" b="1" dirty="0">
                          <a:solidFill>
                            <a:schemeClr val="bg1"/>
                          </a:solidFill>
                        </a:rPr>
                        <a:t>Types</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b="1" dirty="0">
                          <a:solidFill>
                            <a:schemeClr val="bg1"/>
                          </a:solidFill>
                        </a:rPr>
                        <a:t>Technologies  used </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b="1" dirty="0">
                          <a:solidFill>
                            <a:schemeClr val="bg1"/>
                          </a:solidFill>
                        </a:rPr>
                        <a:t>Dataset</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b="1" dirty="0">
                          <a:solidFill>
                            <a:schemeClr val="bg1"/>
                          </a:solidFill>
                        </a:rPr>
                        <a:t>Key Objective</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b="1" dirty="0">
                          <a:solidFill>
                            <a:schemeClr val="bg1"/>
                          </a:solidFill>
                        </a:rPr>
                        <a:t>Limitations</a:t>
                      </a:r>
                      <a:endParaRPr lang="en-IN" sz="18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132133">
                <a:tc>
                  <a:txBody>
                    <a:bodyPr/>
                    <a:lstStyle/>
                    <a:p>
                      <a:pPr algn="ctr"/>
                      <a:r>
                        <a:rPr lang="en-US" sz="1800" b="0" dirty="0">
                          <a:latin typeface="Times New Roman" panose="02020603050405020304" pitchFamily="18" charset="0"/>
                          <a:cs typeface="Times New Roman" panose="02020603050405020304" pitchFamily="18" charset="0"/>
                        </a:rPr>
                        <a:t>5</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a:latin typeface="Times New Roman" panose="02020603050405020304" pitchFamily="18" charset="0"/>
                          <a:cs typeface="Times New Roman" panose="02020603050405020304" pitchFamily="18" charset="0"/>
                        </a:rPr>
                        <a:t>Transfer learning</a:t>
                      </a:r>
                      <a:endParaRPr lang="en-US"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a:latin typeface="Times New Roman" panose="02020603050405020304" pitchFamily="18" charset="0"/>
                          <a:cs typeface="Times New Roman" panose="02020603050405020304" pitchFamily="18" charset="0"/>
                        </a:rPr>
                        <a:t>MobileNet, ResNet</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a:latin typeface="Times New Roman" panose="02020603050405020304" pitchFamily="18" charset="0"/>
                          <a:cs typeface="Times New Roman" panose="02020603050405020304" pitchFamily="18" charset="0"/>
                        </a:rPr>
                        <a:t>Plant disease images</a:t>
                      </a:r>
                      <a:endParaRPr lang="en-US"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dirty="0">
                          <a:latin typeface="Times New Roman" panose="02020603050405020304" pitchFamily="18" charset="0"/>
                          <a:cs typeface="Times New Roman" panose="02020603050405020304" pitchFamily="18" charset="0"/>
                        </a:rPr>
                        <a:t>Use</a:t>
                      </a:r>
                      <a:r>
                        <a:rPr lang="en-US" sz="1800" b="0" baseline="0" dirty="0">
                          <a:latin typeface="Times New Roman" panose="02020603050405020304" pitchFamily="18" charset="0"/>
                          <a:cs typeface="Times New Roman" panose="02020603050405020304" pitchFamily="18" charset="0"/>
                        </a:rPr>
                        <a:t> </a:t>
                      </a:r>
                      <a:r>
                        <a:rPr lang="en-US" sz="1800" b="0" dirty="0">
                          <a:latin typeface="Times New Roman" panose="02020603050405020304" pitchFamily="18" charset="0"/>
                          <a:cs typeface="Times New Roman" panose="02020603050405020304" pitchFamily="18" charset="0"/>
                        </a:rPr>
                        <a:t>pretrained models for classification</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0" dirty="0">
                          <a:latin typeface="Times New Roman" panose="02020603050405020304" pitchFamily="18" charset="0"/>
                          <a:cs typeface="Times New Roman" panose="02020603050405020304" pitchFamily="18" charset="0"/>
                        </a:rPr>
                        <a:t>May inherit dataset bias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3650842"/>
                  </a:ext>
                </a:extLst>
              </a:tr>
              <a:tr h="1132133">
                <a:tc>
                  <a:txBody>
                    <a:bodyPr/>
                    <a:lstStyle/>
                    <a:p>
                      <a:pPr algn="ctr"/>
                      <a:r>
                        <a:rPr lang="en-US" sz="1800" b="0" dirty="0">
                          <a:latin typeface="Times New Roman" panose="02020603050405020304" pitchFamily="18" charset="0"/>
                          <a:cs typeface="Times New Roman" panose="02020603050405020304" pitchFamily="18" charset="0"/>
                        </a:rPr>
                        <a:t>6</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Image preprocessing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OpenCV, Image Processing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Crop leaf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Improve image consistency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Poor images remain difficult to classify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2721361"/>
                  </a:ext>
                </a:extLst>
              </a:tr>
              <a:tr h="870871">
                <a:tc>
                  <a:txBody>
                    <a:bodyPr/>
                    <a:lstStyle/>
                    <a:p>
                      <a:pPr algn="ctr"/>
                      <a:r>
                        <a:rPr lang="en-US" sz="1800" b="0" dirty="0">
                          <a:latin typeface="Times New Roman" panose="02020603050405020304" pitchFamily="18" charset="0"/>
                          <a:cs typeface="Times New Roman" panose="02020603050405020304" pitchFamily="18" charset="0"/>
                        </a:rPr>
                        <a:t>7</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latin typeface="Times New Roman" panose="02020603050405020304" pitchFamily="18" charset="0"/>
                          <a:cs typeface="Times New Roman" panose="02020603050405020304" pitchFamily="18" charset="0"/>
                        </a:rPr>
                        <a:t>Mobile-based disease recognition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CNN, Mobile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Leaf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a:t>Support disease screening  </a:t>
                      </a:r>
                      <a:endParaRPr lang="en-IN" sz="18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Limited device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7888497"/>
                  </a:ext>
                </a:extLst>
              </a:tr>
              <a:tr h="1132133">
                <a:tc>
                  <a:txBody>
                    <a:bodyPr/>
                    <a:lstStyle/>
                    <a:p>
                      <a:pPr algn="ctr"/>
                      <a:r>
                        <a:rPr lang="en-US" sz="1800" b="0" dirty="0">
                          <a:latin typeface="Times New Roman" panose="02020603050405020304" pitchFamily="18" charset="0"/>
                          <a:cs typeface="Times New Roman" panose="02020603050405020304" pitchFamily="18" charset="0"/>
                        </a:rPr>
                        <a:t>8</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latin typeface="Times New Roman" panose="02020603050405020304" pitchFamily="18" charset="0"/>
                          <a:cs typeface="Times New Roman" panose="02020603050405020304" pitchFamily="18" charset="0"/>
                        </a:rPr>
                        <a:t>Web-based disease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0" dirty="0">
                          <a:latin typeface="Times New Roman" panose="02020603050405020304" pitchFamily="18" charset="0"/>
                          <a:cs typeface="Times New Roman" panose="02020603050405020304" pitchFamily="18" charset="0"/>
                        </a:rPr>
                        <a:t>Python, Flask, CNN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0" dirty="0">
                          <a:latin typeface="Times New Roman" panose="02020603050405020304" pitchFamily="18" charset="0"/>
                          <a:cs typeface="Times New Roman" panose="02020603050405020304" pitchFamily="18" charset="0"/>
                        </a:rPr>
                        <a:t>Uploaded leaf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dirty="0">
                          <a:latin typeface="Times New Roman" panose="02020603050405020304" pitchFamily="18" charset="0"/>
                          <a:cs typeface="Times New Roman" panose="02020603050405020304" pitchFamily="18" charset="0"/>
                        </a:rPr>
                        <a:t>Provide predictions through a web interface</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dirty="0">
                          <a:latin typeface="Times New Roman" panose="02020603050405020304" pitchFamily="18" charset="0"/>
                          <a:cs typeface="Times New Roman" panose="02020603050405020304" pitchFamily="18" charset="0"/>
                        </a:rPr>
                        <a:t>Requires a functioning model and web service</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5408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7542-6372-75EB-8BDE-FF47EE3AAEE8}"/>
              </a:ext>
            </a:extLst>
          </p:cNvPr>
          <p:cNvSpPr>
            <a:spLocks noGrp="1"/>
          </p:cNvSpPr>
          <p:nvPr>
            <p:ph type="title"/>
          </p:nvPr>
        </p:nvSpPr>
        <p:spPr>
          <a:xfrm>
            <a:off x="457200" y="103188"/>
            <a:ext cx="8229600" cy="868500"/>
          </a:xfrm>
        </p:spPr>
        <p:txBody>
          <a:bodyPr/>
          <a:lstStyle/>
          <a:p>
            <a:r>
              <a:rPr lang="en-US" dirty="0"/>
              <a:t>2.Literature Survey</a:t>
            </a:r>
            <a:endParaRPr lang="en-IN" dirty="0"/>
          </a:p>
        </p:txBody>
      </p:sp>
      <p:sp>
        <p:nvSpPr>
          <p:cNvPr id="4" name="Slide Number Placeholder 3">
            <a:extLst>
              <a:ext uri="{FF2B5EF4-FFF2-40B4-BE49-F238E27FC236}">
                <a16:creationId xmlns:a16="http://schemas.microsoft.com/office/drawing/2014/main" id="{25DD4176-43CB-4117-4F4B-AB8F806B64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5" name="Table 4">
            <a:extLst>
              <a:ext uri="{FF2B5EF4-FFF2-40B4-BE49-F238E27FC236}">
                <a16:creationId xmlns:a16="http://schemas.microsoft.com/office/drawing/2014/main" id="{90B024F7-C5FA-A852-396A-C3B51BA5D8F4}"/>
              </a:ext>
            </a:extLst>
          </p:cNvPr>
          <p:cNvGraphicFramePr>
            <a:graphicFrameLocks noGrp="1"/>
          </p:cNvGraphicFramePr>
          <p:nvPr>
            <p:extLst>
              <p:ext uri="{D42A27DB-BD31-4B8C-83A1-F6EECF244321}">
                <p14:modId xmlns:p14="http://schemas.microsoft.com/office/powerpoint/2010/main" val="1807354142"/>
              </p:ext>
            </p:extLst>
          </p:nvPr>
        </p:nvGraphicFramePr>
        <p:xfrm>
          <a:off x="266703" y="1095819"/>
          <a:ext cx="8553447" cy="5281531"/>
        </p:xfrm>
        <a:graphic>
          <a:graphicData uri="http://schemas.openxmlformats.org/drawingml/2006/table">
            <a:tbl>
              <a:tblPr firstRow="1" bandRow="1">
                <a:tableStyleId>{BDBED569-4797-4DF1-A0F4-6AAB3CD982D8}</a:tableStyleId>
              </a:tblPr>
              <a:tblGrid>
                <a:gridCol w="547746">
                  <a:extLst>
                    <a:ext uri="{9D8B030D-6E8A-4147-A177-3AD203B41FA5}">
                      <a16:colId xmlns:a16="http://schemas.microsoft.com/office/drawing/2014/main" val="2167982447"/>
                    </a:ext>
                  </a:extLst>
                </a:gridCol>
                <a:gridCol w="1685337">
                  <a:extLst>
                    <a:ext uri="{9D8B030D-6E8A-4147-A177-3AD203B41FA5}">
                      <a16:colId xmlns:a16="http://schemas.microsoft.com/office/drawing/2014/main" val="688143970"/>
                    </a:ext>
                  </a:extLst>
                </a:gridCol>
                <a:gridCol w="1786022">
                  <a:extLst>
                    <a:ext uri="{9D8B030D-6E8A-4147-A177-3AD203B41FA5}">
                      <a16:colId xmlns:a16="http://schemas.microsoft.com/office/drawing/2014/main" val="4203008892"/>
                    </a:ext>
                  </a:extLst>
                </a:gridCol>
                <a:gridCol w="1399408">
                  <a:extLst>
                    <a:ext uri="{9D8B030D-6E8A-4147-A177-3AD203B41FA5}">
                      <a16:colId xmlns:a16="http://schemas.microsoft.com/office/drawing/2014/main" val="2666722607"/>
                    </a:ext>
                  </a:extLst>
                </a:gridCol>
                <a:gridCol w="1456301">
                  <a:extLst>
                    <a:ext uri="{9D8B030D-6E8A-4147-A177-3AD203B41FA5}">
                      <a16:colId xmlns:a16="http://schemas.microsoft.com/office/drawing/2014/main" val="3994555917"/>
                    </a:ext>
                  </a:extLst>
                </a:gridCol>
                <a:gridCol w="1678633">
                  <a:extLst>
                    <a:ext uri="{9D8B030D-6E8A-4147-A177-3AD203B41FA5}">
                      <a16:colId xmlns:a16="http://schemas.microsoft.com/office/drawing/2014/main" val="4206840511"/>
                    </a:ext>
                  </a:extLst>
                </a:gridCol>
              </a:tblGrid>
              <a:tr h="606684">
                <a:tc>
                  <a:txBody>
                    <a:bodyPr/>
                    <a:lstStyle/>
                    <a:p>
                      <a:pPr algn="ctr"/>
                      <a:r>
                        <a:rPr lang="en-US" sz="1800" dirty="0">
                          <a:solidFill>
                            <a:schemeClr val="bg1"/>
                          </a:solidFill>
                        </a:rPr>
                        <a:t>Sr.</a:t>
                      </a:r>
                    </a:p>
                    <a:p>
                      <a:pPr algn="ctr"/>
                      <a:r>
                        <a:rPr lang="en-US" sz="1800" dirty="0">
                          <a:solidFill>
                            <a:schemeClr val="bg1"/>
                          </a:solidFill>
                        </a:rPr>
                        <a:t>No</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dirty="0">
                          <a:solidFill>
                            <a:schemeClr val="bg1"/>
                          </a:solidFill>
                        </a:rPr>
                        <a:t>Approach</a:t>
                      </a:r>
                    </a:p>
                    <a:p>
                      <a:pPr algn="ctr"/>
                      <a:r>
                        <a:rPr lang="en-US" sz="1800" dirty="0">
                          <a:solidFill>
                            <a:schemeClr val="bg1"/>
                          </a:solidFill>
                        </a:rPr>
                        <a:t>Types</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dirty="0">
                          <a:solidFill>
                            <a:schemeClr val="bg1"/>
                          </a:solidFill>
                        </a:rPr>
                        <a:t>Technologies  used </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dirty="0">
                          <a:solidFill>
                            <a:schemeClr val="bg1"/>
                          </a:solidFill>
                        </a:rPr>
                        <a:t>Dataset</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dirty="0">
                          <a:solidFill>
                            <a:schemeClr val="bg1"/>
                          </a:solidFill>
                        </a:rPr>
                        <a:t>Key Objective</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800" dirty="0">
                          <a:solidFill>
                            <a:schemeClr val="bg1"/>
                          </a:solidFill>
                        </a:rPr>
                        <a:t>Limitations</a:t>
                      </a:r>
                      <a:endParaRPr lang="en-IN" sz="18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1126698">
                <a:tc>
                  <a:txBody>
                    <a:bodyPr/>
                    <a:lstStyle/>
                    <a:p>
                      <a:pPr algn="ctr"/>
                      <a:r>
                        <a:rPr lang="en-US" sz="1800" b="0" dirty="0">
                          <a:latin typeface="Times New Roman" panose="02020603050405020304" pitchFamily="18" charset="0"/>
                          <a:cs typeface="Times New Roman" panose="02020603050405020304" pitchFamily="18" charset="0"/>
                        </a:rPr>
                        <a:t>9</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00" b="0" dirty="0">
                          <a:latin typeface="Times New Roman" panose="02020603050405020304" pitchFamily="18" charset="0"/>
                          <a:cs typeface="Times New Roman" panose="02020603050405020304" pitchFamily="18" charset="0"/>
                        </a:rPr>
                        <a:t>PlantVillage dataset approach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Image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PlantVillage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Train and evaluate disease classifiers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Limited variation in field conditions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0835134"/>
                  </a:ext>
                </a:extLst>
              </a:tr>
              <a:tr h="1126698">
                <a:tc>
                  <a:txBody>
                    <a:bodyPr/>
                    <a:lstStyle/>
                    <a:p>
                      <a:pPr algn="ctr"/>
                      <a:r>
                        <a:rPr lang="en-US" sz="1800" b="0" dirty="0">
                          <a:latin typeface="Times New Roman" panose="02020603050405020304" pitchFamily="18" charset="0"/>
                          <a:cs typeface="Times New Roman" panose="02020603050405020304" pitchFamily="18" charset="0"/>
                        </a:rPr>
                        <a:t>10.</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b="0" dirty="0">
                          <a:latin typeface="Times New Roman" panose="02020603050405020304" pitchFamily="18" charset="0"/>
                          <a:cs typeface="Times New Roman" panose="02020603050405020304" pitchFamily="18" charset="0"/>
                        </a:rPr>
                        <a:t>Deep learning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b="0" dirty="0">
                          <a:latin typeface="Times New Roman" panose="02020603050405020304" pitchFamily="18" charset="0"/>
                          <a:cs typeface="Times New Roman" panose="02020603050405020304" pitchFamily="18" charset="0"/>
                        </a:rPr>
                        <a:t>CNN, TensorFlow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Labelled crop leaf images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Predict supported disease classes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b="0" dirty="0"/>
                        <a:t>Depends on training 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3031793"/>
                  </a:ext>
                </a:extLst>
              </a:tr>
              <a:tr h="866691">
                <a:tc>
                  <a:txBody>
                    <a:bodyPr/>
                    <a:lstStyle/>
                    <a:p>
                      <a:pPr algn="ctr"/>
                      <a:r>
                        <a:rPr lang="en-US" sz="1800" b="0" dirty="0">
                          <a:latin typeface="Times New Roman" panose="02020603050405020304" pitchFamily="18" charset="0"/>
                          <a:cs typeface="Times New Roman" panose="02020603050405020304" pitchFamily="18" charset="0"/>
                        </a:rPr>
                        <a:t>11</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b="0" dirty="0">
                          <a:latin typeface="Times New Roman" panose="02020603050405020304" pitchFamily="18" charset="0"/>
                          <a:cs typeface="Times New Roman" panose="02020603050405020304" pitchFamily="18" charset="0"/>
                        </a:rPr>
                        <a:t>Image-based screening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Python, OpenCV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Leaf photographs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Prepare images for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Lighting and blur affect results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1834437"/>
                  </a:ext>
                </a:extLst>
              </a:tr>
              <a:tr h="1349611">
                <a:tc>
                  <a:txBody>
                    <a:bodyPr/>
                    <a:lstStyle/>
                    <a:p>
                      <a:pPr algn="ctr"/>
                      <a:r>
                        <a:rPr lang="en-US" sz="1800" b="0" dirty="0">
                          <a:latin typeface="Times New Roman" panose="02020603050405020304" pitchFamily="18" charset="0"/>
                          <a:cs typeface="Times New Roman" panose="02020603050405020304" pitchFamily="18" charset="0"/>
                        </a:rPr>
                        <a:t>12</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800" b="0" dirty="0">
                          <a:latin typeface="Times New Roman" panose="02020603050405020304" pitchFamily="18" charset="0"/>
                          <a:cs typeface="Times New Roman" panose="02020603050405020304" pitchFamily="18" charset="0"/>
                        </a:rPr>
                        <a:t>Proposed AI-Based Crop Disease Detection</a:t>
                      </a:r>
                      <a:endParaRPr lang="en-IN"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Python, CNN, Flask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Selected disease 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err="1"/>
                        <a:t>redictions</a:t>
                      </a:r>
                      <a:r>
                        <a:rPr lang="en-US" sz="1800" dirty="0"/>
                        <a:t> through a web interface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t>Requires testing on unseen and</a:t>
                      </a:r>
                      <a:r>
                        <a:rPr lang="en-IN" sz="1800" baseline="0" dirty="0"/>
                        <a:t> field images</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8267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lnSpcReduction="10000"/>
          </a:bodyPr>
          <a:lstStyle/>
          <a:p>
            <a:pPr marL="546100">
              <a:spcBef>
                <a:spcPts val="0"/>
              </a:spcBef>
              <a:buSzPts val="3200"/>
              <a:buFont typeface="Arial" panose="020B0604020202020204" pitchFamily="34" charset="0"/>
              <a:buChar char="•"/>
            </a:pPr>
            <a:r>
              <a:rPr lang="en-US" sz="2200" dirty="0"/>
              <a:t>Image Collection: The farmer uploads a crop leaf image.</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Image Preprocessing: The image is resized and normalized.</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AI Analysis: A trained CNN model analyses the image.</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Disease Classification: The model predicts a supported healthy or disease category.</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Result Display: The predicted class and confidence score are displayed.</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Preventive Guidance: The system provides basic guidance from reliable agricultural sources.</a:t>
            </a:r>
          </a:p>
          <a:p>
            <a:pPr marL="546100">
              <a:spcBef>
                <a:spcPts val="0"/>
              </a:spcBef>
              <a:buSzPts val="3200"/>
              <a:buFont typeface="Arial" panose="020B0604020202020204" pitchFamily="34" charset="0"/>
              <a:buChar char="•"/>
            </a:pPr>
            <a:endParaRPr lang="en-US" sz="2200" dirty="0"/>
          </a:p>
          <a:p>
            <a:pPr marL="546100">
              <a:spcBef>
                <a:spcPts val="0"/>
              </a:spcBef>
              <a:buSzPts val="3200"/>
              <a:buFont typeface="Arial" panose="020B0604020202020204" pitchFamily="34" charset="0"/>
              <a:buChar char="•"/>
            </a:pPr>
            <a:r>
              <a:rPr lang="en-US" sz="2200" dirty="0"/>
              <a:t>Expert Verification: Uncertain predictions are referred to an agricultural expert.</a:t>
            </a:r>
          </a:p>
          <a:p>
            <a:pPr marL="660400" indent="-457200">
              <a:spcBef>
                <a:spcPts val="0"/>
              </a:spcBef>
              <a:buSzPts val="3200"/>
              <a:buFont typeface="Arial" panose="020B0604020202020204" pitchFamily="34" charset="0"/>
              <a:buChar char="•"/>
            </a:pPr>
            <a:endParaRPr lang="en-US" sz="2200" dirty="0"/>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B2EFD-8C96-C6D0-80D3-79D540778B4E}"/>
              </a:ext>
            </a:extLst>
          </p:cNvPr>
          <p:cNvSpPr>
            <a:spLocks noGrp="1"/>
          </p:cNvSpPr>
          <p:nvPr>
            <p:ph type="title"/>
          </p:nvPr>
        </p:nvSpPr>
        <p:spPr/>
        <p:txBody>
          <a:bodyPr/>
          <a:lstStyle/>
          <a:p>
            <a:r>
              <a:rPr lang="en-US" dirty="0"/>
              <a:t>System </a:t>
            </a:r>
            <a:r>
              <a:rPr lang="en-IN" dirty="0"/>
              <a:t>Architecture</a:t>
            </a:r>
          </a:p>
        </p:txBody>
      </p:sp>
      <p:sp>
        <p:nvSpPr>
          <p:cNvPr id="3" name="Text Placeholder 2">
            <a:extLst>
              <a:ext uri="{FF2B5EF4-FFF2-40B4-BE49-F238E27FC236}">
                <a16:creationId xmlns:a16="http://schemas.microsoft.com/office/drawing/2014/main" id="{69140C8E-5A87-1075-DBB3-C64ACF6488F4}"/>
              </a:ext>
            </a:extLst>
          </p:cNvPr>
          <p:cNvSpPr>
            <a:spLocks noGrp="1"/>
          </p:cNvSpPr>
          <p:nvPr>
            <p:ph type="body" idx="1"/>
          </p:nvPr>
        </p:nvSpPr>
        <p:spPr/>
        <p:txBody>
          <a:bodyPr/>
          <a:lstStyle/>
          <a:p>
            <a:pPr marL="114300" indent="0" fontAlgn="t">
              <a:buNone/>
            </a:pPr>
            <a:endParaRPr lang="en-IN" dirty="0"/>
          </a:p>
        </p:txBody>
      </p:sp>
      <p:sp>
        <p:nvSpPr>
          <p:cNvPr id="4" name="Slide Number Placeholder 3">
            <a:extLst>
              <a:ext uri="{FF2B5EF4-FFF2-40B4-BE49-F238E27FC236}">
                <a16:creationId xmlns:a16="http://schemas.microsoft.com/office/drawing/2014/main" id="{8E276D1C-6501-1B48-C012-1AD61C6A737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graphicFrame>
        <p:nvGraphicFramePr>
          <p:cNvPr id="5" name="Table 4">
            <a:extLst>
              <a:ext uri="{FF2B5EF4-FFF2-40B4-BE49-F238E27FC236}">
                <a16:creationId xmlns:a16="http://schemas.microsoft.com/office/drawing/2014/main" id="{8841D3A9-6545-79F3-B17C-47385ED77D96}"/>
              </a:ext>
            </a:extLst>
          </p:cNvPr>
          <p:cNvGraphicFramePr>
            <a:graphicFrameLocks noGrp="1"/>
          </p:cNvGraphicFramePr>
          <p:nvPr>
            <p:extLst>
              <p:ext uri="{D42A27DB-BD31-4B8C-83A1-F6EECF244321}">
                <p14:modId xmlns:p14="http://schemas.microsoft.com/office/powerpoint/2010/main" val="2827961674"/>
              </p:ext>
            </p:extLst>
          </p:nvPr>
        </p:nvGraphicFramePr>
        <p:xfrm>
          <a:off x="667656" y="1320800"/>
          <a:ext cx="7881257" cy="4905830"/>
        </p:xfrm>
        <a:graphic>
          <a:graphicData uri="http://schemas.openxmlformats.org/drawingml/2006/table">
            <a:tbl>
              <a:tblPr firstRow="1" bandRow="1">
                <a:tableStyleId>{FABFCF23-3B69-468F-B69F-88F6DE6A72F2}</a:tableStyleId>
              </a:tblPr>
              <a:tblGrid>
                <a:gridCol w="2810700">
                  <a:extLst>
                    <a:ext uri="{9D8B030D-6E8A-4147-A177-3AD203B41FA5}">
                      <a16:colId xmlns:a16="http://schemas.microsoft.com/office/drawing/2014/main" val="1705860027"/>
                    </a:ext>
                  </a:extLst>
                </a:gridCol>
                <a:gridCol w="5070557">
                  <a:extLst>
                    <a:ext uri="{9D8B030D-6E8A-4147-A177-3AD203B41FA5}">
                      <a16:colId xmlns:a16="http://schemas.microsoft.com/office/drawing/2014/main" val="2673137251"/>
                    </a:ext>
                  </a:extLst>
                </a:gridCol>
              </a:tblGrid>
              <a:tr h="463698">
                <a:tc>
                  <a:txBody>
                    <a:bodyPr/>
                    <a:lstStyle/>
                    <a:p>
                      <a:pPr algn="ctr"/>
                      <a:r>
                        <a:rPr lang="en-IN" sz="2400" dirty="0">
                          <a:latin typeface="Times New Roman" panose="02020603050405020304" pitchFamily="18" charset="0"/>
                          <a:cs typeface="Times New Roman" panose="02020603050405020304" pitchFamily="18" charset="0"/>
                        </a:rPr>
                        <a:t>Component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a:latin typeface="Times New Roman" panose="02020603050405020304" pitchFamily="18" charset="0"/>
                          <a:cs typeface="Times New Roman" panose="02020603050405020304" pitchFamily="18" charset="0"/>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1579042"/>
                  </a:ext>
                </a:extLst>
              </a:tr>
              <a:tr h="687007">
                <a:tc>
                  <a:txBody>
                    <a:bodyPr/>
                    <a:lstStyle/>
                    <a:p>
                      <a:r>
                        <a:rPr lang="en-IN" sz="1800" dirty="0">
                          <a:latin typeface="Times New Roman" panose="02020603050405020304" pitchFamily="18" charset="0"/>
                          <a:cs typeface="Times New Roman" panose="02020603050405020304" pitchFamily="18" charset="0"/>
                        </a:rPr>
                        <a:t>Farmer/ User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latin typeface="Times New Roman" panose="02020603050405020304" pitchFamily="18" charset="0"/>
                          <a:cs typeface="Times New Roman" panose="02020603050405020304" pitchFamily="18" charset="0"/>
                        </a:rPr>
                        <a:t>Captures or</a:t>
                      </a:r>
                      <a:r>
                        <a:rPr lang="en-IN" sz="1800" baseline="0" dirty="0">
                          <a:latin typeface="Times New Roman" panose="02020603050405020304" pitchFamily="18" charset="0"/>
                          <a:cs typeface="Times New Roman" panose="02020603050405020304" pitchFamily="18" charset="0"/>
                        </a:rPr>
                        <a:t> uploads a crop leaf image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568317"/>
                  </a:ext>
                </a:extLst>
              </a:tr>
              <a:tr h="687007">
                <a:tc>
                  <a:txBody>
                    <a:bodyPr/>
                    <a:lstStyle/>
                    <a:p>
                      <a:r>
                        <a:rPr lang="en-IN" sz="1800" dirty="0">
                          <a:latin typeface="Times New Roman" panose="02020603050405020304" pitchFamily="18" charset="0"/>
                          <a:cs typeface="Times New Roman" panose="02020603050405020304" pitchFamily="18" charset="0"/>
                        </a:rPr>
                        <a:t>Image</a:t>
                      </a:r>
                      <a:r>
                        <a:rPr lang="en-IN" sz="1800" baseline="0" dirty="0">
                          <a:latin typeface="Times New Roman" panose="02020603050405020304" pitchFamily="18" charset="0"/>
                          <a:cs typeface="Times New Roman" panose="02020603050405020304" pitchFamily="18" charset="0"/>
                        </a:rPr>
                        <a:t> Input</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JPG/</a:t>
                      </a:r>
                      <a:r>
                        <a:rPr lang="en-US" sz="1800" baseline="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PNG</a:t>
                      </a:r>
                      <a:r>
                        <a:rPr lang="en-US" sz="1800" baseline="0" dirty="0">
                          <a:latin typeface="Times New Roman" panose="02020603050405020304" pitchFamily="18" charset="0"/>
                          <a:cs typeface="Times New Roman" panose="02020603050405020304" pitchFamily="18" charset="0"/>
                        </a:rPr>
                        <a:t> validation</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701883"/>
                  </a:ext>
                </a:extLst>
              </a:tr>
              <a:tr h="687007">
                <a:tc>
                  <a:txBody>
                    <a:bodyPr/>
                    <a:lstStyle/>
                    <a:p>
                      <a:r>
                        <a:rPr lang="en-IN" sz="1800" dirty="0">
                          <a:latin typeface="Times New Roman" panose="02020603050405020304" pitchFamily="18" charset="0"/>
                          <a:cs typeface="Times New Roman" panose="02020603050405020304" pitchFamily="18" charset="0"/>
                        </a:rPr>
                        <a:t>Image</a:t>
                      </a:r>
                      <a:r>
                        <a:rPr lang="en-IN" sz="1800" baseline="0" dirty="0">
                          <a:latin typeface="Times New Roman" panose="02020603050405020304" pitchFamily="18" charset="0"/>
                          <a:cs typeface="Times New Roman" panose="02020603050405020304" pitchFamily="18" charset="0"/>
                        </a:rPr>
                        <a:t> Preprocessing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Resize</a:t>
                      </a:r>
                      <a:r>
                        <a:rPr lang="en-US" sz="1800" baseline="0" dirty="0">
                          <a:latin typeface="Times New Roman" panose="02020603050405020304" pitchFamily="18" charset="0"/>
                          <a:cs typeface="Times New Roman" panose="02020603050405020304" pitchFamily="18" charset="0"/>
                        </a:rPr>
                        <a:t> ,normalize and check quality</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7914899"/>
                  </a:ext>
                </a:extLst>
              </a:tr>
              <a:tr h="687007">
                <a:tc>
                  <a:txBody>
                    <a:bodyPr/>
                    <a:lstStyle/>
                    <a:p>
                      <a:r>
                        <a:rPr lang="en-IN" sz="1800" dirty="0">
                          <a:latin typeface="Times New Roman" panose="02020603050405020304" pitchFamily="18" charset="0"/>
                          <a:cs typeface="Times New Roman" panose="02020603050405020304" pitchFamily="18" charset="0"/>
                        </a:rPr>
                        <a:t>Trained</a:t>
                      </a:r>
                      <a:r>
                        <a:rPr lang="en-IN" sz="1800" baseline="0" dirty="0">
                          <a:latin typeface="Times New Roman" panose="02020603050405020304" pitchFamily="18" charset="0"/>
                          <a:cs typeface="Times New Roman" panose="02020603050405020304" pitchFamily="18" charset="0"/>
                        </a:rPr>
                        <a:t> AI Model</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latin typeface="Times New Roman" panose="02020603050405020304" pitchFamily="18" charset="0"/>
                          <a:cs typeface="Times New Roman" panose="02020603050405020304" pitchFamily="18" charset="0"/>
                        </a:rPr>
                        <a:t>CNN/</a:t>
                      </a:r>
                      <a:r>
                        <a:rPr lang="en-IN" sz="1800" baseline="0" dirty="0">
                          <a:latin typeface="Times New Roman" panose="02020603050405020304" pitchFamily="18" charset="0"/>
                          <a:cs typeface="Times New Roman" panose="02020603050405020304" pitchFamily="18" charset="0"/>
                        </a:rPr>
                        <a:t> Transfer Learning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176682"/>
                  </a:ext>
                </a:extLst>
              </a:tr>
              <a:tr h="687007">
                <a:tc>
                  <a:txBody>
                    <a:bodyPr/>
                    <a:lstStyle/>
                    <a:p>
                      <a:r>
                        <a:rPr lang="en-IN" sz="1800" dirty="0">
                          <a:latin typeface="Times New Roman" panose="02020603050405020304" pitchFamily="18" charset="0"/>
                          <a:cs typeface="Times New Roman" panose="02020603050405020304" pitchFamily="18" charset="0"/>
                        </a:rPr>
                        <a:t>Disease</a:t>
                      </a:r>
                      <a:r>
                        <a:rPr lang="en-IN" sz="1800" baseline="0" dirty="0">
                          <a:latin typeface="Times New Roman" panose="02020603050405020304" pitchFamily="18" charset="0"/>
                          <a:cs typeface="Times New Roman" panose="02020603050405020304" pitchFamily="18" charset="0"/>
                        </a:rPr>
                        <a:t> Classification</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latin typeface="Times New Roman" panose="02020603050405020304" pitchFamily="18" charset="0"/>
                          <a:cs typeface="Times New Roman" panose="02020603050405020304" pitchFamily="18" charset="0"/>
                        </a:rPr>
                        <a:t>Healthy</a:t>
                      </a:r>
                      <a:r>
                        <a:rPr lang="en-IN" sz="1800" baseline="0" dirty="0">
                          <a:latin typeface="Times New Roman" panose="02020603050405020304" pitchFamily="18" charset="0"/>
                          <a:cs typeface="Times New Roman" panose="02020603050405020304" pitchFamily="18" charset="0"/>
                        </a:rPr>
                        <a:t> or supported disease class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9808518"/>
                  </a:ext>
                </a:extLst>
              </a:tr>
              <a:tr h="492317">
                <a:tc>
                  <a:txBody>
                    <a:bodyPr/>
                    <a:lstStyle/>
                    <a:p>
                      <a:r>
                        <a:rPr lang="en-IN" sz="1800" dirty="0">
                          <a:latin typeface="Times New Roman" panose="02020603050405020304" pitchFamily="18" charset="0"/>
                          <a:cs typeface="Times New Roman" panose="02020603050405020304" pitchFamily="18" charset="0"/>
                        </a:rPr>
                        <a:t>Result</a:t>
                      </a:r>
                      <a:r>
                        <a:rPr lang="en-IN" sz="1800" baseline="0" dirty="0">
                          <a:latin typeface="Times New Roman" panose="02020603050405020304" pitchFamily="18" charset="0"/>
                          <a:cs typeface="Times New Roman" panose="02020603050405020304" pitchFamily="18" charset="0"/>
                        </a:rPr>
                        <a:t> and Guidance</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Prediction,Confidence and next steps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351245"/>
                  </a:ext>
                </a:extLst>
              </a:tr>
              <a:tr h="514780">
                <a:tc>
                  <a:txBody>
                    <a:bodyPr/>
                    <a:lstStyle/>
                    <a:p>
                      <a:r>
                        <a:rPr lang="en-IN" sz="1800" dirty="0">
                          <a:latin typeface="Times New Roman" panose="02020603050405020304" pitchFamily="18" charset="0"/>
                          <a:cs typeface="Times New Roman" panose="02020603050405020304" pitchFamily="18" charset="0"/>
                        </a:rPr>
                        <a:t>Web</a:t>
                      </a:r>
                      <a:r>
                        <a:rPr lang="en-IN" sz="1800" baseline="0" dirty="0">
                          <a:latin typeface="Times New Roman" panose="02020603050405020304" pitchFamily="18" charset="0"/>
                          <a:cs typeface="Times New Roman" panose="02020603050405020304" pitchFamily="18" charset="0"/>
                        </a:rPr>
                        <a:t> Dashboard/ Database</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Display</a:t>
                      </a:r>
                      <a:r>
                        <a:rPr lang="en-US" sz="1800" baseline="0" dirty="0">
                          <a:latin typeface="Times New Roman" panose="02020603050405020304" pitchFamily="18" charset="0"/>
                          <a:cs typeface="Times New Roman" panose="02020603050405020304" pitchFamily="18" charset="0"/>
                        </a:rPr>
                        <a:t> results and maintain necessary records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518779"/>
                  </a:ext>
                </a:extLst>
              </a:tr>
            </a:tbl>
          </a:graphicData>
        </a:graphic>
      </p:graphicFrame>
    </p:spTree>
    <p:extLst>
      <p:ext uri="{BB962C8B-B14F-4D97-AF65-F5344CB8AC3E}">
        <p14:creationId xmlns:p14="http://schemas.microsoft.com/office/powerpoint/2010/main" val="3097957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4. Advantages / Disadvantages</a:t>
            </a:r>
            <a:endParaRP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endParaRPr sz="2000" dirty="0"/>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graphicFrame>
        <p:nvGraphicFramePr>
          <p:cNvPr id="2" name="Table 1">
            <a:extLst>
              <a:ext uri="{FF2B5EF4-FFF2-40B4-BE49-F238E27FC236}">
                <a16:creationId xmlns:a16="http://schemas.microsoft.com/office/drawing/2014/main" id="{CA919257-2D97-8245-46CE-460B3B68AB04}"/>
              </a:ext>
            </a:extLst>
          </p:cNvPr>
          <p:cNvGraphicFramePr>
            <a:graphicFrameLocks noGrp="1"/>
          </p:cNvGraphicFramePr>
          <p:nvPr>
            <p:extLst>
              <p:ext uri="{D42A27DB-BD31-4B8C-83A1-F6EECF244321}">
                <p14:modId xmlns:p14="http://schemas.microsoft.com/office/powerpoint/2010/main" val="223566272"/>
              </p:ext>
            </p:extLst>
          </p:nvPr>
        </p:nvGraphicFramePr>
        <p:xfrm>
          <a:off x="682170" y="1335316"/>
          <a:ext cx="7729257" cy="4905827"/>
        </p:xfrm>
        <a:graphic>
          <a:graphicData uri="http://schemas.openxmlformats.org/drawingml/2006/table">
            <a:tbl>
              <a:tblPr firstRow="1" bandRow="1">
                <a:tableStyleId>{FABFCF23-3B69-468F-B69F-88F6DE6A72F2}</a:tableStyleId>
              </a:tblPr>
              <a:tblGrid>
                <a:gridCol w="3850777">
                  <a:extLst>
                    <a:ext uri="{9D8B030D-6E8A-4147-A177-3AD203B41FA5}">
                      <a16:colId xmlns:a16="http://schemas.microsoft.com/office/drawing/2014/main" val="3976770107"/>
                    </a:ext>
                  </a:extLst>
                </a:gridCol>
                <a:gridCol w="3878480">
                  <a:extLst>
                    <a:ext uri="{9D8B030D-6E8A-4147-A177-3AD203B41FA5}">
                      <a16:colId xmlns:a16="http://schemas.microsoft.com/office/drawing/2014/main" val="4140831860"/>
                    </a:ext>
                  </a:extLst>
                </a:gridCol>
              </a:tblGrid>
              <a:tr h="830471">
                <a:tc>
                  <a:txBody>
                    <a:bodyPr/>
                    <a:lstStyle/>
                    <a:p>
                      <a:pPr algn="ctr"/>
                      <a:r>
                        <a:rPr lang="en-US" sz="2400" dirty="0">
                          <a:latin typeface="Times New Roman" panose="02020603050405020304" pitchFamily="18" charset="0"/>
                          <a:cs typeface="Times New Roman" panose="02020603050405020304" pitchFamily="18" charset="0"/>
                        </a:rPr>
                        <a:t>Advantages</a:t>
                      </a:r>
                      <a:endParaRPr lang="en-IN"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D</a:t>
                      </a:r>
                      <a:r>
                        <a:rPr lang="en-IN" sz="2400" dirty="0" err="1">
                          <a:latin typeface="Times New Roman" panose="02020603050405020304" pitchFamily="18" charset="0"/>
                          <a:cs typeface="Times New Roman" panose="02020603050405020304" pitchFamily="18" charset="0"/>
                        </a:rPr>
                        <a:t>isadvantages</a:t>
                      </a:r>
                      <a:endParaRPr lang="en-IN"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590443"/>
                  </a:ext>
                </a:extLst>
              </a:tr>
              <a:tr h="830471">
                <a:tc>
                  <a:txBody>
                    <a:bodyPr/>
                    <a:lstStyle/>
                    <a:p>
                      <a:r>
                        <a:rPr lang="en-US" sz="1800" dirty="0"/>
                        <a:t>Supports early disease screening.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Poor image quality can reduce accuracy.</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489184"/>
                  </a:ext>
                </a:extLst>
              </a:tr>
              <a:tr h="855830">
                <a:tc>
                  <a:txBody>
                    <a:bodyPr/>
                    <a:lstStyle/>
                    <a:p>
                      <a:r>
                        <a:rPr lang="en-IN" sz="1800" dirty="0">
                          <a:latin typeface="Times New Roman" panose="02020603050405020304" pitchFamily="18" charset="0"/>
                          <a:cs typeface="Times New Roman" panose="02020603050405020304" pitchFamily="18" charset="0"/>
                        </a:rPr>
                        <a:t>Analyses leaf images quickly.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Similar diseases may look alike.</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4901850"/>
                  </a:ext>
                </a:extLst>
              </a:tr>
              <a:tr h="855830">
                <a:tc>
                  <a:txBody>
                    <a:bodyPr/>
                    <a:lstStyle/>
                    <a:p>
                      <a:r>
                        <a:rPr lang="en-IN" sz="1800" dirty="0">
                          <a:latin typeface="Times New Roman" panose="02020603050405020304" pitchFamily="18" charset="0"/>
                          <a:cs typeface="Times New Roman" panose="02020603050405020304" pitchFamily="18" charset="0"/>
                        </a:rPr>
                        <a:t>Reduces repeated manual screening.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latin typeface="Times New Roman" panose="02020603050405020304" pitchFamily="18" charset="0"/>
                          <a:cs typeface="Times New Roman" panose="02020603050405020304" pitchFamily="18" charset="0"/>
                        </a:rPr>
                        <a:t>Requires sufficient training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8247675"/>
                  </a:ext>
                </a:extLst>
              </a:tr>
              <a:tr h="855830">
                <a:tc>
                  <a:txBody>
                    <a:bodyPr/>
                    <a:lstStyle/>
                    <a:p>
                      <a:r>
                        <a:rPr lang="en-US" sz="1800" dirty="0">
                          <a:latin typeface="Times New Roman" panose="02020603050405020304" pitchFamily="18" charset="0"/>
                          <a:cs typeface="Times New Roman" panose="02020603050405020304" pitchFamily="18" charset="0"/>
                        </a:rPr>
                        <a:t>Provides predictions through a web interface.</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800" dirty="0">
                          <a:latin typeface="Times New Roman" panose="02020603050405020304" pitchFamily="18" charset="0"/>
                          <a:cs typeface="Times New Roman" panose="02020603050405020304" pitchFamily="18" charset="0"/>
                        </a:rPr>
                        <a:t>Incorrect predictions are possible.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5188824"/>
                  </a:ext>
                </a:extLst>
              </a:tr>
              <a:tr h="677395">
                <a:tc>
                  <a:txBody>
                    <a:bodyPr/>
                    <a:lstStyle/>
                    <a:p>
                      <a:r>
                        <a:rPr lang="en-US" sz="1800" dirty="0">
                          <a:latin typeface="Times New Roman" panose="02020603050405020304" pitchFamily="18" charset="0"/>
                          <a:cs typeface="Times New Roman" panose="02020603050405020304" pitchFamily="18" charset="0"/>
                        </a:rPr>
                        <a:t>Can help farmers seek timely expert advice.</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Field testing and maintenance are required.</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257281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88950" indent="-285750">
              <a:spcBef>
                <a:spcPts val="0"/>
              </a:spcBef>
              <a:buSzPts val="3200"/>
            </a:pPr>
            <a:endParaRPr lang="en-US" sz="1800" dirty="0"/>
          </a:p>
          <a:p>
            <a:pPr marL="488950" indent="-285750">
              <a:spcBef>
                <a:spcPts val="0"/>
              </a:spcBef>
              <a:buSzPts val="3200"/>
            </a:pPr>
            <a:endParaRPr lang="en-US" sz="1800" dirty="0"/>
          </a:p>
          <a:p>
            <a:pPr marL="488950" indent="-285750">
              <a:spcBef>
                <a:spcPts val="0"/>
              </a:spcBef>
              <a:buSzPts val="3200"/>
            </a:pPr>
            <a:r>
              <a:rPr lang="en-US" sz="1800" dirty="0"/>
              <a:t>AI-Based Crop Disease Detection uses Artificial Intelligence and image processing to analyze crop leaf images and predict possible diseases. The system can support early disease screening and help users decide when to seek expert advice. Its performance depends on image quality, dataset diversity and model evaluation. The proposed project can be developed as a prototype using Python, CNN and a simple web interface. It is intended to support farmers and agricultural experts, not replace them.</a:t>
            </a:r>
            <a:endParaRPr sz="1800" dirty="0"/>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6. Project Initiation</a:t>
            </a:r>
            <a:endParaRPr dirty="0"/>
          </a:p>
        </p:txBody>
      </p:sp>
      <p:sp>
        <p:nvSpPr>
          <p:cNvPr id="560" name="Google Shape;560;p21"/>
          <p:cNvSpPr txBox="1">
            <a:spLocks noGrp="1"/>
          </p:cNvSpPr>
          <p:nvPr>
            <p:ph type="body" idx="1"/>
          </p:nvPr>
        </p:nvSpPr>
        <p:spPr>
          <a:xfrm>
            <a:off x="457200" y="1219200"/>
            <a:ext cx="8229600" cy="550225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546100">
              <a:spcBef>
                <a:spcPts val="0"/>
              </a:spcBef>
              <a:buSzPts val="3200"/>
            </a:pPr>
            <a:r>
              <a:rPr lang="en-US" sz="1800" b="1" dirty="0"/>
              <a:t>Project Title: </a:t>
            </a:r>
            <a:r>
              <a:rPr lang="en-US" sz="1800" dirty="0"/>
              <a:t>AI-Based Crop Disease Detection</a:t>
            </a:r>
          </a:p>
          <a:p>
            <a:pPr marL="546100">
              <a:spcBef>
                <a:spcPts val="0"/>
              </a:spcBef>
              <a:buSzPts val="3200"/>
            </a:pPr>
            <a:endParaRPr lang="en-US" sz="1800" b="1" dirty="0"/>
          </a:p>
          <a:p>
            <a:pPr marL="546100">
              <a:spcBef>
                <a:spcPts val="0"/>
              </a:spcBef>
              <a:buSzPts val="3200"/>
            </a:pPr>
            <a:r>
              <a:rPr lang="en-US" sz="1800" b="1" dirty="0"/>
              <a:t>Problem: </a:t>
            </a:r>
            <a:r>
              <a:rPr lang="en-US" sz="1800" dirty="0"/>
              <a:t>Farmers may find it difficult to identify crop diseases early through manual inspection.</a:t>
            </a:r>
          </a:p>
          <a:p>
            <a:pPr marL="546100">
              <a:spcBef>
                <a:spcPts val="0"/>
              </a:spcBef>
              <a:buSzPts val="3200"/>
            </a:pPr>
            <a:endParaRPr lang="en-US" sz="1800" dirty="0"/>
          </a:p>
          <a:p>
            <a:pPr marL="546100">
              <a:spcBef>
                <a:spcPts val="0"/>
              </a:spcBef>
              <a:buSzPts val="3200"/>
            </a:pPr>
            <a:r>
              <a:rPr lang="en-US" sz="1800" b="1" dirty="0"/>
              <a:t>Objective: </a:t>
            </a:r>
            <a:r>
              <a:rPr lang="en-US" sz="1800" dirty="0"/>
              <a:t>To use AI-based image classification to identify selected crop disease categories.</a:t>
            </a:r>
          </a:p>
          <a:p>
            <a:pPr marL="546100">
              <a:spcBef>
                <a:spcPts val="0"/>
              </a:spcBef>
              <a:buSzPts val="3200"/>
            </a:pPr>
            <a:endParaRPr lang="en-US" sz="1800" dirty="0"/>
          </a:p>
          <a:p>
            <a:pPr marL="546100">
              <a:spcBef>
                <a:spcPts val="0"/>
              </a:spcBef>
              <a:buSzPts val="3200"/>
            </a:pPr>
            <a:r>
              <a:rPr lang="en-US" sz="1800" b="1" dirty="0"/>
              <a:t>Scope: </a:t>
            </a:r>
            <a:r>
              <a:rPr lang="en-US" sz="1800" dirty="0"/>
              <a:t>Crop leaf image upload, preprocessing, disease prediction and result display</a:t>
            </a:r>
            <a:r>
              <a:rPr lang="en-US" sz="1800" b="1" dirty="0"/>
              <a:t>.</a:t>
            </a:r>
          </a:p>
          <a:p>
            <a:pPr marL="546100">
              <a:spcBef>
                <a:spcPts val="0"/>
              </a:spcBef>
              <a:buSzPts val="3200"/>
            </a:pPr>
            <a:endParaRPr lang="en-US" sz="1800" b="1" dirty="0"/>
          </a:p>
          <a:p>
            <a:pPr marL="546100">
              <a:spcBef>
                <a:spcPts val="0"/>
              </a:spcBef>
              <a:buSzPts val="3200"/>
            </a:pPr>
            <a:r>
              <a:rPr lang="en-US" sz="1800" b="1" dirty="0"/>
              <a:t>Proposed Solution: </a:t>
            </a:r>
            <a:r>
              <a:rPr lang="en-US" sz="1800" dirty="0"/>
              <a:t>Develop a prototype using a trained AI model and a simple web interface.</a:t>
            </a:r>
          </a:p>
          <a:p>
            <a:pPr marL="546100">
              <a:spcBef>
                <a:spcPts val="0"/>
              </a:spcBef>
              <a:buSzPts val="3200"/>
            </a:pPr>
            <a:endParaRPr lang="en-US" sz="1800" dirty="0"/>
          </a:p>
          <a:p>
            <a:pPr marL="546100">
              <a:spcBef>
                <a:spcPts val="0"/>
              </a:spcBef>
              <a:buSzPts val="3200"/>
            </a:pPr>
            <a:r>
              <a:rPr lang="en-US" sz="1800" b="1" dirty="0"/>
              <a:t>Expected Outcome: </a:t>
            </a:r>
            <a:r>
              <a:rPr lang="en-US" sz="1800" dirty="0"/>
              <a:t>Faster preliminary screening and better support for disease identification</a:t>
            </a:r>
            <a:r>
              <a:rPr lang="en-US" sz="1800" b="1" dirty="0"/>
              <a:t>.</a:t>
            </a:r>
            <a:endParaRPr sz="1800" b="1" dirty="0"/>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7200" y="136551"/>
            <a:ext cx="8229600" cy="12509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numCol="1" anchor="ctr" anchorCtr="0">
            <a:normAutofit/>
          </a:bodyPr>
          <a:lstStyle/>
          <a:p>
            <a:pPr marL="0" lvl="0" indent="0" rtl="0">
              <a:spcBef>
                <a:spcPts val="0"/>
              </a:spcBef>
              <a:spcAft>
                <a:spcPts val="0"/>
              </a:spcAft>
              <a:buClr>
                <a:srgbClr val="002060"/>
              </a:buClr>
              <a:buSzPct val="100000"/>
              <a:buFont typeface="Arial"/>
              <a:buNone/>
            </a:pPr>
            <a:r>
              <a:rPr lang="en-US" sz="3200" dirty="0"/>
              <a:t>6.1 Description of problem statement, identification</a:t>
            </a:r>
            <a:r>
              <a:rPr lang="en-US" sz="3600" dirty="0"/>
              <a:t>.</a:t>
            </a:r>
            <a:endParaRPr sz="3600" dirty="0"/>
          </a:p>
        </p:txBody>
      </p:sp>
      <p:sp>
        <p:nvSpPr>
          <p:cNvPr id="567" name="Google Shape;567;p22"/>
          <p:cNvSpPr txBox="1">
            <a:spLocks noGrp="1"/>
          </p:cNvSpPr>
          <p:nvPr>
            <p:ph type="body" idx="1"/>
          </p:nvPr>
        </p:nvSpPr>
        <p:spPr>
          <a:xfrm>
            <a:off x="457200" y="1519084"/>
            <a:ext cx="8229600" cy="5202365"/>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46100" algn="just">
              <a:spcBef>
                <a:spcPts val="0"/>
              </a:spcBef>
              <a:buSzPts val="3200"/>
            </a:pPr>
            <a:r>
              <a:rPr lang="en-US" sz="1800" dirty="0"/>
              <a:t>Traditional crop disease identification mainly depends on manual observation and agricultural expertise. Early symptoms can be difficult to identify, and delayed detection may affect crop health and productivity.</a:t>
            </a:r>
          </a:p>
          <a:p>
            <a:pPr marL="546100" algn="just">
              <a:spcBef>
                <a:spcPts val="0"/>
              </a:spcBef>
              <a:buSzPts val="3200"/>
            </a:pPr>
            <a:endParaRPr lang="en-US" sz="1800" dirty="0"/>
          </a:p>
          <a:p>
            <a:pPr marL="546100" algn="just">
              <a:spcBef>
                <a:spcPts val="0"/>
              </a:spcBef>
              <a:buSzPts val="3200"/>
            </a:pPr>
            <a:r>
              <a:rPr lang="en-US" sz="1800" dirty="0"/>
              <a:t>Proposed Solution Develop an AI-based prototype that accepts crop leaf images, analyses them using a trained image-classification model and displays the predicted disease category.</a:t>
            </a:r>
          </a:p>
          <a:p>
            <a:pPr marL="546100" algn="just">
              <a:spcBef>
                <a:spcPts val="0"/>
              </a:spcBef>
              <a:buSzPts val="3200"/>
            </a:pPr>
            <a:endParaRPr lang="en-US" sz="1800" dirty="0"/>
          </a:p>
          <a:p>
            <a:pPr marL="546100" algn="just">
              <a:spcBef>
                <a:spcPts val="0"/>
              </a:spcBef>
              <a:buSzPts val="3200"/>
            </a:pPr>
            <a:r>
              <a:rPr lang="en-US" sz="1800" dirty="0"/>
              <a:t>Assumptions:</a:t>
            </a:r>
          </a:p>
          <a:p>
            <a:pPr marL="546100" algn="just">
              <a:spcBef>
                <a:spcPts val="0"/>
              </a:spcBef>
              <a:buSzPts val="3200"/>
            </a:pPr>
            <a:endParaRPr lang="en-US" sz="1800" dirty="0"/>
          </a:p>
          <a:p>
            <a:pPr marL="546100" algn="just">
              <a:spcBef>
                <a:spcPts val="0"/>
              </a:spcBef>
              <a:buSzPts val="3200"/>
            </a:pPr>
            <a:r>
              <a:rPr lang="en-US" sz="1800" dirty="0"/>
              <a:t>The system supports only selected crops and disease classes.</a:t>
            </a:r>
          </a:p>
          <a:p>
            <a:pPr marL="546100" algn="just">
              <a:spcBef>
                <a:spcPts val="0"/>
              </a:spcBef>
              <a:buSzPts val="3200"/>
            </a:pPr>
            <a:endParaRPr lang="en-US" sz="1800" dirty="0"/>
          </a:p>
          <a:p>
            <a:pPr marL="546100" algn="just">
              <a:spcBef>
                <a:spcPts val="0"/>
              </a:spcBef>
              <a:buSzPts val="3200"/>
            </a:pPr>
            <a:r>
              <a:rPr lang="en-US" sz="1800" dirty="0"/>
              <a:t>A labelled dataset is available for training and testing.</a:t>
            </a:r>
          </a:p>
          <a:p>
            <a:pPr marL="546100" algn="just">
              <a:spcBef>
                <a:spcPts val="0"/>
              </a:spcBef>
              <a:buSzPts val="3200"/>
            </a:pPr>
            <a:endParaRPr lang="en-US" sz="1800" dirty="0"/>
          </a:p>
          <a:p>
            <a:pPr marL="546100" algn="just">
              <a:spcBef>
                <a:spcPts val="0"/>
              </a:spcBef>
              <a:buSzPts val="3200"/>
            </a:pPr>
            <a:r>
              <a:rPr lang="en-US" sz="1800" dirty="0"/>
              <a:t>The model's prediction is preliminary and may be incorrect.</a:t>
            </a:r>
          </a:p>
          <a:p>
            <a:pPr marL="546100" algn="just">
              <a:spcBef>
                <a:spcPts val="0"/>
              </a:spcBef>
              <a:buSzPts val="3200"/>
            </a:pPr>
            <a:endParaRPr lang="en-US" sz="1800" dirty="0"/>
          </a:p>
          <a:p>
            <a:pPr marL="546100" algn="just">
              <a:spcBef>
                <a:spcPts val="0"/>
              </a:spcBef>
              <a:buSzPts val="3200"/>
            </a:pPr>
            <a:r>
              <a:rPr lang="en-US" sz="1800" dirty="0"/>
              <a:t>Expert verification is required for uncertain results.</a:t>
            </a:r>
            <a:endParaRPr sz="1800" dirty="0"/>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l" rtl="0">
              <a:spcBef>
                <a:spcPts val="0"/>
              </a:spcBef>
              <a:spcAft>
                <a:spcPts val="0"/>
              </a:spcAft>
              <a:buClr>
                <a:srgbClr val="002060"/>
              </a:buClr>
              <a:buSzPct val="100000"/>
              <a:buFont typeface="Arial"/>
              <a:buNone/>
            </a:pPr>
            <a:endParaRPr sz="3600" dirty="0"/>
          </a:p>
          <a:p>
            <a:pPr marL="0" lvl="0" indent="0" rtl="0">
              <a:spcBef>
                <a:spcPts val="0"/>
              </a:spcBef>
              <a:spcAft>
                <a:spcPts val="0"/>
              </a:spcAft>
              <a:buClr>
                <a:srgbClr val="002060"/>
              </a:buClr>
              <a:buSzPct val="100000"/>
              <a:buFont typeface="Arial"/>
              <a:buNone/>
            </a:pPr>
            <a:r>
              <a:rPr lang="en-US" sz="3600" dirty="0"/>
              <a:t>6. 2 Scope and objectives.</a:t>
            </a:r>
            <a:endParaRPr sz="3600" dirty="0"/>
          </a:p>
          <a:p>
            <a:pPr marL="0" lvl="0" indent="0" algn="l" rtl="0">
              <a:spcBef>
                <a:spcPts val="0"/>
              </a:spcBef>
              <a:spcAft>
                <a:spcPts val="0"/>
              </a:spcAft>
              <a:buClr>
                <a:srgbClr val="002060"/>
              </a:buClr>
              <a:buSzPct val="100000"/>
              <a:buFont typeface="Arial"/>
              <a:buNone/>
            </a:pPr>
            <a:endParaRPr sz="3600" dirty="0"/>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indent="-139700">
              <a:spcBef>
                <a:spcPts val="0"/>
              </a:spcBef>
              <a:buSzPts val="3200"/>
              <a:buNone/>
            </a:pPr>
            <a:r>
              <a:rPr lang="en-US" sz="2400" b="1" dirty="0"/>
              <a:t>Scope</a:t>
            </a:r>
          </a:p>
          <a:p>
            <a:pPr marL="342900" indent="-139700">
              <a:spcBef>
                <a:spcPts val="0"/>
              </a:spcBef>
              <a:buSzPts val="3200"/>
              <a:buNone/>
            </a:pPr>
            <a:endParaRPr lang="en-US" sz="2400" b="1" dirty="0"/>
          </a:p>
          <a:p>
            <a:pPr marL="546100">
              <a:spcBef>
                <a:spcPts val="0"/>
              </a:spcBef>
              <a:buSzPts val="3200"/>
              <a:buFont typeface="Arial" panose="020B0604020202020204" pitchFamily="34" charset="0"/>
              <a:buChar char="•"/>
            </a:pPr>
            <a:r>
              <a:rPr lang="en-US" sz="1900" dirty="0"/>
              <a:t>Accept crop leaf images as input.</a:t>
            </a:r>
          </a:p>
          <a:p>
            <a:pPr marL="546100">
              <a:spcBef>
                <a:spcPts val="0"/>
              </a:spcBef>
              <a:buSzPts val="3200"/>
              <a:buFont typeface="Arial" panose="020B0604020202020204" pitchFamily="34" charset="0"/>
              <a:buChar char="•"/>
            </a:pPr>
            <a:r>
              <a:rPr lang="en-US" sz="1900" dirty="0"/>
              <a:t>Support selected crops and disease categories.</a:t>
            </a:r>
          </a:p>
          <a:p>
            <a:pPr marL="546100">
              <a:spcBef>
                <a:spcPts val="0"/>
              </a:spcBef>
              <a:buSzPts val="3200"/>
              <a:buFont typeface="Arial" panose="020B0604020202020204" pitchFamily="34" charset="0"/>
              <a:buChar char="•"/>
            </a:pPr>
            <a:r>
              <a:rPr lang="en-US" sz="1900" dirty="0"/>
              <a:t>Classify images using a trained AI model.</a:t>
            </a:r>
          </a:p>
          <a:p>
            <a:pPr marL="546100">
              <a:spcBef>
                <a:spcPts val="0"/>
              </a:spcBef>
              <a:buSzPts val="3200"/>
              <a:buFont typeface="Arial" panose="020B0604020202020204" pitchFamily="34" charset="0"/>
              <a:buChar char="•"/>
            </a:pPr>
            <a:r>
              <a:rPr lang="en-US" sz="1900" dirty="0"/>
              <a:t>Display predicted results and confidence scores.</a:t>
            </a:r>
          </a:p>
          <a:p>
            <a:pPr marL="546100">
              <a:spcBef>
                <a:spcPts val="0"/>
              </a:spcBef>
              <a:buSzPts val="3200"/>
              <a:buFont typeface="Arial" panose="020B0604020202020204" pitchFamily="34" charset="0"/>
              <a:buChar char="•"/>
            </a:pPr>
            <a:r>
              <a:rPr lang="en-US" sz="1900" dirty="0"/>
              <a:t>Provide basic preventive guidance from reliable sources.</a:t>
            </a:r>
          </a:p>
          <a:p>
            <a:pPr marL="546100">
              <a:spcBef>
                <a:spcPts val="0"/>
              </a:spcBef>
              <a:buSzPts val="3200"/>
              <a:buFont typeface="Arial" panose="020B0604020202020204" pitchFamily="34" charset="0"/>
              <a:buChar char="•"/>
            </a:pPr>
            <a:r>
              <a:rPr lang="en-US" sz="1900" dirty="0"/>
              <a:t>Offer a simple web interface for demonstration. </a:t>
            </a:r>
          </a:p>
          <a:p>
            <a:pPr marL="546100">
              <a:spcBef>
                <a:spcPts val="0"/>
              </a:spcBef>
              <a:buSzPts val="3200"/>
              <a:buFont typeface="Arial" panose="020B0604020202020204" pitchFamily="34" charset="0"/>
              <a:buChar char="•"/>
            </a:pPr>
            <a:endParaRPr lang="en-US" sz="1900" b="1" dirty="0"/>
          </a:p>
          <a:p>
            <a:pPr marL="546100">
              <a:spcBef>
                <a:spcPts val="0"/>
              </a:spcBef>
              <a:buSzPts val="3200"/>
            </a:pPr>
            <a:r>
              <a:rPr lang="en-US" sz="2400" b="1" dirty="0"/>
              <a:t>Objectives</a:t>
            </a:r>
          </a:p>
          <a:p>
            <a:pPr marL="342900" indent="-139700">
              <a:spcBef>
                <a:spcPts val="0"/>
              </a:spcBef>
              <a:buSzPts val="3200"/>
              <a:buNone/>
            </a:pPr>
            <a:endParaRPr lang="en-US" sz="2400" b="1" dirty="0"/>
          </a:p>
          <a:p>
            <a:pPr marL="546100">
              <a:spcBef>
                <a:spcPts val="0"/>
              </a:spcBef>
              <a:buSzPts val="3200"/>
              <a:buFont typeface="Arial" panose="020B0604020202020204" pitchFamily="34" charset="0"/>
              <a:buChar char="•"/>
            </a:pPr>
            <a:r>
              <a:rPr lang="en-IN" sz="1800" dirty="0"/>
              <a:t>Study existing crop disease detection techniques.</a:t>
            </a:r>
          </a:p>
          <a:p>
            <a:pPr marL="546100">
              <a:spcBef>
                <a:spcPts val="0"/>
              </a:spcBef>
              <a:buSzPts val="3200"/>
              <a:buFont typeface="Arial" panose="020B0604020202020204" pitchFamily="34" charset="0"/>
              <a:buChar char="•"/>
            </a:pPr>
            <a:r>
              <a:rPr lang="en-IN" sz="1800" dirty="0"/>
              <a:t>Select a suitable image dataset.</a:t>
            </a:r>
          </a:p>
          <a:p>
            <a:pPr marL="546100">
              <a:spcBef>
                <a:spcPts val="0"/>
              </a:spcBef>
              <a:buSzPts val="3200"/>
              <a:buFont typeface="Arial" panose="020B0604020202020204" pitchFamily="34" charset="0"/>
              <a:buChar char="•"/>
            </a:pPr>
            <a:r>
              <a:rPr lang="en-IN" sz="1800" dirty="0"/>
              <a:t>Develop or demonstrate a CNN-based model.</a:t>
            </a:r>
          </a:p>
          <a:p>
            <a:pPr marL="546100">
              <a:spcBef>
                <a:spcPts val="0"/>
              </a:spcBef>
              <a:buSzPts val="3200"/>
              <a:buFont typeface="Arial" panose="020B0604020202020204" pitchFamily="34" charset="0"/>
              <a:buChar char="•"/>
            </a:pPr>
            <a:r>
              <a:rPr lang="en-IN" sz="1800" dirty="0"/>
              <a:t>Create an interface for uploading leaf images.</a:t>
            </a:r>
          </a:p>
          <a:p>
            <a:pPr marL="546100">
              <a:spcBef>
                <a:spcPts val="0"/>
              </a:spcBef>
              <a:buSzPts val="3200"/>
              <a:buFont typeface="Arial" panose="020B0604020202020204" pitchFamily="34" charset="0"/>
              <a:buChar char="•"/>
            </a:pPr>
            <a:r>
              <a:rPr lang="en-IN" sz="1800" dirty="0"/>
              <a:t>Test the model using separate test images.</a:t>
            </a:r>
          </a:p>
          <a:p>
            <a:pPr marL="546100">
              <a:spcBef>
                <a:spcPts val="0"/>
              </a:spcBef>
              <a:buSzPts val="3200"/>
              <a:buFont typeface="Arial" panose="020B0604020202020204" pitchFamily="34" charset="0"/>
              <a:buChar char="•"/>
            </a:pPr>
            <a:r>
              <a:rPr lang="en-IN" sz="1800" dirty="0"/>
              <a:t>Evaluate performance and document limitations.</a:t>
            </a:r>
          </a:p>
          <a:p>
            <a:pPr marL="342900" lvl="0" indent="-139700" algn="l" rtl="0">
              <a:spcBef>
                <a:spcPts val="0"/>
              </a:spcBef>
              <a:spcAft>
                <a:spcPts val="0"/>
              </a:spcAft>
              <a:buClr>
                <a:schemeClr val="dk1"/>
              </a:buClr>
              <a:buSzPts val="3200"/>
              <a:buNone/>
            </a:pPr>
            <a:endParaRPr sz="1800" dirty="0"/>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rtl="0">
              <a:spcBef>
                <a:spcPts val="0"/>
              </a:spcBef>
              <a:spcAft>
                <a:spcPts val="0"/>
              </a:spcAft>
              <a:buClr>
                <a:srgbClr val="002060"/>
              </a:buClr>
              <a:buSzPts val="3600"/>
              <a:buFont typeface="Arial"/>
              <a:buNone/>
            </a:pPr>
            <a:r>
              <a:rPr lang="en-US" sz="3600" dirty="0"/>
              <a:t>6. 3 Stake holder</a:t>
            </a:r>
            <a:endParaRPr sz="3600" dirty="0"/>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fontAlgn="t"/>
            <a:endParaRPr lang="en-US" sz="1800" dirty="0"/>
          </a:p>
          <a:p>
            <a:pPr fontAlgn="t"/>
            <a:r>
              <a:rPr lang="en-US" sz="1800" dirty="0"/>
              <a:t>Farmers</a:t>
            </a:r>
            <a:endParaRPr lang="en-IN" sz="1800" dirty="0"/>
          </a:p>
          <a:p>
            <a:pPr fontAlgn="t"/>
            <a:r>
              <a:rPr lang="en-IN" sz="1800" dirty="0"/>
              <a:t>Agricultural Experts</a:t>
            </a:r>
          </a:p>
          <a:p>
            <a:pPr fontAlgn="t"/>
            <a:r>
              <a:rPr lang="en-IN" sz="1800" dirty="0"/>
              <a:t>Project Team</a:t>
            </a:r>
          </a:p>
          <a:p>
            <a:pPr fontAlgn="t"/>
            <a:r>
              <a:rPr lang="en-IN" sz="1800" dirty="0"/>
              <a:t>Faculty Guide</a:t>
            </a:r>
          </a:p>
          <a:p>
            <a:pPr fontAlgn="t"/>
            <a:r>
              <a:rPr lang="en-IN" sz="1800" dirty="0"/>
              <a:t>Agricultural Institutions</a:t>
            </a: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t>6. 4 seminar </a:t>
            </a:r>
            <a:r>
              <a:rPr lang="en-US" sz="3200" dirty="0" err="1"/>
              <a:t>exsicussion</a:t>
            </a:r>
            <a:r>
              <a:rPr lang="en-US" sz="3200" dirty="0"/>
              <a:t>  plan</a:t>
            </a:r>
            <a:endParaRPr sz="3200" dirty="0"/>
          </a:p>
          <a:p>
            <a:pPr marL="0" lvl="0" indent="0" algn="ctr" rtl="0">
              <a:spcBef>
                <a:spcPts val="0"/>
              </a:spcBef>
              <a:spcAft>
                <a:spcPts val="0"/>
              </a:spcAft>
              <a:buClr>
                <a:srgbClr val="002060"/>
              </a:buClr>
              <a:buSzPts val="3200"/>
              <a:buFont typeface="Arial"/>
              <a:buNone/>
            </a:pPr>
            <a:endParaRPr sz="3200" dirty="0"/>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dirty="0"/>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graphicFrame>
        <p:nvGraphicFramePr>
          <p:cNvPr id="2" name="Table 1">
            <a:extLst>
              <a:ext uri="{FF2B5EF4-FFF2-40B4-BE49-F238E27FC236}">
                <a16:creationId xmlns:a16="http://schemas.microsoft.com/office/drawing/2014/main" id="{99201D6F-7A5C-89B9-8080-71DF9F247BDD}"/>
              </a:ext>
            </a:extLst>
          </p:cNvPr>
          <p:cNvGraphicFramePr>
            <a:graphicFrameLocks noGrp="1"/>
          </p:cNvGraphicFramePr>
          <p:nvPr>
            <p:extLst>
              <p:ext uri="{D42A27DB-BD31-4B8C-83A1-F6EECF244321}">
                <p14:modId xmlns:p14="http://schemas.microsoft.com/office/powerpoint/2010/main" val="1218570749"/>
              </p:ext>
            </p:extLst>
          </p:nvPr>
        </p:nvGraphicFramePr>
        <p:xfrm>
          <a:off x="682170" y="1320802"/>
          <a:ext cx="7729257" cy="4954133"/>
        </p:xfrm>
        <a:graphic>
          <a:graphicData uri="http://schemas.openxmlformats.org/drawingml/2006/table">
            <a:tbl>
              <a:tblPr firstRow="1" bandRow="1">
                <a:tableStyleId>{FABFCF23-3B69-468F-B69F-88F6DE6A72F2}</a:tableStyleId>
              </a:tblPr>
              <a:tblGrid>
                <a:gridCol w="1745316">
                  <a:extLst>
                    <a:ext uri="{9D8B030D-6E8A-4147-A177-3AD203B41FA5}">
                      <a16:colId xmlns:a16="http://schemas.microsoft.com/office/drawing/2014/main" val="3907551927"/>
                    </a:ext>
                  </a:extLst>
                </a:gridCol>
                <a:gridCol w="3033526">
                  <a:extLst>
                    <a:ext uri="{9D8B030D-6E8A-4147-A177-3AD203B41FA5}">
                      <a16:colId xmlns:a16="http://schemas.microsoft.com/office/drawing/2014/main" val="4179235543"/>
                    </a:ext>
                  </a:extLst>
                </a:gridCol>
                <a:gridCol w="2950415">
                  <a:extLst>
                    <a:ext uri="{9D8B030D-6E8A-4147-A177-3AD203B41FA5}">
                      <a16:colId xmlns:a16="http://schemas.microsoft.com/office/drawing/2014/main" val="2186036629"/>
                    </a:ext>
                  </a:extLst>
                </a:gridCol>
              </a:tblGrid>
              <a:tr h="717100">
                <a:tc>
                  <a:txBody>
                    <a:bodyPr/>
                    <a:lstStyle/>
                    <a:p>
                      <a:pPr algn="ctr"/>
                      <a:r>
                        <a:rPr lang="en-US" sz="2400" dirty="0">
                          <a:latin typeface="Times New Roman" panose="02020603050405020304" pitchFamily="18" charset="0"/>
                          <a:cs typeface="Times New Roman" panose="02020603050405020304" pitchFamily="18" charset="0"/>
                        </a:rPr>
                        <a:t>Session</a:t>
                      </a:r>
                      <a:endParaRPr lang="en-IN"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Activity</a:t>
                      </a:r>
                      <a:endParaRPr lang="en-IN"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Times New Roman" panose="02020603050405020304" pitchFamily="18" charset="0"/>
                          <a:cs typeface="Times New Roman" panose="02020603050405020304" pitchFamily="18" charset="0"/>
                        </a:rPr>
                        <a:t>Expected output</a:t>
                      </a:r>
                      <a:endParaRPr lang="en-IN" sz="2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305935"/>
                  </a:ext>
                </a:extLst>
              </a:tr>
              <a:tr h="717100">
                <a:tc>
                  <a:txBody>
                    <a:bodyPr/>
                    <a:lstStyle/>
                    <a:p>
                      <a:pPr algn="ctr"/>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Define the problem and project goals.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 Approved problem statement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9494569"/>
                  </a:ext>
                </a:extLst>
              </a:tr>
              <a:tr h="717100">
                <a:tc>
                  <a:txBody>
                    <a:bodyPr/>
                    <a:lstStyle/>
                    <a:p>
                      <a:pPr algn="ctr"/>
                      <a:r>
                        <a:rPr lang="en-US" sz="1800" dirty="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Study AI, IoT and existing smart-bin approaches.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Literature notes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200082"/>
                  </a:ext>
                </a:extLst>
              </a:tr>
              <a:tr h="717100">
                <a:tc>
                  <a:txBody>
                    <a:bodyPr/>
                    <a:lstStyle/>
                    <a:p>
                      <a:pPr algn="ctr"/>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Prepare system architecture and workflow.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Architecture diagram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6128606"/>
                  </a:ext>
                </a:extLst>
              </a:tr>
              <a:tr h="717100">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Identify dataset, software and tools.</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Resource list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769192"/>
                  </a:ext>
                </a:extLst>
              </a:tr>
              <a:tr h="717100">
                <a:tc>
                  <a:txBody>
                    <a:bodyPr/>
                    <a:lstStyle/>
                    <a:p>
                      <a:pPr algn="ctr"/>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Plan prototype implementation and testing.</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Task plan and test cases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314725"/>
                  </a:ext>
                </a:extLst>
              </a:tr>
              <a:tr h="651533">
                <a:tc>
                  <a:txBody>
                    <a:bodyPr/>
                    <a:lstStyle/>
                    <a:p>
                      <a:pPr algn="ctr"/>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Review findings and prepare presentation. </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Times New Roman" panose="02020603050405020304" pitchFamily="18" charset="0"/>
                          <a:cs typeface="Times New Roman" panose="02020603050405020304" pitchFamily="18" charset="0"/>
                        </a:rPr>
                        <a:t>Final seminar presentation</a:t>
                      </a: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475811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br>
              <a:rPr lang="en-US" sz="3200" dirty="0"/>
            </a:br>
            <a:r>
              <a:rPr lang="en-US" sz="3200" dirty="0"/>
              <a:t>6.5 Platform/ Equipment/ Resources</a:t>
            </a:r>
            <a:endParaRPr sz="3200" dirty="0"/>
          </a:p>
          <a:p>
            <a:pPr marL="0" lvl="0" indent="0" algn="ctr" rtl="0">
              <a:spcBef>
                <a:spcPts val="0"/>
              </a:spcBef>
              <a:spcAft>
                <a:spcPts val="0"/>
              </a:spcAft>
              <a:buClr>
                <a:srgbClr val="002060"/>
              </a:buClr>
              <a:buSzPts val="3200"/>
              <a:buFont typeface="Arial"/>
              <a:buNone/>
            </a:pPr>
            <a:endParaRPr sz="3200" dirty="0"/>
          </a:p>
        </p:txBody>
      </p:sp>
      <p:graphicFrame>
        <p:nvGraphicFramePr>
          <p:cNvPr id="5" name="Table 4"/>
          <p:cNvGraphicFramePr>
            <a:graphicFrameLocks noGrp="1"/>
          </p:cNvGraphicFramePr>
          <p:nvPr>
            <p:extLst>
              <p:ext uri="{D42A27DB-BD31-4B8C-83A1-F6EECF244321}">
                <p14:modId xmlns:p14="http://schemas.microsoft.com/office/powerpoint/2010/main" val="3687625013"/>
              </p:ext>
            </p:extLst>
          </p:nvPr>
        </p:nvGraphicFramePr>
        <p:xfrm>
          <a:off x="1524000" y="1397000"/>
          <a:ext cx="6096000" cy="741680"/>
        </p:xfrm>
        <a:graphic>
          <a:graphicData uri="http://schemas.openxmlformats.org/drawingml/2006/table">
            <a:tbl>
              <a:tblPr firstRow="1" bandRow="1">
                <a:tableStyleId>{2D5ABB26-0587-4C30-8999-92F81FD0307C}</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0"/>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0001"/>
                  </a:ext>
                </a:extLst>
              </a:tr>
            </a:tbl>
          </a:graphicData>
        </a:graphic>
      </p:graphicFrame>
      <p:sp>
        <p:nvSpPr>
          <p:cNvPr id="6"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85750" indent="-285750">
              <a:spcBef>
                <a:spcPts val="640"/>
              </a:spcBef>
              <a:buSzPts val="3200"/>
            </a:pPr>
            <a:r>
              <a:rPr lang="en-IN" sz="1800" b="1" dirty="0"/>
              <a:t>Hardware</a:t>
            </a:r>
            <a:r>
              <a:rPr lang="en-IN" sz="1800" dirty="0"/>
              <a:t>: Computer or laptop, camera or smartphone.</a:t>
            </a:r>
          </a:p>
          <a:p>
            <a:pPr marL="285750" indent="-285750">
              <a:spcBef>
                <a:spcPts val="640"/>
              </a:spcBef>
              <a:buSzPts val="3200"/>
            </a:pPr>
            <a:r>
              <a:rPr lang="en-IN" sz="1800" b="1" dirty="0"/>
              <a:t>Software</a:t>
            </a:r>
            <a:r>
              <a:rPr lang="en-IN" sz="1800" dirty="0"/>
              <a:t>: Python, Jupiter Notebook or Google Colab.</a:t>
            </a:r>
          </a:p>
          <a:p>
            <a:pPr marL="285750" indent="-285750">
              <a:spcBef>
                <a:spcPts val="640"/>
              </a:spcBef>
              <a:buSzPts val="3200"/>
            </a:pPr>
            <a:r>
              <a:rPr lang="en-IN" sz="1800" b="1" dirty="0"/>
              <a:t>Libraries</a:t>
            </a:r>
            <a:r>
              <a:rPr lang="en-IN" sz="1800" dirty="0"/>
              <a:t>: OpenCV, TensorFlow or Keras, NumPy.</a:t>
            </a:r>
          </a:p>
          <a:p>
            <a:pPr marL="285750" indent="-285750">
              <a:spcBef>
                <a:spcPts val="640"/>
              </a:spcBef>
              <a:buSzPts val="3200"/>
            </a:pPr>
            <a:r>
              <a:rPr lang="en-IN" sz="1800" b="1" dirty="0"/>
              <a:t>Dataset</a:t>
            </a:r>
            <a:r>
              <a:rPr lang="en-IN" sz="1800" dirty="0"/>
              <a:t>: PlantVillage or other suitable crop leaf datasets.</a:t>
            </a:r>
            <a:endParaRPr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Bibliography</a:t>
            </a:r>
            <a:endParaRPr dirty="0"/>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500"/>
              <a:buChar char="•"/>
            </a:pPr>
            <a:r>
              <a:rPr lang="en-US" sz="2800" b="1" dirty="0"/>
              <a:t>Books</a:t>
            </a:r>
          </a:p>
          <a:p>
            <a:pPr marL="342900">
              <a:spcBef>
                <a:spcPts val="0"/>
              </a:spcBef>
              <a:buSzPct val="116000"/>
              <a:buFont typeface="Wingdings" panose="05000000000000000000" pitchFamily="2" charset="2"/>
              <a:buChar char="§"/>
            </a:pPr>
            <a:r>
              <a:rPr lang="en-US" sz="1800" dirty="0"/>
              <a:t>Deep Learning – Ian Good fellow et al.</a:t>
            </a:r>
          </a:p>
          <a:p>
            <a:pPr marL="342900">
              <a:spcBef>
                <a:spcPts val="0"/>
              </a:spcBef>
              <a:buSzPct val="116000"/>
              <a:buFont typeface="Wingdings" panose="05000000000000000000" pitchFamily="2" charset="2"/>
              <a:buChar char="§"/>
            </a:pPr>
            <a:r>
              <a:rPr lang="en-US" sz="1800" dirty="0"/>
              <a:t>Machine Learning – Ethem Alpaydin.</a:t>
            </a:r>
          </a:p>
          <a:p>
            <a:pPr marL="342900">
              <a:spcBef>
                <a:spcPts val="0"/>
              </a:spcBef>
              <a:buSzPct val="116000"/>
              <a:buFont typeface="Wingdings" panose="05000000000000000000" pitchFamily="2" charset="2"/>
              <a:buChar char="§"/>
            </a:pPr>
            <a:r>
              <a:rPr lang="en-US" sz="1800" dirty="0"/>
              <a:t>Pattern Recognition and Machine Learning – Christopher Bishop.</a:t>
            </a:r>
            <a:endParaRPr sz="1800" dirty="0"/>
          </a:p>
          <a:p>
            <a:pPr marL="342900" lvl="0" indent="-342900" algn="l" rtl="0">
              <a:spcBef>
                <a:spcPts val="700"/>
              </a:spcBef>
              <a:spcAft>
                <a:spcPts val="0"/>
              </a:spcAft>
              <a:buClr>
                <a:schemeClr val="dk1"/>
              </a:buClr>
              <a:buSzPts val="3500"/>
              <a:buChar char="•"/>
            </a:pPr>
            <a:endParaRPr lang="en-US" sz="2800" b="1" dirty="0"/>
          </a:p>
          <a:p>
            <a:pPr marL="342900" lvl="0" indent="-342900" algn="l" rtl="0">
              <a:spcBef>
                <a:spcPts val="700"/>
              </a:spcBef>
              <a:spcAft>
                <a:spcPts val="0"/>
              </a:spcAft>
              <a:buClr>
                <a:schemeClr val="dk1"/>
              </a:buClr>
              <a:buSzPts val="3500"/>
              <a:buChar char="•"/>
            </a:pPr>
            <a:r>
              <a:rPr lang="en-US" sz="2800" b="1" dirty="0"/>
              <a:t>Websites</a:t>
            </a:r>
          </a:p>
          <a:p>
            <a:pPr marL="660400" lvl="0" indent="-457200">
              <a:spcBef>
                <a:spcPts val="640"/>
              </a:spcBef>
              <a:buSzPts val="3200"/>
              <a:buFont typeface="Wingdings" panose="05000000000000000000" pitchFamily="2" charset="2"/>
              <a:buChar char="§"/>
            </a:pPr>
            <a:r>
              <a:rPr lang="en-IN" sz="1800" dirty="0">
                <a:hlinkClick r:id="rId3"/>
              </a:rPr>
              <a:t>www.plantix.net</a:t>
            </a:r>
            <a:endParaRPr lang="en-IN" sz="1800" dirty="0"/>
          </a:p>
          <a:p>
            <a:pPr marL="660400" lvl="0" indent="-457200">
              <a:spcBef>
                <a:spcPts val="640"/>
              </a:spcBef>
              <a:buSzPts val="3200"/>
              <a:buFont typeface="Wingdings" panose="05000000000000000000" pitchFamily="2" charset="2"/>
              <a:buChar char="§"/>
            </a:pPr>
            <a:r>
              <a:rPr lang="en-IN" sz="1800" dirty="0">
                <a:hlinkClick r:id="rId4"/>
              </a:rPr>
              <a:t>www.fao.org</a:t>
            </a:r>
            <a:endParaRPr lang="en-IN" sz="1800" dirty="0"/>
          </a:p>
          <a:p>
            <a:pPr marL="660400" lvl="0" indent="-457200">
              <a:spcBef>
                <a:spcPts val="640"/>
              </a:spcBef>
              <a:buSzPts val="3200"/>
              <a:buFont typeface="Wingdings" panose="05000000000000000000" pitchFamily="2" charset="2"/>
              <a:buChar char="§"/>
            </a:pPr>
            <a:r>
              <a:rPr lang="en-IN" sz="1800" dirty="0">
                <a:hlinkClick r:id="rId5"/>
              </a:rPr>
              <a:t>www.sciencedirect.com</a:t>
            </a:r>
            <a:endParaRPr lang="en-IN" sz="1800" dirty="0"/>
          </a:p>
          <a:p>
            <a:pPr marL="660400" lvl="0" indent="-457200">
              <a:spcBef>
                <a:spcPts val="640"/>
              </a:spcBef>
              <a:buSzPts val="3200"/>
              <a:buFont typeface="Wingdings" panose="05000000000000000000" pitchFamily="2" charset="2"/>
              <a:buChar char="§"/>
            </a:pPr>
            <a:r>
              <a:rPr lang="en-IN" sz="1800" dirty="0">
                <a:hlinkClick r:id="rId6"/>
              </a:rPr>
              <a:t>www.tensorflow.org</a:t>
            </a:r>
            <a:endParaRPr sz="1800"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a:p>
            <a:pPr marL="0" lvl="0" indent="0" algn="l" rtl="0">
              <a:spcBef>
                <a:spcPts val="640"/>
              </a:spcBef>
              <a:spcAft>
                <a:spcPts val="0"/>
              </a:spcAft>
              <a:buClr>
                <a:schemeClr val="dk1"/>
              </a:buClr>
              <a:buSzPts val="3200"/>
              <a:buNone/>
            </a:pPr>
            <a:endParaRPr dirty="0"/>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References</a:t>
            </a:r>
            <a:endParaRPr dirty="0"/>
          </a:p>
        </p:txBody>
      </p:sp>
      <p:sp>
        <p:nvSpPr>
          <p:cNvPr id="609" name="Google Shape;609;p2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46100" algn="just">
              <a:spcBef>
                <a:spcPts val="0"/>
              </a:spcBef>
              <a:buSzPts val="3200"/>
            </a:pPr>
            <a:r>
              <a:rPr lang="en-US" sz="1800" dirty="0"/>
              <a:t>1.Mohanty, S. P., Hughes, D. P. and Salathé, M. (2016). Using Deep Learning for Image-Based Plant Disease Detection. Frontiers in Plant Science. </a:t>
            </a:r>
            <a:r>
              <a:rPr lang="en-US" sz="1800" dirty="0">
                <a:hlinkClick r:id="rId3"/>
              </a:rPr>
              <a:t>Read research paper</a:t>
            </a:r>
            <a:endParaRPr lang="en-US" sz="1800" dirty="0"/>
          </a:p>
          <a:p>
            <a:pPr marL="546100" algn="just">
              <a:spcBef>
                <a:spcPts val="0"/>
              </a:spcBef>
              <a:buSzPts val="3200"/>
            </a:pPr>
            <a:endParaRPr lang="en-US" sz="1800" dirty="0"/>
          </a:p>
          <a:p>
            <a:pPr marL="546100" algn="just">
              <a:spcBef>
                <a:spcPts val="0"/>
              </a:spcBef>
              <a:buSzPts val="3200"/>
            </a:pPr>
            <a:r>
              <a:rPr lang="en-US" sz="1800" dirty="0"/>
              <a:t>2. Ferentinos, K. P. (2018). Deep Learning Models for Plant Disease Detection and Diagnosis. Computers and Electronics in Agriculture. </a:t>
            </a:r>
            <a:r>
              <a:rPr lang="en-US" sz="1800" dirty="0">
                <a:hlinkClick r:id="rId3"/>
              </a:rPr>
              <a:t>Read research paper</a:t>
            </a:r>
            <a:endParaRPr lang="en-US" sz="1800" dirty="0"/>
          </a:p>
          <a:p>
            <a:pPr marL="546100" algn="just">
              <a:spcBef>
                <a:spcPts val="0"/>
              </a:spcBef>
              <a:buSzPts val="3200"/>
            </a:pPr>
            <a:endParaRPr lang="en-US" sz="1800" dirty="0"/>
          </a:p>
          <a:p>
            <a:pPr marL="546100" algn="just">
              <a:spcBef>
                <a:spcPts val="0"/>
              </a:spcBef>
              <a:buSzPts val="3200"/>
            </a:pPr>
            <a:r>
              <a:rPr lang="en-US" sz="1800" dirty="0"/>
              <a:t>3. Too, E. C. et al. (2019). A Comparative Study of Fine-Tuning Deep Learning Models for Plant Disease Identification. Computers and Electronics in Agriculture. </a:t>
            </a:r>
            <a:r>
              <a:rPr lang="en-US" sz="1800" dirty="0">
                <a:hlinkClick r:id="rId3"/>
              </a:rPr>
              <a:t>Read research paper</a:t>
            </a:r>
            <a:endParaRPr lang="en-US" sz="1800" dirty="0"/>
          </a:p>
          <a:p>
            <a:pPr marL="546100" algn="just">
              <a:spcBef>
                <a:spcPts val="0"/>
              </a:spcBef>
              <a:buSzPts val="3200"/>
            </a:pPr>
            <a:endParaRPr lang="en-US" sz="1800" dirty="0"/>
          </a:p>
          <a:p>
            <a:pPr marL="546100" algn="just">
              <a:spcBef>
                <a:spcPts val="0"/>
              </a:spcBef>
              <a:buSzPts val="3200"/>
            </a:pPr>
            <a:r>
              <a:rPr lang="en-US" sz="1800" dirty="0"/>
              <a:t>4. Boulent, J., Foucher, S., Théau, J. and St-Charles, P. L. (2019). Convolutional Neural Networks for the Automatic Identification of Plant Diseases. Frontiers in Plant Science. </a:t>
            </a:r>
            <a:r>
              <a:rPr lang="en-US" sz="1800" dirty="0">
                <a:hlinkClick r:id="rId4"/>
              </a:rPr>
              <a:t>Read Research Paper</a:t>
            </a:r>
            <a:r>
              <a:rPr lang="en-US" sz="1800" dirty="0"/>
              <a:t> </a:t>
            </a:r>
          </a:p>
          <a:p>
            <a:pPr marL="546100" algn="just">
              <a:spcBef>
                <a:spcPts val="0"/>
              </a:spcBef>
              <a:buSzPts val="3200"/>
            </a:pPr>
            <a:endParaRPr lang="en-US" sz="1800" dirty="0"/>
          </a:p>
          <a:p>
            <a:pPr marL="546100" algn="just">
              <a:spcBef>
                <a:spcPts val="0"/>
              </a:spcBef>
              <a:buSzPts val="3200"/>
            </a:pPr>
            <a:r>
              <a:rPr lang="en-US" sz="1800" dirty="0"/>
              <a:t>5. Identification of Plant Leaf Diseases Using a Nine-Layer Deep Convolutional Neural Network. (2019). Computers &amp; Electrical Engineering. </a:t>
            </a:r>
            <a:r>
              <a:rPr lang="en-US" sz="1800" dirty="0">
                <a:hlinkClick r:id="rId5"/>
              </a:rPr>
              <a:t>Read Research Paper</a:t>
            </a:r>
            <a:endParaRPr sz="1800" dirty="0"/>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IN" dirty="0"/>
          </a:p>
        </p:txBody>
      </p:sp>
      <p:sp>
        <p:nvSpPr>
          <p:cNvPr id="3" name="Text Placeholder 2"/>
          <p:cNvSpPr>
            <a:spLocks noGrp="1"/>
          </p:cNvSpPr>
          <p:nvPr>
            <p:ph type="body" idx="1"/>
          </p:nvPr>
        </p:nvSpPr>
        <p:spPr/>
        <p:txBody>
          <a:bodyPr>
            <a:normAutofit/>
          </a:bodyPr>
          <a:lstStyle/>
          <a:p>
            <a:r>
              <a:rPr lang="en-IN" sz="1800" dirty="0"/>
              <a:t>6. Khan, A. T., Jensen, S. M., Khan, A. R., and Li, S. (2024). Plant Disease Detection Model for Edge Computing Devices. </a:t>
            </a:r>
            <a:r>
              <a:rPr lang="en-IN" sz="1800" dirty="0">
                <a:solidFill>
                  <a:schemeClr val="tx1"/>
                </a:solidFill>
                <a:hlinkClick r:id="rId2"/>
              </a:rPr>
              <a:t>Read Paper.</a:t>
            </a:r>
            <a:endParaRPr lang="en-IN" sz="1800" dirty="0"/>
          </a:p>
          <a:p>
            <a:endParaRPr lang="en-IN" sz="1800" dirty="0"/>
          </a:p>
          <a:p>
            <a:r>
              <a:rPr lang="en-IN" sz="1800" dirty="0"/>
              <a:t>7. Goyal, S. R., Kulkarni, V. S., Choudhury, R., and Jain, R. (2025). A Comparative Analysis of Efficacy of Machine Learning Techniques for Disease Detection in Some Economically Important Crops. Crop Protection. </a:t>
            </a:r>
            <a:r>
              <a:rPr lang="en-IN" sz="1800" dirty="0">
                <a:hlinkClick r:id="rId2"/>
              </a:rPr>
              <a:t>Read Paper</a:t>
            </a:r>
            <a:r>
              <a:rPr lang="en-IN" sz="1800" dirty="0"/>
              <a:t>⁠.</a:t>
            </a:r>
          </a:p>
          <a:p>
            <a:endParaRPr lang="en-IN" sz="1800" dirty="0"/>
          </a:p>
          <a:p>
            <a:r>
              <a:rPr lang="en-IN" sz="1800" dirty="0"/>
              <a:t>8. Roumeliotis, K., Sapkota, R., Karkee, M., Tselikas, N. I., and Nasiopoulos, D. (2025). Plant Disease Detection through Multimodal Large Language Models and Convolutional Neural Networks. </a:t>
            </a:r>
            <a:r>
              <a:rPr lang="en-IN" sz="1800" dirty="0">
                <a:hlinkClick r:id="rId2"/>
              </a:rPr>
              <a:t>Read Paper</a:t>
            </a:r>
            <a:r>
              <a:rPr lang="en-IN" sz="1800" dirty="0"/>
              <a:t>⁠.</a:t>
            </a:r>
          </a:p>
          <a:p>
            <a:endParaRPr lang="en-IN" sz="1800" dirty="0"/>
          </a:p>
          <a:p>
            <a:r>
              <a:rPr lang="en-IN" sz="1800" dirty="0"/>
              <a:t>9. Arshad, Z., Javed, A., and Saudagar, A. K. J. (2026). ConvGeM-next: A Deep Learning Framework for Plant Disease Detection. Frontiers in Plant Science. </a:t>
            </a:r>
            <a:r>
              <a:rPr lang="en-IN" sz="1800" dirty="0">
                <a:hlinkClick r:id="rId2"/>
              </a:rPr>
              <a:t>Read Paper</a:t>
            </a:r>
            <a:r>
              <a:rPr lang="en-IN" dirty="0">
                <a:hlinkClick r:id="rId2"/>
              </a:rPr>
              <a:t>⁠.</a:t>
            </a:r>
            <a:endParaRPr lang="en-IN"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093257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1" i="0" u="none" strike="noStrike" cap="none" dirty="0">
                <a:solidFill>
                  <a:srgbClr val="262626"/>
                </a:solidFill>
                <a:latin typeface="Times New Roman"/>
                <a:ea typeface="Times New Roman"/>
                <a:cs typeface="Times New Roman"/>
                <a:sym typeface="Times New Roman"/>
              </a:rPr>
              <a:t>Thank you</a:t>
            </a:r>
            <a:endParaRPr sz="5400" dirty="0"/>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526</TotalTime>
  <Words>1773</Words>
  <Application>Microsoft Office PowerPoint</Application>
  <PresentationFormat>On-screen Show (4:3)</PresentationFormat>
  <Paragraphs>329</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PowerPoint Presentation</vt:lpstr>
      <vt:lpstr>Contents</vt:lpstr>
      <vt:lpstr>Abstract</vt:lpstr>
      <vt:lpstr>1. Introduction</vt:lpstr>
      <vt:lpstr>2.Literature Survey</vt:lpstr>
      <vt:lpstr>2.Literature Survey</vt:lpstr>
      <vt:lpstr>2.Literature Survey</vt:lpstr>
      <vt:lpstr>3. Information to seminar topic</vt:lpstr>
      <vt:lpstr>System Architecture</vt:lpstr>
      <vt:lpstr>4. Advantages / Disadvantages</vt:lpstr>
      <vt:lpstr>5. Conclusion</vt:lpstr>
      <vt:lpstr>6. Project Initiation</vt:lpstr>
      <vt:lpstr>6.1 Description of problem statement, identification.</vt:lpstr>
      <vt:lpstr> 6. 2 Scope and objectives. </vt:lpstr>
      <vt:lpstr>6. 3 Stake holder</vt:lpstr>
      <vt:lpstr> 6. 4 seminar exsicussion  plan </vt:lpstr>
      <vt:lpstr> 6.5 Platform/ Equipment/ Resources </vt:lpstr>
      <vt:lpstr>Bibliography</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 7420</cp:lastModifiedBy>
  <cp:revision>43</cp:revision>
  <dcterms:modified xsi:type="dcterms:W3CDTF">2026-10-19T07:05:56Z</dcterms:modified>
</cp:coreProperties>
</file>