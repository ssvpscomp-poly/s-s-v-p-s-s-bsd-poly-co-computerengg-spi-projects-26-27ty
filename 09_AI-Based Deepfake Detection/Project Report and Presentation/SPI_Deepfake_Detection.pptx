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73" r:id="rId7"/>
    <p:sldId id="274" r:id="rId8"/>
    <p:sldId id="275" r:id="rId9"/>
    <p:sldId id="261" r:id="rId10"/>
    <p:sldId id="276" r:id="rId11"/>
    <p:sldId id="277" r:id="rId12"/>
    <p:sldId id="262" r:id="rId13"/>
    <p:sldId id="263" r:id="rId14"/>
    <p:sldId id="264" r:id="rId15"/>
    <p:sldId id="265" r:id="rId16"/>
    <p:sldId id="266" r:id="rId17"/>
    <p:sldId id="267" r:id="rId18"/>
    <p:sldId id="269" r:id="rId19"/>
    <p:sldId id="270" r:id="rId20"/>
    <p:sldId id="278" r:id="rId21"/>
    <p:sldId id="271" r:id="rId22"/>
    <p:sldId id="272" r:id="rId2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077A5B-8C0D-40D8-8557-44EC33DBB8F6}">
  <a:tblStyle styleId="{98077A5B-8C0D-40D8-8557-44EC33DBB8F6}" styleName="Table_0">
    <a:wholeTbl>
      <a:tcTxStyle b="off" i="off">
        <a:font>
          <a:latin typeface="Times New Roman"/>
          <a:ea typeface="Times New Roman"/>
          <a:cs typeface="Times New Roman"/>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Times New Roman"/>
          <a:ea typeface="Times New Roman"/>
          <a:cs typeface="Times New Roman"/>
        </a:font>
        <a:schemeClr val="lt1"/>
      </a:tcTxStyle>
      <a:tcStyle>
        <a:tcBdr/>
        <a:fill>
          <a:solidFill>
            <a:schemeClr val="accent1"/>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9" d="100"/>
          <a:sy n="79" d="100"/>
        </p:scale>
        <p:origin x="152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8"/>
        <p:cNvGrpSpPr/>
        <p:nvPr/>
      </p:nvGrpSpPr>
      <p:grpSpPr>
        <a:xfrm>
          <a:off x="0" y="0"/>
          <a:ext cx="0" cy="0"/>
          <a:chOff x="0" y="0"/>
          <a:chExt cx="0" cy="0"/>
        </a:xfrm>
      </p:grpSpPr>
      <p:sp>
        <p:nvSpPr>
          <p:cNvPr id="419" name="Google Shape;419;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0" name="Google Shape;420;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1" name="Google Shape;421;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423" name="Google Shape;423;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4" name="Google Shape;424;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5ae31baec559f25e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g5ae31baec559f25e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31"/>
        <p:cNvGrpSpPr/>
        <p:nvPr/>
      </p:nvGrpSpPr>
      <p:grpSpPr>
        <a:xfrm>
          <a:off x="0" y="0"/>
          <a:ext cx="0" cy="0"/>
          <a:chOff x="0" y="0"/>
          <a:chExt cx="0" cy="0"/>
        </a:xfrm>
      </p:grpSpPr>
      <p:sp>
        <p:nvSpPr>
          <p:cNvPr id="432" name="Google Shape;432;p2"/>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3" name="Google Shape;43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434" name="Google Shape;434;p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5" name="Google Shape;435;p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6" name="Google Shape;436;p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7"/>
        <p:cNvGrpSpPr/>
        <p:nvPr/>
      </p:nvGrpSpPr>
      <p:grpSpPr>
        <a:xfrm>
          <a:off x="0" y="0"/>
          <a:ext cx="0" cy="0"/>
          <a:chOff x="0" y="0"/>
          <a:chExt cx="0" cy="0"/>
        </a:xfrm>
      </p:grpSpPr>
      <p:sp>
        <p:nvSpPr>
          <p:cNvPr id="438" name="Google Shape;438;p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rtl="0">
              <a:spcBef>
                <a:spcPts val="0"/>
              </a:spcBef>
              <a:spcAft>
                <a:spcPts val="0"/>
              </a:spcAft>
              <a:buClr>
                <a:srgbClr val="002060"/>
              </a:buClr>
              <a:buSzPts val="4400"/>
              <a:buFont typeface="Arial"/>
              <a:buNone/>
              <a:defRPr>
                <a:solidFill>
                  <a:srgbClr val="002060"/>
                </a:solidFill>
                <a:latin typeface="Times New Roman"/>
                <a:ea typeface="Times New Roman"/>
                <a:cs typeface="Times New Roman"/>
                <a:sym typeface="Times New Roma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9" name="Google Shape;439;p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40" name="Google Shape;440;p3"/>
          <p:cNvSpPr txBox="1">
            <a:spLocks noGrp="1"/>
          </p:cNvSpPr>
          <p:nvPr>
            <p:ph type="dt" idx="10"/>
          </p:nvPr>
        </p:nvSpPr>
        <p:spPr>
          <a:xfrm>
            <a:off x="457200" y="6356350"/>
            <a:ext cx="2133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1" name="Google Shape;441;p3"/>
          <p:cNvSpPr txBox="1">
            <a:spLocks noGrp="1"/>
          </p:cNvSpPr>
          <p:nvPr>
            <p:ph type="ftr" idx="11"/>
          </p:nvPr>
        </p:nvSpPr>
        <p:spPr>
          <a:xfrm>
            <a:off x="3124200" y="6356350"/>
            <a:ext cx="2895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2" name="Google Shape;442;p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marL="0" lvl="0" indent="0" algn="ct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lvl="1" indent="0" algn="ct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lvl="2" indent="0" algn="ct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lvl="3" indent="0" algn="ct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lvl="4" indent="0" algn="ct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lvl="5" indent="0" algn="ct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lvl="6" indent="0" algn="ct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lvl="7" indent="0" algn="ct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lvl="8" indent="0" algn="ct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3"/>
        <p:cNvGrpSpPr/>
        <p:nvPr/>
      </p:nvGrpSpPr>
      <p:grpSpPr>
        <a:xfrm>
          <a:off x="0" y="0"/>
          <a:ext cx="0" cy="0"/>
          <a:chOff x="0" y="0"/>
          <a:chExt cx="0" cy="0"/>
        </a:xfrm>
      </p:grpSpPr>
      <p:sp>
        <p:nvSpPr>
          <p:cNvPr id="444" name="Google Shape;444;p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5" name="Google Shape;445;p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6" name="Google Shape;446;p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7"/>
        <p:cNvGrpSpPr/>
        <p:nvPr/>
      </p:nvGrpSpPr>
      <p:grpSpPr>
        <a:xfrm>
          <a:off x="0" y="0"/>
          <a:ext cx="0" cy="0"/>
          <a:chOff x="0" y="0"/>
          <a:chExt cx="0" cy="0"/>
        </a:xfrm>
      </p:grpSpPr>
      <p:sp>
        <p:nvSpPr>
          <p:cNvPr id="448" name="Google Shape;448;p5"/>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000"/>
              <a:buFont typeface="Arial"/>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9" name="Google Shape;449;p5"/>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450" name="Google Shape;450;p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1" name="Google Shape;451;p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2" name="Google Shape;452;p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3"/>
        <p:cNvGrpSpPr/>
        <p:nvPr/>
      </p:nvGrpSpPr>
      <p:grpSpPr>
        <a:xfrm>
          <a:off x="0" y="0"/>
          <a:ext cx="0" cy="0"/>
          <a:chOff x="0" y="0"/>
          <a:chExt cx="0" cy="0"/>
        </a:xfrm>
      </p:grpSpPr>
      <p:sp>
        <p:nvSpPr>
          <p:cNvPr id="454" name="Google Shape;454;p6"/>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5" name="Google Shape;455;p6"/>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6" name="Google Shape;456;p6"/>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7" name="Google Shape;457;p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8" name="Google Shape;458;p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9" name="Google Shape;459;p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0"/>
        <p:cNvGrpSpPr/>
        <p:nvPr/>
      </p:nvGrpSpPr>
      <p:grpSpPr>
        <a:xfrm>
          <a:off x="0" y="0"/>
          <a:ext cx="0" cy="0"/>
          <a:chOff x="0" y="0"/>
          <a:chExt cx="0" cy="0"/>
        </a:xfrm>
      </p:grpSpPr>
      <p:sp>
        <p:nvSpPr>
          <p:cNvPr id="461" name="Google Shape;461;p7"/>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400"/>
              <a:buFont typeface="Arial"/>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2" name="Google Shape;462;p7"/>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3" name="Google Shape;463;p7"/>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4" name="Google Shape;464;p7"/>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5" name="Google Shape;465;p7"/>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6" name="Google Shape;466;p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7" name="Google Shape;467;p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8" name="Google Shape;468;p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9"/>
        <p:cNvGrpSpPr/>
        <p:nvPr/>
      </p:nvGrpSpPr>
      <p:grpSpPr>
        <a:xfrm>
          <a:off x="0" y="0"/>
          <a:ext cx="0" cy="0"/>
          <a:chOff x="0" y="0"/>
          <a:chExt cx="0" cy="0"/>
        </a:xfrm>
      </p:grpSpPr>
      <p:sp>
        <p:nvSpPr>
          <p:cNvPr id="470" name="Google Shape;470;p8"/>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1" name="Google Shape;471;p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2" name="Google Shape;472;p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3" name="Google Shape;473;p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4"/>
        <p:cNvGrpSpPr/>
        <p:nvPr/>
      </p:nvGrpSpPr>
      <p:grpSpPr>
        <a:xfrm>
          <a:off x="0" y="0"/>
          <a:ext cx="0" cy="0"/>
          <a:chOff x="0" y="0"/>
          <a:chExt cx="0" cy="0"/>
        </a:xfrm>
      </p:grpSpPr>
      <p:sp>
        <p:nvSpPr>
          <p:cNvPr id="475" name="Google Shape;475;p9"/>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6" name="Google Shape;476;p9"/>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477" name="Google Shape;477;p9"/>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78" name="Google Shape;478;p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9" name="Google Shape;479;p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0" name="Google Shape;480;p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1"/>
        <p:cNvGrpSpPr/>
        <p:nvPr/>
      </p:nvGrpSpPr>
      <p:grpSpPr>
        <a:xfrm>
          <a:off x="0" y="0"/>
          <a:ext cx="0" cy="0"/>
          <a:chOff x="0" y="0"/>
          <a:chExt cx="0" cy="0"/>
        </a:xfrm>
      </p:grpSpPr>
      <p:sp>
        <p:nvSpPr>
          <p:cNvPr id="482" name="Google Shape;482;p10"/>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3" name="Google Shape;483;p10"/>
          <p:cNvSpPr>
            <a:spLocks noGrp="1"/>
          </p:cNvSpPr>
          <p:nvPr>
            <p:ph type="pic" idx="2"/>
          </p:nvPr>
        </p:nvSpPr>
        <p:spPr>
          <a:xfrm>
            <a:off x="1792288" y="612775"/>
            <a:ext cx="5486400" cy="4114800"/>
          </a:xfrm>
          <a:prstGeom prst="rect">
            <a:avLst/>
          </a:prstGeom>
          <a:noFill/>
          <a:ln>
            <a:noFill/>
          </a:ln>
        </p:spPr>
      </p:sp>
      <p:sp>
        <p:nvSpPr>
          <p:cNvPr id="484" name="Google Shape;484;p10"/>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85" name="Google Shape;485;p1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6" name="Google Shape;486;p1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7" name="Google Shape;487;p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88"/>
        <p:cNvGrpSpPr/>
        <p:nvPr/>
      </p:nvGrpSpPr>
      <p:grpSpPr>
        <a:xfrm>
          <a:off x="0" y="0"/>
          <a:ext cx="0" cy="0"/>
          <a:chOff x="0" y="0"/>
          <a:chExt cx="0" cy="0"/>
        </a:xfrm>
      </p:grpSpPr>
      <p:sp>
        <p:nvSpPr>
          <p:cNvPr id="489" name="Google Shape;489;p1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0" name="Google Shape;490;p11"/>
          <p:cNvSpPr txBox="1">
            <a:spLocks noGrp="1"/>
          </p:cNvSpPr>
          <p:nvPr>
            <p:ph type="body" idx="1"/>
          </p:nvPr>
        </p:nvSpPr>
        <p:spPr>
          <a:xfrm rot="5400000">
            <a:off x="1981200" y="-457200"/>
            <a:ext cx="5181600" cy="82296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1" name="Google Shape;491;p1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2" name="Google Shape;492;p1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3" name="Google Shape;493;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4"/>
        <p:cNvGrpSpPr/>
        <p:nvPr/>
      </p:nvGrpSpPr>
      <p:grpSpPr>
        <a:xfrm>
          <a:off x="0" y="0"/>
          <a:ext cx="0" cy="0"/>
          <a:chOff x="0" y="0"/>
          <a:chExt cx="0" cy="0"/>
        </a:xfrm>
      </p:grpSpPr>
      <p:sp>
        <p:nvSpPr>
          <p:cNvPr id="495" name="Google Shape;495;p12"/>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6" name="Google Shape;496;p12"/>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7" name="Google Shape;497;p1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8" name="Google Shape;498;p1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9" name="Google Shape;499;p1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5"/>
        <p:cNvGrpSpPr/>
        <p:nvPr/>
      </p:nvGrpSpPr>
      <p:grpSpPr>
        <a:xfrm>
          <a:off x="0" y="0"/>
          <a:ext cx="0" cy="0"/>
          <a:chOff x="0" y="0"/>
          <a:chExt cx="0" cy="0"/>
        </a:xfrm>
      </p:grpSpPr>
      <p:sp>
        <p:nvSpPr>
          <p:cNvPr id="426" name="Google Shape;426;p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27" name="Google Shape;427;p1"/>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428" name="Google Shape;428;p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29" name="Google Shape;429;p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30" name="Google Shape;430;p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marR="0" lvl="1" indent="0" algn="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marR="0" lvl="2" indent="0" algn="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marR="0" lvl="3" indent="0" algn="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marR="0" lvl="4" indent="0" algn="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marR="0" lvl="5" indent="0" algn="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marR="0" lvl="6" indent="0" algn="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marR="0" lvl="7" indent="0" algn="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marR="0" lvl="8" indent="0" algn="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graphicFrame>
        <p:nvGraphicFramePr>
          <p:cNvPr id="504" name="Google Shape;504;p13"/>
          <p:cNvGraphicFramePr/>
          <p:nvPr>
            <p:extLst>
              <p:ext uri="{D42A27DB-BD31-4B8C-83A1-F6EECF244321}">
                <p14:modId xmlns:p14="http://schemas.microsoft.com/office/powerpoint/2010/main" val="1530526099"/>
              </p:ext>
            </p:extLst>
          </p:nvPr>
        </p:nvGraphicFramePr>
        <p:xfrm>
          <a:off x="228600" y="304800"/>
          <a:ext cx="8639525" cy="5765675"/>
        </p:xfrm>
        <a:graphic>
          <a:graphicData uri="http://schemas.openxmlformats.org/drawingml/2006/table">
            <a:tbl>
              <a:tblPr firstRow="1" bandRow="1">
                <a:noFill/>
                <a:tableStyleId>{98077A5B-8C0D-40D8-8557-44EC33DBB8F6}</a:tableStyleId>
              </a:tblPr>
              <a:tblGrid>
                <a:gridCol w="1476725">
                  <a:extLst>
                    <a:ext uri="{9D8B030D-6E8A-4147-A177-3AD203B41FA5}">
                      <a16:colId xmlns:a16="http://schemas.microsoft.com/office/drawing/2014/main" val="20000"/>
                    </a:ext>
                  </a:extLst>
                </a:gridCol>
                <a:gridCol w="3520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gridCol w="2619725">
                  <a:extLst>
                    <a:ext uri="{9D8B030D-6E8A-4147-A177-3AD203B41FA5}">
                      <a16:colId xmlns:a16="http://schemas.microsoft.com/office/drawing/2014/main" val="20003"/>
                    </a:ext>
                  </a:extLst>
                </a:gridCol>
              </a:tblGrid>
              <a:tr h="1752600">
                <a:tc>
                  <a:txBody>
                    <a:bodyPr/>
                    <a:lstStyle/>
                    <a:p>
                      <a:pPr marL="0" marR="0" lvl="0" indent="0" algn="ctr" rtl="0">
                        <a:spcBef>
                          <a:spcPts val="0"/>
                        </a:spcBef>
                        <a:spcAft>
                          <a:spcPts val="0"/>
                        </a:spcAft>
                        <a:buNone/>
                      </a:pPr>
                      <a:endParaRPr sz="2200" u="none" strike="noStrike" cap="none">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3">
                  <a:txBody>
                    <a:bodyPr/>
                    <a:lstStyle/>
                    <a:p>
                      <a:pPr marL="0" marR="0" lvl="0" indent="0" algn="ctr" rtl="0">
                        <a:spcBef>
                          <a:spcPts val="0"/>
                        </a:spcBef>
                        <a:spcAft>
                          <a:spcPts val="0"/>
                        </a:spcAft>
                        <a:buNone/>
                      </a:pPr>
                      <a:r>
                        <a:rPr lang="en-US" sz="2800" u="none" strike="noStrike" cap="none" dirty="0">
                          <a:solidFill>
                            <a:schemeClr val="lt1"/>
                          </a:solidFill>
                        </a:rPr>
                        <a:t>S.S.V.P.S’s B. S. </a:t>
                      </a:r>
                      <a:r>
                        <a:rPr lang="en-US" sz="2800" u="none" strike="noStrike" cap="none" dirty="0" err="1">
                          <a:solidFill>
                            <a:schemeClr val="lt1"/>
                          </a:solidFill>
                        </a:rPr>
                        <a:t>Deore</a:t>
                      </a:r>
                      <a:r>
                        <a:rPr lang="en-US" sz="2800" u="none" strike="noStrike" cap="none" dirty="0">
                          <a:solidFill>
                            <a:schemeClr val="lt1"/>
                          </a:solidFill>
                        </a:rPr>
                        <a:t> Polytechnic, Dhule</a:t>
                      </a:r>
                      <a:endParaRPr sz="2800" u="none" strike="noStrike" cap="none" dirty="0">
                        <a:solidFill>
                          <a:schemeClr val="lt1"/>
                        </a:solidFill>
                      </a:endParaRPr>
                    </a:p>
                    <a:p>
                      <a:pPr marL="0" marR="0" lvl="0" indent="0" algn="ctr" rtl="0">
                        <a:lnSpc>
                          <a:spcPct val="100000"/>
                        </a:lnSpc>
                        <a:spcBef>
                          <a:spcPts val="0"/>
                        </a:spcBef>
                        <a:spcAft>
                          <a:spcPts val="0"/>
                        </a:spcAft>
                        <a:buClr>
                          <a:schemeClr val="lt1"/>
                        </a:buClr>
                        <a:buSzPts val="3200"/>
                        <a:buFont typeface="Times New Roman"/>
                        <a:buNone/>
                      </a:pPr>
                      <a:r>
                        <a:rPr lang="en-US" sz="3200" u="none" strike="noStrike" cap="none" dirty="0">
                          <a:solidFill>
                            <a:schemeClr val="lt1"/>
                          </a:solidFill>
                        </a:rPr>
                        <a:t>Department of Computer Engineering</a:t>
                      </a:r>
                      <a:endParaRPr dirty="0"/>
                    </a:p>
                    <a:p>
                      <a:pPr marL="0" marR="0" lvl="0" indent="0" algn="ctr" rtl="0">
                        <a:spcBef>
                          <a:spcPts val="0"/>
                        </a:spcBef>
                        <a:spcAft>
                          <a:spcPts val="0"/>
                        </a:spcAft>
                        <a:buNone/>
                      </a:pPr>
                      <a:r>
                        <a:rPr lang="en-US" sz="3200" b="0" i="1" u="none" strike="noStrike" cap="none" dirty="0">
                          <a:solidFill>
                            <a:schemeClr val="lt1"/>
                          </a:solidFill>
                        </a:rPr>
                        <a:t>Academic Year : </a:t>
                      </a:r>
                      <a:r>
                        <a:rPr lang="en-US" sz="3200" b="0" i="1" dirty="0"/>
                        <a:t>2026-2027</a:t>
                      </a:r>
                      <a:endParaRPr sz="3200" b="0" i="1" u="none" strike="noStrike" cap="none" dirty="0">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3225">
                <a:tc gridSpan="4">
                  <a:txBody>
                    <a:bodyPr/>
                    <a:lstStyle/>
                    <a:p>
                      <a:pPr marL="0" marR="0" lvl="0" indent="0" algn="ctr" rtl="0">
                        <a:spcBef>
                          <a:spcPts val="0"/>
                        </a:spcBef>
                        <a:spcAft>
                          <a:spcPts val="0"/>
                        </a:spcAft>
                        <a:buNone/>
                      </a:pPr>
                      <a:r>
                        <a:rPr lang="en-US" sz="2800" b="1" u="none" strike="noStrike" cap="none">
                          <a:solidFill>
                            <a:srgbClr val="002060"/>
                          </a:solidFill>
                          <a:latin typeface="Times New Roman"/>
                          <a:ea typeface="Times New Roman"/>
                          <a:cs typeface="Times New Roman"/>
                          <a:sym typeface="Times New Roman"/>
                        </a:rPr>
                        <a:t>SEMINAR AND PROJECT INITIATION COURSE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88550">
                <a:tc gridSpan="2">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u="none" strike="noStrike" cap="none">
                          <a:solidFill>
                            <a:srgbClr val="FF0000"/>
                          </a:solidFill>
                        </a:rPr>
                        <a:t>Sem : CO 5 K</a:t>
                      </a:r>
                      <a:endParaRPr sz="2100" b="1"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2060"/>
                        </a:buClr>
                        <a:buSzPts val="2400"/>
                        <a:buFont typeface="Times New Roman"/>
                        <a:buNone/>
                      </a:pPr>
                      <a:r>
                        <a:rPr lang="en-US" sz="2400" b="1" u="none" strike="noStrike" cap="none">
                          <a:solidFill>
                            <a:srgbClr val="002060"/>
                          </a:solidFill>
                          <a:latin typeface="Times New Roman"/>
                          <a:ea typeface="Times New Roman"/>
                          <a:cs typeface="Times New Roman"/>
                          <a:sym typeface="Times New Roman"/>
                        </a:rPr>
                        <a:t>SPI – 315003</a:t>
                      </a:r>
                      <a:endParaRPr sz="18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u="none" strike="noStrike" cap="none">
                          <a:solidFill>
                            <a:srgbClr val="FF0000"/>
                          </a:solidFill>
                        </a:rPr>
                        <a:t>Date  : </a:t>
                      </a:r>
                      <a:endParaRPr sz="2100" b="1"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88550">
                <a:tc gridSpan="4">
                  <a:txBody>
                    <a:bodyPr/>
                    <a:lstStyle/>
                    <a:p>
                      <a:pPr marL="0" marR="0" lvl="0" indent="0" algn="l" rtl="0">
                        <a:spcBef>
                          <a:spcPts val="0"/>
                        </a:spcBef>
                        <a:spcAft>
                          <a:spcPts val="0"/>
                        </a:spcAft>
                        <a:buNone/>
                      </a:pPr>
                      <a:r>
                        <a:rPr lang="en-US" sz="2400" b="1" u="none" strike="noStrike" cap="none" dirty="0">
                          <a:solidFill>
                            <a:schemeClr val="dk2"/>
                          </a:solidFill>
                        </a:rPr>
                        <a:t>Topic : AI Based Deepfake Detection</a:t>
                      </a:r>
                      <a:endParaRPr sz="2400" b="1" u="none" strike="noStrike" cap="none" dirty="0">
                        <a:solidFill>
                          <a:srgbClr val="0070C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488550">
                <a:tc gridSpan="2">
                  <a:txBody>
                    <a:bodyPr/>
                    <a:lstStyle/>
                    <a:p>
                      <a:pPr marL="0" marR="0" lvl="0" indent="0" algn="ctr" rtl="0">
                        <a:spcBef>
                          <a:spcPts val="0"/>
                        </a:spcBef>
                        <a:spcAft>
                          <a:spcPts val="0"/>
                        </a:spcAft>
                        <a:buNone/>
                      </a:pPr>
                      <a:r>
                        <a:rPr lang="en-US" sz="2400" b="1" u="none" strike="noStrike" cap="none"/>
                        <a:t>Sr. No.</a:t>
                      </a:r>
                      <a:endParaRPr sz="2400" b="1"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lnSpc>
                          <a:spcPct val="100000"/>
                        </a:lnSpc>
                        <a:spcBef>
                          <a:spcPts val="0"/>
                        </a:spcBef>
                        <a:spcAft>
                          <a:spcPts val="0"/>
                        </a:spcAft>
                        <a:buClr>
                          <a:schemeClr val="dk1"/>
                        </a:buClr>
                        <a:buSzPts val="2400"/>
                        <a:buFont typeface="Times New Roman"/>
                        <a:buNone/>
                      </a:pPr>
                      <a:r>
                        <a:rPr lang="en-US" sz="2400" b="1" u="none" strike="noStrike" cap="none" dirty="0"/>
                        <a:t>Name of Student</a:t>
                      </a:r>
                      <a:endParaRPr sz="2400" b="1"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4"/>
                  </a:ext>
                </a:extLst>
              </a:tr>
              <a:tr h="488550">
                <a:tc gridSpan="2">
                  <a:txBody>
                    <a:bodyPr/>
                    <a:lstStyle/>
                    <a:p>
                      <a:pPr marL="0" marR="0" lvl="0" indent="0" algn="ctr" rtl="0">
                        <a:spcBef>
                          <a:spcPts val="0"/>
                        </a:spcBef>
                        <a:spcAft>
                          <a:spcPts val="0"/>
                        </a:spcAft>
                        <a:buNone/>
                      </a:pPr>
                      <a:r>
                        <a:rPr lang="en-US" sz="2400" dirty="0"/>
                        <a:t>1</a:t>
                      </a: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IN" sz="2400" dirty="0"/>
                        <a:t>Adnan Anwarul Haque Ansari</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5"/>
                  </a:ext>
                </a:extLst>
              </a:tr>
              <a:tr h="488550">
                <a:tc gridSpan="2">
                  <a:txBody>
                    <a:bodyPr/>
                    <a:lstStyle/>
                    <a:p>
                      <a:pPr marL="0" marR="0" lvl="0" indent="0" algn="ctr" rtl="0">
                        <a:spcBef>
                          <a:spcPts val="0"/>
                        </a:spcBef>
                        <a:spcAft>
                          <a:spcPts val="0"/>
                        </a:spcAft>
                        <a:buNone/>
                      </a:pPr>
                      <a:r>
                        <a:rPr lang="en-US" sz="2400" dirty="0"/>
                        <a:t>2</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400" b="0" dirty="0"/>
                        <a:t>Vivek Umesh Gangurde</a:t>
                      </a:r>
                      <a:endParaRPr sz="2400" b="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6"/>
                  </a:ext>
                </a:extLst>
              </a:tr>
              <a:tr h="488550">
                <a:tc gridSpan="2">
                  <a:txBody>
                    <a:bodyPr/>
                    <a:lstStyle/>
                    <a:p>
                      <a:pPr marL="0" marR="0" lvl="0" indent="0" algn="ctr" rtl="0">
                        <a:spcBef>
                          <a:spcPts val="0"/>
                        </a:spcBef>
                        <a:spcAft>
                          <a:spcPts val="0"/>
                        </a:spcAft>
                        <a:buNone/>
                      </a:pPr>
                      <a:r>
                        <a:rPr lang="en-US" sz="2400" b="0" dirty="0">
                          <a:solidFill>
                            <a:schemeClr val="tx1"/>
                          </a:solidFill>
                        </a:rPr>
                        <a:t>3</a:t>
                      </a:r>
                      <a:endParaRPr sz="2400" b="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400" dirty="0"/>
                        <a:t>Rohit Aanna Karve</a:t>
                      </a: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7"/>
                  </a:ext>
                </a:extLst>
              </a:tr>
              <a:tr h="488550">
                <a:tc gridSpan="2">
                  <a:txBody>
                    <a:bodyPr/>
                    <a:lstStyle/>
                    <a:p>
                      <a:pPr marL="0" marR="0" lvl="0" indent="0" algn="ctr" rtl="0">
                        <a:spcBef>
                          <a:spcPts val="0"/>
                        </a:spcBef>
                        <a:spcAft>
                          <a:spcPts val="0"/>
                        </a:spcAft>
                        <a:buNone/>
                      </a:pPr>
                      <a:r>
                        <a:rPr lang="en-US" sz="2400" b="0" dirty="0">
                          <a:solidFill>
                            <a:schemeClr val="tx1"/>
                          </a:solidFill>
                        </a:rPr>
                        <a:t>4</a:t>
                      </a:r>
                      <a:endParaRPr sz="2400" b="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400" dirty="0" err="1"/>
                        <a:t>Bhavesh Ashok</a:t>
                      </a:r>
                      <a:r>
                        <a:rPr lang="en-US" sz="2400" dirty="0"/>
                        <a:t> Madne</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8"/>
                  </a:ext>
                </a:extLst>
              </a:tr>
            </a:tbl>
          </a:graphicData>
        </a:graphic>
      </p:graphicFrame>
      <p:pic>
        <p:nvPicPr>
          <p:cNvPr id="505" name="Google Shape;505;p13" descr="ssvpslogo.png"/>
          <p:cNvPicPr preferRelativeResize="0"/>
          <p:nvPr/>
        </p:nvPicPr>
        <p:blipFill rotWithShape="1">
          <a:blip r:embed="rId3">
            <a:alphaModFix/>
          </a:blip>
          <a:srcRect/>
          <a:stretch/>
        </p:blipFill>
        <p:spPr>
          <a:xfrm>
            <a:off x="381000" y="457200"/>
            <a:ext cx="1219200" cy="16272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77500" lnSpcReduction="20000"/>
          </a:bodyPr>
          <a:lstStyle/>
          <a:p>
            <a:pPr marL="514350" lvl="0" indent="-483870" algn="l" rtl="0">
              <a:spcBef>
                <a:spcPts val="0"/>
              </a:spcBef>
              <a:spcAft>
                <a:spcPts val="0"/>
              </a:spcAft>
              <a:buClr>
                <a:schemeClr val="dk1"/>
              </a:buClr>
              <a:buSzPct val="100000"/>
              <a:buChar char="•"/>
            </a:pPr>
            <a:r>
              <a:rPr lang="en-US" dirty="0"/>
              <a:t>Certificate</a:t>
            </a:r>
            <a:endParaRPr dirty="0"/>
          </a:p>
          <a:p>
            <a:pPr marL="514350" lvl="0" indent="-483870" algn="l" rtl="0">
              <a:spcBef>
                <a:spcPts val="496"/>
              </a:spcBef>
              <a:spcAft>
                <a:spcPts val="0"/>
              </a:spcAft>
              <a:buClr>
                <a:schemeClr val="dk1"/>
              </a:buClr>
              <a:buSzPct val="100000"/>
              <a:buChar char="•"/>
            </a:pPr>
            <a:r>
              <a:rPr lang="en-US" dirty="0"/>
              <a:t>Abstract </a:t>
            </a:r>
            <a:endParaRPr dirty="0"/>
          </a:p>
          <a:p>
            <a:pPr marL="514350" lvl="0" indent="-483870" algn="l" rtl="0">
              <a:spcBef>
                <a:spcPts val="496"/>
              </a:spcBef>
              <a:spcAft>
                <a:spcPts val="0"/>
              </a:spcAft>
              <a:buClr>
                <a:schemeClr val="dk1"/>
              </a:buClr>
              <a:buSzPct val="100000"/>
              <a:buFont typeface="Arial"/>
              <a:buAutoNum type="arabicPeriod"/>
            </a:pPr>
            <a:r>
              <a:rPr lang="en-US" dirty="0"/>
              <a:t>Introduction</a:t>
            </a:r>
            <a:endParaRPr dirty="0"/>
          </a:p>
          <a:p>
            <a:pPr marL="514350" lvl="0" indent="-483870" algn="l" rtl="0">
              <a:spcBef>
                <a:spcPts val="496"/>
              </a:spcBef>
              <a:spcAft>
                <a:spcPts val="0"/>
              </a:spcAft>
              <a:buClr>
                <a:schemeClr val="dk1"/>
              </a:buClr>
              <a:buSzPct val="100000"/>
              <a:buFont typeface="Arial"/>
              <a:buAutoNum type="arabicPeriod"/>
            </a:pPr>
            <a:r>
              <a:rPr lang="en-US" dirty="0"/>
              <a:t>Literature Review</a:t>
            </a:r>
            <a:endParaRPr dirty="0"/>
          </a:p>
          <a:p>
            <a:pPr marL="514350" lvl="0" indent="-483870" algn="l" rtl="0">
              <a:spcBef>
                <a:spcPts val="496"/>
              </a:spcBef>
              <a:spcAft>
                <a:spcPts val="0"/>
              </a:spcAft>
              <a:buClr>
                <a:schemeClr val="dk1"/>
              </a:buClr>
              <a:buSzPct val="100000"/>
              <a:buFont typeface="Arial"/>
              <a:buAutoNum type="arabicPeriod"/>
            </a:pPr>
            <a:r>
              <a:rPr lang="en-US" dirty="0"/>
              <a:t>Information/Chapters</a:t>
            </a:r>
            <a:endParaRPr dirty="0"/>
          </a:p>
          <a:p>
            <a:pPr marL="514350" lvl="0" indent="-483870" algn="l" rtl="0">
              <a:spcBef>
                <a:spcPts val="496"/>
              </a:spcBef>
              <a:spcAft>
                <a:spcPts val="0"/>
              </a:spcAft>
              <a:buClr>
                <a:schemeClr val="dk1"/>
              </a:buClr>
              <a:buSzPct val="100000"/>
              <a:buFont typeface="Arial"/>
              <a:buAutoNum type="arabicPeriod"/>
            </a:pPr>
            <a:r>
              <a:rPr lang="en-US" dirty="0"/>
              <a:t>Advantages and Disadvantages</a:t>
            </a:r>
            <a:endParaRPr dirty="0"/>
          </a:p>
          <a:p>
            <a:pPr marL="514350" lvl="0" indent="-483870" algn="l" rtl="0">
              <a:spcBef>
                <a:spcPts val="496"/>
              </a:spcBef>
              <a:spcAft>
                <a:spcPts val="0"/>
              </a:spcAft>
              <a:buClr>
                <a:schemeClr val="dk1"/>
              </a:buClr>
              <a:buSzPct val="100000"/>
              <a:buFont typeface="Arial"/>
              <a:buAutoNum type="arabicPeriod"/>
            </a:pPr>
            <a:r>
              <a:rPr lang="en-US" dirty="0"/>
              <a:t>Conclusion</a:t>
            </a:r>
            <a:endParaRPr dirty="0"/>
          </a:p>
          <a:p>
            <a:pPr marL="514350" lvl="0" indent="-483870" algn="l" rtl="0">
              <a:spcBef>
                <a:spcPts val="496"/>
              </a:spcBef>
              <a:spcAft>
                <a:spcPts val="0"/>
              </a:spcAft>
              <a:buClr>
                <a:schemeClr val="dk1"/>
              </a:buClr>
              <a:buSzPct val="100000"/>
              <a:buFont typeface="Arial"/>
              <a:buAutoNum type="arabicPeriod"/>
            </a:pPr>
            <a:r>
              <a:rPr lang="en-US" dirty="0"/>
              <a:t>Project Initiation : </a:t>
            </a:r>
            <a:endParaRPr dirty="0"/>
          </a:p>
          <a:p>
            <a:pPr marL="742950" lvl="0" indent="0" algn="l" rtl="0">
              <a:spcBef>
                <a:spcPts val="434"/>
              </a:spcBef>
              <a:spcAft>
                <a:spcPts val="0"/>
              </a:spcAft>
              <a:buNone/>
            </a:pPr>
            <a:r>
              <a:rPr lang="en-US" sz="2800" dirty="0"/>
              <a:t>6. 1 Description of problem statement.</a:t>
            </a:r>
            <a:endParaRPr sz="2800" dirty="0"/>
          </a:p>
          <a:p>
            <a:pPr marL="742950" lvl="0" indent="0" algn="l" rtl="0">
              <a:spcBef>
                <a:spcPts val="434"/>
              </a:spcBef>
              <a:spcAft>
                <a:spcPts val="0"/>
              </a:spcAft>
              <a:buNone/>
            </a:pPr>
            <a:r>
              <a:rPr lang="en-US" sz="2800" dirty="0"/>
              <a:t>6. 2 Scope and objectives.</a:t>
            </a:r>
            <a:endParaRPr sz="2800" dirty="0"/>
          </a:p>
          <a:p>
            <a:pPr marL="742950" lvl="0" indent="0" algn="l" rtl="0">
              <a:spcBef>
                <a:spcPts val="434"/>
              </a:spcBef>
              <a:spcAft>
                <a:spcPts val="0"/>
              </a:spcAft>
              <a:buNone/>
            </a:pPr>
            <a:r>
              <a:rPr lang="en-US" sz="2800" dirty="0"/>
              <a:t>6. 3 Stake holder</a:t>
            </a:r>
            <a:endParaRPr sz="2800" dirty="0"/>
          </a:p>
          <a:p>
            <a:pPr marL="742950" lvl="0" indent="0" algn="l" rtl="0">
              <a:spcBef>
                <a:spcPts val="434"/>
              </a:spcBef>
              <a:spcAft>
                <a:spcPts val="0"/>
              </a:spcAft>
              <a:buNone/>
            </a:pPr>
            <a:r>
              <a:rPr lang="en-US" sz="2800" dirty="0"/>
              <a:t>6. 4 Platform/ Equipment/ Resources identification.</a:t>
            </a:r>
            <a:endParaRPr sz="2800" dirty="0"/>
          </a:p>
          <a:p>
            <a:pPr marL="742950" lvl="0" indent="0" algn="l" rtl="0">
              <a:spcBef>
                <a:spcPts val="434"/>
              </a:spcBef>
              <a:spcAft>
                <a:spcPts val="0"/>
              </a:spcAft>
              <a:buNone/>
            </a:pPr>
            <a:r>
              <a:rPr lang="en-US" sz="2800" dirty="0"/>
              <a:t>Seminar Presentation</a:t>
            </a:r>
            <a:endParaRPr sz="2800" dirty="0"/>
          </a:p>
          <a:p>
            <a:pPr marL="514350" lvl="0" indent="-483870" algn="l" rtl="0">
              <a:spcBef>
                <a:spcPts val="496"/>
              </a:spcBef>
              <a:spcAft>
                <a:spcPts val="0"/>
              </a:spcAft>
              <a:buClr>
                <a:schemeClr val="dk1"/>
              </a:buClr>
              <a:buSzPct val="100000"/>
              <a:buFont typeface="Arial"/>
              <a:buAutoNum type="arabicPeriod"/>
            </a:pPr>
            <a:r>
              <a:rPr lang="en-US" dirty="0"/>
              <a:t>Bibliography</a:t>
            </a:r>
            <a:endParaRPr dirty="0"/>
          </a:p>
          <a:p>
            <a:pPr marL="514350" lvl="0" indent="-483870" algn="l" rtl="0">
              <a:spcBef>
                <a:spcPts val="496"/>
              </a:spcBef>
              <a:spcAft>
                <a:spcPts val="0"/>
              </a:spcAft>
              <a:buClr>
                <a:schemeClr val="dk1"/>
              </a:buClr>
              <a:buSzPct val="100000"/>
              <a:buFont typeface="Arial"/>
              <a:buAutoNum type="arabicPeriod"/>
            </a:pPr>
            <a:r>
              <a:rPr lang="en-US" dirty="0"/>
              <a:t>References</a:t>
            </a:r>
            <a:endParaRPr dirty="0"/>
          </a:p>
          <a:p>
            <a:pPr marL="342900" lvl="0" indent="-185420" algn="l" rtl="0">
              <a:spcBef>
                <a:spcPts val="496"/>
              </a:spcBef>
              <a:spcAft>
                <a:spcPts val="0"/>
              </a:spcAft>
              <a:buClr>
                <a:schemeClr val="dk1"/>
              </a:buClr>
              <a:buSzPct val="100000"/>
              <a:buNone/>
            </a:pPr>
            <a:endParaRPr dirty="0"/>
          </a:p>
        </p:txBody>
      </p:sp>
      <p:sp>
        <p:nvSpPr>
          <p:cNvPr id="511" name="Google Shape;511;p14"/>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Contents</a:t>
            </a:r>
            <a:endParaRPr/>
          </a:p>
        </p:txBody>
      </p:sp>
      <p:sp>
        <p:nvSpPr>
          <p:cNvPr id="512" name="Google Shape;512;p1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1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Abstract</a:t>
            </a:r>
            <a:endParaRPr/>
          </a:p>
        </p:txBody>
      </p:sp>
      <p:sp>
        <p:nvSpPr>
          <p:cNvPr id="518" name="Google Shape;518;p15"/>
          <p:cNvSpPr txBox="1">
            <a:spLocks noGrp="1"/>
          </p:cNvSpPr>
          <p:nvPr>
            <p:ph type="body" idx="1"/>
          </p:nvPr>
        </p:nvSpPr>
        <p:spPr>
          <a:xfrm>
            <a:off x="457200" y="1219200"/>
            <a:ext cx="8229600" cy="4739719"/>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82800" tIns="45700" rIns="82800" bIns="45700" anchor="t" anchorCtr="0">
            <a:spAutoFit/>
          </a:bodyPr>
          <a:lstStyle/>
          <a:p>
            <a:pPr marL="342900" lvl="0" indent="-139700">
              <a:spcBef>
                <a:spcPts val="0"/>
              </a:spcBef>
              <a:buSzPts val="3200"/>
              <a:buNone/>
            </a:pPr>
            <a:endParaRPr lang="en-US" sz="1800" dirty="0"/>
          </a:p>
          <a:p>
            <a:pPr marL="342900" lvl="0" indent="-139700">
              <a:spcBef>
                <a:spcPts val="0"/>
              </a:spcBef>
              <a:buSzPts val="3200"/>
              <a:buNone/>
            </a:pPr>
            <a:r>
              <a:rPr lang="en-US" sz="1800" dirty="0"/>
              <a:t>  Deepfakes are AI-generated or manipulated images, videos, and audio that can appear genuine to viewers, created by altering a face, expression, or voice. While synthetic media can support film production, education, and creative work, malicious use can enable impersonation, fraud, and misinformation. As generated media becomes more realistic, visual inspection alone is often insufficient to judge authenticity, making AI-based detection important for digital media verification and forensics. This seminar reviews research on Convolutional Neural Networks (CNNs), benchmark datasets, hybrid CNN-Transformer models, and graph-based detection approaches, and discusses a workflow that preprocesses media, extracts facial features, classifies frames, and aggregates predictions into a video-level estimate. Key challenges include compression, dataset bias, and poor performance on unseen manipulation types. The proposed system is intended as a screening aid, to be checked alongside reliable sources rather than treated as a final judgement.</a:t>
            </a:r>
          </a:p>
          <a:p>
            <a:pPr marL="342900" lvl="0" indent="-139700" algn="just">
              <a:spcBef>
                <a:spcPts val="0"/>
              </a:spcBef>
              <a:buSzPts val="3200"/>
              <a:buNone/>
            </a:pPr>
            <a:r>
              <a:rPr lang="en-US" sz="1800" dirty="0"/>
              <a:t>  </a:t>
            </a:r>
            <a:endParaRPr lang="en-US" dirty="0"/>
          </a:p>
          <a:p>
            <a:pPr marL="342900" lvl="0" indent="-139700" algn="just">
              <a:spcBef>
                <a:spcPts val="0"/>
              </a:spcBef>
              <a:buSzPts val="3200"/>
              <a:buNone/>
            </a:pPr>
            <a:r>
              <a:rPr lang="en-US" dirty="0"/>
              <a:t>  </a:t>
            </a:r>
            <a:endParaRPr dirty="0"/>
          </a:p>
        </p:txBody>
      </p:sp>
      <p:sp>
        <p:nvSpPr>
          <p:cNvPr id="519" name="Google Shape;519;p1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1. Introduction</a:t>
            </a:r>
            <a:endParaRPr/>
          </a:p>
        </p:txBody>
      </p:sp>
      <p:sp>
        <p:nvSpPr>
          <p:cNvPr id="525" name="Google Shape;525;p1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lang="en-US" sz="1800" dirty="0"/>
              <a:t>AI has made it possible to generate and manipulate images, videos, and audio with high realism.</a:t>
            </a:r>
          </a:p>
          <a:p>
            <a:r>
              <a:rPr lang="en-US" sz="1800" dirty="0"/>
              <a:t>Deepfakes alter or generate a face, expression, voice, or movement using machine-learning models.</a:t>
            </a:r>
          </a:p>
          <a:p>
            <a:r>
              <a:rPr lang="en-US" sz="1800" dirty="0"/>
              <a:t>Common techniques include face swapping, facial reenactment, face editing, and face synthesis.</a:t>
            </a:r>
          </a:p>
          <a:p>
            <a:r>
              <a:rPr lang="en-US" sz="1800" dirty="0"/>
              <a:t>Realistic fake media creates challenges for journalism, cybersecurity, and digital forensics.</a:t>
            </a:r>
          </a:p>
          <a:p>
            <a:r>
              <a:rPr lang="en-US" sz="1800" dirty="0"/>
              <a:t>AI-based detection analyses visual or audio patterns to separate genuine media from manipulated content.</a:t>
            </a:r>
          </a:p>
          <a:p>
            <a:r>
              <a:rPr lang="en-US" sz="1800" dirty="0"/>
              <a:t>This seminar studies detection techniques, compares research papers, and outlines a practical system workflow.</a:t>
            </a:r>
          </a:p>
          <a:p>
            <a:endParaRPr lang="en-US" sz="1800" dirty="0"/>
          </a:p>
          <a:p>
            <a:pPr marL="114300" indent="0">
              <a:buNone/>
            </a:pPr>
            <a:r>
              <a:rPr lang="en-US" sz="1800" dirty="0"/>
              <a:t>               </a:t>
            </a:r>
          </a:p>
          <a:p>
            <a:pPr marL="342900" lvl="0" indent="-139700" algn="l" rtl="0">
              <a:spcBef>
                <a:spcPts val="0"/>
              </a:spcBef>
              <a:spcAft>
                <a:spcPts val="0"/>
              </a:spcAft>
              <a:buClr>
                <a:schemeClr val="dk1"/>
              </a:buClr>
              <a:buSzPts val="3200"/>
              <a:buNone/>
            </a:pPr>
            <a:endParaRPr dirty="0"/>
          </a:p>
        </p:txBody>
      </p:sp>
      <p:sp>
        <p:nvSpPr>
          <p:cNvPr id="526" name="Google Shape;526;p1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7"/>
          <p:cNvSpPr txBox="1">
            <a:spLocks noGrp="1"/>
          </p:cNvSpPr>
          <p:nvPr>
            <p:ph type="title"/>
          </p:nvPr>
        </p:nvSpPr>
        <p:spPr>
          <a:xfrm>
            <a:off x="183872" y="274638"/>
            <a:ext cx="8502928"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2. Literature Review</a:t>
            </a:r>
            <a:endParaRPr/>
          </a:p>
        </p:txBody>
      </p:sp>
      <p:sp>
        <p:nvSpPr>
          <p:cNvPr id="532" name="Google Shape;532;p17"/>
          <p:cNvSpPr txBox="1">
            <a:spLocks noGrp="1"/>
          </p:cNvSpPr>
          <p:nvPr>
            <p:ph type="body" idx="1"/>
          </p:nvPr>
        </p:nvSpPr>
        <p:spPr>
          <a:xfrm>
            <a:off x="183872" y="1219200"/>
            <a:ext cx="8502928" cy="53641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r>
              <a:rPr lang="en-GB" dirty="0"/>
              <a:t>              </a:t>
            </a:r>
            <a:endParaRPr dirty="0"/>
          </a:p>
        </p:txBody>
      </p:sp>
      <p:sp>
        <p:nvSpPr>
          <p:cNvPr id="533" name="Google Shape;533;p1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a:t>
            </a:fld>
            <a:endParaRPr/>
          </a:p>
        </p:txBody>
      </p:sp>
      <p:graphicFrame>
        <p:nvGraphicFramePr>
          <p:cNvPr id="3" name="Table 2">
            <a:extLst>
              <a:ext uri="{FF2B5EF4-FFF2-40B4-BE49-F238E27FC236}">
                <a16:creationId xmlns:a16="http://schemas.microsoft.com/office/drawing/2014/main" id="{20C7D25D-C2DD-14C4-3795-EFBE3BAD0452}"/>
              </a:ext>
            </a:extLst>
          </p:cNvPr>
          <p:cNvGraphicFramePr>
            <a:graphicFrameLocks noGrp="1"/>
          </p:cNvGraphicFramePr>
          <p:nvPr>
            <p:extLst>
              <p:ext uri="{D42A27DB-BD31-4B8C-83A1-F6EECF244321}">
                <p14:modId xmlns:p14="http://schemas.microsoft.com/office/powerpoint/2010/main" val="4112986178"/>
              </p:ext>
            </p:extLst>
          </p:nvPr>
        </p:nvGraphicFramePr>
        <p:xfrm>
          <a:off x="183872" y="1219200"/>
          <a:ext cx="8502929" cy="5364163"/>
        </p:xfrm>
        <a:graphic>
          <a:graphicData uri="http://schemas.openxmlformats.org/drawingml/2006/table">
            <a:tbl>
              <a:tblPr firstRow="1" firstCol="1" bandRow="1">
                <a:tableStyleId>{BC89EF96-8CEA-46FF-86C4-4CE0E7609802}</a:tableStyleId>
              </a:tblPr>
              <a:tblGrid>
                <a:gridCol w="453437">
                  <a:extLst>
                    <a:ext uri="{9D8B030D-6E8A-4147-A177-3AD203B41FA5}">
                      <a16:colId xmlns:a16="http://schemas.microsoft.com/office/drawing/2014/main" val="3671614926"/>
                    </a:ext>
                  </a:extLst>
                </a:gridCol>
                <a:gridCol w="1432374">
                  <a:extLst>
                    <a:ext uri="{9D8B030D-6E8A-4147-A177-3AD203B41FA5}">
                      <a16:colId xmlns:a16="http://schemas.microsoft.com/office/drawing/2014/main" val="2900298569"/>
                    </a:ext>
                  </a:extLst>
                </a:gridCol>
                <a:gridCol w="1735948">
                  <a:extLst>
                    <a:ext uri="{9D8B030D-6E8A-4147-A177-3AD203B41FA5}">
                      <a16:colId xmlns:a16="http://schemas.microsoft.com/office/drawing/2014/main" val="3617710171"/>
                    </a:ext>
                  </a:extLst>
                </a:gridCol>
                <a:gridCol w="1259413">
                  <a:extLst>
                    <a:ext uri="{9D8B030D-6E8A-4147-A177-3AD203B41FA5}">
                      <a16:colId xmlns:a16="http://schemas.microsoft.com/office/drawing/2014/main" val="1925426286"/>
                    </a:ext>
                  </a:extLst>
                </a:gridCol>
                <a:gridCol w="1647543">
                  <a:extLst>
                    <a:ext uri="{9D8B030D-6E8A-4147-A177-3AD203B41FA5}">
                      <a16:colId xmlns:a16="http://schemas.microsoft.com/office/drawing/2014/main" val="1753319277"/>
                    </a:ext>
                  </a:extLst>
                </a:gridCol>
                <a:gridCol w="1974214">
                  <a:extLst>
                    <a:ext uri="{9D8B030D-6E8A-4147-A177-3AD203B41FA5}">
                      <a16:colId xmlns:a16="http://schemas.microsoft.com/office/drawing/2014/main" val="1530639041"/>
                    </a:ext>
                  </a:extLst>
                </a:gridCol>
              </a:tblGrid>
              <a:tr h="582577">
                <a:tc>
                  <a:txBody>
                    <a:bodyPr/>
                    <a:lstStyle/>
                    <a:p>
                      <a:pPr algn="ctr">
                        <a:buNone/>
                      </a:pPr>
                      <a:r>
                        <a:rPr lang="en-US" sz="1100" dirty="0">
                          <a:effectLst/>
                          <a:latin typeface="Times New Roman" panose="02020603050405020304" pitchFamily="18" charset="0"/>
                          <a:cs typeface="Times New Roman" panose="02020603050405020304" pitchFamily="18" charset="0"/>
                        </a:rPr>
                        <a:t>Sr. No.</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dirty="0">
                          <a:effectLst/>
                          <a:latin typeface="Times New Roman" panose="02020603050405020304" pitchFamily="18" charset="0"/>
                          <a:cs typeface="Times New Roman" panose="02020603050405020304" pitchFamily="18" charset="0"/>
                        </a:rPr>
                        <a:t>Approach Type</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dirty="0">
                          <a:effectLst/>
                          <a:latin typeface="Times New Roman" panose="02020603050405020304" pitchFamily="18" charset="0"/>
                          <a:cs typeface="Times New Roman" panose="02020603050405020304" pitchFamily="18" charset="0"/>
                        </a:rPr>
                        <a:t>Technologies Used</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dirty="0">
                          <a:effectLst/>
                          <a:latin typeface="Times New Roman" panose="02020603050405020304" pitchFamily="18" charset="0"/>
                          <a:cs typeface="Times New Roman" panose="02020603050405020304" pitchFamily="18" charset="0"/>
                        </a:rPr>
                        <a:t>Dataset</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dirty="0">
                          <a:effectLst/>
                          <a:latin typeface="Times New Roman" panose="02020603050405020304" pitchFamily="18" charset="0"/>
                          <a:cs typeface="Times New Roman" panose="02020603050405020304" pitchFamily="18" charset="0"/>
                        </a:rPr>
                        <a:t>Key Objective</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dirty="0">
                          <a:effectLst/>
                          <a:latin typeface="Times New Roman" panose="02020603050405020304" pitchFamily="18" charset="0"/>
                          <a:cs typeface="Times New Roman" panose="02020603050405020304" pitchFamily="18" charset="0"/>
                        </a:rPr>
                        <a:t>Limitations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val="87233224"/>
                  </a:ext>
                </a:extLst>
              </a:tr>
              <a:tr h="1410134">
                <a:tc>
                  <a:txBody>
                    <a:bodyPr/>
                    <a:lstStyle/>
                    <a:p>
                      <a:pPr algn="ctr">
                        <a:buNone/>
                      </a:pPr>
                      <a:r>
                        <a:rPr lang="en-US" sz="1100" dirty="0">
                          <a:effectLst/>
                          <a:latin typeface="Times New Roman" panose="02020603050405020304" pitchFamily="18" charset="0"/>
                          <a:cs typeface="Times New Roman" panose="02020603050405020304" pitchFamily="18" charset="0"/>
                        </a:rPr>
                        <a:t>1</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spcAft>
                          <a:spcPts val="1200"/>
                        </a:spcAft>
                        <a:buNone/>
                      </a:pPr>
                      <a:r>
                        <a:rPr lang="en-US" sz="1100" dirty="0">
                          <a:effectLst/>
                          <a:latin typeface="Times New Roman" panose="02020603050405020304" pitchFamily="18" charset="0"/>
                          <a:cs typeface="Times New Roman" panose="02020603050405020304" pitchFamily="18" charset="0"/>
                        </a:rPr>
                        <a:t>Dataset and CNN benchmark</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sz="1100" dirty="0">
                          <a:effectLst/>
                          <a:latin typeface="Times New Roman" panose="02020603050405020304" pitchFamily="18" charset="0"/>
                          <a:cs typeface="Times New Roman" panose="02020603050405020304" pitchFamily="18" charset="0"/>
                        </a:rPr>
                        <a:t>XceptionNet / CNN; face tracking and cropping</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sz="1100">
                          <a:effectLst/>
                          <a:latin typeface="Times New Roman" panose="02020603050405020304" pitchFamily="18" charset="0"/>
                          <a:cs typeface="Times New Roman" panose="02020603050405020304" pitchFamily="18" charset="0"/>
                        </a:rPr>
                        <a:t>FaceForensics++ (about 1,000 videos; 4 manipulation methods)</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sz="1100">
                          <a:effectLst/>
                          <a:latin typeface="Times New Roman" panose="02020603050405020304" pitchFamily="18" charset="0"/>
                          <a:cs typeface="Times New Roman" panose="02020603050405020304" pitchFamily="18" charset="0"/>
                        </a:rPr>
                        <a:t>Provide a public benchmark and compare detectors across several facial-manipulation methods.</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sz="1100">
                          <a:effectLst/>
                          <a:latin typeface="Times New Roman" panose="02020603050405020304" pitchFamily="18" charset="0"/>
                          <a:cs typeface="Times New Roman" panose="02020603050405020304" pitchFamily="18" charset="0"/>
                        </a:rPr>
                        <a:t>Covers older manipulation methods; compression and unseen generators can reduce accuracy.</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val="3645284830"/>
                  </a:ext>
                </a:extLst>
              </a:tr>
              <a:tr h="1685726">
                <a:tc>
                  <a:txBody>
                    <a:bodyPr/>
                    <a:lstStyle/>
                    <a:p>
                      <a:pPr algn="ctr">
                        <a:buNone/>
                      </a:pPr>
                      <a:r>
                        <a:rPr lang="en-US" sz="1100">
                          <a:effectLst/>
                          <a:latin typeface="Times New Roman" panose="02020603050405020304" pitchFamily="18" charset="0"/>
                          <a:cs typeface="Times New Roman" panose="02020603050405020304" pitchFamily="18" charset="0"/>
                        </a:rPr>
                        <a:t>2</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spcAft>
                          <a:spcPts val="1200"/>
                        </a:spcAft>
                        <a:buNone/>
                      </a:pPr>
                      <a:r>
                        <a:rPr lang="en-US" sz="1100">
                          <a:effectLst/>
                          <a:latin typeface="Times New Roman" panose="02020603050405020304" pitchFamily="18" charset="0"/>
                          <a:cs typeface="Times New Roman" panose="02020603050405020304" pitchFamily="18" charset="0"/>
                        </a:rPr>
                        <a:t>Literature survey and taxonomy</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sz="1100" dirty="0">
                          <a:effectLst/>
                          <a:latin typeface="Times New Roman" panose="02020603050405020304" pitchFamily="18" charset="0"/>
                          <a:cs typeface="Times New Roman" panose="02020603050405020304" pitchFamily="18" charset="0"/>
                        </a:rPr>
                        <a:t>Face-forensics methods; machine learning and deep learning detectors reviewed</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sz="1100" dirty="0">
                          <a:effectLst/>
                          <a:latin typeface="Times New Roman" panose="02020603050405020304" pitchFamily="18" charset="0"/>
                          <a:cs typeface="Times New Roman" panose="02020603050405020304" pitchFamily="18" charset="0"/>
                        </a:rPr>
                        <a:t>Public face-manipulation databases reviewed</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sz="1100" dirty="0">
                          <a:effectLst/>
                          <a:latin typeface="Times New Roman" panose="02020603050405020304" pitchFamily="18" charset="0"/>
                          <a:cs typeface="Times New Roman" panose="02020603050405020304" pitchFamily="18" charset="0"/>
                        </a:rPr>
                        <a:t>Classify manipulation types and compare available datasets and detection approaches.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sz="1100" dirty="0">
                          <a:effectLst/>
                          <a:latin typeface="Times New Roman" panose="02020603050405020304" pitchFamily="18" charset="0"/>
                          <a:cs typeface="Times New Roman" panose="02020603050405020304" pitchFamily="18" charset="0"/>
                        </a:rPr>
                        <a:t>Survey findings depend on the studies available at publication time; new methods may behave differently.</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val="402128726"/>
                  </a:ext>
                </a:extLst>
              </a:tr>
              <a:tr h="1685726">
                <a:tc>
                  <a:txBody>
                    <a:bodyPr/>
                    <a:lstStyle/>
                    <a:p>
                      <a:pPr algn="ctr">
                        <a:buNone/>
                      </a:pPr>
                      <a:r>
                        <a:rPr lang="en-US" sz="1100" dirty="0">
                          <a:effectLst/>
                          <a:latin typeface="Times New Roman" panose="02020603050405020304" pitchFamily="18" charset="0"/>
                          <a:cs typeface="Times New Roman" panose="02020603050405020304" pitchFamily="18" charset="0"/>
                        </a:rPr>
                        <a:t>3</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spcAft>
                          <a:spcPts val="1200"/>
                        </a:spcAft>
                        <a:buNone/>
                      </a:pPr>
                      <a:r>
                        <a:rPr lang="en-US" sz="1100" dirty="0">
                          <a:effectLst/>
                          <a:latin typeface="Times New Roman" panose="02020603050405020304" pitchFamily="18" charset="0"/>
                          <a:cs typeface="Times New Roman" panose="02020603050405020304" pitchFamily="18" charset="0"/>
                        </a:rPr>
                        <a:t>Lightweight deep-learning detector</a:t>
                      </a:r>
                    </a:p>
                  </a:txBody>
                  <a:tcPr marL="18302" marR="18302" marT="16014" marB="16014"/>
                </a:tc>
                <a:tc>
                  <a:txBody>
                    <a:bodyPr/>
                    <a:lstStyle/>
                    <a:p>
                      <a:pPr marL="36000">
                        <a:spcAft>
                          <a:spcPts val="1200"/>
                        </a:spcAft>
                        <a:buNone/>
                      </a:pPr>
                      <a:r>
                        <a:rPr lang="en-US" sz="1100">
                          <a:effectLst/>
                          <a:latin typeface="Times New Roman" panose="02020603050405020304" pitchFamily="18" charset="0"/>
                          <a:cs typeface="Times New Roman" panose="02020603050405020304" pitchFamily="18" charset="0"/>
                        </a:rPr>
                        <a:t>Meso-4 and MesoInception-4 CNNs; frame-level score aggregation</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sz="1100">
                          <a:effectLst/>
                          <a:latin typeface="Times New Roman" panose="02020603050405020304" pitchFamily="18" charset="0"/>
                          <a:cs typeface="Times New Roman" panose="02020603050405020304" pitchFamily="18" charset="0"/>
                        </a:rPr>
                        <a:t>DeepFake and Face2Face video sets described by the study</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sz="1100" dirty="0">
                          <a:effectLst/>
                          <a:latin typeface="Times New Roman" panose="02020603050405020304" pitchFamily="18" charset="0"/>
                          <a:cs typeface="Times New Roman" panose="02020603050405020304" pitchFamily="18" charset="0"/>
                        </a:rPr>
                        <a:t>Provide a relatively small and efficient detector for facial video forgeries.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sz="1100" dirty="0">
                          <a:effectLst/>
                          <a:latin typeface="Times New Roman" panose="02020603050405020304" pitchFamily="18" charset="0"/>
                          <a:cs typeface="Times New Roman" panose="02020603050405020304" pitchFamily="18" charset="0"/>
                        </a:rPr>
                        <a:t>Focused on two early manipulation types; visual-only detection may miss newer or audio-based fakes.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val="17909049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04272B4-E94B-5454-9802-F52071294196}"/>
              </a:ext>
            </a:extLst>
          </p:cNvPr>
          <p:cNvSpPr>
            <a:spLocks noGrp="1"/>
          </p:cNvSpPr>
          <p:nvPr>
            <p:ph type="body" idx="1"/>
          </p:nvPr>
        </p:nvSpPr>
        <p:spPr>
          <a:xfrm>
            <a:off x="457200" y="346364"/>
            <a:ext cx="8229600" cy="6206836"/>
          </a:xfrm>
        </p:spPr>
        <p:txBody>
          <a:bodyPr/>
          <a:lstStyle/>
          <a:p>
            <a:pPr marL="114300" indent="0">
              <a:buNone/>
            </a:pPr>
            <a:r>
              <a:rPr lang="en-GB" dirty="0"/>
              <a:t>                    </a:t>
            </a:r>
            <a:endParaRPr lang="en-IN" dirty="0"/>
          </a:p>
        </p:txBody>
      </p:sp>
      <p:sp>
        <p:nvSpPr>
          <p:cNvPr id="4" name="Slide Number Placeholder 3">
            <a:extLst>
              <a:ext uri="{FF2B5EF4-FFF2-40B4-BE49-F238E27FC236}">
                <a16:creationId xmlns:a16="http://schemas.microsoft.com/office/drawing/2014/main" id="{A5E7E95C-F9D4-5682-C25C-9E845B3F765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graphicFrame>
        <p:nvGraphicFramePr>
          <p:cNvPr id="5" name="Table 4">
            <a:extLst>
              <a:ext uri="{FF2B5EF4-FFF2-40B4-BE49-F238E27FC236}">
                <a16:creationId xmlns:a16="http://schemas.microsoft.com/office/drawing/2014/main" id="{897499E5-8CB4-DAE8-21FB-4BE7CB70F5F3}"/>
              </a:ext>
            </a:extLst>
          </p:cNvPr>
          <p:cNvGraphicFramePr>
            <a:graphicFrameLocks noGrp="1"/>
          </p:cNvGraphicFramePr>
          <p:nvPr>
            <p:extLst>
              <p:ext uri="{D42A27DB-BD31-4B8C-83A1-F6EECF244321}">
                <p14:modId xmlns:p14="http://schemas.microsoft.com/office/powerpoint/2010/main" val="2069047230"/>
              </p:ext>
            </p:extLst>
          </p:nvPr>
        </p:nvGraphicFramePr>
        <p:xfrm>
          <a:off x="457200" y="346365"/>
          <a:ext cx="8229601" cy="6200350"/>
        </p:xfrm>
        <a:graphic>
          <a:graphicData uri="http://schemas.openxmlformats.org/drawingml/2006/table">
            <a:tbl>
              <a:tblPr firstRow="1" firstCol="1" bandRow="1">
                <a:tableStyleId>{BC89EF96-8CEA-46FF-86C4-4CE0E7609802}</a:tableStyleId>
              </a:tblPr>
              <a:tblGrid>
                <a:gridCol w="393032">
                  <a:extLst>
                    <a:ext uri="{9D8B030D-6E8A-4147-A177-3AD203B41FA5}">
                      <a16:colId xmlns:a16="http://schemas.microsoft.com/office/drawing/2014/main" val="1835422985"/>
                    </a:ext>
                  </a:extLst>
                </a:gridCol>
                <a:gridCol w="1432158">
                  <a:extLst>
                    <a:ext uri="{9D8B030D-6E8A-4147-A177-3AD203B41FA5}">
                      <a16:colId xmlns:a16="http://schemas.microsoft.com/office/drawing/2014/main" val="3080172688"/>
                    </a:ext>
                  </a:extLst>
                </a:gridCol>
                <a:gridCol w="1680145">
                  <a:extLst>
                    <a:ext uri="{9D8B030D-6E8A-4147-A177-3AD203B41FA5}">
                      <a16:colId xmlns:a16="http://schemas.microsoft.com/office/drawing/2014/main" val="643243970"/>
                    </a:ext>
                  </a:extLst>
                </a:gridCol>
                <a:gridCol w="1218929">
                  <a:extLst>
                    <a:ext uri="{9D8B030D-6E8A-4147-A177-3AD203B41FA5}">
                      <a16:colId xmlns:a16="http://schemas.microsoft.com/office/drawing/2014/main" val="430704381"/>
                    </a:ext>
                  </a:extLst>
                </a:gridCol>
                <a:gridCol w="1594583">
                  <a:extLst>
                    <a:ext uri="{9D8B030D-6E8A-4147-A177-3AD203B41FA5}">
                      <a16:colId xmlns:a16="http://schemas.microsoft.com/office/drawing/2014/main" val="2556017403"/>
                    </a:ext>
                  </a:extLst>
                </a:gridCol>
                <a:gridCol w="1910754">
                  <a:extLst>
                    <a:ext uri="{9D8B030D-6E8A-4147-A177-3AD203B41FA5}">
                      <a16:colId xmlns:a16="http://schemas.microsoft.com/office/drawing/2014/main" val="910270353"/>
                    </a:ext>
                  </a:extLst>
                </a:gridCol>
              </a:tblGrid>
              <a:tr h="639969">
                <a:tc>
                  <a:txBody>
                    <a:bodyPr/>
                    <a:lstStyle/>
                    <a:p>
                      <a:pPr algn="ctr">
                        <a:buNone/>
                      </a:pPr>
                      <a:r>
                        <a:rPr lang="en-US" sz="1100" dirty="0">
                          <a:effectLst/>
                          <a:latin typeface="Times New Roman" panose="02020603050405020304" pitchFamily="18" charset="0"/>
                          <a:cs typeface="Times New Roman" panose="02020603050405020304" pitchFamily="18" charset="0"/>
                        </a:rPr>
                        <a:t>Sr. No.</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a:effectLst/>
                          <a:latin typeface="Times New Roman" panose="02020603050405020304" pitchFamily="18" charset="0"/>
                          <a:cs typeface="Times New Roman" panose="02020603050405020304" pitchFamily="18" charset="0"/>
                        </a:rPr>
                        <a:t>Approach Type</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a:effectLst/>
                          <a:latin typeface="Times New Roman" panose="02020603050405020304" pitchFamily="18" charset="0"/>
                          <a:cs typeface="Times New Roman" panose="02020603050405020304" pitchFamily="18" charset="0"/>
                        </a:rPr>
                        <a:t>Technologies Used</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a:effectLst/>
                          <a:latin typeface="Times New Roman" panose="02020603050405020304" pitchFamily="18" charset="0"/>
                          <a:cs typeface="Times New Roman" panose="02020603050405020304" pitchFamily="18" charset="0"/>
                        </a:rPr>
                        <a:t>Dataset</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a:effectLst/>
                          <a:latin typeface="Times New Roman" panose="02020603050405020304" pitchFamily="18" charset="0"/>
                          <a:cs typeface="Times New Roman" panose="02020603050405020304" pitchFamily="18" charset="0"/>
                        </a:rPr>
                        <a:t>Key Objective</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a:effectLst/>
                          <a:latin typeface="Times New Roman" panose="02020603050405020304" pitchFamily="18" charset="0"/>
                          <a:cs typeface="Times New Roman" panose="02020603050405020304" pitchFamily="18" charset="0"/>
                        </a:rPr>
                        <a:t>Limitations</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val="421947184"/>
                  </a:ext>
                </a:extLst>
              </a:tr>
              <a:tr h="1614086">
                <a:tc>
                  <a:txBody>
                    <a:bodyPr/>
                    <a:lstStyle/>
                    <a:p>
                      <a:pPr algn="ctr">
                        <a:buNone/>
                      </a:pPr>
                      <a:r>
                        <a:rPr lang="en-US" sz="1100" b="0" dirty="0">
                          <a:effectLst/>
                          <a:latin typeface="Times New Roman" panose="02020603050405020304" pitchFamily="18" charset="0"/>
                          <a:cs typeface="Times New Roman" panose="02020603050405020304" pitchFamily="18" charset="0"/>
                        </a:rPr>
                        <a:t>4</a:t>
                      </a:r>
                      <a:endParaRPr lang="en-IN" sz="11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Survey of generation and detection</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Autoencoders, GANs, deep-learning and digital-forensics methods reviewed</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Datasets reported throughout the surveyed studies</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Summarise deepfake creation techniques, detection methods, challenges, and research trends.</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No single detector is proposed; the fast-moving field requires continued review and evaluation.</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val="3937688551"/>
                  </a:ext>
                </a:extLst>
              </a:tr>
              <a:tr h="2141845">
                <a:tc>
                  <a:txBody>
                    <a:bodyPr/>
                    <a:lstStyle/>
                    <a:p>
                      <a:pPr algn="ctr">
                        <a:buNone/>
                      </a:pPr>
                      <a:r>
                        <a:rPr lang="en-US" sz="1100" b="0" dirty="0">
                          <a:effectLst/>
                          <a:latin typeface="Times New Roman" panose="02020603050405020304" pitchFamily="18" charset="0"/>
                          <a:cs typeface="Times New Roman" panose="02020603050405020304" pitchFamily="18" charset="0"/>
                        </a:rPr>
                        <a:t>5</a:t>
                      </a:r>
                      <a:endParaRPr lang="en-IN" sz="11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Systematic review of deep-learning detectors</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CNNs and other deep-learning approaches reviewed</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Public datasets and evaluation setups from reviewed studies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Compare detection categories, report their advantages and drawbacks, and identify research gaps.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Reported results depend on study-specific datasets and metrics; cross-dataset generalisation remains difficult.</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val="3042414057"/>
                  </a:ext>
                </a:extLst>
              </a:tr>
              <a:tr h="1804450">
                <a:tc>
                  <a:txBody>
                    <a:bodyPr/>
                    <a:lstStyle/>
                    <a:p>
                      <a:pPr algn="ctr">
                        <a:buNone/>
                      </a:pPr>
                      <a:r>
                        <a:rPr lang="en-US" sz="1100" b="0" dirty="0">
                          <a:effectLst/>
                          <a:latin typeface="Times New Roman" panose="02020603050405020304" pitchFamily="18" charset="0"/>
                          <a:cs typeface="Times New Roman" panose="02020603050405020304" pitchFamily="18" charset="0"/>
                        </a:rPr>
                        <a:t>6</a:t>
                      </a:r>
                      <a:endParaRPr lang="en-IN" sz="11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Digital-forensics survey</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Image forensics, metadata analysis, transfer learning and classifiers reviewed</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Deepfake detection datasets reported in the surveyed literature</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Review detection methods and datasets relevant to forensic investigation and trial courts.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A model output by itself cannot establish the source, chain of custody, or legal reliability of media.</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val="2290539708"/>
                  </a:ext>
                </a:extLst>
              </a:tr>
            </a:tbl>
          </a:graphicData>
        </a:graphic>
      </p:graphicFrame>
    </p:spTree>
    <p:extLst>
      <p:ext uri="{BB962C8B-B14F-4D97-AF65-F5344CB8AC3E}">
        <p14:creationId xmlns:p14="http://schemas.microsoft.com/office/powerpoint/2010/main" val="2959878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6D4444E-40A1-3D3D-EB8D-55BB4B08FF36}"/>
              </a:ext>
            </a:extLst>
          </p:cNvPr>
          <p:cNvSpPr>
            <a:spLocks noGrp="1"/>
          </p:cNvSpPr>
          <p:nvPr>
            <p:ph type="body" idx="1"/>
          </p:nvPr>
        </p:nvSpPr>
        <p:spPr>
          <a:xfrm>
            <a:off x="457200" y="360218"/>
            <a:ext cx="8229600" cy="6192982"/>
          </a:xfrm>
        </p:spPr>
        <p:txBody>
          <a:bodyPr/>
          <a:lstStyle/>
          <a:p>
            <a:pPr marL="114300" indent="0">
              <a:buNone/>
            </a:pPr>
            <a:r>
              <a:rPr lang="en-GB" dirty="0"/>
              <a:t>     </a:t>
            </a:r>
            <a:endParaRPr lang="en-IN" dirty="0"/>
          </a:p>
        </p:txBody>
      </p:sp>
      <p:sp>
        <p:nvSpPr>
          <p:cNvPr id="4" name="Slide Number Placeholder 3">
            <a:extLst>
              <a:ext uri="{FF2B5EF4-FFF2-40B4-BE49-F238E27FC236}">
                <a16:creationId xmlns:a16="http://schemas.microsoft.com/office/drawing/2014/main" id="{2F24B866-080A-1F9C-0A49-0D10F6EE19B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a:p>
        </p:txBody>
      </p:sp>
      <p:graphicFrame>
        <p:nvGraphicFramePr>
          <p:cNvPr id="5" name="Table 4">
            <a:extLst>
              <a:ext uri="{FF2B5EF4-FFF2-40B4-BE49-F238E27FC236}">
                <a16:creationId xmlns:a16="http://schemas.microsoft.com/office/drawing/2014/main" id="{DFACAE3B-8C3E-AE68-D226-1A669FFA2F4B}"/>
              </a:ext>
            </a:extLst>
          </p:cNvPr>
          <p:cNvGraphicFramePr>
            <a:graphicFrameLocks noGrp="1"/>
          </p:cNvGraphicFramePr>
          <p:nvPr>
            <p:extLst>
              <p:ext uri="{D42A27DB-BD31-4B8C-83A1-F6EECF244321}">
                <p14:modId xmlns:p14="http://schemas.microsoft.com/office/powerpoint/2010/main" val="1883470314"/>
              </p:ext>
            </p:extLst>
          </p:nvPr>
        </p:nvGraphicFramePr>
        <p:xfrm>
          <a:off x="457199" y="360217"/>
          <a:ext cx="8229602" cy="6196226"/>
        </p:xfrm>
        <a:graphic>
          <a:graphicData uri="http://schemas.openxmlformats.org/drawingml/2006/table">
            <a:tbl>
              <a:tblPr firstRow="1" firstCol="1" bandRow="1">
                <a:tableStyleId>{BC89EF96-8CEA-46FF-86C4-4CE0E7609802}</a:tableStyleId>
              </a:tblPr>
              <a:tblGrid>
                <a:gridCol w="415673">
                  <a:extLst>
                    <a:ext uri="{9D8B030D-6E8A-4147-A177-3AD203B41FA5}">
                      <a16:colId xmlns:a16="http://schemas.microsoft.com/office/drawing/2014/main" val="503446673"/>
                    </a:ext>
                  </a:extLst>
                </a:gridCol>
                <a:gridCol w="1409518">
                  <a:extLst>
                    <a:ext uri="{9D8B030D-6E8A-4147-A177-3AD203B41FA5}">
                      <a16:colId xmlns:a16="http://schemas.microsoft.com/office/drawing/2014/main" val="4191217371"/>
                    </a:ext>
                  </a:extLst>
                </a:gridCol>
                <a:gridCol w="1680146">
                  <a:extLst>
                    <a:ext uri="{9D8B030D-6E8A-4147-A177-3AD203B41FA5}">
                      <a16:colId xmlns:a16="http://schemas.microsoft.com/office/drawing/2014/main" val="2710468633"/>
                    </a:ext>
                  </a:extLst>
                </a:gridCol>
                <a:gridCol w="1218929">
                  <a:extLst>
                    <a:ext uri="{9D8B030D-6E8A-4147-A177-3AD203B41FA5}">
                      <a16:colId xmlns:a16="http://schemas.microsoft.com/office/drawing/2014/main" val="3751161214"/>
                    </a:ext>
                  </a:extLst>
                </a:gridCol>
                <a:gridCol w="1594582">
                  <a:extLst>
                    <a:ext uri="{9D8B030D-6E8A-4147-A177-3AD203B41FA5}">
                      <a16:colId xmlns:a16="http://schemas.microsoft.com/office/drawing/2014/main" val="3693101631"/>
                    </a:ext>
                  </a:extLst>
                </a:gridCol>
                <a:gridCol w="1910754">
                  <a:extLst>
                    <a:ext uri="{9D8B030D-6E8A-4147-A177-3AD203B41FA5}">
                      <a16:colId xmlns:a16="http://schemas.microsoft.com/office/drawing/2014/main" val="2374033641"/>
                    </a:ext>
                  </a:extLst>
                </a:gridCol>
              </a:tblGrid>
              <a:tr h="628043">
                <a:tc>
                  <a:txBody>
                    <a:bodyPr/>
                    <a:lstStyle/>
                    <a:p>
                      <a:pPr algn="ctr">
                        <a:buNone/>
                      </a:pPr>
                      <a:r>
                        <a:rPr lang="en-US" sz="1100" dirty="0">
                          <a:effectLst/>
                          <a:latin typeface="Times New Roman" panose="02020603050405020304" pitchFamily="18" charset="0"/>
                          <a:cs typeface="Times New Roman" panose="02020603050405020304" pitchFamily="18" charset="0"/>
                        </a:rPr>
                        <a:t>Sr. No.</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dirty="0">
                          <a:effectLst/>
                          <a:latin typeface="Times New Roman" panose="02020603050405020304" pitchFamily="18" charset="0"/>
                          <a:cs typeface="Times New Roman" panose="02020603050405020304" pitchFamily="18" charset="0"/>
                        </a:rPr>
                        <a:t>Approach Type</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dirty="0">
                          <a:effectLst/>
                          <a:latin typeface="Times New Roman" panose="02020603050405020304" pitchFamily="18" charset="0"/>
                          <a:cs typeface="Times New Roman" panose="02020603050405020304" pitchFamily="18" charset="0"/>
                        </a:rPr>
                        <a:t>Technologies Used</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a:effectLst/>
                          <a:latin typeface="Times New Roman" panose="02020603050405020304" pitchFamily="18" charset="0"/>
                          <a:cs typeface="Times New Roman" panose="02020603050405020304" pitchFamily="18" charset="0"/>
                        </a:rPr>
                        <a:t>Dataset</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a:effectLst/>
                          <a:latin typeface="Times New Roman" panose="02020603050405020304" pitchFamily="18" charset="0"/>
                          <a:cs typeface="Times New Roman" panose="02020603050405020304" pitchFamily="18" charset="0"/>
                        </a:rPr>
                        <a:t>Key Objective</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a:effectLst/>
                          <a:latin typeface="Times New Roman" panose="02020603050405020304" pitchFamily="18" charset="0"/>
                          <a:cs typeface="Times New Roman" panose="02020603050405020304" pitchFamily="18" charset="0"/>
                        </a:rPr>
                        <a:t>Limitations</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val="1070513301"/>
                  </a:ext>
                </a:extLst>
              </a:tr>
              <a:tr h="1926752">
                <a:tc>
                  <a:txBody>
                    <a:bodyPr/>
                    <a:lstStyle/>
                    <a:p>
                      <a:pPr algn="ctr">
                        <a:buNone/>
                      </a:pPr>
                      <a:r>
                        <a:rPr lang="en-US" sz="1100" b="0" dirty="0">
                          <a:effectLst/>
                          <a:latin typeface="Times New Roman" panose="02020603050405020304" pitchFamily="18" charset="0"/>
                          <a:cs typeface="Times New Roman" panose="02020603050405020304" pitchFamily="18" charset="0"/>
                        </a:rPr>
                        <a:t>7</a:t>
                      </a:r>
                      <a:endParaRPr lang="en-IN" sz="11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Hybrid CNN-Transformer model</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XceptionNet, EfficientNet-B4, Vision Transformer and image augmentation</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FaceForensics++ and DFDC</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Fuse complementary features and improve detection while reducing overfitting.</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Evaluation is benchmark-based; unseen generators, new recording conditions, and compression remain concerns.</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val="1828343925"/>
                  </a:ext>
                </a:extLst>
              </a:tr>
              <a:tr h="1656018">
                <a:tc>
                  <a:txBody>
                    <a:bodyPr/>
                    <a:lstStyle/>
                    <a:p>
                      <a:pPr algn="ctr">
                        <a:buNone/>
                      </a:pPr>
                      <a:r>
                        <a:rPr lang="en-US" sz="1100" b="0" dirty="0">
                          <a:effectLst/>
                          <a:latin typeface="Times New Roman" panose="02020603050405020304" pitchFamily="18" charset="0"/>
                          <a:cs typeface="Times New Roman" panose="02020603050405020304" pitchFamily="18" charset="0"/>
                        </a:rPr>
                        <a:t>8</a:t>
                      </a:r>
                      <a:endParaRPr lang="en-IN" sz="11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Self-supervised graph-based detector</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Vision Transformer, contrastive learning, graph convolution and Transformer discriminator</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Multiple deepfake benchmarks with cross-dataset and corruption tests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Learn more generalisable facial features and improve robustness and interpretability.</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The reported results are based on selected experiments; performance on all future manipulations is not assured.</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val="2006006099"/>
                  </a:ext>
                </a:extLst>
              </a:tr>
              <a:tr h="1985413">
                <a:tc>
                  <a:txBody>
                    <a:bodyPr/>
                    <a:lstStyle/>
                    <a:p>
                      <a:pPr algn="ctr">
                        <a:buNone/>
                      </a:pPr>
                      <a:r>
                        <a:rPr lang="en-US" sz="1100" b="0" dirty="0">
                          <a:effectLst/>
                          <a:latin typeface="Times New Roman" panose="02020603050405020304" pitchFamily="18" charset="0"/>
                          <a:cs typeface="Times New Roman" panose="02020603050405020304" pitchFamily="18" charset="0"/>
                        </a:rPr>
                        <a:t>9</a:t>
                      </a:r>
                      <a:endParaRPr lang="en-IN" sz="11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Survey of recent detection methods</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Neural networks, CNNs, audio-visual methods and alternative approaches reviewed</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Datasets used by the studies surveyed, including visual and audio examples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Compare recent strategies and analyse how methods and datasets affect detection.</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No universal approach is established; methods and reported results vary across datasets and media types.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val="1109910642"/>
                  </a:ext>
                </a:extLst>
              </a:tr>
            </a:tbl>
          </a:graphicData>
        </a:graphic>
      </p:graphicFrame>
    </p:spTree>
    <p:extLst>
      <p:ext uri="{BB962C8B-B14F-4D97-AF65-F5344CB8AC3E}">
        <p14:creationId xmlns:p14="http://schemas.microsoft.com/office/powerpoint/2010/main" val="3939053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B7A4394-3B9F-951C-C864-F2E9D1290C51}"/>
              </a:ext>
            </a:extLst>
          </p:cNvPr>
          <p:cNvSpPr>
            <a:spLocks noGrp="1"/>
          </p:cNvSpPr>
          <p:nvPr>
            <p:ph type="body" idx="1"/>
          </p:nvPr>
        </p:nvSpPr>
        <p:spPr>
          <a:xfrm>
            <a:off x="457200" y="387927"/>
            <a:ext cx="8229600" cy="6165273"/>
          </a:xfrm>
        </p:spPr>
        <p:txBody>
          <a:bodyPr/>
          <a:lstStyle/>
          <a:p>
            <a:pPr marL="114300" indent="0">
              <a:buNone/>
            </a:pPr>
            <a:r>
              <a:rPr lang="en-GB" dirty="0"/>
              <a:t>               </a:t>
            </a:r>
            <a:endParaRPr lang="en-IN" dirty="0"/>
          </a:p>
        </p:txBody>
      </p:sp>
      <p:sp>
        <p:nvSpPr>
          <p:cNvPr id="4" name="Slide Number Placeholder 3">
            <a:extLst>
              <a:ext uri="{FF2B5EF4-FFF2-40B4-BE49-F238E27FC236}">
                <a16:creationId xmlns:a16="http://schemas.microsoft.com/office/drawing/2014/main" id="{8305BFBB-B42E-0A36-F1C5-1A33CFEB293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graphicFrame>
        <p:nvGraphicFramePr>
          <p:cNvPr id="5" name="Table 4">
            <a:extLst>
              <a:ext uri="{FF2B5EF4-FFF2-40B4-BE49-F238E27FC236}">
                <a16:creationId xmlns:a16="http://schemas.microsoft.com/office/drawing/2014/main" id="{91D3346C-B134-68BD-1C8D-125021426C8A}"/>
              </a:ext>
            </a:extLst>
          </p:cNvPr>
          <p:cNvGraphicFramePr>
            <a:graphicFrameLocks noGrp="1"/>
          </p:cNvGraphicFramePr>
          <p:nvPr>
            <p:extLst>
              <p:ext uri="{D42A27DB-BD31-4B8C-83A1-F6EECF244321}">
                <p14:modId xmlns:p14="http://schemas.microsoft.com/office/powerpoint/2010/main" val="1175502647"/>
              </p:ext>
            </p:extLst>
          </p:nvPr>
        </p:nvGraphicFramePr>
        <p:xfrm>
          <a:off x="457200" y="387926"/>
          <a:ext cx="8229599" cy="6165273"/>
        </p:xfrm>
        <a:graphic>
          <a:graphicData uri="http://schemas.openxmlformats.org/drawingml/2006/table">
            <a:tbl>
              <a:tblPr firstRow="1" firstCol="1" bandRow="1">
                <a:tableStyleId>{BC89EF96-8CEA-46FF-86C4-4CE0E7609802}</a:tableStyleId>
              </a:tblPr>
              <a:tblGrid>
                <a:gridCol w="441158">
                  <a:extLst>
                    <a:ext uri="{9D8B030D-6E8A-4147-A177-3AD203B41FA5}">
                      <a16:colId xmlns:a16="http://schemas.microsoft.com/office/drawing/2014/main" val="3254615216"/>
                    </a:ext>
                  </a:extLst>
                </a:gridCol>
                <a:gridCol w="1384032">
                  <a:extLst>
                    <a:ext uri="{9D8B030D-6E8A-4147-A177-3AD203B41FA5}">
                      <a16:colId xmlns:a16="http://schemas.microsoft.com/office/drawing/2014/main" val="556449852"/>
                    </a:ext>
                  </a:extLst>
                </a:gridCol>
                <a:gridCol w="1680145">
                  <a:extLst>
                    <a:ext uri="{9D8B030D-6E8A-4147-A177-3AD203B41FA5}">
                      <a16:colId xmlns:a16="http://schemas.microsoft.com/office/drawing/2014/main" val="2774652637"/>
                    </a:ext>
                  </a:extLst>
                </a:gridCol>
                <a:gridCol w="1218929">
                  <a:extLst>
                    <a:ext uri="{9D8B030D-6E8A-4147-A177-3AD203B41FA5}">
                      <a16:colId xmlns:a16="http://schemas.microsoft.com/office/drawing/2014/main" val="470954700"/>
                    </a:ext>
                  </a:extLst>
                </a:gridCol>
                <a:gridCol w="1594582">
                  <a:extLst>
                    <a:ext uri="{9D8B030D-6E8A-4147-A177-3AD203B41FA5}">
                      <a16:colId xmlns:a16="http://schemas.microsoft.com/office/drawing/2014/main" val="3531857325"/>
                    </a:ext>
                  </a:extLst>
                </a:gridCol>
                <a:gridCol w="1910753">
                  <a:extLst>
                    <a:ext uri="{9D8B030D-6E8A-4147-A177-3AD203B41FA5}">
                      <a16:colId xmlns:a16="http://schemas.microsoft.com/office/drawing/2014/main" val="1242363683"/>
                    </a:ext>
                  </a:extLst>
                </a:gridCol>
              </a:tblGrid>
              <a:tr h="646625">
                <a:tc>
                  <a:txBody>
                    <a:bodyPr/>
                    <a:lstStyle/>
                    <a:p>
                      <a:pPr algn="ctr">
                        <a:buNone/>
                      </a:pPr>
                      <a:r>
                        <a:rPr lang="en-US" sz="1100" dirty="0">
                          <a:effectLst/>
                          <a:latin typeface="Times New Roman" panose="02020603050405020304" pitchFamily="18" charset="0"/>
                          <a:cs typeface="Times New Roman" panose="02020603050405020304" pitchFamily="18" charset="0"/>
                        </a:rPr>
                        <a:t>Sr. No.</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a:effectLst/>
                          <a:latin typeface="Times New Roman" panose="02020603050405020304" pitchFamily="18" charset="0"/>
                          <a:cs typeface="Times New Roman" panose="02020603050405020304" pitchFamily="18" charset="0"/>
                        </a:rPr>
                        <a:t>Approach Type</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a:effectLst/>
                          <a:latin typeface="Times New Roman" panose="02020603050405020304" pitchFamily="18" charset="0"/>
                          <a:cs typeface="Times New Roman" panose="02020603050405020304" pitchFamily="18" charset="0"/>
                        </a:rPr>
                        <a:t>Technologies Used</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a:effectLst/>
                          <a:latin typeface="Times New Roman" panose="02020603050405020304" pitchFamily="18" charset="0"/>
                          <a:cs typeface="Times New Roman" panose="02020603050405020304" pitchFamily="18" charset="0"/>
                        </a:rPr>
                        <a:t>Dataset</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a:effectLst/>
                          <a:latin typeface="Times New Roman" panose="02020603050405020304" pitchFamily="18" charset="0"/>
                          <a:cs typeface="Times New Roman" panose="02020603050405020304" pitchFamily="18" charset="0"/>
                        </a:rPr>
                        <a:t>Key Objective</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100">
                          <a:effectLst/>
                          <a:latin typeface="Times New Roman" panose="02020603050405020304" pitchFamily="18" charset="0"/>
                          <a:cs typeface="Times New Roman" panose="02020603050405020304" pitchFamily="18" charset="0"/>
                        </a:rPr>
                        <a:t>Limitations</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val="2642983439"/>
                  </a:ext>
                </a:extLst>
              </a:tr>
              <a:tr h="2140289">
                <a:tc>
                  <a:txBody>
                    <a:bodyPr/>
                    <a:lstStyle/>
                    <a:p>
                      <a:pPr algn="ctr">
                        <a:buNone/>
                      </a:pPr>
                      <a:r>
                        <a:rPr lang="en-US" sz="1100" b="0" dirty="0">
                          <a:effectLst/>
                          <a:latin typeface="Times New Roman" panose="02020603050405020304" pitchFamily="18" charset="0"/>
                          <a:cs typeface="Times New Roman" panose="02020603050405020304" pitchFamily="18" charset="0"/>
                        </a:rPr>
                        <a:t>10</a:t>
                      </a:r>
                      <a:endParaRPr lang="en-IN" sz="11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Vulnerability-driven Vision Transformer</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sz="1100" dirty="0">
                          <a:effectLst/>
                          <a:latin typeface="Times New Roman" panose="02020603050405020304" pitchFamily="18" charset="0"/>
                          <a:cs typeface="Times New Roman" panose="02020603050405020304" pitchFamily="18" charset="0"/>
                        </a:rPr>
                        <a:t>Vision Transformer with learning-based local attention to artifact-prone patches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sz="1100" dirty="0" err="1">
                          <a:effectLst/>
                          <a:latin typeface="Times New Roman" panose="02020603050405020304" pitchFamily="18" charset="0"/>
                          <a:cs typeface="Times New Roman" panose="02020603050405020304" pitchFamily="18" charset="0"/>
                        </a:rPr>
                        <a:t>FaceForensics++, Celeb-DF, WildDeepfake, DFD, DFDCP and DFDC</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sz="1100">
                          <a:effectLst/>
                          <a:latin typeface="Times New Roman" panose="02020603050405020304" pitchFamily="18" charset="0"/>
                          <a:cs typeface="Times New Roman" panose="02020603050405020304" pitchFamily="18" charset="0"/>
                        </a:rPr>
                        <a:t>Improve generalisation and computational efficiency by focusing on local forgery cues.</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sz="1100">
                          <a:effectLst/>
                          <a:latin typeface="Times New Roman" panose="02020603050405020304" pitchFamily="18" charset="0"/>
                          <a:cs typeface="Times New Roman" panose="02020603050405020304" pitchFamily="18" charset="0"/>
                        </a:rPr>
                        <a:t>Depends on visual artifacts and benchmark evaluations; future generators may leave different cues.</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val="1441612514"/>
                  </a:ext>
                </a:extLst>
              </a:tr>
              <a:tr h="1839549">
                <a:tc>
                  <a:txBody>
                    <a:bodyPr/>
                    <a:lstStyle/>
                    <a:p>
                      <a:pPr algn="ctr">
                        <a:buNone/>
                      </a:pPr>
                      <a:r>
                        <a:rPr lang="en-US" sz="1100" b="0" dirty="0">
                          <a:effectLst/>
                          <a:latin typeface="Times New Roman" panose="02020603050405020304" pitchFamily="18" charset="0"/>
                          <a:cs typeface="Times New Roman" panose="02020603050405020304" pitchFamily="18" charset="0"/>
                        </a:rPr>
                        <a:t>11</a:t>
                      </a:r>
                      <a:endParaRPr lang="en-IN" sz="11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a:effectLst/>
                          <a:latin typeface="Times New Roman" panose="02020603050405020304" pitchFamily="18" charset="0"/>
                          <a:cs typeface="Times New Roman" panose="02020603050405020304" pitchFamily="18" charset="0"/>
                        </a:rPr>
                        <a:t>Generation/detection survey and benchmark</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sz="1100" dirty="0" err="1">
                          <a:effectLst/>
                          <a:latin typeface="Times New Roman" panose="02020603050405020304" pitchFamily="18" charset="0"/>
                          <a:cs typeface="Times New Roman" panose="02020603050405020304" pitchFamily="18" charset="0"/>
                        </a:rPr>
                        <a:t>VAE, GAN, diffusion-based generation and representative detection methods reviewed</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sz="1100" dirty="0">
                          <a:effectLst/>
                          <a:latin typeface="Times New Roman" panose="02020603050405020304" pitchFamily="18" charset="0"/>
                          <a:cs typeface="Times New Roman" panose="02020603050405020304" pitchFamily="18" charset="0"/>
                        </a:rPr>
                        <a:t>Widely used benchmark datasets and metrics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sz="1100" dirty="0">
                          <a:effectLst/>
                          <a:latin typeface="Times New Roman" panose="02020603050405020304" pitchFamily="18" charset="0"/>
                          <a:cs typeface="Times New Roman" panose="02020603050405020304" pitchFamily="18" charset="0"/>
                        </a:rPr>
                        <a:t>Unify task definitions and evaluate representative generation and detection methods.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sz="1100" dirty="0">
                          <a:effectLst/>
                          <a:latin typeface="Times New Roman" panose="02020603050405020304" pitchFamily="18" charset="0"/>
                          <a:cs typeface="Times New Roman" panose="02020603050405020304" pitchFamily="18" charset="0"/>
                        </a:rPr>
                        <a:t>Benchmark results cannot cover every real-world context; fast-changing generation methods require updates.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val="2857610317"/>
                  </a:ext>
                </a:extLst>
              </a:tr>
              <a:tr h="1538810">
                <a:tc>
                  <a:txBody>
                    <a:bodyPr/>
                    <a:lstStyle/>
                    <a:p>
                      <a:pPr algn="ctr">
                        <a:buNone/>
                      </a:pPr>
                      <a:r>
                        <a:rPr lang="en-US" sz="1100" b="0" dirty="0">
                          <a:effectLst/>
                          <a:latin typeface="Times New Roman" panose="02020603050405020304" pitchFamily="18" charset="0"/>
                          <a:cs typeface="Times New Roman" panose="02020603050405020304" pitchFamily="18" charset="0"/>
                        </a:rPr>
                        <a:t>12</a:t>
                      </a:r>
                      <a:endParaRPr lang="en-IN" sz="11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sz="1100" dirty="0">
                          <a:effectLst/>
                          <a:latin typeface="Times New Roman" panose="02020603050405020304" pitchFamily="18" charset="0"/>
                          <a:cs typeface="Times New Roman" panose="02020603050405020304" pitchFamily="18" charset="0"/>
                        </a:rPr>
                        <a:t>Survey of autonomous multimodal detection</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sz="1100">
                          <a:effectLst/>
                          <a:latin typeface="Times New Roman" panose="02020603050405020304" pitchFamily="18" charset="0"/>
                          <a:cs typeface="Times New Roman" panose="02020603050405020304" pitchFamily="18" charset="0"/>
                        </a:rPr>
                        <a:t>CNNs, machine/deep learning, computer vision and audio-analysis methods reviewed</a:t>
                      </a:r>
                      <a:endParaRPr lang="en-IN" sz="11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sz="1100" dirty="0">
                          <a:effectLst/>
                          <a:latin typeface="Times New Roman" panose="02020603050405020304" pitchFamily="18" charset="0"/>
                          <a:cs typeface="Times New Roman" panose="02020603050405020304" pitchFamily="18" charset="0"/>
                        </a:rPr>
                        <a:t>Studies published from 2018-2024 and their evaluation datasets</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sz="1100" dirty="0">
                          <a:effectLst/>
                          <a:latin typeface="Times New Roman" panose="02020603050405020304" pitchFamily="18" charset="0"/>
                          <a:cs typeface="Times New Roman" panose="02020603050405020304" pitchFamily="18" charset="0"/>
                        </a:rPr>
                        <a:t>Review autonomous image, video, and audio detection methods and their evaluation.</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sz="1100" dirty="0">
                          <a:effectLst/>
                          <a:latin typeface="Times New Roman" panose="02020603050405020304" pitchFamily="18" charset="0"/>
                          <a:cs typeface="Times New Roman" panose="02020603050405020304" pitchFamily="18" charset="0"/>
                        </a:rPr>
                        <a:t>Results across modalities and datasets are not directly interchangeable; universal robust detection remains open.</a:t>
                      </a:r>
                      <a:endParaRPr lang="en-IN" sz="11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val="2200289591"/>
                  </a:ext>
                </a:extLst>
              </a:tr>
            </a:tbl>
          </a:graphicData>
        </a:graphic>
      </p:graphicFrame>
    </p:spTree>
    <p:extLst>
      <p:ext uri="{BB962C8B-B14F-4D97-AF65-F5344CB8AC3E}">
        <p14:creationId xmlns:p14="http://schemas.microsoft.com/office/powerpoint/2010/main" val="1959362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3. Information to seminar topic</a:t>
            </a:r>
            <a:endParaRPr/>
          </a:p>
        </p:txBody>
      </p:sp>
      <p:sp>
        <p:nvSpPr>
          <p:cNvPr id="539" name="Google Shape;539;p1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488950" indent="-285750">
              <a:spcBef>
                <a:spcPts val="0"/>
              </a:spcBef>
              <a:buSzPct val="100000"/>
            </a:pPr>
            <a:r>
              <a:rPr lang="en-US" sz="1800" b="1" dirty="0"/>
              <a:t>Technology : </a:t>
            </a:r>
            <a:r>
              <a:rPr lang="en-US" sz="1800" dirty="0"/>
              <a:t>Convolutional Neural Networks (CNNs), Vision Transformers, graph-based models</a:t>
            </a:r>
          </a:p>
          <a:p>
            <a:pPr marL="203200" indent="0">
              <a:spcBef>
                <a:spcPts val="0"/>
              </a:spcBef>
              <a:buSzPct val="100000"/>
              <a:buNone/>
            </a:pPr>
            <a:endParaRPr lang="en-US" sz="1800" dirty="0"/>
          </a:p>
          <a:p>
            <a:pPr marL="546100">
              <a:spcBef>
                <a:spcPts val="0"/>
              </a:spcBef>
              <a:buSzPct val="100000"/>
            </a:pPr>
            <a:r>
              <a:rPr lang="en-US" sz="1800" b="1" dirty="0"/>
              <a:t>Main purpose : </a:t>
            </a:r>
            <a:r>
              <a:rPr lang="en-US" sz="1800" dirty="0"/>
              <a:t>To estimate whether an image or video has been manipulated to produce a deepfake.</a:t>
            </a:r>
          </a:p>
          <a:p>
            <a:pPr marL="203200" indent="0">
              <a:spcBef>
                <a:spcPts val="0"/>
              </a:spcBef>
              <a:buSzPct val="100000"/>
              <a:buNone/>
            </a:pPr>
            <a:endParaRPr lang="en-US" sz="1800" dirty="0"/>
          </a:p>
          <a:p>
            <a:pPr marL="546100">
              <a:spcBef>
                <a:spcPts val="0"/>
              </a:spcBef>
              <a:buSzPct val="100000"/>
            </a:pPr>
            <a:r>
              <a:rPr lang="en-US" sz="1800" b="1" dirty="0"/>
              <a:t>Key concept : </a:t>
            </a:r>
            <a:r>
              <a:rPr lang="en-US" sz="1800" dirty="0"/>
              <a:t>Learning visual patterns such as texture, blending boundaries, and facial inconsistencies.</a:t>
            </a:r>
          </a:p>
          <a:p>
            <a:pPr marL="203200" indent="0">
              <a:spcBef>
                <a:spcPts val="0"/>
              </a:spcBef>
              <a:buSzPct val="100000"/>
              <a:buNone/>
            </a:pPr>
            <a:endParaRPr lang="en-US" sz="1800" dirty="0"/>
          </a:p>
          <a:p>
            <a:pPr marL="546100">
              <a:spcBef>
                <a:spcPts val="0"/>
              </a:spcBef>
              <a:buSzPct val="100000"/>
            </a:pPr>
            <a:r>
              <a:rPr lang="en-US" sz="1800" b="1" dirty="0"/>
              <a:t>Approach : </a:t>
            </a:r>
            <a:r>
              <a:rPr lang="en-US" sz="1800" dirty="0"/>
              <a:t>Extracts frames, detects and crops faces, classifies each sample, and aggregates scores into a video-level result.</a:t>
            </a:r>
          </a:p>
          <a:p>
            <a:pPr marL="203200" indent="0">
              <a:spcBef>
                <a:spcPts val="0"/>
              </a:spcBef>
              <a:buSzPct val="100000"/>
              <a:buNone/>
            </a:pPr>
            <a:endParaRPr lang="en-US" sz="1800" dirty="0"/>
          </a:p>
          <a:p>
            <a:pPr marL="546100">
              <a:spcBef>
                <a:spcPts val="0"/>
              </a:spcBef>
              <a:buSzPct val="100000"/>
            </a:pPr>
            <a:r>
              <a:rPr lang="en-US" sz="1800" b="1" dirty="0"/>
              <a:t>Main benefit : </a:t>
            </a:r>
            <a:r>
              <a:rPr lang="en-US" sz="1800" dirty="0"/>
              <a:t>Faster, consistent first-stage screening to support digital media verification and forensics.</a:t>
            </a:r>
          </a:p>
          <a:p>
            <a:pPr marL="203200" indent="0">
              <a:spcBef>
                <a:spcPts val="0"/>
              </a:spcBef>
              <a:buSzPct val="100000"/>
              <a:buNone/>
            </a:pPr>
            <a:endParaRPr lang="en-US" sz="1800" b="1" dirty="0"/>
          </a:p>
          <a:p>
            <a:pPr marL="546100">
              <a:spcBef>
                <a:spcPts val="0"/>
              </a:spcBef>
              <a:buSzPct val="100000"/>
            </a:pPr>
            <a:r>
              <a:rPr lang="en-US" sz="1800" b="1" dirty="0"/>
              <a:t>Application : </a:t>
            </a:r>
            <a:r>
              <a:rPr lang="en-US" sz="1800" dirty="0"/>
              <a:t>Can be applied to screening suspicious videos, journalism verification, and platform content moderation.</a:t>
            </a:r>
            <a:endParaRPr sz="1800" dirty="0"/>
          </a:p>
        </p:txBody>
      </p:sp>
      <p:sp>
        <p:nvSpPr>
          <p:cNvPr id="540" name="Google Shape;540;p1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22"/>
          <p:cNvSpPr txBox="1">
            <a:spLocks noGrp="1"/>
          </p:cNvSpPr>
          <p:nvPr>
            <p:ph type="title"/>
          </p:nvPr>
        </p:nvSpPr>
        <p:spPr>
          <a:xfrm>
            <a:off x="456178" y="304800"/>
            <a:ext cx="8229600" cy="104502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rtl="0">
              <a:spcBef>
                <a:spcPts val="0"/>
              </a:spcBef>
              <a:spcAft>
                <a:spcPts val="0"/>
              </a:spcAft>
              <a:buClr>
                <a:srgbClr val="002060"/>
              </a:buClr>
              <a:buSzPct val="100000"/>
              <a:buFont typeface="Arial"/>
              <a:buNone/>
            </a:pPr>
            <a:br>
              <a:rPr lang="en-US" sz="3600" dirty="0"/>
            </a:br>
            <a:r>
              <a:rPr lang="en-US" sz="3600" dirty="0"/>
              <a:t>3. Working Principle</a:t>
            </a:r>
            <a:endParaRPr sz="3600" dirty="0"/>
          </a:p>
          <a:p>
            <a:pPr marL="0" lvl="0" indent="0" algn="ctr" rtl="0">
              <a:spcBef>
                <a:spcPts val="0"/>
              </a:spcBef>
              <a:spcAft>
                <a:spcPts val="0"/>
              </a:spcAft>
              <a:buClr>
                <a:srgbClr val="002060"/>
              </a:buClr>
              <a:buSzPct val="100000"/>
              <a:buFont typeface="Arial"/>
              <a:buNone/>
            </a:pPr>
            <a:endParaRPr sz="3600" dirty="0"/>
          </a:p>
        </p:txBody>
      </p:sp>
      <p:sp>
        <p:nvSpPr>
          <p:cNvPr id="567" name="Google Shape;567;p22"/>
          <p:cNvSpPr txBox="1">
            <a:spLocks noGrp="1"/>
          </p:cNvSpPr>
          <p:nvPr>
            <p:ph type="body" idx="1"/>
          </p:nvPr>
        </p:nvSpPr>
        <p:spPr>
          <a:xfrm>
            <a:off x="457200" y="1524000"/>
            <a:ext cx="8229600" cy="5029199"/>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spcBef>
                <a:spcPts val="0"/>
              </a:spcBef>
              <a:buSzPts val="3200"/>
              <a:buNone/>
            </a:pPr>
            <a:endParaRPr lang="en-US" sz="1800" dirty="0"/>
          </a:p>
          <a:p>
            <a:pPr marL="342900" lvl="0" indent="-139700" algn="just">
              <a:spcBef>
                <a:spcPts val="0"/>
              </a:spcBef>
              <a:buSzPts val="3200"/>
              <a:buNone/>
            </a:pPr>
            <a:r>
              <a:rPr lang="en-US" sz="1800" dirty="0"/>
              <a:t>The workflow begins when a user submits an image or video for analysis.</a:t>
            </a:r>
          </a:p>
          <a:p>
            <a:pPr marL="342900" lvl="0" indent="-139700" algn="just">
              <a:spcBef>
                <a:spcPts val="0"/>
              </a:spcBef>
              <a:buSzPts val="3200"/>
              <a:buNone/>
            </a:pPr>
            <a:r>
              <a:rPr lang="en-US" sz="1800" dirty="0"/>
              <a:t>Frames are sampled, faces are detected and cropped, then resized and normalised.</a:t>
            </a:r>
          </a:p>
          <a:p>
            <a:pPr marL="342900" lvl="0" indent="-139700" algn="just">
              <a:spcBef>
                <a:spcPts val="0"/>
              </a:spcBef>
              <a:buSzPts val="3200"/>
              <a:buNone/>
            </a:pPr>
            <a:r>
              <a:rPr lang="en-US" sz="1800" dirty="0"/>
              <a:t>A CNN or hybrid model extracts features and classifies each sample.</a:t>
            </a:r>
          </a:p>
          <a:p>
            <a:pPr marL="342900" lvl="0" indent="-139700" algn="just">
              <a:spcBef>
                <a:spcPts val="0"/>
              </a:spcBef>
              <a:buSzPts val="3200"/>
              <a:buNone/>
            </a:pPr>
            <a:r>
              <a:rPr lang="en-US" sz="1800" dirty="0"/>
              <a:t>Frame-level scores are aggregated into a video-level real or fake estimate.</a:t>
            </a:r>
            <a:endParaRPr sz="1800" dirty="0"/>
          </a:p>
        </p:txBody>
      </p:sp>
      <p:sp>
        <p:nvSpPr>
          <p:cNvPr id="568" name="Google Shape;568;p22"/>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10</a:t>
            </a:fld>
            <a:endParaRPr/>
          </a:p>
        </p:txBody>
      </p:sp>
      <p:pic>
        <p:nvPicPr>
          <p:cNvPr id="3" name="Picture 2">
            <a:extLst>
              <a:ext uri="{FF2B5EF4-FFF2-40B4-BE49-F238E27FC236}">
                <a16:creationId xmlns:a16="http://schemas.microsoft.com/office/drawing/2014/main" id="{7CE1B8A2-D116-420C-D030-575286CA3F81}"/>
              </a:ext>
            </a:extLst>
          </p:cNvPr>
          <p:cNvPicPr>
            <a:picLocks noChangeAspect="1"/>
          </p:cNvPicPr>
          <p:nvPr/>
        </p:nvPicPr>
        <p:blipFill>
          <a:blip r:embed="rId2"/>
          <a:stretch>
            <a:fillRect/>
          </a:stretch>
        </p:blipFill>
        <p:spPr>
          <a:xfrm>
            <a:off x="1418790" y="3169676"/>
            <a:ext cx="6031047" cy="336922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22"/>
          <p:cNvSpPr txBox="1">
            <a:spLocks noGrp="1"/>
          </p:cNvSpPr>
          <p:nvPr>
            <p:ph type="title"/>
          </p:nvPr>
        </p:nvSpPr>
        <p:spPr>
          <a:xfrm>
            <a:off x="456178" y="304800"/>
            <a:ext cx="8229600" cy="104502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rtl="0">
              <a:spcBef>
                <a:spcPts val="0"/>
              </a:spcBef>
              <a:spcAft>
                <a:spcPts val="0"/>
              </a:spcAft>
              <a:buClr>
                <a:srgbClr val="002060"/>
              </a:buClr>
              <a:buSzPct val="100000"/>
              <a:buFont typeface="Arial"/>
              <a:buNone/>
            </a:pPr>
            <a:br>
              <a:rPr lang="en-US" sz="3600" dirty="0"/>
            </a:br>
            <a:r>
              <a:rPr lang="en-US" sz="3600" dirty="0"/>
              <a:t>3. System Architecture</a:t>
            </a:r>
            <a:endParaRPr sz="3600" dirty="0"/>
          </a:p>
          <a:p>
            <a:pPr marL="0" lvl="0" indent="0" algn="ctr" rtl="0">
              <a:spcBef>
                <a:spcPts val="0"/>
              </a:spcBef>
              <a:spcAft>
                <a:spcPts val="0"/>
              </a:spcAft>
              <a:buClr>
                <a:srgbClr val="002060"/>
              </a:buClr>
              <a:buSzPct val="100000"/>
              <a:buFont typeface="Arial"/>
              <a:buNone/>
            </a:pPr>
            <a:endParaRPr sz="3600" dirty="0"/>
          </a:p>
        </p:txBody>
      </p:sp>
      <p:sp>
        <p:nvSpPr>
          <p:cNvPr id="567" name="Google Shape;567;p22"/>
          <p:cNvSpPr txBox="1">
            <a:spLocks noGrp="1"/>
          </p:cNvSpPr>
          <p:nvPr>
            <p:ph type="body" idx="1"/>
          </p:nvPr>
        </p:nvSpPr>
        <p:spPr>
          <a:xfrm>
            <a:off x="457200" y="1524000"/>
            <a:ext cx="8229600" cy="5029199"/>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spcBef>
                <a:spcPts val="0"/>
              </a:spcBef>
              <a:buSzPts val="3200"/>
              <a:buNone/>
            </a:pPr>
            <a:endParaRPr lang="en-US" sz="1800" dirty="0"/>
          </a:p>
          <a:p>
            <a:pPr marL="342900" lvl="0" indent="-139700" algn="just">
              <a:spcBef>
                <a:spcPts val="0"/>
              </a:spcBef>
              <a:buSzPts val="3200"/>
              <a:buNone/>
            </a:pPr>
            <a:r>
              <a:rPr lang="en-US" sz="1800" dirty="0"/>
              <a:t>Main stages: user interface, pre-processing, feature learning, classification, and output.</a:t>
            </a:r>
          </a:p>
          <a:p>
            <a:pPr marL="342900" lvl="0" indent="-139700" algn="just">
              <a:spcBef>
                <a:spcPts val="0"/>
              </a:spcBef>
              <a:buSzPts val="3200"/>
              <a:buNone/>
            </a:pPr>
            <a:r>
              <a:rPr lang="en-US" sz="1800" dirty="0"/>
              <a:t>The detector is trained and validated on labelled real and manipulated datasets.</a:t>
            </a:r>
          </a:p>
          <a:p>
            <a:pPr marL="342900" lvl="0" indent="-139700" algn="just">
              <a:spcBef>
                <a:spcPts val="0"/>
              </a:spcBef>
              <a:buSzPts val="3200"/>
              <a:buNone/>
            </a:pPr>
            <a:r>
              <a:rPr lang="en-US" sz="1800" dirty="0"/>
              <a:t>Testing covers new data, compression, and unseen manipulation types.</a:t>
            </a:r>
          </a:p>
        </p:txBody>
      </p:sp>
      <p:sp>
        <p:nvSpPr>
          <p:cNvPr id="568" name="Google Shape;568;p22"/>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11</a:t>
            </a:fld>
            <a:endParaRPr/>
          </a:p>
        </p:txBody>
      </p:sp>
      <p:pic>
        <p:nvPicPr>
          <p:cNvPr id="3" name="Picture 2">
            <a:extLst>
              <a:ext uri="{FF2B5EF4-FFF2-40B4-BE49-F238E27FC236}">
                <a16:creationId xmlns:a16="http://schemas.microsoft.com/office/drawing/2014/main" id="{7CE1B8A2-D116-420C-D030-575286CA3F81}"/>
              </a:ext>
            </a:extLst>
          </p:cNvPr>
          <p:cNvPicPr>
            <a:picLocks noChangeAspect="1"/>
          </p:cNvPicPr>
          <p:nvPr/>
        </p:nvPicPr>
        <p:blipFill>
          <a:blip r:embed="rId2"/>
          <a:stretch>
            <a:fillRect/>
          </a:stretch>
        </p:blipFill>
        <p:spPr>
          <a:xfrm>
            <a:off x="1418790" y="3169676"/>
            <a:ext cx="6031047" cy="336922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19"/>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4. Advantages / Disadvantages</a:t>
            </a:r>
            <a:endParaRPr/>
          </a:p>
        </p:txBody>
      </p:sp>
      <p:sp>
        <p:nvSpPr>
          <p:cNvPr id="546" name="Google Shape;546;p19"/>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92500" lnSpcReduction="20000"/>
          </a:bodyPr>
          <a:lstStyle/>
          <a:p>
            <a:pPr marL="114300" indent="0">
              <a:buNone/>
            </a:pPr>
            <a:r>
              <a:rPr lang="en-US" sz="2000" b="1" dirty="0"/>
              <a:t>Advantages</a:t>
            </a:r>
          </a:p>
          <a:p>
            <a:pPr algn="just"/>
            <a:r>
              <a:rPr lang="en-US" sz="2000" dirty="0"/>
              <a:t>Faster screening: analyses many frames more quickly than manual inspection.</a:t>
            </a:r>
          </a:p>
          <a:p>
            <a:pPr algn="just"/>
            <a:r>
              <a:rPr lang="en-US" sz="2000" dirty="0"/>
              <a:t>Consistent analysis: applies the same learned criteria to every input.</a:t>
            </a:r>
          </a:p>
          <a:p>
            <a:pPr algn="just"/>
            <a:r>
              <a:rPr lang="en-US" sz="2000" dirty="0"/>
              <a:t>Useful for large collections: helps prioritise suspicious items for review.</a:t>
            </a:r>
          </a:p>
          <a:p>
            <a:pPr algn="just"/>
            <a:r>
              <a:rPr lang="en-US" sz="2000" dirty="0"/>
              <a:t>Adaptable methods: CNNs, Transformers, and graph-based methods can be improved over time.</a:t>
            </a:r>
          </a:p>
          <a:p>
            <a:pPr algn="just"/>
            <a:r>
              <a:rPr lang="en-US" sz="2000" dirty="0"/>
              <a:t>Benchmark evaluation: public datasets allow performance to be compared fairly.</a:t>
            </a:r>
          </a:p>
          <a:p>
            <a:pPr marL="114300" indent="0" algn="just">
              <a:buNone/>
            </a:pPr>
            <a:endParaRPr lang="en-US" sz="2000" dirty="0"/>
          </a:p>
          <a:p>
            <a:pPr marL="114300" indent="0" algn="just">
              <a:buNone/>
            </a:pPr>
            <a:r>
              <a:rPr lang="en-US" sz="2000" b="1" dirty="0"/>
              <a:t>Disadvantages</a:t>
            </a:r>
          </a:p>
          <a:p>
            <a:pPr algn="just"/>
            <a:r>
              <a:rPr lang="en-US" sz="2000" dirty="0"/>
              <a:t>False predictions: genuine media can be misclassified as fake, or vice versa.</a:t>
            </a:r>
          </a:p>
          <a:p>
            <a:pPr algn="just"/>
            <a:r>
              <a:rPr lang="en-US" sz="2000" dirty="0"/>
              <a:t>Limited generalisation: a model trained on one dataset may perform poorly on unseen generators.</a:t>
            </a:r>
          </a:p>
          <a:p>
            <a:pPr algn="just"/>
            <a:r>
              <a:rPr lang="en-US" sz="2000" dirty="0"/>
              <a:t>Compression effects: resizing, blur, and compression can remove useful detection traces.</a:t>
            </a:r>
          </a:p>
          <a:p>
            <a:pPr algn="just"/>
            <a:r>
              <a:rPr lang="en-US" sz="2000" dirty="0"/>
              <a:t>Computational requirements: training large models needs substantial memory and GPU resources.</a:t>
            </a:r>
          </a:p>
          <a:p>
            <a:pPr algn="just"/>
            <a:r>
              <a:rPr lang="en-US" sz="2000" dirty="0"/>
              <a:t>Evolving technology: detection methods must be updated as generation techniques change.</a:t>
            </a:r>
          </a:p>
          <a:p>
            <a:pPr marL="342900" lvl="0" indent="-139700" algn="l" rtl="0">
              <a:spcBef>
                <a:spcPts val="0"/>
              </a:spcBef>
              <a:spcAft>
                <a:spcPts val="0"/>
              </a:spcAft>
              <a:buClr>
                <a:schemeClr val="dk1"/>
              </a:buClr>
              <a:buSzPts val="3200"/>
              <a:buNone/>
            </a:pPr>
            <a:endParaRPr dirty="0"/>
          </a:p>
        </p:txBody>
      </p:sp>
      <p:sp>
        <p:nvSpPr>
          <p:cNvPr id="547" name="Google Shape;547;p19"/>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0"/>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5. Conclusion</a:t>
            </a:r>
            <a:endParaRPr/>
          </a:p>
        </p:txBody>
      </p:sp>
      <p:sp>
        <p:nvSpPr>
          <p:cNvPr id="553" name="Google Shape;553;p20"/>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spcBef>
                <a:spcPts val="0"/>
              </a:spcBef>
              <a:buSzPts val="3200"/>
              <a:buNone/>
            </a:pPr>
            <a:endParaRPr lang="en-US" dirty="0"/>
          </a:p>
          <a:p>
            <a:pPr marL="72000" lvl="0" indent="-139700" algn="just">
              <a:spcBef>
                <a:spcPts val="0"/>
              </a:spcBef>
              <a:buSzPts val="3200"/>
              <a:buNone/>
            </a:pPr>
            <a:r>
              <a:rPr lang="en-US" sz="1900" dirty="0"/>
              <a:t>	AI-based deepfake detection is an important area of digital forensics because synthetic media can be difficult to distinguish from genuine recordings. Research has progressed from CNN-based detectors to hybrid Transformer and graph-based approaches that learn richer, more generalisable features. A practical detection workflow can preprocess media, analyse facial regions, combine frame-level predictions, and present a result for review</a:t>
            </a:r>
            <a:r>
              <a:rPr lang="en-US" sz="1800" dirty="0"/>
              <a:t> supporting verification without replacing responsible, source-checked judgement.</a:t>
            </a:r>
            <a:endParaRPr sz="1800" dirty="0"/>
          </a:p>
        </p:txBody>
      </p:sp>
      <p:sp>
        <p:nvSpPr>
          <p:cNvPr id="554" name="Google Shape;554;p20"/>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21"/>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6. Project Initiation</a:t>
            </a:r>
            <a:endParaRPr dirty="0"/>
          </a:p>
        </p:txBody>
      </p:sp>
      <p:sp>
        <p:nvSpPr>
          <p:cNvPr id="560" name="Google Shape;560;p21"/>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SzPts val="3200"/>
              <a:buNone/>
            </a:pPr>
            <a:endParaRPr lang="en-US" sz="1800" dirty="0"/>
          </a:p>
          <a:p>
            <a:pPr marL="72000" lvl="0" indent="-139700" algn="just">
              <a:spcBef>
                <a:spcPts val="0"/>
              </a:spcBef>
              <a:buSzPts val="3200"/>
              <a:buNone/>
            </a:pPr>
            <a:r>
              <a:rPr lang="en-US" sz="1800" dirty="0"/>
              <a:t>  	The AI-Based Deepfake Detection project was initiated to address the growing risk of realistic synthetic media, where a face, expression, or voice can be altered or generated using machine-learning models. Such content can mislead audiences, enable impersonation, and spread misinformation.</a:t>
            </a:r>
          </a:p>
          <a:p>
            <a:pPr marL="342900" lvl="0" indent="-139700" algn="just">
              <a:spcBef>
                <a:spcPts val="0"/>
              </a:spcBef>
              <a:buSzPts val="3200"/>
              <a:buNone/>
            </a:pPr>
            <a:endParaRPr lang="en-US" sz="1800" dirty="0"/>
          </a:p>
          <a:p>
            <a:pPr marL="72000" lvl="0" indent="-139700" algn="just">
              <a:spcBef>
                <a:spcPts val="0"/>
              </a:spcBef>
              <a:buSzPts val="3200"/>
              <a:buNone/>
            </a:pPr>
            <a:r>
              <a:rPr lang="en-US" sz="1800" dirty="0"/>
              <a:t>		The project's aim is to study a system that preprocesses media, detects and analyses facial regions with a trained model, and reports an estimated result. The output is intended as a screening aid, to be checked alongside reliable sources rather than treated as a final judgement.</a:t>
            </a:r>
            <a:endParaRPr sz="1800" dirty="0"/>
          </a:p>
        </p:txBody>
      </p:sp>
      <p:sp>
        <p:nvSpPr>
          <p:cNvPr id="561" name="Google Shape;561;p21"/>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22"/>
          <p:cNvSpPr txBox="1">
            <a:spLocks noGrp="1"/>
          </p:cNvSpPr>
          <p:nvPr>
            <p:ph type="title"/>
          </p:nvPr>
        </p:nvSpPr>
        <p:spPr>
          <a:xfrm>
            <a:off x="456178" y="304800"/>
            <a:ext cx="8229600" cy="104502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rtl="0">
              <a:spcBef>
                <a:spcPts val="0"/>
              </a:spcBef>
              <a:spcAft>
                <a:spcPts val="0"/>
              </a:spcAft>
              <a:buClr>
                <a:srgbClr val="002060"/>
              </a:buClr>
              <a:buSzPct val="100000"/>
              <a:buFont typeface="Arial"/>
              <a:buNone/>
            </a:pPr>
            <a:br>
              <a:rPr lang="en-US" sz="3600" dirty="0"/>
            </a:br>
            <a:r>
              <a:rPr lang="en-US" sz="3600" dirty="0"/>
              <a:t>6. 1 Description of problem statement.</a:t>
            </a:r>
            <a:endParaRPr sz="3600" dirty="0"/>
          </a:p>
          <a:p>
            <a:pPr marL="0" lvl="0" indent="0" algn="ctr" rtl="0">
              <a:spcBef>
                <a:spcPts val="0"/>
              </a:spcBef>
              <a:spcAft>
                <a:spcPts val="0"/>
              </a:spcAft>
              <a:buClr>
                <a:srgbClr val="002060"/>
              </a:buClr>
              <a:buSzPct val="100000"/>
              <a:buFont typeface="Arial"/>
              <a:buNone/>
            </a:pPr>
            <a:endParaRPr sz="3600" dirty="0"/>
          </a:p>
        </p:txBody>
      </p:sp>
      <p:sp>
        <p:nvSpPr>
          <p:cNvPr id="567" name="Google Shape;567;p22"/>
          <p:cNvSpPr txBox="1">
            <a:spLocks noGrp="1"/>
          </p:cNvSpPr>
          <p:nvPr>
            <p:ph type="body" idx="1"/>
          </p:nvPr>
        </p:nvSpPr>
        <p:spPr>
          <a:xfrm>
            <a:off x="457200" y="1524000"/>
            <a:ext cx="8229600" cy="5029199"/>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spcBef>
                <a:spcPts val="0"/>
              </a:spcBef>
              <a:buSzPts val="3200"/>
              <a:buNone/>
            </a:pPr>
            <a:endParaRPr lang="en-US" sz="1800" dirty="0"/>
          </a:p>
          <a:p>
            <a:pPr marL="342900" lvl="0" indent="-139700" algn="just">
              <a:spcBef>
                <a:spcPts val="0"/>
              </a:spcBef>
              <a:buSzPts val="3200"/>
              <a:buNone/>
            </a:pPr>
            <a:r>
              <a:rPr lang="en-US" sz="1800" dirty="0"/>
              <a:t>Recent AI advances make it possible to generate realistic images and videos or alter faces and expressions.</a:t>
            </a:r>
          </a:p>
          <a:p>
            <a:pPr marL="342900" lvl="0" indent="-139700" algn="just">
              <a:spcBef>
                <a:spcPts val="0"/>
              </a:spcBef>
              <a:buSzPts val="3200"/>
              <a:buNone/>
            </a:pPr>
            <a:r>
              <a:rPr lang="en-US" sz="1800" dirty="0"/>
              <a:t>Such media can spread misinformation or enable impersonation and fraud, while compression makes manual inspection difficult.</a:t>
            </a:r>
          </a:p>
          <a:p>
            <a:pPr marL="342900" lvl="0" indent="-139700" algn="just">
              <a:spcBef>
                <a:spcPts val="0"/>
              </a:spcBef>
              <a:buSzPts val="3200"/>
              <a:buNone/>
            </a:pPr>
            <a:r>
              <a:rPr lang="en-US" sz="1800" dirty="0"/>
              <a:t>Detectors can perform well on familiar datasets but may struggle with new manipulation methods or low-quality video.</a:t>
            </a:r>
          </a:p>
          <a:p>
            <a:pPr marL="342900" lvl="0" indent="-139700" algn="just">
              <a:spcBef>
                <a:spcPts val="0"/>
              </a:spcBef>
              <a:buSzPts val="3200"/>
              <a:buNone/>
            </a:pPr>
            <a:r>
              <a:rPr lang="en-US" sz="1800" dirty="0"/>
              <a:t>A practical system should analyse supplied media, estimate the likelihood of manipulation, and communicate uncertainty clearly.</a:t>
            </a:r>
            <a:endParaRPr sz="1800" dirty="0"/>
          </a:p>
        </p:txBody>
      </p:sp>
      <p:sp>
        <p:nvSpPr>
          <p:cNvPr id="568" name="Google Shape;568;p22"/>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l" rtl="0">
              <a:spcBef>
                <a:spcPts val="0"/>
              </a:spcBef>
              <a:spcAft>
                <a:spcPts val="0"/>
              </a:spcAft>
              <a:buClr>
                <a:srgbClr val="002060"/>
              </a:buClr>
              <a:buSzPct val="100000"/>
              <a:buFont typeface="Arial"/>
              <a:buNone/>
            </a:pPr>
            <a:endParaRPr sz="3600" dirty="0"/>
          </a:p>
          <a:p>
            <a:pPr marL="0" lvl="0" indent="0" rtl="0">
              <a:spcBef>
                <a:spcPts val="0"/>
              </a:spcBef>
              <a:spcAft>
                <a:spcPts val="0"/>
              </a:spcAft>
              <a:buClr>
                <a:srgbClr val="002060"/>
              </a:buClr>
              <a:buSzPct val="100000"/>
              <a:buFont typeface="Arial"/>
              <a:buNone/>
            </a:pPr>
            <a:r>
              <a:rPr lang="en-US" sz="3600" dirty="0"/>
              <a:t>6. 2 Scope and objectives.</a:t>
            </a:r>
            <a:endParaRPr sz="3600" dirty="0"/>
          </a:p>
          <a:p>
            <a:pPr marL="0" lvl="0" indent="0" algn="l" rtl="0">
              <a:spcBef>
                <a:spcPts val="0"/>
              </a:spcBef>
              <a:spcAft>
                <a:spcPts val="0"/>
              </a:spcAft>
              <a:buClr>
                <a:srgbClr val="002060"/>
              </a:buClr>
              <a:buSzPct val="100000"/>
              <a:buFont typeface="Arial"/>
              <a:buNone/>
            </a:pPr>
            <a:endParaRPr sz="3600" dirty="0"/>
          </a:p>
        </p:txBody>
      </p:sp>
      <p:sp>
        <p:nvSpPr>
          <p:cNvPr id="574" name="Google Shape;574;p2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spcBef>
                <a:spcPts val="0"/>
              </a:spcBef>
              <a:buSzPts val="3200"/>
              <a:buNone/>
            </a:pPr>
            <a:r>
              <a:rPr lang="en-US" sz="1800" b="1" dirty="0"/>
              <a:t>Objectives</a:t>
            </a:r>
          </a:p>
          <a:p>
            <a:pPr marL="488950" indent="-285750">
              <a:spcBef>
                <a:spcPts val="0"/>
              </a:spcBef>
              <a:buSzPct val="100000"/>
            </a:pPr>
            <a:r>
              <a:rPr lang="en-US" sz="1800" dirty="0"/>
              <a:t>Study deepfake types and their potential misuse.</a:t>
            </a:r>
          </a:p>
          <a:p>
            <a:pPr marL="488950" indent="-285750">
              <a:spcBef>
                <a:spcPts val="0"/>
              </a:spcBef>
              <a:buSzPct val="100000"/>
            </a:pPr>
            <a:r>
              <a:rPr lang="en-US" sz="1800" dirty="0"/>
              <a:t>Review CNN, Transformer, and graph-based detection approaches.</a:t>
            </a:r>
          </a:p>
          <a:p>
            <a:pPr marL="488950" indent="-285750">
              <a:spcBef>
                <a:spcPts val="0"/>
              </a:spcBef>
              <a:buSzPct val="100000"/>
            </a:pPr>
            <a:r>
              <a:rPr lang="en-US" sz="1800" dirty="0"/>
              <a:t>Outline media input, preprocessing, detection, and result reporting.</a:t>
            </a:r>
          </a:p>
          <a:p>
            <a:pPr marL="488950" indent="-285750">
              <a:spcBef>
                <a:spcPts val="0"/>
              </a:spcBef>
              <a:buSzPct val="100000"/>
            </a:pPr>
            <a:r>
              <a:rPr lang="en-US" sz="1800" dirty="0"/>
              <a:t>Evaluate performance using suitable metrics and labelled data.</a:t>
            </a:r>
          </a:p>
          <a:p>
            <a:pPr marL="488950" indent="-285750">
              <a:spcBef>
                <a:spcPts val="0"/>
              </a:spcBef>
              <a:buSzPct val="100000"/>
            </a:pPr>
            <a:r>
              <a:rPr lang="en-US" sz="1800" dirty="0"/>
              <a:t>Identify issues caused by compression, unseen fakes, and dataset bias.</a:t>
            </a:r>
          </a:p>
          <a:p>
            <a:pPr marL="488950" indent="-285750">
              <a:spcBef>
                <a:spcPts val="0"/>
              </a:spcBef>
              <a:buSzPct val="100000"/>
            </a:pPr>
            <a:r>
              <a:rPr lang="en-US" sz="1800" dirty="0"/>
              <a:t>Emphasise that model scores support, but do not replace, verification.</a:t>
            </a:r>
          </a:p>
          <a:p>
            <a:pPr marL="342900" lvl="0" indent="-139700">
              <a:spcBef>
                <a:spcPts val="0"/>
              </a:spcBef>
              <a:buSzPts val="3200"/>
              <a:buNone/>
            </a:pPr>
            <a:endParaRPr lang="en-US" sz="1800" dirty="0"/>
          </a:p>
          <a:p>
            <a:pPr marL="342900" lvl="0" indent="-139700">
              <a:spcBef>
                <a:spcPts val="0"/>
              </a:spcBef>
              <a:buSzPts val="3200"/>
              <a:buNone/>
            </a:pPr>
            <a:r>
              <a:rPr lang="en-US" sz="1800" b="1" dirty="0"/>
              <a:t>Scope</a:t>
            </a:r>
          </a:p>
          <a:p>
            <a:pPr marL="488950" indent="-285750">
              <a:spcBef>
                <a:spcPts val="0"/>
              </a:spcBef>
              <a:buSzPct val="100000"/>
            </a:pPr>
            <a:r>
              <a:rPr lang="en-US" sz="1800" dirty="0"/>
              <a:t>Accepts images or videos as input for screening.</a:t>
            </a:r>
          </a:p>
          <a:p>
            <a:pPr marL="488950" indent="-285750">
              <a:spcBef>
                <a:spcPts val="0"/>
              </a:spcBef>
              <a:buSzPct val="100000"/>
            </a:pPr>
            <a:r>
              <a:rPr lang="en-US" sz="1800" dirty="0"/>
              <a:t>Samples frames and prepares face crops from video input.</a:t>
            </a:r>
          </a:p>
          <a:p>
            <a:pPr marL="488950" indent="-285750">
              <a:spcBef>
                <a:spcPts val="0"/>
              </a:spcBef>
              <a:buSzPct val="100000"/>
            </a:pPr>
            <a:r>
              <a:rPr lang="en-US" sz="1800" dirty="0"/>
              <a:t>Runs a trained detector such as a CNN baseline.</a:t>
            </a:r>
          </a:p>
          <a:p>
            <a:pPr marL="488950" indent="-285750">
              <a:spcBef>
                <a:spcPts val="0"/>
              </a:spcBef>
              <a:buSzPct val="100000"/>
            </a:pPr>
            <a:r>
              <a:rPr lang="en-US" sz="1800" dirty="0"/>
              <a:t>Compares a CNN baseline with a more advanced model where resources permit.</a:t>
            </a:r>
          </a:p>
          <a:p>
            <a:pPr marL="488950" indent="-285750">
              <a:spcBef>
                <a:spcPts val="0"/>
              </a:spcBef>
              <a:buSzPct val="100000"/>
            </a:pPr>
            <a:r>
              <a:rPr lang="en-US" sz="1800" dirty="0"/>
              <a:t>Produces an estimated real/fake label for review.</a:t>
            </a:r>
          </a:p>
          <a:p>
            <a:pPr marL="488950" indent="-285750">
              <a:spcBef>
                <a:spcPts val="0"/>
              </a:spcBef>
              <a:buSzPct val="100000"/>
            </a:pPr>
            <a:r>
              <a:rPr lang="en-US" sz="1800" dirty="0"/>
              <a:t>Excludes large-scale deployment and guaranteed detection of all deepfakes.</a:t>
            </a:r>
          </a:p>
          <a:p>
            <a:pPr marL="488950" indent="-285750">
              <a:spcBef>
                <a:spcPts val="0"/>
              </a:spcBef>
              <a:buSzPct val="100000"/>
            </a:pPr>
            <a:endParaRPr sz="1800" dirty="0"/>
          </a:p>
        </p:txBody>
      </p:sp>
      <p:sp>
        <p:nvSpPr>
          <p:cNvPr id="575" name="Google Shape;575;p2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4"/>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rtl="0">
              <a:spcBef>
                <a:spcPts val="0"/>
              </a:spcBef>
              <a:spcAft>
                <a:spcPts val="0"/>
              </a:spcAft>
              <a:buClr>
                <a:srgbClr val="002060"/>
              </a:buClr>
              <a:buSzPts val="3600"/>
              <a:buFont typeface="Arial"/>
              <a:buNone/>
            </a:pPr>
            <a:r>
              <a:rPr lang="en-US" sz="3200" dirty="0"/>
              <a:t>6. 3 Stake holder</a:t>
            </a:r>
            <a:endParaRPr sz="3200" dirty="0"/>
          </a:p>
        </p:txBody>
      </p:sp>
      <p:sp>
        <p:nvSpPr>
          <p:cNvPr id="581" name="Google Shape;581;p2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488950" indent="-285750">
              <a:spcBef>
                <a:spcPts val="0"/>
              </a:spcBef>
              <a:buSzPct val="100000"/>
            </a:pPr>
            <a:r>
              <a:rPr lang="en-US" sz="1800" b="1" dirty="0"/>
              <a:t>End Users: </a:t>
            </a:r>
            <a:r>
              <a:rPr lang="en-US" sz="1800" dirty="0"/>
              <a:t>Individuals or organisations that want to screen suspicious images and videos before sharing or relying on them.</a:t>
            </a:r>
          </a:p>
          <a:p>
            <a:pPr marL="203200" indent="0">
              <a:spcBef>
                <a:spcPts val="0"/>
              </a:spcBef>
              <a:buSzPct val="100000"/>
              <a:buNone/>
            </a:pPr>
            <a:endParaRPr lang="en-US" sz="1800" dirty="0"/>
          </a:p>
          <a:p>
            <a:pPr marL="488950" indent="-285750">
              <a:spcBef>
                <a:spcPts val="0"/>
              </a:spcBef>
              <a:buSzPct val="100000"/>
            </a:pPr>
            <a:r>
              <a:rPr lang="en-US" sz="1800" b="1" dirty="0"/>
              <a:t>Developers: </a:t>
            </a:r>
            <a:r>
              <a:rPr lang="en-US" sz="1800" dirty="0"/>
              <a:t>The team responsible for designing the interface, preprocessing pipeline, model integration, and test procedures.</a:t>
            </a:r>
          </a:p>
          <a:p>
            <a:pPr marL="203200" indent="0">
              <a:spcBef>
                <a:spcPts val="0"/>
              </a:spcBef>
              <a:buSzPct val="100000"/>
              <a:buNone/>
            </a:pPr>
            <a:endParaRPr lang="en-US" sz="1800" dirty="0"/>
          </a:p>
          <a:p>
            <a:pPr marL="488950" indent="-285750">
              <a:spcBef>
                <a:spcPts val="0"/>
              </a:spcBef>
              <a:buSzPct val="100000"/>
            </a:pPr>
            <a:r>
              <a:rPr lang="en-US" sz="1800" b="1" dirty="0"/>
              <a:t>Researchers: </a:t>
            </a:r>
            <a:r>
              <a:rPr lang="en-US" sz="1800" dirty="0"/>
              <a:t>People who study media forensics, deep learning models, datasets, and evaluation methods.</a:t>
            </a:r>
          </a:p>
          <a:p>
            <a:pPr marL="488950" indent="-285750">
              <a:spcBef>
                <a:spcPts val="0"/>
              </a:spcBef>
              <a:buSzPct val="100000"/>
            </a:pPr>
            <a:endParaRPr lang="en-US" sz="1800" dirty="0"/>
          </a:p>
          <a:p>
            <a:pPr marL="488950" indent="-285750">
              <a:spcBef>
                <a:spcPts val="0"/>
              </a:spcBef>
              <a:buSzPct val="100000"/>
            </a:pPr>
            <a:r>
              <a:rPr lang="en-US" sz="1800" b="1" dirty="0"/>
              <a:t>Media and Fact-Checking Teams: </a:t>
            </a:r>
            <a:r>
              <a:rPr lang="en-US" sz="1800" dirty="0"/>
              <a:t>Journalists or verification staff who may use a model result as one signal for further investigation.</a:t>
            </a:r>
          </a:p>
          <a:p>
            <a:pPr marL="488950" indent="-285750">
              <a:spcBef>
                <a:spcPts val="0"/>
              </a:spcBef>
              <a:buSzPct val="100000"/>
            </a:pPr>
            <a:endParaRPr lang="en-US" sz="1800" dirty="0"/>
          </a:p>
          <a:p>
            <a:pPr marL="488950" indent="-285750">
              <a:spcBef>
                <a:spcPts val="0"/>
              </a:spcBef>
              <a:buSzPct val="100000"/>
            </a:pPr>
            <a:r>
              <a:rPr lang="en-US" sz="1800" b="1" dirty="0"/>
              <a:t>Platform and Security Teams: </a:t>
            </a:r>
            <a:r>
              <a:rPr lang="en-US" sz="1800" dirty="0"/>
              <a:t>Groups that may need to review suspicious media while considering privacy and misuse risks.</a:t>
            </a:r>
          </a:p>
          <a:p>
            <a:pPr marL="488950" indent="-285750">
              <a:spcBef>
                <a:spcPts val="0"/>
              </a:spcBef>
              <a:buSzPct val="100000"/>
            </a:pPr>
            <a:endParaRPr lang="en-US" sz="1800" dirty="0"/>
          </a:p>
          <a:p>
            <a:pPr marL="488950" indent="-285750">
              <a:spcBef>
                <a:spcPts val="0"/>
              </a:spcBef>
              <a:buSzPct val="100000"/>
            </a:pPr>
            <a:r>
              <a:rPr lang="en-US" sz="1800" b="1" dirty="0"/>
              <a:t>Project Guide and Evaluators: </a:t>
            </a:r>
            <a:r>
              <a:rPr lang="en-US" sz="1800" dirty="0"/>
              <a:t>Faculty members who guide the seminar and evaluate the report, presentation, and proposed system design.</a:t>
            </a:r>
            <a:endParaRPr sz="1800" dirty="0"/>
          </a:p>
        </p:txBody>
      </p:sp>
      <p:sp>
        <p:nvSpPr>
          <p:cNvPr id="582" name="Google Shape;582;p2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rgbClr val="002060"/>
              </a:buClr>
              <a:buSzPts val="3200"/>
              <a:buFont typeface="Arial"/>
              <a:buNone/>
            </a:pPr>
            <a:br>
              <a:rPr lang="en-US" sz="3200" dirty="0"/>
            </a:br>
            <a:r>
              <a:rPr lang="en-US" sz="3200" dirty="0"/>
              <a:t>6. 4 Platform/ Equipment/ Resources</a:t>
            </a:r>
            <a:endParaRPr sz="3200" dirty="0"/>
          </a:p>
          <a:p>
            <a:pPr marL="0" lvl="0" indent="0" algn="ctr" rtl="0">
              <a:spcBef>
                <a:spcPts val="0"/>
              </a:spcBef>
              <a:spcAft>
                <a:spcPts val="0"/>
              </a:spcAft>
              <a:buClr>
                <a:srgbClr val="002060"/>
              </a:buClr>
              <a:buSzPts val="3200"/>
              <a:buFont typeface="Arial"/>
              <a:buNone/>
            </a:pPr>
            <a:endParaRPr sz="3200" dirty="0"/>
          </a:p>
        </p:txBody>
      </p:sp>
      <p:sp>
        <p:nvSpPr>
          <p:cNvPr id="595" name="Google Shape;595;p2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spcBef>
                <a:spcPts val="0"/>
              </a:spcBef>
              <a:buSzPts val="3200"/>
              <a:buNone/>
            </a:pPr>
            <a:r>
              <a:rPr lang="en-IN" sz="1800" b="1" dirty="0"/>
              <a:t>Hardware Requirements:</a:t>
            </a:r>
          </a:p>
          <a:p>
            <a:pPr marL="488950" indent="-285750">
              <a:spcBef>
                <a:spcPts val="0"/>
              </a:spcBef>
              <a:buSzPct val="100000"/>
            </a:pPr>
            <a:r>
              <a:rPr lang="en-IN" sz="1800" dirty="0"/>
              <a:t>Computer or laptop for coding, testing, and running the detector.</a:t>
            </a:r>
          </a:p>
          <a:p>
            <a:pPr marL="488950" indent="-285750">
              <a:spcBef>
                <a:spcPts val="0"/>
              </a:spcBef>
              <a:buSzPct val="100000"/>
            </a:pPr>
            <a:r>
              <a:rPr lang="en-IN" sz="1800" dirty="0"/>
              <a:t>RAM: at least 8 GB recommended; larger models may need more.</a:t>
            </a:r>
          </a:p>
          <a:p>
            <a:pPr marL="488950" indent="-285750">
              <a:spcBef>
                <a:spcPts val="0"/>
              </a:spcBef>
              <a:buSzPct val="100000"/>
            </a:pPr>
            <a:r>
              <a:rPr lang="en-IN" sz="1800" dirty="0"/>
              <a:t>GPU (if available): helpful for training and faster inference, not mandatory for a small prototype.</a:t>
            </a:r>
          </a:p>
          <a:p>
            <a:pPr marL="342900" lvl="0" indent="-139700">
              <a:spcBef>
                <a:spcPts val="0"/>
              </a:spcBef>
              <a:buSzPts val="3200"/>
              <a:buNone/>
            </a:pPr>
            <a:endParaRPr lang="en-IN" sz="1800" dirty="0"/>
          </a:p>
          <a:p>
            <a:pPr marL="342900" lvl="0" indent="-139700">
              <a:spcBef>
                <a:spcPts val="0"/>
              </a:spcBef>
              <a:buSzPts val="3200"/>
              <a:buNone/>
            </a:pPr>
            <a:r>
              <a:rPr lang="en-IN" sz="1800" b="1" dirty="0"/>
              <a:t>Software Requirements:</a:t>
            </a:r>
          </a:p>
          <a:p>
            <a:pPr marL="488950" indent="-285750">
              <a:spcBef>
                <a:spcPts val="0"/>
              </a:spcBef>
              <a:buSzPct val="100000"/>
            </a:pPr>
            <a:r>
              <a:rPr lang="en-IN" sz="1800" dirty="0"/>
              <a:t>Operating system: Windows or Linux.</a:t>
            </a:r>
          </a:p>
          <a:p>
            <a:pPr marL="488950" indent="-285750">
              <a:spcBef>
                <a:spcPts val="0"/>
              </a:spcBef>
              <a:buSzPct val="100000"/>
            </a:pPr>
            <a:r>
              <a:rPr lang="en-IN" sz="1800" dirty="0"/>
              <a:t>Programming language: Python 3.11.</a:t>
            </a:r>
          </a:p>
          <a:p>
            <a:pPr marL="488950" indent="-285750">
              <a:spcBef>
                <a:spcPts val="0"/>
              </a:spcBef>
              <a:buSzPct val="100000"/>
            </a:pPr>
            <a:r>
              <a:rPr lang="en-IN" sz="1800" dirty="0"/>
              <a:t>Deep learning framework: PyTorch or TensorFlow.</a:t>
            </a:r>
          </a:p>
          <a:p>
            <a:pPr marL="488950" indent="-285750">
              <a:spcBef>
                <a:spcPts val="0"/>
              </a:spcBef>
              <a:buSzPct val="100000"/>
            </a:pPr>
            <a:r>
              <a:rPr lang="en-IN" sz="1800" dirty="0"/>
              <a:t>Image processing: OpenCV for frame extraction and face cropping.</a:t>
            </a:r>
          </a:p>
          <a:p>
            <a:pPr marL="488950" indent="-285750">
              <a:spcBef>
                <a:spcPts val="0"/>
              </a:spcBef>
              <a:buSzPct val="100000"/>
            </a:pPr>
            <a:r>
              <a:rPr lang="en-IN" sz="1800" dirty="0"/>
              <a:t>Code editor: Visual Studio Code.</a:t>
            </a:r>
          </a:p>
          <a:p>
            <a:pPr marL="342900" lvl="0" indent="-139700">
              <a:spcBef>
                <a:spcPts val="0"/>
              </a:spcBef>
              <a:buSzPts val="3200"/>
              <a:buNone/>
            </a:pPr>
            <a:endParaRPr lang="en-IN" sz="1800" dirty="0"/>
          </a:p>
          <a:p>
            <a:pPr marL="342900" lvl="0" indent="-139700">
              <a:spcBef>
                <a:spcPts val="0"/>
              </a:spcBef>
              <a:buSzPts val="3200"/>
              <a:buNone/>
            </a:pPr>
            <a:r>
              <a:rPr lang="en-IN" sz="1800" b="1" dirty="0"/>
              <a:t>Other Resources:</a:t>
            </a:r>
          </a:p>
          <a:p>
            <a:pPr marL="488950" indent="-285750">
              <a:spcBef>
                <a:spcPts val="0"/>
              </a:spcBef>
              <a:buSzPct val="100000"/>
            </a:pPr>
            <a:r>
              <a:rPr lang="en-IN" sz="1800" dirty="0"/>
              <a:t>Research datasets such as FaceForensics++ and DFDC (subject to access terms).</a:t>
            </a:r>
          </a:p>
          <a:p>
            <a:pPr marL="488950" indent="-285750">
              <a:spcBef>
                <a:spcPts val="0"/>
              </a:spcBef>
              <a:buSzPct val="100000"/>
            </a:pPr>
            <a:r>
              <a:rPr lang="en-IN" sz="1800" dirty="0"/>
              <a:t>Internet and storage to install libraries and store model files and test media.</a:t>
            </a:r>
          </a:p>
          <a:p>
            <a:pPr marL="488950" indent="-285750">
              <a:spcBef>
                <a:spcPts val="0"/>
              </a:spcBef>
              <a:buSzPct val="100000"/>
            </a:pPr>
            <a:r>
              <a:rPr lang="en-IN" sz="1800" dirty="0"/>
              <a:t>Testing on compressed and unseen samples where possible.</a:t>
            </a:r>
          </a:p>
          <a:p>
            <a:pPr marL="488950" indent="-285750">
              <a:spcBef>
                <a:spcPts val="0"/>
              </a:spcBef>
              <a:buSzPct val="100000"/>
            </a:pPr>
            <a:endParaRPr sz="1800" dirty="0"/>
          </a:p>
        </p:txBody>
      </p:sp>
      <p:sp>
        <p:nvSpPr>
          <p:cNvPr id="596" name="Google Shape;596;p2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7"/>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Bibliography</a:t>
            </a:r>
            <a:endParaRPr/>
          </a:p>
        </p:txBody>
      </p:sp>
      <p:sp>
        <p:nvSpPr>
          <p:cNvPr id="602" name="Google Shape;602;p27"/>
          <p:cNvSpPr txBox="1">
            <a:spLocks noGrp="1"/>
          </p:cNvSpPr>
          <p:nvPr>
            <p:ph type="body" idx="1"/>
          </p:nvPr>
        </p:nvSpPr>
        <p:spPr>
          <a:xfrm>
            <a:off x="457200" y="1219200"/>
            <a:ext cx="8229600" cy="53340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lang="en-IN" sz="1800" b="1" dirty="0"/>
              <a:t>Rossler et al. (2019) - </a:t>
            </a:r>
            <a:r>
              <a:rPr lang="en-IN" sz="1800" dirty="0"/>
              <a:t>FaceForensics++: Learning to Detect Manipulated Facial Images, ICCV</a:t>
            </a:r>
            <a:r>
              <a:rPr lang="en-IN" sz="2100" dirty="0"/>
              <a:t>.</a:t>
            </a:r>
          </a:p>
          <a:p>
            <a:r>
              <a:rPr lang="en-IN" sz="1800" b="1" dirty="0"/>
              <a:t>Tolosana et al. (2020) </a:t>
            </a:r>
            <a:r>
              <a:rPr lang="en-IN" sz="1800" dirty="0"/>
              <a:t>- DeepFakes and Beyond: A Survey of Face Manipulation and Fake Detection.</a:t>
            </a:r>
          </a:p>
          <a:p>
            <a:r>
              <a:rPr lang="en-IN" sz="1800" b="1" dirty="0"/>
              <a:t>Afchar et al. (2018) </a:t>
            </a:r>
            <a:r>
              <a:rPr lang="en-IN" sz="1800" dirty="0"/>
              <a:t>- MesoNet: a Compact Facial Video Forgery Detection Network, WIFS.</a:t>
            </a:r>
          </a:p>
          <a:p>
            <a:r>
              <a:rPr lang="en-IN" sz="1800" b="1" dirty="0"/>
              <a:t>Nguyen et al. (2021) </a:t>
            </a:r>
            <a:r>
              <a:rPr lang="en-IN" sz="1800" dirty="0"/>
              <a:t>- Deep Learning for Deepfakes Creation and Detection: A Survey.</a:t>
            </a:r>
          </a:p>
          <a:p>
            <a:r>
              <a:rPr lang="en-IN" sz="1800" b="1" dirty="0"/>
              <a:t>Passos et al. (2024) </a:t>
            </a:r>
            <a:r>
              <a:rPr lang="en-IN" sz="1800" dirty="0"/>
              <a:t>- A Review of Deep Learning-based Approaches for Deepfake Content Detection.</a:t>
            </a:r>
          </a:p>
          <a:p>
            <a:r>
              <a:rPr lang="en-IN" sz="1800" b="1" dirty="0"/>
              <a:t>Celebi, Liu and Karatoprak (2022) - </a:t>
            </a:r>
            <a:r>
              <a:rPr lang="en-IN" sz="1800" dirty="0"/>
              <a:t>A Survey of Deep Fake Detection for Trial Courts.</a:t>
            </a:r>
          </a:p>
          <a:p>
            <a:endParaRPr lang="en-IN" sz="1800" dirty="0"/>
          </a:p>
          <a:p>
            <a:endParaRPr lang="en-IN" sz="1800" dirty="0"/>
          </a:p>
          <a:p>
            <a:endParaRPr lang="en-IN" sz="1800" dirty="0"/>
          </a:p>
          <a:p>
            <a:endParaRPr lang="en-IN" sz="1800" dirty="0"/>
          </a:p>
          <a:p>
            <a:endParaRPr lang="en-IN" sz="1800" dirty="0"/>
          </a:p>
          <a:p>
            <a:pPr marL="342900" lvl="0" indent="-13970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p:txBody>
      </p:sp>
      <p:sp>
        <p:nvSpPr>
          <p:cNvPr id="603" name="Google Shape;603;p2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7"/>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Bibliography (contd.)</a:t>
            </a:r>
            <a:endParaRPr dirty="0"/>
          </a:p>
        </p:txBody>
      </p:sp>
      <p:sp>
        <p:nvSpPr>
          <p:cNvPr id="602" name="Google Shape;602;p27"/>
          <p:cNvSpPr txBox="1">
            <a:spLocks noGrp="1"/>
          </p:cNvSpPr>
          <p:nvPr>
            <p:ph type="body" idx="1"/>
          </p:nvPr>
        </p:nvSpPr>
        <p:spPr>
          <a:xfrm>
            <a:off x="457200" y="1219200"/>
            <a:ext cx="8229600" cy="53340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lang="en-IN" sz="1800" b="1" dirty="0"/>
              <a:t>Khan and Dang-Nguyen (2022) - </a:t>
            </a:r>
            <a:r>
              <a:rPr lang="en-IN" sz="1800" dirty="0"/>
              <a:t>Hybrid Transformer Network for Deepfake Detection.</a:t>
            </a:r>
          </a:p>
          <a:p>
            <a:r>
              <a:rPr lang="en-IN" sz="1800" b="1" dirty="0"/>
              <a:t>Khormali and Yuan (2023) </a:t>
            </a:r>
            <a:r>
              <a:rPr lang="en-IN" sz="1800" dirty="0"/>
              <a:t>- Self-Supervised Graph Transformer for Deepfake Detection.</a:t>
            </a:r>
          </a:p>
          <a:p>
            <a:r>
              <a:rPr lang="en-IN" sz="1800" b="1" dirty="0"/>
              <a:t>Krueger, Vanamala and Dave (2023) </a:t>
            </a:r>
            <a:r>
              <a:rPr lang="en-IN" sz="1800" dirty="0"/>
              <a:t>- Recent Advancements in the Field of Deepfake Detection.</a:t>
            </a:r>
          </a:p>
          <a:p>
            <a:r>
              <a:rPr lang="en-IN" sz="1800" b="1" dirty="0"/>
              <a:t>Nguyen et al. (2024) </a:t>
            </a:r>
            <a:r>
              <a:rPr lang="en-IN" sz="1800" dirty="0"/>
              <a:t>- FakeFormer: Efficient Vulnerability-Driven Transformers for Deepfake Detection.</a:t>
            </a:r>
          </a:p>
          <a:p>
            <a:r>
              <a:rPr lang="en-IN" sz="1800" b="1" dirty="0"/>
              <a:t>Pei et al. (2026) </a:t>
            </a:r>
            <a:r>
              <a:rPr lang="en-IN" sz="1800" dirty="0"/>
              <a:t>- Deepfake Generation and Detection: A Benchmark and Survey.</a:t>
            </a:r>
          </a:p>
          <a:p>
            <a:r>
              <a:rPr lang="en-IN" sz="1800" b="1" dirty="0"/>
              <a:t>Sunil et al. (2025) - </a:t>
            </a:r>
            <a:r>
              <a:rPr lang="en-IN" sz="1800" dirty="0"/>
              <a:t>Exploring Autonomous Methods for Deepfake Detection: A Survey.</a:t>
            </a:r>
          </a:p>
          <a:p>
            <a:endParaRPr lang="en-IN" sz="1800" dirty="0"/>
          </a:p>
          <a:p>
            <a:endParaRPr lang="en-IN" sz="1800" dirty="0"/>
          </a:p>
          <a:p>
            <a:endParaRPr lang="en-IN" sz="1800" dirty="0"/>
          </a:p>
          <a:p>
            <a:endParaRPr lang="en-IN" sz="1800" dirty="0"/>
          </a:p>
          <a:p>
            <a:endParaRPr lang="en-IN" sz="1800" dirty="0"/>
          </a:p>
          <a:p>
            <a:pPr marL="342900" lvl="0" indent="-13970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p:txBody>
      </p:sp>
      <p:sp>
        <p:nvSpPr>
          <p:cNvPr id="603" name="Google Shape;603;p2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References</a:t>
            </a:r>
            <a:endParaRPr/>
          </a:p>
        </p:txBody>
      </p:sp>
      <p:sp>
        <p:nvSpPr>
          <p:cNvPr id="609" name="Google Shape;609;p28"/>
          <p:cNvSpPr txBox="1">
            <a:spLocks noGrp="1"/>
          </p:cNvSpPr>
          <p:nvPr>
            <p:ph type="body" idx="1"/>
          </p:nvPr>
        </p:nvSpPr>
        <p:spPr>
          <a:xfrm>
            <a:off x="457200" y="1219200"/>
            <a:ext cx="8229600" cy="5638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lang="en-IN" sz="1800" b="1" dirty="0"/>
              <a:t>Research Papers</a:t>
            </a:r>
          </a:p>
          <a:p>
            <a:pPr>
              <a:buFont typeface="+mj-lt"/>
              <a:buAutoNum type="arabicPeriod"/>
            </a:pPr>
            <a:r>
              <a:rPr lang="en-IN" sz="1800" dirty="0"/>
              <a:t>FaceForensics++: Learning to Detect Manipulated Facial Images</a:t>
            </a:r>
          </a:p>
          <a:p>
            <a:pPr>
              <a:buFont typeface="+mj-lt"/>
              <a:buAutoNum type="arabicPeriod"/>
            </a:pPr>
            <a:r>
              <a:rPr lang="en-IN" sz="1800" dirty="0"/>
              <a:t>DeepFakes and Beyond: A Survey of Face Manipulation and Fake Detection</a:t>
            </a:r>
          </a:p>
          <a:p>
            <a:pPr>
              <a:buFont typeface="+mj-lt"/>
              <a:buAutoNum type="arabicPeriod"/>
            </a:pPr>
            <a:r>
              <a:rPr lang="en-IN" sz="1800" dirty="0"/>
              <a:t>MesoNet: a Compact Facial Video Forgery Detection Network</a:t>
            </a:r>
          </a:p>
          <a:p>
            <a:pPr>
              <a:buFont typeface="+mj-lt"/>
              <a:buAutoNum type="arabicPeriod"/>
            </a:pPr>
            <a:r>
              <a:rPr lang="en-IN" sz="1800" dirty="0"/>
              <a:t>Deep Learning for Deepfakes Creation and Detection: A Survey</a:t>
            </a:r>
          </a:p>
          <a:p>
            <a:pPr>
              <a:buFont typeface="+mj-lt"/>
              <a:buAutoNum type="arabicPeriod"/>
            </a:pPr>
            <a:r>
              <a:rPr lang="en-IN" sz="1800" dirty="0"/>
              <a:t>A Review of Deep Learning-based Approaches for Deepfake Content Detection</a:t>
            </a:r>
          </a:p>
          <a:p>
            <a:pPr>
              <a:buFont typeface="+mj-lt"/>
              <a:buAutoNum type="arabicPeriod"/>
            </a:pPr>
            <a:r>
              <a:rPr lang="en-IN" sz="1800" dirty="0"/>
              <a:t>A Survey of Deep Fake Detection for Trial Courts</a:t>
            </a:r>
          </a:p>
          <a:p>
            <a:pPr>
              <a:buFont typeface="+mj-lt"/>
              <a:buAutoNum type="arabicPeriod"/>
            </a:pPr>
            <a:r>
              <a:rPr lang="en-US" sz="1800" dirty="0"/>
              <a:t>Hybrid Transformer Network for Deepfake Detection</a:t>
            </a:r>
          </a:p>
          <a:p>
            <a:pPr>
              <a:buFont typeface="+mj-lt"/>
              <a:buAutoNum type="arabicPeriod"/>
            </a:pPr>
            <a:r>
              <a:rPr lang="en-US" sz="1800" dirty="0"/>
              <a:t>Self-Supervised Graph Transformer for Deepfake Detection</a:t>
            </a:r>
          </a:p>
          <a:p>
            <a:pPr>
              <a:buFont typeface="+mj-lt"/>
              <a:buAutoNum type="arabicPeriod"/>
            </a:pPr>
            <a:r>
              <a:rPr lang="en-US" sz="1800" dirty="0"/>
              <a:t>Recent Advancements in the Field of Deepfake Detection</a:t>
            </a:r>
          </a:p>
          <a:p>
            <a:pPr>
              <a:buFont typeface="+mj-lt"/>
              <a:buAutoNum type="arabicPeriod"/>
            </a:pPr>
            <a:r>
              <a:rPr lang="en-US" sz="1800" dirty="0"/>
              <a:t>FakeFormer: Efficient Vulnerability-Driven Transformers for Generalisable Deepfake Detection</a:t>
            </a:r>
          </a:p>
          <a:p>
            <a:pPr>
              <a:buFont typeface="+mj-lt"/>
              <a:buAutoNum type="arabicPeriod"/>
            </a:pPr>
            <a:r>
              <a:rPr lang="en-US" sz="1800" dirty="0"/>
              <a:t>Deepfake Generation and Detection: A Benchmark and Survey</a:t>
            </a:r>
          </a:p>
          <a:p>
            <a:pPr>
              <a:buFont typeface="+mj-lt"/>
              <a:buAutoNum type="arabicPeriod"/>
            </a:pPr>
            <a:r>
              <a:rPr lang="en-US" sz="1800" dirty="0"/>
              <a:t>Exploring Autonomous Methods for Deepfake Detection: A Detailed Survey on Techniques and Evaluation</a:t>
            </a:r>
          </a:p>
          <a:p>
            <a:pPr>
              <a:buFont typeface="+mj-lt"/>
              <a:buAutoNum type="arabicPeriod"/>
            </a:pPr>
            <a:endParaRPr lang="en-US" sz="1800" dirty="0"/>
          </a:p>
          <a:p>
            <a:pPr>
              <a:buFont typeface="+mj-lt"/>
              <a:buAutoNum type="arabicPeriod"/>
            </a:pPr>
            <a:endParaRPr lang="en-IN" sz="1800" dirty="0"/>
          </a:p>
          <a:p>
            <a:pPr marL="342900" lvl="0" indent="-139700" algn="l" rtl="0">
              <a:spcBef>
                <a:spcPts val="0"/>
              </a:spcBef>
              <a:spcAft>
                <a:spcPts val="0"/>
              </a:spcAft>
              <a:buClr>
                <a:schemeClr val="dk1"/>
              </a:buClr>
              <a:buSzPts val="3200"/>
              <a:buNone/>
            </a:pPr>
            <a:endParaRPr sz="1800" dirty="0"/>
          </a:p>
        </p:txBody>
      </p:sp>
      <p:sp>
        <p:nvSpPr>
          <p:cNvPr id="610" name="Google Shape;610;p2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29"/>
          <p:cNvSpPr/>
          <p:nvPr/>
        </p:nvSpPr>
        <p:spPr>
          <a:xfrm>
            <a:off x="1447801" y="2810112"/>
            <a:ext cx="6248400" cy="1200300"/>
          </a:xfrm>
          <a:prstGeom prst="rect">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7200" b="1" i="0" u="none" strike="noStrike" cap="none">
                <a:solidFill>
                  <a:srgbClr val="262626"/>
                </a:solidFill>
                <a:latin typeface="Times New Roman"/>
                <a:ea typeface="Times New Roman"/>
                <a:cs typeface="Times New Roman"/>
                <a:sym typeface="Times New Roman"/>
              </a:rPr>
              <a:t>Thank you</a:t>
            </a:r>
            <a:endParaRPr/>
          </a:p>
        </p:txBody>
      </p:sp>
      <p:sp>
        <p:nvSpPr>
          <p:cNvPr id="616" name="Google Shape;616;p2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TotalTime>
  <Words>2443</Words>
  <Application>Microsoft Office PowerPoint</Application>
  <PresentationFormat>On-screen Show (4:3)</PresentationFormat>
  <Paragraphs>311</Paragraphs>
  <Slides>22</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PowerPoint Presentation</vt:lpstr>
      <vt:lpstr>Contents</vt:lpstr>
      <vt:lpstr>Abstract</vt:lpstr>
      <vt:lpstr>1. Introduction</vt:lpstr>
      <vt:lpstr>2. Literature Review</vt:lpstr>
      <vt:lpstr>PowerPoint Presentation</vt:lpstr>
      <vt:lpstr>PowerPoint Presentation</vt:lpstr>
      <vt:lpstr>PowerPoint Presentation</vt:lpstr>
      <vt:lpstr>3. Information to seminar topic</vt:lpstr>
      <vt:lpstr> 3. Working Principle </vt:lpstr>
      <vt:lpstr> 3. System Architecture </vt:lpstr>
      <vt:lpstr>4. Advantages / Disadvantages</vt:lpstr>
      <vt:lpstr>5. Conclusion</vt:lpstr>
      <vt:lpstr>6. Project Initiation</vt:lpstr>
      <vt:lpstr> 6. 1 Description of problem statement. </vt:lpstr>
      <vt:lpstr> 6. 2 Scope and objectives. </vt:lpstr>
      <vt:lpstr>6. 3 Stake holder</vt:lpstr>
      <vt:lpstr> 6. 4 Platform/ Equipment/ Resources </vt:lpstr>
      <vt:lpstr>Bibliography</vt:lpstr>
      <vt:lpstr>Bibliography (contd.)</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Adnan Ansari</cp:lastModifiedBy>
  <cp:revision>9</cp:revision>
  <dcterms:modified xsi:type="dcterms:W3CDTF">2026-10-28T13:07:16Z</dcterms:modified>
</cp:coreProperties>
</file>