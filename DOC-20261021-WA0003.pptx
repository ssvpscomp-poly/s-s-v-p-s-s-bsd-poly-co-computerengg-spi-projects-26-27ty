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0" r:id="rId19"/>
    <p:sldId id="271" r:id="rId20"/>
    <p:sldId id="272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077A5B-8C0D-40D8-8557-44EC33DBB8F6}">
  <a:tblStyle styleId="{98077A5B-8C0D-40D8-8557-44EC33DBB8F6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0" name="Google Shape;420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1" name="Google Shape;421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4" name="Google Shape;424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ae31baec559f25e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5ae31baec559f25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  <a:def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6" name="Google Shape;45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7" name="Google Shape;45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4" name="Google Shape;46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5" name="Google Shape;46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6" name="Google Shape;46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7" name="Google Shape;47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78" name="Google Shape;4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5" name="Google Shape;48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1"/>
          <p:cNvSpPr txBox="1">
            <a:spLocks noGrp="1"/>
          </p:cNvSpPr>
          <p:nvPr>
            <p:ph type="body" idx="1"/>
          </p:nvPr>
        </p:nvSpPr>
        <p:spPr>
          <a:xfrm rot="5400000">
            <a:off x="1981200" y="-457200"/>
            <a:ext cx="5181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2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8" name="Google Shape;42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9" name="Google Shape;42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0" name="Google Shape;43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p13"/>
          <p:cNvGraphicFramePr/>
          <p:nvPr>
            <p:extLst>
              <p:ext uri="{D42A27DB-BD31-4B8C-83A1-F6EECF244321}">
                <p14:modId xmlns:p14="http://schemas.microsoft.com/office/powerpoint/2010/main" val="4053763748"/>
              </p:ext>
            </p:extLst>
          </p:nvPr>
        </p:nvGraphicFramePr>
        <p:xfrm>
          <a:off x="381000" y="457200"/>
          <a:ext cx="8487124" cy="5616104"/>
        </p:xfrm>
        <a:graphic>
          <a:graphicData uri="http://schemas.openxmlformats.org/drawingml/2006/table">
            <a:tbl>
              <a:tblPr firstRow="1" bandRow="1">
                <a:noFill/>
                <a:tableStyleId>{98077A5B-8C0D-40D8-8557-44EC33DBB8F6}</a:tableStyleId>
              </a:tblPr>
              <a:tblGrid>
                <a:gridCol w="145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7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3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623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chemeClr val="lt1"/>
                          </a:solidFill>
                        </a:rPr>
                        <a:t>S.S.V.P.S’s B. S. Deore Polytechnic, Dhule</a:t>
                      </a:r>
                      <a:endParaRPr sz="2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Department of Computer Engineering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1" u="none" strike="noStrike" cap="none">
                          <a:solidFill>
                            <a:schemeClr val="lt1"/>
                          </a:solidFill>
                        </a:rPr>
                        <a:t>Academic Year : </a:t>
                      </a:r>
                      <a:r>
                        <a:rPr lang="en-US" sz="3200" b="0" i="1"/>
                        <a:t>2026-2027</a:t>
                      </a:r>
                      <a:endParaRPr sz="3200" b="0" i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532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 dirty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SEMINAR AND PROJECT INITIATION COURSE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61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 dirty="0" err="1">
                          <a:solidFill>
                            <a:srgbClr val="FF0000"/>
                          </a:solidFill>
                        </a:rPr>
                        <a:t>Sem</a:t>
                      </a:r>
                      <a:r>
                        <a:rPr lang="en-US" sz="2100" b="1" u="none" strike="noStrike" cap="none" dirty="0">
                          <a:solidFill>
                            <a:srgbClr val="FF0000"/>
                          </a:solidFill>
                        </a:rPr>
                        <a:t> : CO</a:t>
                      </a:r>
                      <a:r>
                        <a:rPr lang="en-IN" sz="2100" b="1" u="none" strike="noStrike" cap="none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2100" b="1" u="none" strike="noStrike" cap="none">
                          <a:solidFill>
                            <a:srgbClr val="FF0000"/>
                          </a:solidFill>
                        </a:rPr>
                        <a:t>5K</a:t>
                      </a:r>
                      <a:endParaRPr sz="21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SPI – 315003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 dirty="0">
                          <a:solidFill>
                            <a:srgbClr val="FF0000"/>
                          </a:solidFill>
                        </a:rPr>
                        <a:t>Date  : </a:t>
                      </a:r>
                      <a:r>
                        <a:rPr lang="en-IN" sz="2100" b="1" u="none" strike="noStrike" cap="none" dirty="0">
                          <a:solidFill>
                            <a:srgbClr val="FF0000"/>
                          </a:solidFill>
                        </a:rPr>
                        <a:t>17/10/2026</a:t>
                      </a:r>
                      <a:endParaRPr sz="2100" b="1" u="none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61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2"/>
                          </a:solidFill>
                        </a:rPr>
                        <a:t>Topic :</a:t>
                      </a:r>
                      <a:r>
                        <a:rPr lang="en-US" sz="2400" b="1" u="none" strike="noStrike" cap="none"/>
                        <a:t> AI Generated Text Detection</a:t>
                      </a:r>
                      <a:endParaRPr sz="2400" b="1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61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/>
                        <a:t>Roll No.</a:t>
                      </a:r>
                      <a:endParaRPr sz="2400" b="1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/>
                        <a:t>Name of Student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626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67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Mansi </a:t>
                      </a:r>
                      <a:r>
                        <a:rPr lang="en-US" sz="1800" dirty="0" err="1"/>
                        <a:t>Tulshidas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Patil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626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68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Prachi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Nilesh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Patil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626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90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Jagruti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Baliram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Shinde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62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121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Nikita Laxman Patil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05" name="Google Shape;505;p13" descr="ssvps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57200"/>
            <a:ext cx="1219200" cy="162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87680" indent="-457200">
              <a:spcBef>
                <a:spcPts val="496"/>
              </a:spcBef>
              <a:buSzPct val="100000"/>
            </a:pPr>
            <a:r>
              <a:rPr lang="en-US" dirty="0"/>
              <a:t>Abstract 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Introduction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Literature Review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Information to Seminar topic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Advantages and Disadvantages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Conclusion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Project Initiation : </a:t>
            </a:r>
            <a:endParaRPr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1 Description of problem statement.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2 Scope and objectives.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3 Stake holder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6. 4 </a:t>
            </a:r>
            <a:r>
              <a:rPr lang="en-IN" sz="2800" dirty="0"/>
              <a:t>S</a:t>
            </a:r>
            <a:r>
              <a:rPr lang="en-US" sz="2800" dirty="0" err="1"/>
              <a:t>eminar</a:t>
            </a:r>
            <a:r>
              <a:rPr lang="en-US" sz="2800" dirty="0"/>
              <a:t> </a:t>
            </a:r>
            <a:r>
              <a:rPr lang="en-US" sz="2800" dirty="0" err="1"/>
              <a:t>exsicussion</a:t>
            </a:r>
            <a:r>
              <a:rPr lang="en-US" sz="2800" dirty="0"/>
              <a:t>  plan</a:t>
            </a:r>
            <a:endParaRPr sz="2800" dirty="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 dirty="0"/>
              <a:t>6.</a:t>
            </a:r>
            <a:r>
              <a:rPr lang="en-IN" sz="2800" dirty="0"/>
              <a:t> </a:t>
            </a:r>
            <a:r>
              <a:rPr lang="en-US" sz="2800" dirty="0"/>
              <a:t>5</a:t>
            </a:r>
            <a:r>
              <a:rPr lang="en-IN" sz="2800" dirty="0"/>
              <a:t> </a:t>
            </a:r>
            <a:r>
              <a:rPr lang="en-US" sz="2800" dirty="0"/>
              <a:t>Platform/ Equipment/ Resources identification.</a:t>
            </a:r>
            <a:endParaRPr sz="2800"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Bibliography</a:t>
            </a:r>
            <a:endParaRPr dirty="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 dirty="0"/>
              <a:t>References</a:t>
            </a:r>
            <a:endParaRPr dirty="0"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511" name="Google Shape;5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512" name="Google Shape;512;p1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518" name="Google Shape;518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Large Language Models (LLMs) such as </a:t>
            </a:r>
            <a:r>
              <a:rPr lang="en-US" sz="1800" dirty="0" err="1"/>
              <a:t>ChatGPT</a:t>
            </a:r>
            <a:r>
              <a:rPr lang="en-US" sz="1800" dirty="0"/>
              <a:t> make it very easy to generate fluent, human-like text. This raises concerns in education, journalism and research: plagiarism, misinformation and loss of authenticity.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AI Generated Text Detection is the task of automatically deciding whether a text was written by a human or produced by a machine.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This report reviews 12 research papers (2023–2026): classical ML (Logistic Regression, SVM, Naive Bayes, </a:t>
            </a:r>
            <a:r>
              <a:rPr lang="en-US" sz="1800" dirty="0" err="1"/>
              <a:t>XGBoost</a:t>
            </a:r>
            <a:r>
              <a:rPr lang="en-US" sz="1800" dirty="0"/>
              <a:t>), BERT, ensemble and domain-gating approaches, explainable AI, and survey articles.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It explains the working principle, architecture, techniques, advantages and limitations, and ends with a project initiation plan for a detector that supports academic integrity.</a:t>
            </a:r>
          </a:p>
        </p:txBody>
      </p:sp>
      <p:sp>
        <p:nvSpPr>
          <p:cNvPr id="519" name="Google Shape;519;p1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525" name="Google Shape;525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AI is the field of building machines that perform tasks needing human intelligence; Machine Learning learns patterns from data, and Deep Learning uses multi-layered neural networks.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Natural Language Processing (NLP) lets computers understand, analyze and generate human language (translation, chatbots, summarization, text classification).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LLMs such as </a:t>
            </a:r>
            <a:r>
              <a:rPr lang="en-US" sz="1800" dirty="0" err="1"/>
              <a:t>ChatGPT</a:t>
            </a:r>
            <a:r>
              <a:rPr lang="en-US" sz="1800" dirty="0"/>
              <a:t>, Gemini and Claude now write essays, news articles and emails that closely resemble human writing.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AI-generated text detection combines NLP, ML and DL, using features like word distribution, sentence structure, writing style and perplexity.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It remains challenging: models keep improving, text can be paraphrased, and human and AI text can look alike.</a:t>
            </a:r>
          </a:p>
        </p:txBody>
      </p:sp>
      <p:sp>
        <p:nvSpPr>
          <p:cNvPr id="526" name="Google Shape;526;p1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2. Literature Survey</a:t>
            </a:r>
            <a:endParaRPr/>
          </a:p>
        </p:txBody>
      </p:sp>
      <p:sp>
        <p:nvSpPr>
          <p:cNvPr id="532" name="Google Shape;532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/>
              <a:t>12 research papers (2023–2026) were reviewed: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Ensemble / domain-aware: </a:t>
            </a:r>
            <a:r>
              <a:rPr lang="en-US" sz="1800" dirty="0" err="1"/>
              <a:t>Pudasaini</a:t>
            </a:r>
            <a:r>
              <a:rPr lang="en-US" sz="1800" dirty="0"/>
              <a:t> et al. (2025) – frozen pretrained encoders with ensemble learning; Tripathi et al. (2025) – Domain Gating Ensemble Network.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Transformer-based: </a:t>
            </a:r>
            <a:r>
              <a:rPr lang="en-US" sz="1800" dirty="0"/>
              <a:t>Yu (2026) – optimizing BERT; </a:t>
            </a:r>
            <a:r>
              <a:rPr lang="en-US" sz="1800" dirty="0" err="1"/>
              <a:t>Prova</a:t>
            </a:r>
            <a:r>
              <a:rPr lang="en-US" sz="1800" dirty="0"/>
              <a:t> (2024) – compares </a:t>
            </a:r>
            <a:r>
              <a:rPr lang="en-US" sz="1800" dirty="0" err="1"/>
              <a:t>XGBoost</a:t>
            </a:r>
            <a:r>
              <a:rPr lang="en-US" sz="1800" dirty="0"/>
              <a:t>, SVM and BERT.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Classical ML and NLP: </a:t>
            </a:r>
            <a:r>
              <a:rPr lang="en-US" sz="1800" dirty="0"/>
              <a:t>Zeng (2024, two papers) – Logistic Regression, SVM, Naive Bayes; </a:t>
            </a:r>
            <a:r>
              <a:rPr lang="en-US" sz="1800" dirty="0" err="1"/>
              <a:t>Malveen</a:t>
            </a:r>
            <a:r>
              <a:rPr lang="en-US" sz="1800" dirty="0"/>
              <a:t> (2024); </a:t>
            </a:r>
            <a:r>
              <a:rPr lang="en-US" sz="1800" dirty="0" err="1"/>
              <a:t>Alikhanov</a:t>
            </a:r>
            <a:r>
              <a:rPr lang="en-US" sz="1800" dirty="0"/>
              <a:t> et al. (2026); </a:t>
            </a:r>
            <a:r>
              <a:rPr lang="en-US" sz="1800" dirty="0" err="1"/>
              <a:t>Jwaid</a:t>
            </a:r>
            <a:r>
              <a:rPr lang="en-US" sz="1800" dirty="0"/>
              <a:t> et al. (2024).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Explainable AI: </a:t>
            </a:r>
            <a:r>
              <a:rPr lang="en-US" sz="1800" dirty="0"/>
              <a:t>Najjar et al. (2023) – ML with XAI for academic integrity in education.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Review papers: </a:t>
            </a:r>
            <a:r>
              <a:rPr lang="en-US" sz="1800" dirty="0"/>
              <a:t>Lalit et al. (2023); </a:t>
            </a:r>
            <a:r>
              <a:rPr lang="en-US" sz="1800" dirty="0" err="1"/>
              <a:t>Fariello</a:t>
            </a:r>
            <a:r>
              <a:rPr lang="en-US" sz="1800" dirty="0"/>
              <a:t> et al. (2025) – advances and open challenges.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n-US" sz="1800" b="1" dirty="0"/>
              <a:t>Detailed comparison is shown in Table 2.1 (next two slides).</a:t>
            </a:r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Table 2.1: Literature Review (1/2)</a:t>
            </a:r>
            <a:endParaRPr/>
          </a:p>
        </p:txBody>
      </p:sp>
      <p:graphicFrame>
        <p:nvGraphicFramePr>
          <p:cNvPr id="90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58083"/>
              </p:ext>
            </p:extLst>
          </p:nvPr>
        </p:nvGraphicFramePr>
        <p:xfrm>
          <a:off x="457200" y="1295400"/>
          <a:ext cx="8229600" cy="5245536"/>
        </p:xfrm>
        <a:graphic>
          <a:graphicData uri="http://schemas.openxmlformats.org/drawingml/2006/table">
            <a:tbl>
              <a:tblPr firstRow="1"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(Author, Year)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Type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Objective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Pudasaini et al., 2025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of frozen encoders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Frozen pretrained encoders; ensemble learning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AI text with good accuracy at low training cost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Tripathi et al., 2025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Domain-aware ensemble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Gating Ensemble Network (gating + multiple detectors)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 detection accurate across different text domains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Yu, 2026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optimization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BERT; model tuning and optimization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BERT performance for AI text detection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Alikhanov et al., 2026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and ML based detection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techniques; machine learning models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Distinguish human and AI generated text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Lalit et al., 2023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existing detection methods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 techniques and challenges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Jwaid et al., 2024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detection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classification of machine-generated text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human and machine text automatically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Table 2.1: Literature Review (2/2)</a:t>
            </a:r>
            <a:endParaRPr/>
          </a:p>
        </p:txBody>
      </p:sp>
      <p:graphicFrame>
        <p:nvGraphicFramePr>
          <p:cNvPr id="90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90215"/>
              </p:ext>
            </p:extLst>
          </p:nvPr>
        </p:nvGraphicFramePr>
        <p:xfrm>
          <a:off x="457200" y="1295400"/>
          <a:ext cx="8229600" cy="5159152"/>
        </p:xfrm>
        <a:graphic>
          <a:graphicData uri="http://schemas.openxmlformats.org/drawingml/2006/table">
            <a:tbl>
              <a:tblPr firstRow="1"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(Author, Year)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Type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Objective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Najjar et al., 2023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with Explainable AI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classifiers; explainable AI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AI text in education and support academic integrity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Zeng, 2024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Classical machine learning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Regression; SVM; Naive Bayes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 text using traditional ML models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Malveen, 2024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ML pipeline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pre-processing; feature extraction; classifiers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AI text with NLP and ML methods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Prova, 2024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ML/DL comparison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XGBoost; SVM; BERT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ML and transformer models for detection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Fariello et al., 2025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detection advances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 advances and open challenges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Zeng, 2024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Classical machine learning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models on labelled text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ML models for AI generated text detection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dirty="0"/>
              <a:t>3. Information to seminar topic</a:t>
            </a:r>
            <a:endParaRPr dirty="0"/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Overview: </a:t>
            </a:r>
            <a:r>
              <a:rPr lang="en-US" sz="1800" dirty="0"/>
              <a:t>a text classification task that labels text as human-written or AI-generated, with a confidence score.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AI text patterns: </a:t>
            </a:r>
            <a:r>
              <a:rPr lang="en-US" sz="1800" dirty="0"/>
              <a:t>smooth sentences, repeated phrases, balanced lengths, predictable word choices; human writing varies more.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Need: </a:t>
            </a:r>
            <a:r>
              <a:rPr lang="en-US" sz="1800" dirty="0"/>
              <a:t>academic integrity, plagiarism, fake news, spam and fake reviews, trust in online content.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Working principle: </a:t>
            </a:r>
            <a:r>
              <a:rPr lang="en-US" sz="1800" dirty="0"/>
              <a:t>Input text → Pre-processing → Feature extraction (TF-IDF / embeddings) → Classification model (ML / BERT / Ensemble) → Label + confidence score → Display result.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Architecture: </a:t>
            </a:r>
            <a:r>
              <a:rPr lang="en-US" sz="1800" dirty="0"/>
              <a:t>User Interface, Pre-processing Module, Feature Extraction Module, Detection Model (trained on a dataset), Decision &amp; Scoring Module, Result Display.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Techniques: </a:t>
            </a:r>
            <a:r>
              <a:rPr lang="en-US" sz="1800" dirty="0"/>
              <a:t>Classical ML (LR, SVM, Naive Bayes, </a:t>
            </a:r>
            <a:r>
              <a:rPr lang="en-US" sz="1800" dirty="0" err="1"/>
              <a:t>XGBoost</a:t>
            </a:r>
            <a:r>
              <a:rPr lang="en-US" sz="1800" dirty="0"/>
              <a:t>), Transformers (BERT), Ensemble learning, Explainable AI.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Evaluation metrics: </a:t>
            </a:r>
            <a:r>
              <a:rPr lang="en-US" sz="1800" dirty="0"/>
              <a:t>accuracy, precision, recall and F1-score.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Challenges: </a:t>
            </a:r>
            <a:r>
              <a:rPr lang="en-US" sz="1800" dirty="0"/>
              <a:t>paraphrased text, short texts, new domains and newer LLMs; a result is an indication, not final proof.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4. Advantages / Disadvantages</a:t>
            </a:r>
            <a:endParaRPr/>
          </a:p>
        </p:txBody>
      </p:sp>
      <p:sp>
        <p:nvSpPr>
          <p:cNvPr id="546" name="Google Shape;546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/>
              <a:t>Advantages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Protects academic integrity by identifying AI-written assignments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Reduces fake news, spam and fake reviews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Saves teachers' and reviewers' time compared to manual checking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Works quickly and automatically on large amounts of text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Ensemble and transformer models improve accuracy and robustness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Explainable AI makes decisions easier to understand and trust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/>
              <a:t>Disadvantages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False positives: human text may be marked as AI-generated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May fail on paraphrased or edited AI text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Performance drops on new domains or newer language models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Short texts do not give enough information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Deep learning needs large datasets and more computing power</a:t>
            </a:r>
          </a:p>
          <a:p>
            <a:pPr marL="285750" indent="-285750" algn="l"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Result is a probability, not final proof of misconduct</a:t>
            </a:r>
          </a:p>
        </p:txBody>
      </p:sp>
      <p:sp>
        <p:nvSpPr>
          <p:cNvPr id="547" name="Google Shape;547;p19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5. Conclusion</a:t>
            </a:r>
            <a:endParaRPr/>
          </a:p>
        </p:txBody>
      </p:sp>
      <p:sp>
        <p:nvSpPr>
          <p:cNvPr id="553" name="Google Shape;553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AI Generated Text Detection is an important research area because of the rapid growth of language models in education, research and online content.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Classical ML, BERT, ensemble learning, domain-gating and Explainable AI can all help separate human-written text from AI-generated text.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Challenges remain: robustness to paraphrasing, different domains, newer language models and false positives.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Detectors should support human judgement, not be the sole basis for important decisions.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 practical system needs data collection, preprocessing, feature extraction, model training, evaluation and regular improvement.</a:t>
            </a:r>
          </a:p>
        </p:txBody>
      </p:sp>
      <p:sp>
        <p:nvSpPr>
          <p:cNvPr id="554" name="Google Shape;554;p20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6. Project Initiation</a:t>
            </a:r>
            <a:endParaRPr/>
          </a:p>
        </p:txBody>
      </p:sp>
      <p:sp>
        <p:nvSpPr>
          <p:cNvPr id="560" name="Google Shape;560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Project: </a:t>
            </a:r>
            <a:r>
              <a:rPr lang="en-US" sz="1800" dirty="0"/>
              <a:t>AI Generated Text Detection System</a:t>
            </a:r>
          </a:p>
          <a:p>
            <a:pPr marL="285750" indent="-285750" algn="l">
              <a:spcBef>
                <a:spcPts val="9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Aim: a system that accepts text from the user, pre-processes it, extracts features and uses a trained ML model to classify it as human-written or AI-generated, with a confidence score.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/>
              <a:t>This section covers: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6.1 Description of problem statement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6.2 Scope and objectives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6.3 Stakeholders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6.4 Seminar discussion plan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6.5 Platform / Equipment / Resources</a:t>
            </a:r>
          </a:p>
        </p:txBody>
      </p:sp>
      <p:sp>
        <p:nvSpPr>
          <p:cNvPr id="561" name="Google Shape;561;p21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2"/>
          <p:cNvSpPr txBox="1">
            <a:spLocks noGrp="1"/>
          </p:cNvSpPr>
          <p:nvPr>
            <p:ph type="title"/>
          </p:nvPr>
        </p:nvSpPr>
        <p:spPr>
          <a:xfrm>
            <a:off x="457200" y="21748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US" sz="3600" dirty="0"/>
              <a:t>6. 1 Description of problem statement </a:t>
            </a:r>
            <a:endParaRPr sz="3600" dirty="0"/>
          </a:p>
        </p:txBody>
      </p:sp>
      <p:sp>
        <p:nvSpPr>
          <p:cNvPr id="567" name="Google Shape;567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Tools such as ChatGPT make it very easy to generate essays, reports and answers.</a:t>
            </a:r>
          </a:p>
          <a:p>
            <a:pPr marL="285750" indent="-285750" algn="l"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In educational institutions it is difficult to check whether submitted work is original; manual checking is slow and unreliable because AI text looks natural and fluent.</a:t>
            </a:r>
          </a:p>
          <a:p>
            <a:pPr marL="285750" indent="-285750" algn="l"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/>
              <a:t>Therefore, a system is needed that automatically analyses a text and tells whether it is human-written or AI-generated, with a confidence score, so teachers can take informed decisions.</a:t>
            </a:r>
          </a:p>
        </p:txBody>
      </p:sp>
      <p:sp>
        <p:nvSpPr>
          <p:cNvPr id="568" name="Google Shape;568;p22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US" sz="3600"/>
              <a:t>6. 2 Scope and objectives.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endParaRPr sz="3600"/>
          </a:p>
        </p:txBody>
      </p:sp>
      <p:sp>
        <p:nvSpPr>
          <p:cNvPr id="574" name="Google Shape;574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/>
              <a:t>Scope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Design a system that accepts text from the user, pre-processes it, extracts features and classifies it as human-written or AI-generated using a trained ML model.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Displays the result with a confidence score.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Focus on English text and educational content such as essays and answers.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/>
              <a:t>Objectives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To study existing methods for AI-generated text detection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To collect and prepare a dataset of human-written and AI-generated text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To extract suitable features using NLP techniques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To build a simple interface showing the prediction and confidence score</a:t>
            </a:r>
          </a:p>
        </p:txBody>
      </p:sp>
      <p:sp>
        <p:nvSpPr>
          <p:cNvPr id="575" name="Google Shape;575;p2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n-US" sz="3600"/>
              <a:t>6. 3 Stake holder</a:t>
            </a:r>
            <a:endParaRPr sz="3600"/>
          </a:p>
        </p:txBody>
      </p:sp>
      <p:sp>
        <p:nvSpPr>
          <p:cNvPr id="581" name="Google Shape;581;p2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Students: </a:t>
            </a:r>
            <a:r>
              <a:rPr lang="en-US" sz="1800" dirty="0"/>
              <a:t>check the originality of their own work.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Teachers and Evaluators: </a:t>
            </a:r>
            <a:r>
              <a:rPr lang="en-US" sz="1800" dirty="0"/>
              <a:t>check assignments for academic integrity.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Developers: </a:t>
            </a:r>
            <a:r>
              <a:rPr lang="en-US" sz="1800" dirty="0"/>
              <a:t>develop, test and maintain the system.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Educational Institutions: </a:t>
            </a:r>
            <a:r>
              <a:rPr lang="en-US" sz="1800" dirty="0"/>
              <a:t>want to maintain academic honesty.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System Administrators: </a:t>
            </a:r>
            <a:r>
              <a:rPr lang="en-US" sz="1800" dirty="0"/>
              <a:t>manage and maintain the system.</a:t>
            </a:r>
          </a:p>
          <a:p>
            <a:pPr marL="285750" indent="-285750" algn="l"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 dirty="0"/>
              <a:t>Project Guide: </a:t>
            </a:r>
            <a:r>
              <a:rPr lang="en-US" sz="1800" dirty="0"/>
              <a:t>faculty member who guides the project and evaluates its progress.</a:t>
            </a:r>
          </a:p>
        </p:txBody>
      </p:sp>
      <p:sp>
        <p:nvSpPr>
          <p:cNvPr id="582" name="Google Shape;582;p2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/>
              <a:t>6. 4 seminar exsicussion  plan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endParaRPr sz="3200"/>
          </a:p>
        </p:txBody>
      </p:sp>
      <p:sp>
        <p:nvSpPr>
          <p:cNvPr id="588" name="Google Shape;588;p2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Introduction – AI, NLP and Large Language Models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Need for AI generated text detection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Literature review – 12 research papers (2023–2026) and comparison table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Working principle and system architecture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Techniques, technologies and performance evaluation metrics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Advantages, disadvantages and challenges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Conclusion and project initiation (problem statement, scope, stakeholders, resources)</a:t>
            </a:r>
          </a:p>
          <a:p>
            <a:pPr marL="285750" indent="-285750" algn="l">
              <a:spcBef>
                <a:spcPts val="7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Question and answer session</a:t>
            </a:r>
          </a:p>
        </p:txBody>
      </p:sp>
      <p:sp>
        <p:nvSpPr>
          <p:cNvPr id="589" name="Google Shape;589;p2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/>
              <a:t>6.5 Platform/ Equipment/ Resources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endParaRPr sz="3200"/>
          </a:p>
        </p:txBody>
      </p:sp>
      <p:sp>
        <p:nvSpPr>
          <p:cNvPr id="595" name="Google Shape;595;p2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dirty="0"/>
              <a:t>Platform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Windows or Linux, Python programming language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Visual Studio Code for development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Google </a:t>
            </a:r>
            <a:r>
              <a:rPr lang="en-US" sz="1800" dirty="0" err="1"/>
              <a:t>Colab</a:t>
            </a:r>
            <a:r>
              <a:rPr lang="en-US" sz="1800" dirty="0"/>
              <a:t> if extra computing power is needed for transformer models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/>
              <a:t>Equipment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Computer or laptop with a standard modern processor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RAM: minimum 8 GB recommended (more for transformer models)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Internet connection for datasets, libraries and models</a:t>
            </a:r>
          </a:p>
          <a:p>
            <a:pPr marL="285750" indent="-28575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dirty="0"/>
              <a:t>Sufficient storage for source code, datasets and model files</a:t>
            </a:r>
          </a:p>
        </p:txBody>
      </p:sp>
      <p:sp>
        <p:nvSpPr>
          <p:cNvPr id="596" name="Google Shape;596;p2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/>
              <a:t>Table 6.1: Resources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endParaRPr sz="3200"/>
          </a:p>
        </p:txBody>
      </p:sp>
      <p:graphicFrame>
        <p:nvGraphicFramePr>
          <p:cNvPr id="90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21602"/>
              </p:ext>
            </p:extLst>
          </p:nvPr>
        </p:nvGraphicFramePr>
        <p:xfrm>
          <a:off x="457200" y="1295400"/>
          <a:ext cx="8229600" cy="5257808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11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 and run development tools, editors and the local testing environment.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3.11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language used to implement the application code, scripts and tests.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Editor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editing, debugging and extension support for development.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Library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-learn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SVM, Naive Bayes, TF-IDF and evaluation metrics.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boosted tree classifier for text features.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Library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 Face Transformers,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Fine-tuning and using BERT for text classification.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Loading, cleaning and processing the dataset.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Library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NLTK / spaCy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Tokenization and text pre-processing.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human vs AI text datasets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and testing the detection models.</a:t>
                      </a:r>
                    </a:p>
                  </a:txBody>
                  <a:tcPr marL="64008" marR="64008" marT="27432" marB="27432" anchor="ctr">
                    <a:lnL w="12700">
                      <a:solidFill>
                        <a:schemeClr val="dk1"/>
                      </a:solidFill>
                    </a:lnL>
                    <a:lnR w="12700">
                      <a:solidFill>
                        <a:schemeClr val="dk1"/>
                      </a:solidFill>
                    </a:lnR>
                    <a:lnT w="12700">
                      <a:solidFill>
                        <a:schemeClr val="dk1"/>
                      </a:solidFill>
                    </a:lnT>
                    <a:lnB w="12700">
                      <a:solidFill>
                        <a:schemeClr val="dk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96" name="Google Shape;596;p2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Bibliography</a:t>
            </a:r>
            <a:endParaRPr/>
          </a:p>
        </p:txBody>
      </p:sp>
      <p:sp>
        <p:nvSpPr>
          <p:cNvPr id="602" name="Google Shape;602;p2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indent="-28575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 b="1" dirty="0"/>
              <a:t>Books</a:t>
            </a:r>
          </a:p>
          <a:p>
            <a:pPr marL="685800">
              <a:spcBef>
                <a:spcPts val="300"/>
              </a:spcBef>
              <a:buSzPct val="100000"/>
            </a:pPr>
            <a:r>
              <a:rPr lang="en-US" sz="1900" dirty="0"/>
              <a:t>Artificial Intelligence: A Modern Approach — Stuart Russell and Peter </a:t>
            </a:r>
            <a:r>
              <a:rPr lang="en-US" sz="1900" dirty="0" err="1"/>
              <a:t>Norvig</a:t>
            </a:r>
            <a:endParaRPr lang="en-US" sz="1900" dirty="0"/>
          </a:p>
          <a:p>
            <a:pPr marL="685800">
              <a:spcBef>
                <a:spcPts val="300"/>
              </a:spcBef>
              <a:buSzPct val="100000"/>
            </a:pPr>
            <a:r>
              <a:rPr lang="en-US" sz="1900" dirty="0"/>
              <a:t>Speech and Language Processing — Daniel </a:t>
            </a:r>
            <a:r>
              <a:rPr lang="en-US" sz="1900" dirty="0" err="1"/>
              <a:t>Jurafsky</a:t>
            </a:r>
            <a:r>
              <a:rPr lang="en-US" sz="1900" dirty="0"/>
              <a:t> and James H. Martin</a:t>
            </a:r>
          </a:p>
          <a:p>
            <a:pPr marL="685800">
              <a:spcBef>
                <a:spcPts val="300"/>
              </a:spcBef>
              <a:buSzPct val="100000"/>
            </a:pPr>
            <a:r>
              <a:rPr lang="en-US" sz="1900" dirty="0"/>
              <a:t>Hands-On Machine Learning with </a:t>
            </a:r>
            <a:r>
              <a:rPr lang="en-US" sz="1900" dirty="0" err="1"/>
              <a:t>Scikit</a:t>
            </a:r>
            <a:r>
              <a:rPr lang="en-US" sz="1900" dirty="0"/>
              <a:t>-Learn, </a:t>
            </a:r>
            <a:r>
              <a:rPr lang="en-US" sz="1900" dirty="0" err="1"/>
              <a:t>Keras</a:t>
            </a:r>
            <a:r>
              <a:rPr lang="en-US" sz="1900" dirty="0"/>
              <a:t> and TensorFlow — </a:t>
            </a:r>
            <a:r>
              <a:rPr lang="en-US" sz="1900" dirty="0" err="1"/>
              <a:t>Aurélien</a:t>
            </a:r>
            <a:r>
              <a:rPr lang="en-US" sz="1900" dirty="0"/>
              <a:t> </a:t>
            </a:r>
            <a:r>
              <a:rPr lang="en-US" sz="1900" dirty="0" err="1"/>
              <a:t>Géron</a:t>
            </a:r>
            <a:endParaRPr lang="en-US" sz="1900" dirty="0"/>
          </a:p>
          <a:p>
            <a:pPr marL="685800">
              <a:spcBef>
                <a:spcPts val="300"/>
              </a:spcBef>
              <a:buSzPct val="100000"/>
            </a:pPr>
            <a:r>
              <a:rPr lang="en-US" sz="1900" dirty="0"/>
              <a:t>Natural Language Processing with Transformers — Lewis Tunstall, Leandro von Werra and Thomas Wolf</a:t>
            </a:r>
          </a:p>
          <a:p>
            <a:pPr marL="285750" indent="-285750">
              <a:spcBef>
                <a:spcPts val="1400"/>
              </a:spcBef>
              <a:buSzPct val="100000"/>
            </a:pPr>
            <a:r>
              <a:rPr lang="en-US" sz="2600" b="1" dirty="0"/>
              <a:t>Websites</a:t>
            </a:r>
          </a:p>
          <a:p>
            <a:pPr marL="684900">
              <a:spcBef>
                <a:spcPts val="300"/>
              </a:spcBef>
              <a:buSzPct val="100000"/>
            </a:pPr>
            <a:r>
              <a:rPr lang="en-US" sz="1900" dirty="0"/>
              <a:t> [Google Scholar](https://scholar.google.com/?utm_source=chatgpt.com): – Research papers related to AI-Generated Text Detection.</a:t>
            </a:r>
          </a:p>
          <a:p>
            <a:pPr marL="684900">
              <a:spcBef>
                <a:spcPts val="300"/>
              </a:spcBef>
              <a:buSzPct val="100000"/>
            </a:pPr>
            <a:r>
              <a:rPr lang="en-US" sz="1900" dirty="0"/>
              <a:t>[ResearchGate](https://www.researchgate.net/?utm_source=chatgpt.com): – Research articles on Human vs. Machine-Generated Text.</a:t>
            </a:r>
          </a:p>
          <a:p>
            <a:pPr marL="684900">
              <a:spcBef>
                <a:spcPts val="300"/>
              </a:spcBef>
              <a:buSzPct val="100000"/>
            </a:pPr>
            <a:r>
              <a:rPr lang="en-US" sz="1900" dirty="0"/>
              <a:t> [IEEE Xplore](https://ieeexplore.ieee.org/?utm_source=chatgpt.com): – Technical research papers on AI and Machine Learning.</a:t>
            </a:r>
          </a:p>
          <a:p>
            <a:pPr marL="684900">
              <a:spcBef>
                <a:spcPts val="300"/>
              </a:spcBef>
              <a:buSzPct val="100000"/>
            </a:pPr>
            <a:r>
              <a:rPr lang="en-US" sz="1900" dirty="0"/>
              <a:t>[ScienceDirect](https://www.sciencedirect.com/?utm_source=chatgpt.com) :– Articles related to AI-Generated Text Detection.</a:t>
            </a:r>
          </a:p>
        </p:txBody>
      </p:sp>
      <p:sp>
        <p:nvSpPr>
          <p:cNvPr id="603" name="Google Shape;603;p2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dirty="0"/>
              <a:t>[1]  S. </a:t>
            </a:r>
            <a:r>
              <a:rPr lang="en-US" sz="1400" dirty="0" err="1"/>
              <a:t>Pudasaini</a:t>
            </a:r>
            <a:r>
              <a:rPr lang="en-US" sz="1400" dirty="0"/>
              <a:t>, L. </a:t>
            </a:r>
            <a:r>
              <a:rPr lang="en-US" sz="1400" dirty="0" err="1"/>
              <a:t>Miralles-Pechuán</a:t>
            </a:r>
            <a:r>
              <a:rPr lang="en-US" sz="1400" dirty="0"/>
              <a:t>, D. Lillis and M. </a:t>
            </a:r>
            <a:r>
              <a:rPr lang="en-US" sz="1400" dirty="0" err="1"/>
              <a:t>Llorens</a:t>
            </a:r>
            <a:r>
              <a:rPr lang="en-US" sz="1400" dirty="0"/>
              <a:t> Salvador, “Enhancing AI Text Detection with Frozen Pretrained Encoders and Ensemble Learning,” 2025.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[2]  A. Tripathi, E. </a:t>
            </a:r>
            <a:r>
              <a:rPr lang="en-US" sz="1400" dirty="0" err="1"/>
              <a:t>Jin</a:t>
            </a:r>
            <a:r>
              <a:rPr lang="en-US" sz="1400" dirty="0"/>
              <a:t>, P. Zhang et al., “Domain Gating Ensemble Networks for AI-Generated Text Detection,” 2025.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[3]  J. Yu, “Research on Performance Optimization of BERT Model in AI-Generated Text Detection,” 2026.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[4]  A. </a:t>
            </a:r>
            <a:r>
              <a:rPr lang="en-US" sz="1400" dirty="0" err="1"/>
              <a:t>Alikhanov</a:t>
            </a:r>
            <a:r>
              <a:rPr lang="en-US" sz="1400" dirty="0"/>
              <a:t>, D. </a:t>
            </a:r>
            <a:r>
              <a:rPr lang="en-US" sz="1400" dirty="0" err="1"/>
              <a:t>Akhmetzhan</a:t>
            </a:r>
            <a:r>
              <a:rPr lang="en-US" sz="1400" dirty="0"/>
              <a:t>, A. </a:t>
            </a:r>
            <a:r>
              <a:rPr lang="en-US" sz="1400" dirty="0" err="1"/>
              <a:t>Amangeldi</a:t>
            </a:r>
            <a:r>
              <a:rPr lang="en-US" sz="1400" dirty="0"/>
              <a:t> et al., “AI Generated Text Detection,” 2026.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[5]  R. Lalit, P. </a:t>
            </a:r>
            <a:r>
              <a:rPr lang="en-US" sz="1400" dirty="0" err="1"/>
              <a:t>Bhutani</a:t>
            </a:r>
            <a:r>
              <a:rPr lang="en-US" sz="1400" dirty="0"/>
              <a:t>, N. Verma and A. Jain, “AI-Generated Text Detection: A Review,” 2023.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[6]  U. </a:t>
            </a:r>
            <a:r>
              <a:rPr lang="en-US" sz="1400" dirty="0" err="1"/>
              <a:t>Jwaid</a:t>
            </a:r>
            <a:r>
              <a:rPr lang="en-US" sz="1400" dirty="0"/>
              <a:t>, R. Roy, P. Pal et al., “Human vs Machine: An Automated Machine-Generated Text Detection Approach,” 2024.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[7]  A. A. Najjar, H. I. </a:t>
            </a:r>
            <a:r>
              <a:rPr lang="en-US" sz="1400" dirty="0" err="1"/>
              <a:t>Ashqar</a:t>
            </a:r>
            <a:r>
              <a:rPr lang="en-US" sz="1400" dirty="0"/>
              <a:t>, O. A. Darwish and E. Hammad, “Detecting AI-Generated Text in Educational Content: Leveraging Machine Learning and Explainable AI for Academic Integrity,” 2023.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[8]  M. Zeng, “AI-Generated Text Detection Based on Machine Learning Models,” 2024.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[9]  Z. </a:t>
            </a:r>
            <a:r>
              <a:rPr lang="en-US" sz="1400" dirty="0" err="1"/>
              <a:t>Malveen</a:t>
            </a:r>
            <a:r>
              <a:rPr lang="en-US" sz="1400" dirty="0"/>
              <a:t>, “Detecting AI-Generated Text Through NLP and Machine Learning Methodologies,” 2024.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[10]  N. N. I. </a:t>
            </a:r>
            <a:r>
              <a:rPr lang="en-US" sz="1400" dirty="0" err="1"/>
              <a:t>Prova</a:t>
            </a:r>
            <a:r>
              <a:rPr lang="en-US" sz="1400" dirty="0"/>
              <a:t>, “Detecting AI Generated Text Based on NLP and Machine Learning Approaches,” 2024.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[11]  S. </a:t>
            </a:r>
            <a:r>
              <a:rPr lang="en-US" sz="1400" dirty="0" err="1"/>
              <a:t>Fariello</a:t>
            </a:r>
            <a:r>
              <a:rPr lang="en-US" sz="1400" dirty="0"/>
              <a:t>, G. </a:t>
            </a:r>
            <a:r>
              <a:rPr lang="en-US" sz="1400" dirty="0" err="1"/>
              <a:t>Fenza</a:t>
            </a:r>
            <a:r>
              <a:rPr lang="en-US" sz="1400" dirty="0"/>
              <a:t>, F. Forte, M. Gallo and M. Marotta, “Distinguishing Human From Machine: A Review of Advances and Challenges in AI-Generated Text Detection,” 2025.</a:t>
            </a:r>
          </a:p>
          <a:p>
            <a:pPr marL="0" indent="0" algn="l">
              <a:spcBef>
                <a:spcPts val="350"/>
              </a:spcBef>
              <a:buNone/>
            </a:pPr>
            <a:r>
              <a:rPr lang="en-US" sz="1400" dirty="0"/>
              <a:t>[12]  M. Zeng, “Research on AI-Generated Text Detection Based on Machine Learning Models,” 2024.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1447801" y="2810112"/>
            <a:ext cx="6248400" cy="1200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616" name="Google Shape;61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2362</Words>
  <Application>Microsoft Office PowerPoint</Application>
  <PresentationFormat>On-screen Show (4:3)</PresentationFormat>
  <Paragraphs>280</Paragraphs>
  <Slides>20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Contents</vt:lpstr>
      <vt:lpstr>Abstract</vt:lpstr>
      <vt:lpstr>1. Introduction</vt:lpstr>
      <vt:lpstr>2. Literature Survey</vt:lpstr>
      <vt:lpstr>Table 2.1: Literature Review (1/2)</vt:lpstr>
      <vt:lpstr>Table 2.1: Literature Review (2/2)</vt:lpstr>
      <vt:lpstr>3. Information to seminar topic</vt:lpstr>
      <vt:lpstr>4. Advantages / Disadvantages</vt:lpstr>
      <vt:lpstr>5. Conclusion</vt:lpstr>
      <vt:lpstr>6. Project Initiation</vt:lpstr>
      <vt:lpstr>6. 1 Description of problem statement </vt:lpstr>
      <vt:lpstr> 6. 2 Scope and objectives. </vt:lpstr>
      <vt:lpstr>6. 3 Stake holder</vt:lpstr>
      <vt:lpstr>6. 4 seminar exsicussion  plan </vt:lpstr>
      <vt:lpstr>6.5 Platform/ Equipment/ Resources </vt:lpstr>
      <vt:lpstr>Table 6.1: Resources </vt:lpstr>
      <vt:lpstr>Bibliography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Nikita Patil</cp:lastModifiedBy>
  <cp:revision>6</cp:revision>
  <dcterms:modified xsi:type="dcterms:W3CDTF">2026-10-21T09:04:48Z</dcterms:modified>
</cp:coreProperties>
</file>