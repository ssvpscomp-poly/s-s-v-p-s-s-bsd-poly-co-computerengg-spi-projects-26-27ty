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5"/>
  </p:notesMasterIdLst>
  <p:sldIdLst>
    <p:sldId id="256" r:id="rId5"/>
    <p:sldId id="299" r:id="rId6"/>
    <p:sldId id="288" r:id="rId7"/>
    <p:sldId id="298" r:id="rId8"/>
    <p:sldId id="306" r:id="rId9"/>
    <p:sldId id="307" r:id="rId10"/>
    <p:sldId id="308" r:id="rId11"/>
    <p:sldId id="309" r:id="rId12"/>
    <p:sldId id="289" r:id="rId13"/>
    <p:sldId id="290" r:id="rId14"/>
    <p:sldId id="291" r:id="rId15"/>
    <p:sldId id="292" r:id="rId16"/>
    <p:sldId id="300" r:id="rId17"/>
    <p:sldId id="301" r:id="rId18"/>
    <p:sldId id="302" r:id="rId19"/>
    <p:sldId id="303" r:id="rId20"/>
    <p:sldId id="286" r:id="rId21"/>
    <p:sldId id="304" r:id="rId22"/>
    <p:sldId id="310" r:id="rId23"/>
    <p:sldId id="27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3E1406F-3E0B-4A76-BC53-D38CF81A0145}">
          <p14:sldIdLst>
            <p14:sldId id="256"/>
            <p14:sldId id="299"/>
            <p14:sldId id="288"/>
            <p14:sldId id="298"/>
            <p14:sldId id="306"/>
            <p14:sldId id="307"/>
            <p14:sldId id="308"/>
            <p14:sldId id="309"/>
            <p14:sldId id="289"/>
            <p14:sldId id="290"/>
            <p14:sldId id="291"/>
            <p14:sldId id="292"/>
            <p14:sldId id="300"/>
            <p14:sldId id="301"/>
            <p14:sldId id="302"/>
            <p14:sldId id="303"/>
            <p14:sldId id="286"/>
            <p14:sldId id="304"/>
            <p14:sldId id="310"/>
            <p14:sldId id="27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00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88BA2-E329-49E8-A2CE-E0F8A4332C44}" type="datetimeFigureOut">
              <a:rPr lang="en-US" smtClean="0"/>
              <a:pPr/>
              <a:t>10/16/2026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AF6FA-6E3A-44B1-85F9-6F12943D6755}" type="slidenum">
              <a:rPr lang="en-US" smtClean="0"/>
              <a:pPr/>
              <a:t>‹#›</a:t>
            </a:fld>
            <a:endParaRPr lang="en-US"/>
          </a:p>
        </p:txBody>
      </p:sp>
    </p:spTree>
    <p:extLst>
      <p:ext uri="{BB962C8B-B14F-4D97-AF65-F5344CB8AC3E}">
        <p14:creationId xmlns:p14="http://schemas.microsoft.com/office/powerpoint/2010/main" val="430911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837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A2CFAB-EAD8-48B6-877C-51B5044397D3}" type="datetime1">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style>
          <a:lnRef idx="2">
            <a:schemeClr val="accent1"/>
          </a:lnRef>
          <a:fillRef idx="1">
            <a:schemeClr val="lt1"/>
          </a:fillRef>
          <a:effectRef idx="0">
            <a:schemeClr val="accent1"/>
          </a:effectRef>
          <a:fontRef idx="minor">
            <a:schemeClr val="dk1"/>
          </a:fontRef>
        </p:style>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457200" y="1219200"/>
            <a:ext cx="8229600" cy="5334000"/>
          </a:xfrm>
        </p:spPr>
        <p:style>
          <a:lnRef idx="2">
            <a:schemeClr val="accent1"/>
          </a:lnRef>
          <a:fillRef idx="1">
            <a:schemeClr val="lt1"/>
          </a:fillRef>
          <a:effectRef idx="0">
            <a:schemeClr val="accent1"/>
          </a:effectRef>
          <a:fontRef idx="minor">
            <a:schemeClr val="dk1"/>
          </a:fontRef>
        </p:style>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style>
          <a:lnRef idx="2">
            <a:schemeClr val="accent1"/>
          </a:lnRef>
          <a:fillRef idx="1">
            <a:schemeClr val="lt1"/>
          </a:fillRef>
          <a:effectRef idx="0">
            <a:schemeClr val="accent1"/>
          </a:effectRef>
          <a:fontRef idx="minor">
            <a:schemeClr val="dk1"/>
          </a:fontRef>
        </p:style>
        <p:txBody>
          <a:bodyPr/>
          <a:lstStyle/>
          <a:p>
            <a:fld id="{8416966D-A0FB-4775-A5C9-29F4874A3325}" type="datetime1">
              <a:rPr lang="en-US" smtClean="0"/>
              <a:pPr/>
              <a:t>10/16/2026</a:t>
            </a:fld>
            <a:endParaRPr lang="en-US"/>
          </a:p>
        </p:txBody>
      </p:sp>
      <p:sp>
        <p:nvSpPr>
          <p:cNvPr id="5" name="Footer Placeholder 4"/>
          <p:cNvSpPr>
            <a:spLocks noGrp="1"/>
          </p:cNvSpPr>
          <p:nvPr>
            <p:ph type="ftr" sz="quarter" idx="11"/>
          </p:nvPr>
        </p:nvSpPr>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6" name="Slide Number Placeholder 5"/>
          <p:cNvSpPr>
            <a:spLocks noGrp="1"/>
          </p:cNvSpPr>
          <p:nvPr>
            <p:ph type="sldNum" sz="quarter" idx="12"/>
          </p:nvPr>
        </p:nvSpPr>
        <p:spPr>
          <a:xfrm>
            <a:off x="8411428" y="6356350"/>
            <a:ext cx="548640" cy="365125"/>
          </a:xfrm>
        </p:spPr>
        <p:style>
          <a:lnRef idx="2">
            <a:schemeClr val="accent1"/>
          </a:lnRef>
          <a:fillRef idx="1">
            <a:schemeClr val="lt1"/>
          </a:fillRef>
          <a:effectRef idx="0">
            <a:schemeClr val="accent1"/>
          </a:effectRef>
          <a:fontRef idx="minor">
            <a:schemeClr val="dk1"/>
          </a:fontRef>
        </p:style>
        <p:txBody>
          <a:bodyPr/>
          <a:lstStyle>
            <a:lvl1pPr algn="ctr">
              <a:defRPr/>
            </a:lvl1pPr>
          </a:lstStyle>
          <a:p>
            <a:fld id="{4AF1F8D0-972F-472E-AFE5-1F27E299DB0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785E2E-43E3-41AC-BE03-EA57F5AAE4DF}" type="datetime1">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73DE89-DCBE-43AC-8131-C0E45E617E0F}" type="datetime1">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5EB2E2-2776-4DF6-98AB-1D4F574FC524}" type="datetime1">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552B1B-6417-48E2-A01D-53C5473401D7}" type="datetime1">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33C0DC-0E7D-4A39-89F0-59F705A3D546}" type="datetime1">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0E1999-7F97-45AB-9004-44C592CE2741}" type="datetime1">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19A760-14F1-4C1A-A93A-35F0A33C2A95}" type="datetime1">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A323C3-32B4-47F9-9199-4F2415DD9DA6}" type="datetime1">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DF27A7-0C1F-4275-A9A8-72F104EEA568}" type="datetime1">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159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066800"/>
            <a:ext cx="82296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8E260-A86D-4C74-9289-17B5FA32937E}" type="datetime1">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1F8D0-972F-472E-AFE5-1F27E299DB0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python.org/3/"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5" Type="http://schemas.openxmlformats.org/officeDocument/2006/relationships/hyperlink" Target="https://www.nltk.org/" TargetMode="External"/><Relationship Id="rId4" Type="http://schemas.openxmlformats.org/officeDocument/2006/relationships/hyperlink" Target="https://www.mongodb.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2099531261"/>
              </p:ext>
            </p:extLst>
          </p:nvPr>
        </p:nvGraphicFramePr>
        <p:xfrm>
          <a:off x="304800" y="381000"/>
          <a:ext cx="8646204" cy="5831787"/>
        </p:xfrm>
        <a:graphic>
          <a:graphicData uri="http://schemas.openxmlformats.org/drawingml/2006/table">
            <a:tbl>
              <a:tblPr firstRow="1" bandRow="1">
                <a:tableStyleId>{69012ECD-51FC-41F1-AA8D-1B2483CD663E}</a:tableStyleId>
              </a:tblPr>
              <a:tblGrid>
                <a:gridCol w="1476736">
                  <a:extLst>
                    <a:ext uri="{9D8B030D-6E8A-4147-A177-3AD203B41FA5}">
                      <a16:colId xmlns:a16="http://schemas.microsoft.com/office/drawing/2014/main" xmlns="" val="20000"/>
                    </a:ext>
                  </a:extLst>
                </a:gridCol>
                <a:gridCol w="358732">
                  <a:extLst>
                    <a:ext uri="{9D8B030D-6E8A-4147-A177-3AD203B41FA5}">
                      <a16:colId xmlns:a16="http://schemas.microsoft.com/office/drawing/2014/main" xmlns="" val="20001"/>
                    </a:ext>
                  </a:extLst>
                </a:gridCol>
                <a:gridCol w="4191000"/>
                <a:gridCol w="2619736"/>
              </a:tblGrid>
              <a:tr h="1767926">
                <a:tc>
                  <a:txBody>
                    <a:bodyPr/>
                    <a:lstStyle/>
                    <a:p>
                      <a:pPr algn="ctr"/>
                      <a:endParaRPr lang="en-US" sz="22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2800" dirty="0" smtClean="0">
                          <a:solidFill>
                            <a:schemeClr val="bg1"/>
                          </a:solidFill>
                        </a:rPr>
                        <a:t>S.S.V.P.S’s </a:t>
                      </a:r>
                      <a:r>
                        <a:rPr lang="en-US" sz="2800" dirty="0">
                          <a:solidFill>
                            <a:schemeClr val="bg1"/>
                          </a:solidFill>
                        </a:rPr>
                        <a:t>B. S. </a:t>
                      </a:r>
                      <a:r>
                        <a:rPr lang="en-US" sz="2800" baseline="0" dirty="0">
                          <a:solidFill>
                            <a:schemeClr val="bg1"/>
                          </a:solidFill>
                        </a:rPr>
                        <a:t>Deore Polytechnic, </a:t>
                      </a:r>
                      <a:r>
                        <a:rPr lang="en-US" sz="2800" baseline="0" dirty="0" err="1" smtClean="0">
                          <a:solidFill>
                            <a:schemeClr val="bg1"/>
                          </a:solidFill>
                        </a:rPr>
                        <a:t>Dhule</a:t>
                      </a:r>
                      <a:endParaRPr lang="en-US" sz="2800" baseline="0" dirty="0" smtClean="0">
                        <a:solidFill>
                          <a:schemeClr val="bg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bg1"/>
                          </a:solidFill>
                        </a:rPr>
                        <a:t>Department of Computer Engineering</a:t>
                      </a:r>
                    </a:p>
                    <a:p>
                      <a:pPr algn="ctr"/>
                      <a:r>
                        <a:rPr lang="en-US" sz="3200" b="0" i="1" baseline="0" dirty="0" smtClean="0">
                          <a:solidFill>
                            <a:schemeClr val="bg1"/>
                          </a:solidFill>
                        </a:rPr>
                        <a:t>Academic </a:t>
                      </a:r>
                      <a:r>
                        <a:rPr lang="en-US" sz="3200" b="0" i="1" baseline="0" dirty="0">
                          <a:solidFill>
                            <a:schemeClr val="bg1"/>
                          </a:solidFill>
                        </a:rPr>
                        <a:t>Year : </a:t>
                      </a:r>
                      <a:r>
                        <a:rPr lang="en-US" sz="3200" b="0" i="1" baseline="0" dirty="0" smtClean="0">
                          <a:solidFill>
                            <a:schemeClr val="bg1"/>
                          </a:solidFill>
                        </a:rPr>
                        <a:t>2025-2026</a:t>
                      </a:r>
                      <a:endParaRPr lang="en-US" sz="3200" b="0" i="1" baseline="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0"/>
                  </a:ext>
                </a:extLst>
              </a:tr>
              <a:tr h="598415">
                <a:tc gridSpan="4">
                  <a:txBody>
                    <a:bodyPr/>
                    <a:lstStyle/>
                    <a:p>
                      <a:pPr algn="ctr"/>
                      <a:r>
                        <a:rPr lang="en-US" sz="2800" b="1" kern="1200" baseline="0" dirty="0" smtClean="0">
                          <a:solidFill>
                            <a:srgbClr val="002060"/>
                          </a:solidFill>
                          <a:latin typeface="+mn-lt"/>
                          <a:ea typeface="+mn-ea"/>
                          <a:cs typeface="+mn-cs"/>
                        </a:rPr>
                        <a:t>SEMINAR AND PROJECT INITIATION COURSE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1"/>
                  </a:ext>
                </a:extLst>
              </a:tr>
              <a:tr h="498066">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b="1" dirty="0" err="1" smtClean="0">
                          <a:solidFill>
                            <a:srgbClr val="FF0000"/>
                          </a:solidFill>
                        </a:rPr>
                        <a:t>Sem</a:t>
                      </a:r>
                      <a:r>
                        <a:rPr lang="en-US" sz="2100" b="1" dirty="0" smtClean="0">
                          <a:solidFill>
                            <a:srgbClr val="FF0000"/>
                          </a:solidFill>
                        </a:rPr>
                        <a:t> : CO 5</a:t>
                      </a:r>
                      <a:r>
                        <a:rPr lang="en-US" sz="2100" b="1" baseline="0" dirty="0" smtClean="0">
                          <a:solidFill>
                            <a:srgbClr val="FF0000"/>
                          </a:solidFill>
                        </a:rPr>
                        <a:t> K</a:t>
                      </a:r>
                      <a:endParaRPr lang="en-US" sz="2100" b="1" dirty="0" smtClean="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kern="1200" baseline="0" dirty="0" smtClean="0">
                          <a:solidFill>
                            <a:srgbClr val="002060"/>
                          </a:solidFill>
                          <a:latin typeface="+mn-lt"/>
                          <a:ea typeface="+mn-ea"/>
                          <a:cs typeface="+mn-cs"/>
                        </a:rPr>
                        <a:t>SPI – 315003</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b="1" dirty="0" smtClean="0">
                          <a:solidFill>
                            <a:srgbClr val="FF0000"/>
                          </a:solidFill>
                        </a:rPr>
                        <a:t>Date  : 11 Oct’ 2025</a:t>
                      </a:r>
                      <a:endParaRPr lang="en-US" sz="21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656489819"/>
                  </a:ext>
                </a:extLst>
              </a:tr>
              <a:tr h="498066">
                <a:tc gridSpan="4">
                  <a:txBody>
                    <a:bodyPr/>
                    <a:lstStyle/>
                    <a:p>
                      <a:pPr algn="l"/>
                      <a:r>
                        <a:rPr lang="en-US" sz="2400" b="1" dirty="0">
                          <a:solidFill>
                            <a:schemeClr val="tx2"/>
                          </a:solidFill>
                        </a:rPr>
                        <a:t>Topic </a:t>
                      </a:r>
                      <a:r>
                        <a:rPr lang="en-US" sz="2400" b="1" dirty="0" smtClean="0">
                          <a:solidFill>
                            <a:schemeClr val="tx2"/>
                          </a:solidFill>
                        </a:rPr>
                        <a:t>: </a:t>
                      </a:r>
                      <a:r>
                        <a:rPr lang="en-US" sz="2400" dirty="0" smtClean="0"/>
                        <a:t>AI-Based UX/UI Design Generator Using NLP</a:t>
                      </a:r>
                      <a:endParaRPr lang="en-US" sz="2400" b="1"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xmlns="" val="10002"/>
                  </a:ext>
                </a:extLst>
              </a:tr>
              <a:tr h="498066">
                <a:tc gridSpan="2">
                  <a:txBody>
                    <a:bodyPr/>
                    <a:lstStyle/>
                    <a:p>
                      <a:pPr algn="ctr"/>
                      <a:r>
                        <a:rPr lang="en-US" sz="2400" b="1" dirty="0" smtClean="0"/>
                        <a:t>Roll</a:t>
                      </a:r>
                      <a:r>
                        <a:rPr lang="en-US" sz="2400" b="1" baseline="0" dirty="0" smtClean="0"/>
                        <a:t> No.</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smtClean="0"/>
                        <a:t>Name</a:t>
                      </a:r>
                      <a:r>
                        <a:rPr lang="en-US" sz="2400" b="1" baseline="0" dirty="0" smtClean="0"/>
                        <a:t> of Student</a:t>
                      </a:r>
                      <a:endParaRPr lang="en-US" sz="2400" b="1"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2812">
                <a:tc gridSpan="2">
                  <a:txBody>
                    <a:bodyPr/>
                    <a:lstStyle/>
                    <a:p>
                      <a:pPr algn="ctr"/>
                      <a:r>
                        <a:rPr lang="en-US" sz="2000" dirty="0" smtClean="0"/>
                        <a:t>56</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smtClean="0"/>
                        <a:t>Jagruti </a:t>
                      </a:r>
                      <a:r>
                        <a:rPr lang="en-US" sz="2000" dirty="0" err="1" smtClean="0"/>
                        <a:t>Pankaj</a:t>
                      </a:r>
                      <a:r>
                        <a:rPr lang="en-US" sz="2000" dirty="0" smtClean="0"/>
                        <a:t> Patil</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smtClean="0"/>
                        <a:t>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err="1" smtClean="0"/>
                        <a:t>Hemangi</a:t>
                      </a:r>
                      <a:r>
                        <a:rPr lang="en-US" sz="2000" dirty="0" smtClean="0"/>
                        <a:t> </a:t>
                      </a:r>
                      <a:r>
                        <a:rPr lang="en-US" sz="2000" dirty="0" err="1" smtClean="0"/>
                        <a:t>Dilip</a:t>
                      </a:r>
                      <a:r>
                        <a:rPr lang="en-US" sz="2000" dirty="0" smtClean="0"/>
                        <a:t> Patil</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smtClean="0"/>
                        <a:t>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err="1" smtClean="0"/>
                        <a:t>Ishwari</a:t>
                      </a:r>
                      <a:r>
                        <a:rPr lang="en-US" sz="2000" dirty="0" smtClean="0"/>
                        <a:t> </a:t>
                      </a:r>
                      <a:r>
                        <a:rPr lang="en-US" sz="2000" dirty="0" err="1" smtClean="0"/>
                        <a:t>Vikas</a:t>
                      </a:r>
                      <a:r>
                        <a:rPr lang="en-US" sz="2000" dirty="0" smtClean="0"/>
                        <a:t> </a:t>
                      </a:r>
                      <a:r>
                        <a:rPr lang="en-US" sz="2000" dirty="0" err="1" smtClean="0"/>
                        <a:t>Nagare</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492812">
                <a:tc gridSpan="2">
                  <a:txBody>
                    <a:bodyPr/>
                    <a:lstStyle/>
                    <a:p>
                      <a:pPr algn="ctr"/>
                      <a:r>
                        <a:rPr lang="en-US" sz="2000" b="0" dirty="0" smtClean="0">
                          <a:solidFill>
                            <a:schemeClr val="tx1"/>
                          </a:solidFill>
                          <a:latin typeface="+mn-lt"/>
                        </a:rPr>
                        <a:t>42</a:t>
                      </a:r>
                      <a:endParaRPr lang="en-US" sz="2000" b="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gridSpan="2">
                  <a:txBody>
                    <a:bodyPr/>
                    <a:lstStyle/>
                    <a:p>
                      <a:r>
                        <a:rPr lang="en-US" sz="2000" dirty="0" err="1" smtClean="0"/>
                        <a:t>Sarthak</a:t>
                      </a:r>
                      <a:r>
                        <a:rPr lang="en-US" sz="2000" dirty="0" smtClean="0"/>
                        <a:t> </a:t>
                      </a:r>
                      <a:r>
                        <a:rPr lang="en-US" sz="2000" dirty="0" err="1" smtClean="0"/>
                        <a:t>Dnyaneshwar</a:t>
                      </a:r>
                      <a:r>
                        <a:rPr lang="en-US" sz="2000" dirty="0" smtClean="0"/>
                        <a:t> </a:t>
                      </a:r>
                      <a:r>
                        <a:rPr lang="en-US" sz="2000" dirty="0" err="1" smtClean="0"/>
                        <a:t>Marathe</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p:pic>
        <p:nvPicPr>
          <p:cNvPr id="16" name="Picture 15" descr="ssvpslogo.png"/>
          <p:cNvPicPr>
            <a:picLocks noChangeAspect="1"/>
          </p:cNvPicPr>
          <p:nvPr/>
        </p:nvPicPr>
        <p:blipFill>
          <a:blip r:embed="rId2" cstate="print"/>
          <a:stretch>
            <a:fillRect/>
          </a:stretch>
        </p:blipFill>
        <p:spPr>
          <a:xfrm>
            <a:off x="381000" y="457200"/>
            <a:ext cx="1219200" cy="162723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endParaRPr lang="en-US" dirty="0" smtClean="0"/>
          </a:p>
          <a:p>
            <a:pPr marL="514350" indent="-514350"/>
            <a:r>
              <a:rPr lang="en-US" dirty="0" smtClean="0"/>
              <a:t>Abstract </a:t>
            </a:r>
          </a:p>
          <a:p>
            <a:pPr marL="514350" indent="-514350">
              <a:buFont typeface="+mj-lt"/>
              <a:buAutoNum type="arabicPeriod"/>
            </a:pPr>
            <a:r>
              <a:rPr lang="en-US" dirty="0" smtClean="0"/>
              <a:t>Introduction</a:t>
            </a:r>
          </a:p>
          <a:p>
            <a:pPr marL="514350" indent="-514350">
              <a:buFont typeface="+mj-lt"/>
              <a:buAutoNum type="arabicPeriod"/>
            </a:pPr>
            <a:r>
              <a:rPr lang="en-US" dirty="0" smtClean="0"/>
              <a:t>Literature Review</a:t>
            </a:r>
          </a:p>
          <a:p>
            <a:pPr marL="514350" indent="-514350">
              <a:buFont typeface="+mj-lt"/>
              <a:buAutoNum type="arabicPeriod"/>
            </a:pPr>
            <a:r>
              <a:rPr lang="en-US" dirty="0" smtClean="0"/>
              <a:t>Information to Seminar topic</a:t>
            </a:r>
          </a:p>
          <a:p>
            <a:pPr marL="514350" indent="-514350">
              <a:buFont typeface="+mj-lt"/>
              <a:buAutoNum type="arabicPeriod"/>
            </a:pPr>
            <a:r>
              <a:rPr lang="en-US" dirty="0" smtClean="0"/>
              <a:t>Advantages and Disadvantages</a:t>
            </a:r>
          </a:p>
          <a:p>
            <a:pPr marL="514350" indent="-514350">
              <a:buFont typeface="+mj-lt"/>
              <a:buAutoNum type="arabicPeriod"/>
            </a:pPr>
            <a:r>
              <a:rPr lang="en-US" dirty="0" smtClean="0"/>
              <a:t>Conclusion</a:t>
            </a:r>
          </a:p>
          <a:p>
            <a:pPr marL="514350" indent="-514350">
              <a:buFont typeface="+mj-lt"/>
              <a:buAutoNum type="arabicPeriod"/>
            </a:pPr>
            <a:r>
              <a:rPr lang="en-US" dirty="0" smtClean="0"/>
              <a:t>Project Initiation : </a:t>
            </a:r>
          </a:p>
          <a:p>
            <a:pPr marL="971550" lvl="1" indent="-514350">
              <a:buFont typeface="+mj-lt"/>
              <a:buAutoNum type="alphaLcParenR"/>
            </a:pPr>
            <a:r>
              <a:rPr lang="en-US" dirty="0" smtClean="0"/>
              <a:t>Description of problem statement. </a:t>
            </a:r>
          </a:p>
          <a:p>
            <a:pPr marL="971550" lvl="1" indent="-514350">
              <a:buFont typeface="+mj-lt"/>
              <a:buAutoNum type="alphaLcParenR"/>
            </a:pPr>
            <a:r>
              <a:rPr lang="en-US" dirty="0" smtClean="0"/>
              <a:t>Scope and objectives. </a:t>
            </a:r>
          </a:p>
          <a:p>
            <a:pPr marL="971550" lvl="1" indent="-514350">
              <a:buFont typeface="+mj-lt"/>
              <a:buAutoNum type="alphaLcParenR"/>
            </a:pPr>
            <a:r>
              <a:rPr lang="en-US" dirty="0" smtClean="0"/>
              <a:t>Stake holder </a:t>
            </a:r>
          </a:p>
          <a:p>
            <a:pPr marL="971550" lvl="1" indent="-514350">
              <a:buFont typeface="+mj-lt"/>
              <a:buAutoNum type="alphaLcParenR"/>
            </a:pPr>
            <a:r>
              <a:rPr lang="en-US" dirty="0" smtClean="0"/>
              <a:t>Platform/ Equipment/ Resources identification.</a:t>
            </a:r>
          </a:p>
          <a:p>
            <a:pPr marL="514350" indent="-514350">
              <a:buFont typeface="+mj-lt"/>
              <a:buAutoNum type="arabicPeriod"/>
            </a:pPr>
            <a:r>
              <a:rPr lang="en-US" dirty="0" smtClean="0"/>
              <a:t>Bibliography</a:t>
            </a:r>
          </a:p>
          <a:p>
            <a:pPr marL="514350" indent="-514350">
              <a:buFont typeface="+mj-lt"/>
              <a:buAutoNum type="arabicPeriod"/>
            </a:pPr>
            <a:r>
              <a:rPr lang="en-US" dirty="0" smtClean="0"/>
              <a:t>References</a:t>
            </a:r>
          </a:p>
          <a:p>
            <a:endParaRPr lang="en-US" dirty="0"/>
          </a:p>
        </p:txBody>
      </p:sp>
      <p:sp>
        <p:nvSpPr>
          <p:cNvPr id="4" name="Title 1"/>
          <p:cNvSpPr>
            <a:spLocks noGrp="1"/>
          </p:cNvSpPr>
          <p:nvPr>
            <p:ph type="title"/>
          </p:nvPr>
        </p:nvSpPr>
        <p:spPr>
          <a:ln w="28575">
            <a:solidFill>
              <a:schemeClr val="accent1"/>
            </a:solidFill>
          </a:ln>
        </p:spPr>
        <p:txBody>
          <a:bodyPr/>
          <a:lstStyle/>
          <a:p>
            <a:r>
              <a:rPr lang="en-US" dirty="0"/>
              <a:t>Contents</a:t>
            </a:r>
          </a:p>
        </p:txBody>
      </p:sp>
      <p:sp>
        <p:nvSpPr>
          <p:cNvPr id="5" name="Slide Number Placeholder 4"/>
          <p:cNvSpPr>
            <a:spLocks noGrp="1"/>
          </p:cNvSpPr>
          <p:nvPr>
            <p:ph type="sldNum" sz="quarter" idx="12"/>
          </p:nvPr>
        </p:nvSpPr>
        <p:spPr/>
        <p:txBody>
          <a:bodyPr/>
          <a:lstStyle/>
          <a:p>
            <a:fld id="{4AF1F8D0-972F-472E-AFE5-1F27E299DB0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B48C87-E7FF-4FE7-943B-6346EA7380F6}"/>
              </a:ext>
            </a:extLst>
          </p:cNvPr>
          <p:cNvSpPr>
            <a:spLocks noGrp="1"/>
          </p:cNvSpPr>
          <p:nvPr>
            <p:ph type="title"/>
          </p:nvPr>
        </p:nvSpPr>
        <p:spPr/>
        <p:txBody>
          <a:bodyPr>
            <a:normAutofit/>
          </a:bodyPr>
          <a:lstStyle/>
          <a:p>
            <a:r>
              <a:rPr lang="en-US" dirty="0" smtClean="0"/>
              <a:t>Abstract</a:t>
            </a:r>
            <a:endParaRPr lang="en-US" dirty="0"/>
          </a:p>
        </p:txBody>
      </p:sp>
      <p:sp>
        <p:nvSpPr>
          <p:cNvPr id="3" name="Content Placeholder 2">
            <a:extLst>
              <a:ext uri="{FF2B5EF4-FFF2-40B4-BE49-F238E27FC236}">
                <a16:creationId xmlns:a16="http://schemas.microsoft.com/office/drawing/2014/main" xmlns="" id="{654493BC-4685-4595-81D6-98FD51C4B225}"/>
              </a:ext>
            </a:extLst>
          </p:cNvPr>
          <p:cNvSpPr>
            <a:spLocks noGrp="1"/>
          </p:cNvSpPr>
          <p:nvPr>
            <p:ph idx="1"/>
          </p:nvPr>
        </p:nvSpPr>
        <p:spPr/>
        <p:txBody>
          <a:bodyPr>
            <a:normAutofit/>
          </a:bodyPr>
          <a:lstStyle/>
          <a:p>
            <a:pPr marL="0" indent="0">
              <a:buNone/>
            </a:pPr>
            <a:endParaRPr lang="en-US" sz="2000" dirty="0" smtClean="0"/>
          </a:p>
          <a:p>
            <a:pPr marL="0" indent="0" algn="just">
              <a:buNone/>
            </a:pPr>
            <a:r>
              <a:rPr lang="en-US" sz="2000" dirty="0"/>
              <a:t>	</a:t>
            </a:r>
            <a:r>
              <a:rPr lang="en-US" sz="1800" dirty="0" smtClean="0"/>
              <a:t>AI-Based </a:t>
            </a:r>
            <a:r>
              <a:rPr lang="en-US" sz="1800" dirty="0"/>
              <a:t>UX/UI Design Generator Using NLP is a proposed system designed to simplify the process of user interface and user experience design. Traditional UI/UX design requires considerable time, effort, and design knowledge. The proposed system uses Natural Language Processing (NLP) to understand user requirements written in simple language and identify important interface components such as pages, buttons, forms, layouts, and content.</a:t>
            </a:r>
          </a:p>
          <a:p>
            <a:pPr marL="0" indent="0" algn="just">
              <a:buNone/>
            </a:pPr>
            <a:r>
              <a:rPr lang="en-US" sz="1800" dirty="0" smtClean="0"/>
              <a:t>	It </a:t>
            </a:r>
            <a:r>
              <a:rPr lang="en-US" sz="1800" dirty="0"/>
              <a:t>aims to assist in generating an initial interface design, reduce manual effort, and improve the efficiency of the prototyping process. The system can help developers and users create initial UI designs without requiring advanced design skills. The generated designs can be reviewed and modified according to user requirements.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3</a:t>
            </a:fld>
            <a:endParaRPr lang="en-US"/>
          </a:p>
        </p:txBody>
      </p:sp>
    </p:spTree>
    <p:extLst>
      <p:ext uri="{BB962C8B-B14F-4D97-AF65-F5344CB8AC3E}">
        <p14:creationId xmlns:p14="http://schemas.microsoft.com/office/powerpoint/2010/main" val="9838191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Introduction</a:t>
            </a:r>
            <a:endParaRPr lang="en-US" dirty="0"/>
          </a:p>
        </p:txBody>
      </p:sp>
      <p:sp>
        <p:nvSpPr>
          <p:cNvPr id="3" name="Content Placeholder 2"/>
          <p:cNvSpPr>
            <a:spLocks noGrp="1"/>
          </p:cNvSpPr>
          <p:nvPr>
            <p:ph idx="1"/>
          </p:nvPr>
        </p:nvSpPr>
        <p:spPr/>
        <p:txBody>
          <a:bodyPr>
            <a:normAutofit/>
          </a:bodyPr>
          <a:lstStyle/>
          <a:p>
            <a:pPr algn="just"/>
            <a:r>
              <a:rPr lang="en-US" sz="1800" dirty="0"/>
              <a:t>UI/UX design is an important part of </a:t>
            </a:r>
            <a:r>
              <a:rPr lang="en-US" sz="1800" dirty="0" smtClean="0"/>
              <a:t>modern </a:t>
            </a:r>
          </a:p>
          <a:p>
            <a:pPr algn="just">
              <a:buNone/>
            </a:pPr>
            <a:r>
              <a:rPr lang="en-US" sz="1800" dirty="0" smtClean="0"/>
              <a:t>	software </a:t>
            </a:r>
            <a:r>
              <a:rPr lang="en-US" sz="1800" dirty="0"/>
              <a:t>applications and </a:t>
            </a:r>
            <a:r>
              <a:rPr lang="en-US" sz="1800" dirty="0" smtClean="0"/>
              <a:t>websites</a:t>
            </a:r>
            <a:r>
              <a:rPr lang="en-US" sz="1800" dirty="0"/>
              <a:t>.</a:t>
            </a:r>
          </a:p>
          <a:p>
            <a:pPr algn="just"/>
            <a:r>
              <a:rPr lang="en-US" sz="1800" dirty="0"/>
              <a:t>User Interface (UI) focuses on the </a:t>
            </a:r>
            <a:r>
              <a:rPr lang="en-US" sz="1800" dirty="0" smtClean="0"/>
              <a:t>visual</a:t>
            </a:r>
          </a:p>
          <a:p>
            <a:pPr algn="just">
              <a:buNone/>
            </a:pPr>
            <a:r>
              <a:rPr lang="en-US" sz="1800" dirty="0" smtClean="0"/>
              <a:t> 	elements, </a:t>
            </a:r>
            <a:r>
              <a:rPr lang="en-US" sz="1800" dirty="0"/>
              <a:t>while User Experience (UX) </a:t>
            </a:r>
            <a:endParaRPr lang="en-US" sz="1800" dirty="0" smtClean="0"/>
          </a:p>
          <a:p>
            <a:pPr algn="just">
              <a:buNone/>
            </a:pPr>
            <a:r>
              <a:rPr lang="en-US" sz="1800" dirty="0" smtClean="0"/>
              <a:t>	focuses on </a:t>
            </a:r>
            <a:r>
              <a:rPr lang="en-US" sz="1800" dirty="0"/>
              <a:t>usability and </a:t>
            </a:r>
            <a:r>
              <a:rPr lang="en-US" sz="1800" dirty="0" smtClean="0"/>
              <a:t>user </a:t>
            </a:r>
            <a:r>
              <a:rPr lang="en-US" sz="1800" dirty="0"/>
              <a:t>satisfaction.</a:t>
            </a:r>
          </a:p>
          <a:p>
            <a:pPr algn="just"/>
            <a:r>
              <a:rPr lang="en-US" sz="1800" dirty="0"/>
              <a:t>Traditional UI/UX design requires manual effort</a:t>
            </a:r>
            <a:r>
              <a:rPr lang="en-US" sz="1800" dirty="0" smtClean="0"/>
              <a:t>,</a:t>
            </a:r>
          </a:p>
          <a:p>
            <a:pPr algn="just">
              <a:buNone/>
            </a:pPr>
            <a:r>
              <a:rPr lang="en-US" sz="1800" dirty="0" smtClean="0"/>
              <a:t> 	time</a:t>
            </a:r>
            <a:r>
              <a:rPr lang="en-US" sz="1800" dirty="0"/>
              <a:t>, and design knowledge.</a:t>
            </a:r>
          </a:p>
          <a:p>
            <a:pPr algn="just"/>
            <a:r>
              <a:rPr lang="en-US" sz="1800" dirty="0"/>
              <a:t>Natural Language Processing (NLP) helps </a:t>
            </a:r>
            <a:endParaRPr lang="en-US" sz="1800" dirty="0" smtClean="0"/>
          </a:p>
          <a:p>
            <a:pPr algn="just">
              <a:buNone/>
            </a:pPr>
            <a:r>
              <a:rPr lang="en-US" sz="1800" dirty="0" smtClean="0"/>
              <a:t>	computers </a:t>
            </a:r>
            <a:r>
              <a:rPr lang="en-US" sz="1800" dirty="0"/>
              <a:t>understand requirements written </a:t>
            </a:r>
            <a:endParaRPr lang="en-US" sz="1800" dirty="0" smtClean="0"/>
          </a:p>
          <a:p>
            <a:pPr algn="just">
              <a:buNone/>
            </a:pPr>
            <a:r>
              <a:rPr lang="en-US" sz="1800" dirty="0" smtClean="0"/>
              <a:t>	in human </a:t>
            </a:r>
            <a:r>
              <a:rPr lang="en-US" sz="1800" dirty="0"/>
              <a:t>language.</a:t>
            </a:r>
          </a:p>
          <a:p>
            <a:pPr algn="just"/>
            <a:r>
              <a:rPr lang="en-US" sz="1800" dirty="0"/>
              <a:t>Artificial Intelligence (AI) can assist in </a:t>
            </a:r>
            <a:r>
              <a:rPr lang="en-US" sz="1800" dirty="0" smtClean="0"/>
              <a:t>generating</a:t>
            </a:r>
          </a:p>
          <a:p>
            <a:pPr algn="just">
              <a:buNone/>
            </a:pPr>
            <a:r>
              <a:rPr lang="en-US" sz="1800" dirty="0" smtClean="0"/>
              <a:t> 	layouts</a:t>
            </a:r>
            <a:r>
              <a:rPr lang="en-US" sz="1800" dirty="0"/>
              <a:t>, buttons, forms, and other interface components.</a:t>
            </a:r>
          </a:p>
          <a:p>
            <a:pPr algn="just"/>
            <a:r>
              <a:rPr lang="en-US" sz="1800" dirty="0"/>
              <a:t>The proposed system aims to simplify initial UI </a:t>
            </a:r>
            <a:r>
              <a:rPr lang="en-US" sz="1800" dirty="0" smtClean="0"/>
              <a:t>design</a:t>
            </a:r>
          </a:p>
          <a:p>
            <a:pPr algn="just">
              <a:buNone/>
            </a:pPr>
            <a:r>
              <a:rPr lang="en-US" sz="1800" dirty="0" smtClean="0"/>
              <a:t>	and </a:t>
            </a:r>
            <a:r>
              <a:rPr lang="en-US" sz="1800" dirty="0"/>
              <a:t>reduce prototyping time.</a:t>
            </a:r>
          </a:p>
        </p:txBody>
      </p:sp>
      <p:sp>
        <p:nvSpPr>
          <p:cNvPr id="4" name="Slide Number Placeholder 3"/>
          <p:cNvSpPr>
            <a:spLocks noGrp="1"/>
          </p:cNvSpPr>
          <p:nvPr>
            <p:ph type="sldNum" sz="quarter" idx="12"/>
          </p:nvPr>
        </p:nvSpPr>
        <p:spPr/>
        <p:txBody>
          <a:bodyPr/>
          <a:lstStyle/>
          <a:p>
            <a:fld id="{4AF1F8D0-972F-472E-AFE5-1F27E299DB0B}" type="slidenum">
              <a:rPr lang="en-US" smtClean="0"/>
              <a:pPr/>
              <a:t>4</a:t>
            </a:fld>
            <a:endParaRPr lang="en-US"/>
          </a:p>
        </p:txBody>
      </p:sp>
      <p:pic>
        <p:nvPicPr>
          <p:cNvPr id="6" name="Picture 5" descr="WhatsApp Image 2026-10-15 at 11.15.33 PM.jpeg"/>
          <p:cNvPicPr>
            <a:picLocks noChangeAspect="1"/>
          </p:cNvPicPr>
          <p:nvPr/>
        </p:nvPicPr>
        <p:blipFill>
          <a:blip r:embed="rId2" cstate="print"/>
          <a:stretch>
            <a:fillRect/>
          </a:stretch>
        </p:blipFill>
        <p:spPr>
          <a:xfrm>
            <a:off x="5181600" y="1524000"/>
            <a:ext cx="3429000" cy="34290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2. Literature Survey</a:t>
            </a:r>
            <a:endParaRP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xmlns="" id="{20C7D25D-C2DD-14C4-3795-EFBE3BAD0452}"/>
              </a:ext>
            </a:extLst>
          </p:cNvPr>
          <p:cNvGraphicFramePr>
            <a:graphicFrameLocks noGrp="1"/>
          </p:cNvGraphicFramePr>
          <p:nvPr>
            <p:extLst>
              <p:ext uri="{D42A27DB-BD31-4B8C-83A1-F6EECF244321}">
                <p14:modId xmlns:p14="http://schemas.microsoft.com/office/powerpoint/2010/main" val="1336819060"/>
              </p:ext>
            </p:extLst>
          </p:nvPr>
        </p:nvGraphicFramePr>
        <p:xfrm>
          <a:off x="183872" y="1219200"/>
          <a:ext cx="8502929" cy="5424312"/>
        </p:xfrm>
        <a:graphic>
          <a:graphicData uri="http://schemas.openxmlformats.org/drawingml/2006/table">
            <a:tbl>
              <a:tblPr firstRow="1" firstCol="1" bandRow="1">
                <a:tableStyleId>{BC89EF96-8CEA-46FF-86C4-4CE0E7609802}</a:tableStyleId>
              </a:tblPr>
              <a:tblGrid>
                <a:gridCol w="453437">
                  <a:extLst>
                    <a:ext uri="{9D8B030D-6E8A-4147-A177-3AD203B41FA5}">
                      <a16:colId xmlns:a16="http://schemas.microsoft.com/office/drawing/2014/main" xmlns="" val="3671614926"/>
                    </a:ext>
                  </a:extLst>
                </a:gridCol>
                <a:gridCol w="1432374">
                  <a:extLst>
                    <a:ext uri="{9D8B030D-6E8A-4147-A177-3AD203B41FA5}">
                      <a16:colId xmlns:a16="http://schemas.microsoft.com/office/drawing/2014/main" xmlns="" val="2900298569"/>
                    </a:ext>
                  </a:extLst>
                </a:gridCol>
                <a:gridCol w="1735948">
                  <a:extLst>
                    <a:ext uri="{9D8B030D-6E8A-4147-A177-3AD203B41FA5}">
                      <a16:colId xmlns:a16="http://schemas.microsoft.com/office/drawing/2014/main" xmlns="" val="3617710171"/>
                    </a:ext>
                  </a:extLst>
                </a:gridCol>
                <a:gridCol w="1259413">
                  <a:extLst>
                    <a:ext uri="{9D8B030D-6E8A-4147-A177-3AD203B41FA5}">
                      <a16:colId xmlns:a16="http://schemas.microsoft.com/office/drawing/2014/main" xmlns="" val="1925426286"/>
                    </a:ext>
                  </a:extLst>
                </a:gridCol>
                <a:gridCol w="1647543">
                  <a:extLst>
                    <a:ext uri="{9D8B030D-6E8A-4147-A177-3AD203B41FA5}">
                      <a16:colId xmlns:a16="http://schemas.microsoft.com/office/drawing/2014/main" xmlns="" val="1753319277"/>
                    </a:ext>
                  </a:extLst>
                </a:gridCol>
                <a:gridCol w="1974214">
                  <a:extLst>
                    <a:ext uri="{9D8B030D-6E8A-4147-A177-3AD203B41FA5}">
                      <a16:colId xmlns:a16="http://schemas.microsoft.com/office/drawing/2014/main" xmlns="" val="1530639041"/>
                    </a:ext>
                  </a:extLst>
                </a:gridCol>
              </a:tblGrid>
              <a:tr h="582577">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87233224"/>
                  </a:ext>
                </a:extLst>
              </a:tr>
              <a:tr h="1410134">
                <a:tc>
                  <a:txBody>
                    <a:bodyPr/>
                    <a:lstStyle/>
                    <a:p>
                      <a:pPr algn="ctr">
                        <a:buNone/>
                      </a:pPr>
                      <a:r>
                        <a:rPr lang="en-US" sz="1800" dirty="0">
                          <a:effectLst/>
                          <a:latin typeface="Times New Roman" panose="02020603050405020304" pitchFamily="18" charset="0"/>
                          <a:cs typeface="Times New Roman" panose="02020603050405020304" pitchFamily="18" charset="0"/>
                        </a:rPr>
                        <a:t>1</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endPar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36000">
                        <a:spcAft>
                          <a:spcPts val="1200"/>
                        </a:spcAft>
                        <a:buNone/>
                      </a:pPr>
                      <a:r>
                        <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NLP-based requirement extraction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endParaRPr lang="en-US" dirty="0" smtClean="0"/>
                    </a:p>
                    <a:p>
                      <a:pPr marL="36000">
                        <a:spcAft>
                          <a:spcPts val="1200"/>
                        </a:spcAft>
                        <a:buNone/>
                      </a:pPr>
                      <a:r>
                        <a:rPr lang="en-US" dirty="0" smtClean="0"/>
                        <a:t>NLP, GUI Retrieval, BERT-based models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r>
                        <a:rPr lang="en-US" dirty="0"/>
                        <a:t>GUI design repository</a:t>
                      </a:r>
                    </a:p>
                  </a:txBody>
                  <a:tcPr anchor="ctr"/>
                </a:tc>
                <a:tc>
                  <a:txBody>
                    <a:bodyPr/>
                    <a:lstStyle/>
                    <a:p>
                      <a:r>
                        <a:rPr lang="en-US" dirty="0" smtClean="0"/>
                        <a:t>Retrieve suitable GUI designs based on user requirements.</a:t>
                      </a:r>
                      <a:endParaRPr lang="en-US" dirty="0"/>
                    </a:p>
                  </a:txBody>
                  <a:tcPr anchor="ctr"/>
                </a:tc>
                <a:tc>
                  <a:txBody>
                    <a:bodyPr/>
                    <a:lstStyle/>
                    <a:p>
                      <a:pPr marL="36000">
                        <a:spcAft>
                          <a:spcPts val="1200"/>
                        </a:spcAft>
                        <a:buNone/>
                      </a:pPr>
                      <a:r>
                        <a:rPr lang="en-US" dirty="0" smtClean="0"/>
                        <a:t>Retrieved designs may require manual modifications.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3645284830"/>
                  </a:ext>
                </a:extLst>
              </a:tr>
              <a:tr h="1685726">
                <a:tc>
                  <a:txBody>
                    <a:bodyPr/>
                    <a:lstStyle/>
                    <a:p>
                      <a:pPr algn="ctr">
                        <a:buNone/>
                      </a:pPr>
                      <a:r>
                        <a:rPr lang="en-US" sz="1800">
                          <a:effectLst/>
                          <a:latin typeface="Times New Roman" panose="02020603050405020304" pitchFamily="18" charset="0"/>
                          <a:cs typeface="Times New Roman" panose="02020603050405020304" pitchFamily="18" charset="0"/>
                        </a:rPr>
                        <a:t>2</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l">
                        <a:spcAft>
                          <a:spcPts val="1200"/>
                        </a:spcAft>
                        <a:buNone/>
                      </a:pPr>
                      <a:endPar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36000" algn="l">
                        <a:spcAft>
                          <a:spcPts val="1200"/>
                        </a:spcAft>
                        <a:buNone/>
                      </a:pPr>
                      <a:r>
                        <a:rPr lang="en-IN" sz="1800" dirty="0" smtClean="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rPr>
                        <a:t>AI-assisted UI/UX design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Artificial Intelligence, Machine Learning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endParaRPr lang="en-US" dirty="0" smtClean="0"/>
                    </a:p>
                    <a:p>
                      <a:pPr marL="36000">
                        <a:spcAft>
                          <a:spcPts val="1200"/>
                        </a:spcAft>
                        <a:buNone/>
                      </a:pPr>
                      <a:r>
                        <a:rPr lang="en-US" dirty="0" smtClean="0"/>
                        <a:t>Depends on the research study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Improve design efficiency and automate repetitive tasks.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Output quality depends on the AI model.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402128726"/>
                  </a:ext>
                </a:extLst>
              </a:tr>
              <a:tr h="1685726">
                <a:tc>
                  <a:txBody>
                    <a:bodyPr/>
                    <a:lstStyle/>
                    <a:p>
                      <a:pPr algn="ctr">
                        <a:buNone/>
                      </a:pPr>
                      <a:r>
                        <a:rPr lang="en-US" sz="1800" dirty="0">
                          <a:effectLst/>
                          <a:latin typeface="Times New Roman" panose="02020603050405020304" pitchFamily="18" charset="0"/>
                          <a:cs typeface="Times New Roman" panose="02020603050405020304" pitchFamily="18" charset="0"/>
                        </a:rPr>
                        <a:t>3</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spcAft>
                          <a:spcPts val="1200"/>
                        </a:spcAft>
                        <a:buNone/>
                      </a:pPr>
                      <a:endParaRPr lang="en-US" dirty="0" smtClean="0"/>
                    </a:p>
                    <a:p>
                      <a:pPr marL="36000">
                        <a:spcAft>
                          <a:spcPts val="1200"/>
                        </a:spcAft>
                        <a:buNone/>
                      </a:pPr>
                      <a:r>
                        <a:rPr lang="en-US" dirty="0" smtClean="0"/>
                        <a:t>Generative UI design</a:t>
                      </a:r>
                      <a:endParaRPr lang="en-US" sz="1800" dirty="0">
                        <a:effectLst/>
                        <a:latin typeface="Times New Roman" panose="02020603050405020304" pitchFamily="18" charset="0"/>
                        <a:cs typeface="Times New Roman" panose="02020603050405020304" pitchFamily="18" charset="0"/>
                      </a:endParaRPr>
                    </a:p>
                  </a:txBody>
                  <a:tcPr marL="18302" marR="18302" marT="16014" marB="16014"/>
                </a:tc>
                <a:tc>
                  <a:txBody>
                    <a:bodyPr/>
                    <a:lstStyle/>
                    <a:p>
                      <a:pPr marL="36000">
                        <a:spcAft>
                          <a:spcPts val="1200"/>
                        </a:spcAft>
                        <a:buNone/>
                      </a:pPr>
                      <a:endParaRPr lang="it-IT" dirty="0" smtClean="0"/>
                    </a:p>
                    <a:p>
                      <a:pPr marL="36000">
                        <a:spcAft>
                          <a:spcPts val="1200"/>
                        </a:spcAft>
                        <a:buNone/>
                      </a:pPr>
                      <a:r>
                        <a:rPr lang="it-IT" dirty="0" smtClean="0"/>
                        <a:t>Generative AI, Large Language Models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Depends on the model and evaluation method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spcAft>
                          <a:spcPts val="1200"/>
                        </a:spcAft>
                        <a:buNone/>
                      </a:pPr>
                      <a:r>
                        <a:rPr lang="en-US" dirty="0" smtClean="0"/>
                        <a:t>Generate interface layouts and components from user prompts.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r>
                        <a:rPr lang="en-US" dirty="0"/>
                        <a:t>Generated layouts may not fully match user requirements.</a:t>
                      </a:r>
                    </a:p>
                  </a:txBody>
                  <a:tcPr anchor="ctr"/>
                </a:tc>
                <a:extLst>
                  <a:ext uri="{0D108BD9-81ED-4DB2-BD59-A6C34878D82A}">
                    <a16:rowId xmlns:a16="http://schemas.microsoft.com/office/drawing/2014/main" xmlns="" val="179090493"/>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A04272B4-E94B-5454-9802-F52071294196}"/>
              </a:ext>
            </a:extLst>
          </p:cNvPr>
          <p:cNvSpPr>
            <a:spLocks noGrp="1"/>
          </p:cNvSpPr>
          <p:nvPr>
            <p:ph type="body" idx="1"/>
          </p:nvPr>
        </p:nvSpPr>
        <p:spPr>
          <a:xfrm>
            <a:off x="457200" y="346364"/>
            <a:ext cx="8229600" cy="6206836"/>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xmlns="" id="{A5E7E95C-F9D4-5682-C25C-9E845B3F7655}"/>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xmlns="" id="{897499E5-8CB4-DAE8-21FB-4BE7CB70F5F3}"/>
              </a:ext>
            </a:extLst>
          </p:cNvPr>
          <p:cNvGraphicFramePr>
            <a:graphicFrameLocks noGrp="1"/>
          </p:cNvGraphicFramePr>
          <p:nvPr>
            <p:extLst>
              <p:ext uri="{D42A27DB-BD31-4B8C-83A1-F6EECF244321}">
                <p14:modId xmlns:p14="http://schemas.microsoft.com/office/powerpoint/2010/main" val="3691570813"/>
              </p:ext>
            </p:extLst>
          </p:nvPr>
        </p:nvGraphicFramePr>
        <p:xfrm>
          <a:off x="457200" y="346365"/>
          <a:ext cx="8229601" cy="6073848"/>
        </p:xfrm>
        <a:graphic>
          <a:graphicData uri="http://schemas.openxmlformats.org/drawingml/2006/table">
            <a:tbl>
              <a:tblPr firstRow="1" firstCol="1" bandRow="1">
                <a:tableStyleId>{BC89EF96-8CEA-46FF-86C4-4CE0E7609802}</a:tableStyleId>
              </a:tblPr>
              <a:tblGrid>
                <a:gridCol w="393032">
                  <a:extLst>
                    <a:ext uri="{9D8B030D-6E8A-4147-A177-3AD203B41FA5}">
                      <a16:colId xmlns:a16="http://schemas.microsoft.com/office/drawing/2014/main" xmlns="" val="1835422985"/>
                    </a:ext>
                  </a:extLst>
                </a:gridCol>
                <a:gridCol w="1432158">
                  <a:extLst>
                    <a:ext uri="{9D8B030D-6E8A-4147-A177-3AD203B41FA5}">
                      <a16:colId xmlns:a16="http://schemas.microsoft.com/office/drawing/2014/main" xmlns="" val="3080172688"/>
                    </a:ext>
                  </a:extLst>
                </a:gridCol>
                <a:gridCol w="1680145">
                  <a:extLst>
                    <a:ext uri="{9D8B030D-6E8A-4147-A177-3AD203B41FA5}">
                      <a16:colId xmlns:a16="http://schemas.microsoft.com/office/drawing/2014/main" xmlns="" val="643243970"/>
                    </a:ext>
                  </a:extLst>
                </a:gridCol>
                <a:gridCol w="1218929">
                  <a:extLst>
                    <a:ext uri="{9D8B030D-6E8A-4147-A177-3AD203B41FA5}">
                      <a16:colId xmlns:a16="http://schemas.microsoft.com/office/drawing/2014/main" xmlns="" val="430704381"/>
                    </a:ext>
                  </a:extLst>
                </a:gridCol>
                <a:gridCol w="1594583">
                  <a:extLst>
                    <a:ext uri="{9D8B030D-6E8A-4147-A177-3AD203B41FA5}">
                      <a16:colId xmlns:a16="http://schemas.microsoft.com/office/drawing/2014/main" xmlns="" val="2556017403"/>
                    </a:ext>
                  </a:extLst>
                </a:gridCol>
                <a:gridCol w="1910754">
                  <a:extLst>
                    <a:ext uri="{9D8B030D-6E8A-4147-A177-3AD203B41FA5}">
                      <a16:colId xmlns:a16="http://schemas.microsoft.com/office/drawing/2014/main" xmlns="" val="910270353"/>
                    </a:ext>
                  </a:extLst>
                </a:gridCol>
              </a:tblGrid>
              <a:tr h="639969">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421947184"/>
                  </a:ext>
                </a:extLst>
              </a:tr>
              <a:tr h="1614086">
                <a:tc>
                  <a:txBody>
                    <a:bodyPr/>
                    <a:lstStyle/>
                    <a:p>
                      <a:pPr algn="ctr">
                        <a:buNone/>
                      </a:pPr>
                      <a:r>
                        <a:rPr lang="en-US" sz="1800" b="0" dirty="0">
                          <a:effectLst/>
                          <a:latin typeface="Times New Roman" panose="02020603050405020304" pitchFamily="18" charset="0"/>
                          <a:cs typeface="Times New Roman" panose="02020603050405020304" pitchFamily="18" charset="0"/>
                        </a:rPr>
                        <a:t>4</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NLP-based requirement extraction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NLP, Text Processing, Tokenization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Natural-language UI requirement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Identify pages, buttons, forms and other UI components.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Ambiguous text may produce incorrect results.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3937688551"/>
                  </a:ext>
                </a:extLst>
              </a:tr>
              <a:tr h="2141845">
                <a:tc>
                  <a:txBody>
                    <a:bodyPr/>
                    <a:lstStyle/>
                    <a:p>
                      <a:pPr algn="ctr">
                        <a:buNone/>
                      </a:pPr>
                      <a:r>
                        <a:rPr lang="en-US" sz="1800" b="0" dirty="0">
                          <a:effectLst/>
                          <a:latin typeface="Times New Roman" panose="02020603050405020304" pitchFamily="18" charset="0"/>
                          <a:cs typeface="Times New Roman" panose="02020603050405020304" pitchFamily="18" charset="0"/>
                        </a:rPr>
                        <a:t>5</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Text-to-interface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it-IT" dirty="0" smtClean="0"/>
                        <a:t>NLP, Generative AI, HTML, CSS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Text prompts and generated interfaces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Convert text descriptions into initial UI designs.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Complex prompts may generate incomplete interfaces.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3042414057"/>
                  </a:ext>
                </a:extLst>
              </a:tr>
              <a:tr h="1614086">
                <a:tc>
                  <a:txBody>
                    <a:bodyPr/>
                    <a:lstStyle/>
                    <a:p>
                      <a:pPr algn="ctr">
                        <a:buNone/>
                      </a:pPr>
                      <a:r>
                        <a:rPr lang="en-US" sz="1800" b="0" dirty="0">
                          <a:effectLst/>
                          <a:latin typeface="Times New Roman" panose="02020603050405020304" pitchFamily="18" charset="0"/>
                          <a:cs typeface="Times New Roman" panose="02020603050405020304" pitchFamily="18" charset="0"/>
                        </a:rPr>
                        <a:t>6</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Data-driven GUI prototyping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fr-FR" dirty="0" smtClean="0"/>
                        <a:t>GUI </a:t>
                      </a:r>
                      <a:r>
                        <a:rPr lang="fr-FR" dirty="0" err="1" smtClean="0"/>
                        <a:t>Retrieval</a:t>
                      </a:r>
                      <a:r>
                        <a:rPr lang="fr-FR" dirty="0" smtClean="0"/>
                        <a:t>, NLP, Information </a:t>
                      </a:r>
                      <a:r>
                        <a:rPr lang="fr-FR" dirty="0" err="1" smtClean="0"/>
                        <a:t>Retrieval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Existing GUI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Reuse relevant interface examples to reduce prototyping effort.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Retrieved examples may need customization.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2290539708"/>
                  </a:ext>
                </a:extLst>
              </a:tr>
            </a:tbl>
          </a:graphicData>
        </a:graphic>
      </p:graphicFrame>
    </p:spTree>
    <p:extLst>
      <p:ext uri="{BB962C8B-B14F-4D97-AF65-F5344CB8AC3E}">
        <p14:creationId xmlns:p14="http://schemas.microsoft.com/office/powerpoint/2010/main" val="29598785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D6D4444E-40A1-3D3D-EB8D-55BB4B08FF36}"/>
              </a:ext>
            </a:extLst>
          </p:cNvPr>
          <p:cNvSpPr>
            <a:spLocks noGrp="1"/>
          </p:cNvSpPr>
          <p:nvPr>
            <p:ph type="body" idx="1"/>
          </p:nvPr>
        </p:nvSpPr>
        <p:spPr>
          <a:xfrm>
            <a:off x="457200" y="360218"/>
            <a:ext cx="8229600" cy="6192982"/>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xmlns="" id="{2F24B866-080A-1F9C-0A49-0D10F6EE19BC}"/>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xmlns="" id="{DFACAE3B-8C3E-AE68-D226-1A669FFA2F4B}"/>
              </a:ext>
            </a:extLst>
          </p:cNvPr>
          <p:cNvGraphicFramePr>
            <a:graphicFrameLocks noGrp="1"/>
          </p:cNvGraphicFramePr>
          <p:nvPr>
            <p:extLst>
              <p:ext uri="{D42A27DB-BD31-4B8C-83A1-F6EECF244321}">
                <p14:modId xmlns:p14="http://schemas.microsoft.com/office/powerpoint/2010/main" val="1859828781"/>
              </p:ext>
            </p:extLst>
          </p:nvPr>
        </p:nvGraphicFramePr>
        <p:xfrm>
          <a:off x="457199" y="360217"/>
          <a:ext cx="8229602" cy="6137565"/>
        </p:xfrm>
        <a:graphic>
          <a:graphicData uri="http://schemas.openxmlformats.org/drawingml/2006/table">
            <a:tbl>
              <a:tblPr firstRow="1" firstCol="1" bandRow="1">
                <a:tableStyleId>{BC89EF96-8CEA-46FF-86C4-4CE0E7609802}</a:tableStyleId>
              </a:tblPr>
              <a:tblGrid>
                <a:gridCol w="415673">
                  <a:extLst>
                    <a:ext uri="{9D8B030D-6E8A-4147-A177-3AD203B41FA5}">
                      <a16:colId xmlns:a16="http://schemas.microsoft.com/office/drawing/2014/main" xmlns="" val="503446673"/>
                    </a:ext>
                  </a:extLst>
                </a:gridCol>
                <a:gridCol w="1409518">
                  <a:extLst>
                    <a:ext uri="{9D8B030D-6E8A-4147-A177-3AD203B41FA5}">
                      <a16:colId xmlns:a16="http://schemas.microsoft.com/office/drawing/2014/main" xmlns="" val="4191217371"/>
                    </a:ext>
                  </a:extLst>
                </a:gridCol>
                <a:gridCol w="1680146">
                  <a:extLst>
                    <a:ext uri="{9D8B030D-6E8A-4147-A177-3AD203B41FA5}">
                      <a16:colId xmlns:a16="http://schemas.microsoft.com/office/drawing/2014/main" xmlns="" val="2710468633"/>
                    </a:ext>
                  </a:extLst>
                </a:gridCol>
                <a:gridCol w="1218929">
                  <a:extLst>
                    <a:ext uri="{9D8B030D-6E8A-4147-A177-3AD203B41FA5}">
                      <a16:colId xmlns:a16="http://schemas.microsoft.com/office/drawing/2014/main" xmlns="" val="3751161214"/>
                    </a:ext>
                  </a:extLst>
                </a:gridCol>
                <a:gridCol w="1594582">
                  <a:extLst>
                    <a:ext uri="{9D8B030D-6E8A-4147-A177-3AD203B41FA5}">
                      <a16:colId xmlns:a16="http://schemas.microsoft.com/office/drawing/2014/main" xmlns="" val="3693101631"/>
                    </a:ext>
                  </a:extLst>
                </a:gridCol>
                <a:gridCol w="1910754">
                  <a:extLst>
                    <a:ext uri="{9D8B030D-6E8A-4147-A177-3AD203B41FA5}">
                      <a16:colId xmlns:a16="http://schemas.microsoft.com/office/drawing/2014/main" xmlns="" val="2374033641"/>
                    </a:ext>
                  </a:extLst>
                </a:gridCol>
              </a:tblGrid>
              <a:tr h="628043">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1070513301"/>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7</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AI-based layout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Generative AI, Machine Learning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UI layouts and design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Generate suitable layouts based on user requirements.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Layout consistency may vary.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1828343925"/>
                  </a:ext>
                </a:extLst>
              </a:tr>
              <a:tr h="1656018">
                <a:tc>
                  <a:txBody>
                    <a:bodyPr/>
                    <a:lstStyle/>
                    <a:p>
                      <a:pPr algn="ctr">
                        <a:buNone/>
                      </a:pPr>
                      <a:r>
                        <a:rPr lang="en-US" sz="1800" b="0" dirty="0">
                          <a:effectLst/>
                          <a:latin typeface="Times New Roman" panose="02020603050405020304" pitchFamily="18" charset="0"/>
                          <a:cs typeface="Times New Roman" panose="02020603050405020304" pitchFamily="18" charset="0"/>
                        </a:rPr>
                        <a:t>8</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Automated UI component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AI, NLP, HTML, CSS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UI component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Generate buttons, forms and other interface elements.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Advanced styling may require manual work.</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2006006099"/>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9</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Human-AI collaborative design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it-IT" dirty="0" smtClean="0"/>
                        <a:t>AI design tools, Generative AI</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Designer feedback and interface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Combine AI-generated designs with human creativity.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Human review remains necessary.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xmlns="" val="1109910642"/>
                  </a:ext>
                </a:extLst>
              </a:tr>
            </a:tbl>
          </a:graphicData>
        </a:graphic>
      </p:graphicFrame>
    </p:spTree>
    <p:extLst>
      <p:ext uri="{BB962C8B-B14F-4D97-AF65-F5344CB8AC3E}">
        <p14:creationId xmlns:p14="http://schemas.microsoft.com/office/powerpoint/2010/main" val="393905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BB7A4394-3B9F-951C-C864-F2E9D1290C51}"/>
              </a:ext>
            </a:extLst>
          </p:cNvPr>
          <p:cNvSpPr>
            <a:spLocks noGrp="1"/>
          </p:cNvSpPr>
          <p:nvPr>
            <p:ph type="body" idx="1"/>
          </p:nvPr>
        </p:nvSpPr>
        <p:spPr>
          <a:xfrm>
            <a:off x="457200" y="387927"/>
            <a:ext cx="8229600" cy="6165273"/>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xmlns="" id="{8305BFBB-B42E-0A36-F1C5-1A33CFEB293A}"/>
              </a:ext>
            </a:extLst>
          </p:cNvPr>
          <p:cNvSpPr>
            <a:spLocks noGrp="1"/>
          </p:cNvSpPr>
          <p:nvPr>
            <p:ph type="sldNum" idx="12"/>
          </p:nvPr>
        </p:nvSpPr>
        <p:spPr/>
        <p: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smtClean="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graphicFrame>
        <p:nvGraphicFramePr>
          <p:cNvPr id="5" name="Table 4">
            <a:extLst>
              <a:ext uri="{FF2B5EF4-FFF2-40B4-BE49-F238E27FC236}">
                <a16:creationId xmlns:a16="http://schemas.microsoft.com/office/drawing/2014/main" xmlns="" id="{91D3346C-B134-68BD-1C8D-125021426C8A}"/>
              </a:ext>
            </a:extLst>
          </p:cNvPr>
          <p:cNvGraphicFramePr>
            <a:graphicFrameLocks noGrp="1"/>
          </p:cNvGraphicFramePr>
          <p:nvPr>
            <p:extLst>
              <p:ext uri="{D42A27DB-BD31-4B8C-83A1-F6EECF244321}">
                <p14:modId xmlns:p14="http://schemas.microsoft.com/office/powerpoint/2010/main" val="2410377639"/>
              </p:ext>
            </p:extLst>
          </p:nvPr>
        </p:nvGraphicFramePr>
        <p:xfrm>
          <a:off x="457200" y="387926"/>
          <a:ext cx="8229599" cy="6165273"/>
        </p:xfrm>
        <a:graphic>
          <a:graphicData uri="http://schemas.openxmlformats.org/drawingml/2006/table">
            <a:tbl>
              <a:tblPr firstRow="1" firstCol="1" bandRow="1">
                <a:tableStyleId>{BC89EF96-8CEA-46FF-86C4-4CE0E7609802}</a:tableStyleId>
              </a:tblPr>
              <a:tblGrid>
                <a:gridCol w="441158">
                  <a:extLst>
                    <a:ext uri="{9D8B030D-6E8A-4147-A177-3AD203B41FA5}">
                      <a16:colId xmlns:a16="http://schemas.microsoft.com/office/drawing/2014/main" xmlns="" val="3254615216"/>
                    </a:ext>
                  </a:extLst>
                </a:gridCol>
                <a:gridCol w="1384032">
                  <a:extLst>
                    <a:ext uri="{9D8B030D-6E8A-4147-A177-3AD203B41FA5}">
                      <a16:colId xmlns:a16="http://schemas.microsoft.com/office/drawing/2014/main" xmlns="" val="556449852"/>
                    </a:ext>
                  </a:extLst>
                </a:gridCol>
                <a:gridCol w="1680145">
                  <a:extLst>
                    <a:ext uri="{9D8B030D-6E8A-4147-A177-3AD203B41FA5}">
                      <a16:colId xmlns:a16="http://schemas.microsoft.com/office/drawing/2014/main" xmlns="" val="2774652637"/>
                    </a:ext>
                  </a:extLst>
                </a:gridCol>
                <a:gridCol w="1218929">
                  <a:extLst>
                    <a:ext uri="{9D8B030D-6E8A-4147-A177-3AD203B41FA5}">
                      <a16:colId xmlns:a16="http://schemas.microsoft.com/office/drawing/2014/main" xmlns="" val="470954700"/>
                    </a:ext>
                  </a:extLst>
                </a:gridCol>
                <a:gridCol w="1594582">
                  <a:extLst>
                    <a:ext uri="{9D8B030D-6E8A-4147-A177-3AD203B41FA5}">
                      <a16:colId xmlns:a16="http://schemas.microsoft.com/office/drawing/2014/main" xmlns="" val="3531857325"/>
                    </a:ext>
                  </a:extLst>
                </a:gridCol>
                <a:gridCol w="1910753">
                  <a:extLst>
                    <a:ext uri="{9D8B030D-6E8A-4147-A177-3AD203B41FA5}">
                      <a16:colId xmlns:a16="http://schemas.microsoft.com/office/drawing/2014/main" xmlns="" val="1242363683"/>
                    </a:ext>
                  </a:extLst>
                </a:gridCol>
              </a:tblGrid>
              <a:tr h="646625">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tc>
                <a:extLst>
                  <a:ext uri="{0D108BD9-81ED-4DB2-BD59-A6C34878D82A}">
                    <a16:rowId xmlns:a16="http://schemas.microsoft.com/office/drawing/2014/main" xmlns="" val="2642983439"/>
                  </a:ext>
                </a:extLst>
              </a:tr>
              <a:tr h="2140289">
                <a:tc>
                  <a:txBody>
                    <a:bodyPr/>
                    <a:lstStyle/>
                    <a:p>
                      <a:pPr algn="ctr">
                        <a:buNone/>
                      </a:pPr>
                      <a:r>
                        <a:rPr lang="en-US" sz="1800" b="0" dirty="0">
                          <a:effectLst/>
                          <a:latin typeface="Times New Roman" panose="02020603050405020304" pitchFamily="18" charset="0"/>
                          <a:cs typeface="Times New Roman" panose="02020603050405020304" pitchFamily="18" charset="0"/>
                        </a:rPr>
                        <a:t>10</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endParaRPr lang="en-US" dirty="0" smtClean="0"/>
                    </a:p>
                    <a:p>
                      <a:pPr marL="36000">
                        <a:buNone/>
                      </a:pPr>
                      <a:endParaRPr lang="en-US" dirty="0" smtClean="0"/>
                    </a:p>
                    <a:p>
                      <a:pPr marL="36000">
                        <a:buNone/>
                      </a:pPr>
                      <a:r>
                        <a:rPr lang="en-US" dirty="0" smtClean="0"/>
                        <a:t>AI-assisted </a:t>
                      </a:r>
                      <a:r>
                        <a:rPr lang="en-US" dirty="0" smtClean="0"/>
                        <a:t>rapid prototyping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it-IT" dirty="0" smtClean="0"/>
                    </a:p>
                    <a:p>
                      <a:pPr marL="36000">
                        <a:buNone/>
                      </a:pPr>
                      <a:endParaRPr lang="it-IT" dirty="0" smtClean="0"/>
                    </a:p>
                    <a:p>
                      <a:pPr marL="36000">
                        <a:buNone/>
                      </a:pPr>
                      <a:endParaRPr lang="it-IT" dirty="0" smtClean="0"/>
                    </a:p>
                    <a:p>
                      <a:pPr marL="36000">
                        <a:buNone/>
                      </a:pPr>
                      <a:r>
                        <a:rPr lang="it-IT" dirty="0" smtClean="0"/>
                        <a:t>Generative </a:t>
                      </a:r>
                      <a:r>
                        <a:rPr lang="it-IT" dirty="0" smtClean="0"/>
                        <a:t>AI, UI design tools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en-US" dirty="0" smtClean="0"/>
                    </a:p>
                    <a:p>
                      <a:pPr marL="36000">
                        <a:buNone/>
                      </a:pPr>
                      <a:endParaRPr lang="en-US" dirty="0" smtClean="0"/>
                    </a:p>
                    <a:p>
                      <a:pPr marL="36000">
                        <a:buNone/>
                      </a:pPr>
                      <a:endParaRPr lang="en-US" dirty="0" smtClean="0"/>
                    </a:p>
                    <a:p>
                      <a:pPr marL="36000">
                        <a:buNone/>
                      </a:pPr>
                      <a:r>
                        <a:rPr lang="en-US" dirty="0" smtClean="0"/>
                        <a:t>Prototype </a:t>
                      </a:r>
                      <a:r>
                        <a:rPr lang="en-US" dirty="0" smtClean="0"/>
                        <a:t>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en-US" dirty="0" smtClean="0"/>
                    </a:p>
                    <a:p>
                      <a:pPr marL="36000">
                        <a:buNone/>
                      </a:pPr>
                      <a:endParaRPr lang="en-US" dirty="0" smtClean="0"/>
                    </a:p>
                    <a:p>
                      <a:pPr marL="36000">
                        <a:buNone/>
                      </a:pPr>
                      <a:r>
                        <a:rPr lang="en-US" dirty="0" smtClean="0"/>
                        <a:t>Reduce </a:t>
                      </a:r>
                      <a:r>
                        <a:rPr lang="en-US" dirty="0" smtClean="0"/>
                        <a:t>the time required to create initial prototypes.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endParaRPr lang="en-US" dirty="0" smtClean="0"/>
                    </a:p>
                    <a:p>
                      <a:pPr marL="36000">
                        <a:buNone/>
                      </a:pPr>
                      <a:endParaRPr lang="en-US" dirty="0" smtClean="0"/>
                    </a:p>
                    <a:p>
                      <a:pPr marL="36000">
                        <a:buNone/>
                      </a:pPr>
                      <a:r>
                        <a:rPr lang="en-US" dirty="0" smtClean="0"/>
                        <a:t>Results </a:t>
                      </a:r>
                      <a:r>
                        <a:rPr lang="en-US" dirty="0" smtClean="0"/>
                        <a:t>may need repeated refinement.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1441612514"/>
                  </a:ext>
                </a:extLst>
              </a:tr>
              <a:tr h="1839549">
                <a:tc>
                  <a:txBody>
                    <a:bodyPr/>
                    <a:lstStyle/>
                    <a:p>
                      <a:pPr algn="ctr">
                        <a:buNone/>
                      </a:pPr>
                      <a:r>
                        <a:rPr lang="en-US" sz="1800" b="0" dirty="0">
                          <a:effectLst/>
                          <a:latin typeface="Times New Roman" panose="02020603050405020304" pitchFamily="18" charset="0"/>
                          <a:cs typeface="Times New Roman" panose="02020603050405020304" pitchFamily="18" charset="0"/>
                        </a:rPr>
                        <a:t>11</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NLP-based UI customization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NLP, Machine Learning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User requirements and interface examples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Adapt interface components according to user needs.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Complex requirements may not be handled accurately.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xmlns="" val="2857610317"/>
                  </a:ext>
                </a:extLst>
              </a:tr>
              <a:tr h="1538810">
                <a:tc>
                  <a:txBody>
                    <a:bodyPr/>
                    <a:lstStyle/>
                    <a:p>
                      <a:pPr algn="ctr">
                        <a:buNone/>
                      </a:pPr>
                      <a:r>
                        <a:rPr lang="en-US" sz="1800" b="0" dirty="0">
                          <a:effectLst/>
                          <a:latin typeface="Times New Roman" panose="02020603050405020304" pitchFamily="18" charset="0"/>
                          <a:cs typeface="Times New Roman" panose="02020603050405020304" pitchFamily="18" charset="0"/>
                        </a:rPr>
                        <a:t>12</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buNone/>
                      </a:pPr>
                      <a:r>
                        <a:rPr lang="en-US" dirty="0" smtClean="0"/>
                        <a:t>Integrated AI-based UI/UX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NLP, Generative AI, Web Technologies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Depends on the implemented system</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buNone/>
                      </a:pPr>
                      <a:r>
                        <a:rPr lang="en-US" dirty="0" smtClean="0"/>
                        <a:t>Combine requirement understanding and interface generation.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r>
                        <a:rPr lang="en-US" dirty="0"/>
                        <a:t>Accuracy and customization depend on system capabilities.</a:t>
                      </a:r>
                    </a:p>
                  </a:txBody>
                  <a:tcPr anchor="ctr"/>
                </a:tc>
                <a:extLst>
                  <a:ext uri="{0D108BD9-81ED-4DB2-BD59-A6C34878D82A}">
                    <a16:rowId xmlns:a16="http://schemas.microsoft.com/office/drawing/2014/main" xmlns="" val="2200289591"/>
                  </a:ext>
                </a:extLst>
              </a:tr>
            </a:tbl>
          </a:graphicData>
        </a:graphic>
      </p:graphicFrame>
    </p:spTree>
    <p:extLst>
      <p:ext uri="{BB962C8B-B14F-4D97-AF65-F5344CB8AC3E}">
        <p14:creationId xmlns:p14="http://schemas.microsoft.com/office/powerpoint/2010/main" val="1959362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ADA397-A149-4EDE-9736-3E34CADBFA86}"/>
              </a:ext>
            </a:extLst>
          </p:cNvPr>
          <p:cNvSpPr>
            <a:spLocks noGrp="1"/>
          </p:cNvSpPr>
          <p:nvPr>
            <p:ph type="title"/>
          </p:nvPr>
        </p:nvSpPr>
        <p:spPr/>
        <p:txBody>
          <a:bodyPr>
            <a:normAutofit/>
          </a:bodyPr>
          <a:lstStyle/>
          <a:p>
            <a:r>
              <a:rPr lang="en-US" dirty="0" smtClean="0"/>
              <a:t>3. Information to seminar topic</a:t>
            </a:r>
            <a:endParaRPr lang="en-US" dirty="0"/>
          </a:p>
        </p:txBody>
      </p:sp>
      <p:sp>
        <p:nvSpPr>
          <p:cNvPr id="3" name="Content Placeholder 2">
            <a:extLst>
              <a:ext uri="{FF2B5EF4-FFF2-40B4-BE49-F238E27FC236}">
                <a16:creationId xmlns:a16="http://schemas.microsoft.com/office/drawing/2014/main" xmlns="" id="{62F16C77-19C6-4EA7-8D73-238BE60B7F8B}"/>
              </a:ext>
            </a:extLst>
          </p:cNvPr>
          <p:cNvSpPr>
            <a:spLocks noGrp="1"/>
          </p:cNvSpPr>
          <p:nvPr>
            <p:ph idx="1"/>
          </p:nvPr>
        </p:nvSpPr>
        <p:spPr/>
        <p:txBody>
          <a:bodyPr>
            <a:normAutofit/>
          </a:bodyPr>
          <a:lstStyle/>
          <a:p>
            <a:pPr algn="just"/>
            <a:endParaRPr lang="en-US" sz="1800" b="1" dirty="0" smtClean="0"/>
          </a:p>
          <a:p>
            <a:pPr algn="just"/>
            <a:endParaRPr lang="en-US" sz="1800" b="1" dirty="0"/>
          </a:p>
          <a:p>
            <a:pPr algn="just"/>
            <a:r>
              <a:rPr lang="en-US" sz="1800" b="1" dirty="0" smtClean="0"/>
              <a:t>Technology</a:t>
            </a:r>
            <a:r>
              <a:rPr lang="en-US" sz="1800" b="1" dirty="0"/>
              <a:t>:</a:t>
            </a:r>
            <a:r>
              <a:rPr lang="en-US" sz="1800" dirty="0"/>
              <a:t> Artificial Intelligence (AI), Natural Language Processing (NLP), Generative AI and Web Technologies</a:t>
            </a:r>
            <a:r>
              <a:rPr lang="en-US" sz="1800" dirty="0" smtClean="0"/>
              <a:t>.</a:t>
            </a:r>
            <a:endParaRPr lang="en-US" sz="1800" dirty="0"/>
          </a:p>
          <a:p>
            <a:pPr algn="just"/>
            <a:r>
              <a:rPr lang="en-US" sz="1800" b="1" dirty="0"/>
              <a:t>Main Purpose:</a:t>
            </a:r>
            <a:r>
              <a:rPr lang="en-US" sz="1800" dirty="0"/>
              <a:t> To simplify UI/UX design by converting natural-language requirements into an initial interface design.</a:t>
            </a:r>
          </a:p>
          <a:p>
            <a:pPr algn="just"/>
            <a:r>
              <a:rPr lang="en-US" sz="1800" b="1" dirty="0"/>
              <a:t>Key Concept:</a:t>
            </a:r>
            <a:r>
              <a:rPr lang="en-US" sz="1800" dirty="0"/>
              <a:t> Understanding user requirements and identifying suitable UI components such as buttons, forms, pages and layouts.</a:t>
            </a:r>
          </a:p>
          <a:p>
            <a:pPr algn="just"/>
            <a:r>
              <a:rPr lang="en-US" sz="1800" b="1" dirty="0"/>
              <a:t>Approach:</a:t>
            </a:r>
            <a:r>
              <a:rPr lang="en-US" sz="1800" dirty="0"/>
              <a:t> The proposed system processes the user's text, extracts important requirements and assists in generating an initial interface design.</a:t>
            </a:r>
            <a:endParaRPr lang="en-US" sz="1800" b="1" dirty="0"/>
          </a:p>
          <a:p>
            <a:pPr algn="just"/>
            <a:r>
              <a:rPr lang="en-US" sz="1800" b="1" dirty="0"/>
              <a:t>Main Benefit:</a:t>
            </a:r>
            <a:r>
              <a:rPr lang="en-US" sz="1800" dirty="0"/>
              <a:t> Reduces manual effort, saves time and supports rapid prototyping.</a:t>
            </a:r>
          </a:p>
          <a:p>
            <a:pPr algn="just"/>
            <a:r>
              <a:rPr lang="en-US" sz="1800" b="1" dirty="0"/>
              <a:t>Applications:</a:t>
            </a:r>
            <a:r>
              <a:rPr lang="en-US" sz="1800" dirty="0"/>
              <a:t> Website prototyping, mobile application design, educational projects, business applications and software development.</a:t>
            </a:r>
          </a:p>
        </p:txBody>
      </p:sp>
      <p:sp>
        <p:nvSpPr>
          <p:cNvPr id="4" name="Slide Number Placeholder 3"/>
          <p:cNvSpPr>
            <a:spLocks noGrp="1"/>
          </p:cNvSpPr>
          <p:nvPr>
            <p:ph type="sldNum" sz="quarter" idx="12"/>
          </p:nvPr>
        </p:nvSpPr>
        <p:spPr/>
        <p:txBody>
          <a:bodyPr/>
          <a:lstStyle/>
          <a:p>
            <a:fld id="{4AF1F8D0-972F-472E-AFE5-1F27E299DB0B}" type="slidenum">
              <a:rPr lang="en-US" smtClean="0"/>
              <a:pPr/>
              <a:t>9</a:t>
            </a:fld>
            <a:endParaRPr lang="en-US"/>
          </a:p>
        </p:txBody>
      </p:sp>
    </p:spTree>
    <p:extLst>
      <p:ext uri="{BB962C8B-B14F-4D97-AF65-F5344CB8AC3E}">
        <p14:creationId xmlns:p14="http://schemas.microsoft.com/office/powerpoint/2010/main" val="29413519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F042F5-68B7-4EB5-9165-DB3AA25E36E1}"/>
              </a:ext>
            </a:extLst>
          </p:cNvPr>
          <p:cNvSpPr>
            <a:spLocks noGrp="1"/>
          </p:cNvSpPr>
          <p:nvPr>
            <p:ph type="title"/>
          </p:nvPr>
        </p:nvSpPr>
        <p:spPr/>
        <p:txBody>
          <a:bodyPr>
            <a:normAutofit/>
          </a:bodyPr>
          <a:lstStyle/>
          <a:p>
            <a:r>
              <a:rPr lang="en-US" dirty="0" smtClean="0"/>
              <a:t>4. Advantages / Disadvantages</a:t>
            </a:r>
            <a:endParaRPr lang="en-US" dirty="0"/>
          </a:p>
        </p:txBody>
      </p:sp>
      <p:sp>
        <p:nvSpPr>
          <p:cNvPr id="3" name="Content Placeholder 2">
            <a:extLst>
              <a:ext uri="{FF2B5EF4-FFF2-40B4-BE49-F238E27FC236}">
                <a16:creationId xmlns:a16="http://schemas.microsoft.com/office/drawing/2014/main" xmlns="" id="{0A40085B-6985-4DEB-B4ED-124FB8321665}"/>
              </a:ext>
            </a:extLst>
          </p:cNvPr>
          <p:cNvSpPr>
            <a:spLocks noGrp="1"/>
          </p:cNvSpPr>
          <p:nvPr>
            <p:ph idx="1"/>
          </p:nvPr>
        </p:nvSpPr>
        <p:spPr/>
        <p:txBody>
          <a:bodyPr>
            <a:normAutofit/>
          </a:bodyPr>
          <a:lstStyle/>
          <a:p>
            <a:pPr marL="0" indent="0" algn="just">
              <a:buNone/>
            </a:pPr>
            <a:r>
              <a:rPr lang="en-US" sz="1800" b="1" dirty="0"/>
              <a:t>Advantages:</a:t>
            </a:r>
          </a:p>
          <a:p>
            <a:pPr algn="just"/>
            <a:r>
              <a:rPr lang="en-US" sz="1800" dirty="0"/>
              <a:t>Reduces the time required for initial UI/UX design.</a:t>
            </a:r>
          </a:p>
          <a:p>
            <a:pPr algn="just"/>
            <a:r>
              <a:rPr lang="en-US" sz="1800" dirty="0"/>
              <a:t>Allows users to describe requirements in natural language.</a:t>
            </a:r>
          </a:p>
          <a:p>
            <a:pPr algn="just"/>
            <a:r>
              <a:rPr lang="en-US" sz="1800" dirty="0"/>
              <a:t>Automates parts of the interface design process.</a:t>
            </a:r>
          </a:p>
          <a:p>
            <a:pPr algn="just"/>
            <a:r>
              <a:rPr lang="en-US" sz="1800" dirty="0"/>
              <a:t>Supports rapid prototyping and design experimentation.</a:t>
            </a:r>
          </a:p>
          <a:p>
            <a:pPr algn="just"/>
            <a:r>
              <a:rPr lang="en-US" sz="1800" dirty="0"/>
              <a:t>Reduces repetitive manual work.</a:t>
            </a:r>
          </a:p>
          <a:p>
            <a:pPr algn="just"/>
            <a:r>
              <a:rPr lang="en-US" sz="1800" dirty="0"/>
              <a:t>Can store relevant project data using </a:t>
            </a:r>
            <a:r>
              <a:rPr lang="en-US" sz="1800" dirty="0" err="1"/>
              <a:t>MongoDB</a:t>
            </a:r>
            <a:r>
              <a:rPr lang="en-US" sz="1800" dirty="0"/>
              <a:t>, if </a:t>
            </a:r>
            <a:r>
              <a:rPr lang="en-US" sz="1800" dirty="0" smtClean="0"/>
              <a:t>implemented.</a:t>
            </a:r>
          </a:p>
          <a:p>
            <a:pPr marL="0" indent="0" algn="just">
              <a:buNone/>
            </a:pPr>
            <a:r>
              <a:rPr lang="en-US" sz="1800" b="1" dirty="0" smtClean="0"/>
              <a:t>Disadvantages</a:t>
            </a:r>
            <a:r>
              <a:rPr lang="en-US" sz="1800" b="1" dirty="0"/>
              <a:t>:</a:t>
            </a:r>
          </a:p>
          <a:p>
            <a:pPr algn="just"/>
            <a:r>
              <a:rPr lang="en-US" sz="1800" dirty="0"/>
              <a:t>Output quality depends on the clarity of user input.</a:t>
            </a:r>
          </a:p>
          <a:p>
            <a:pPr algn="just"/>
            <a:r>
              <a:rPr lang="en-US" sz="1800" dirty="0"/>
              <a:t>Complex requirements may not be interpreted correctly.</a:t>
            </a:r>
          </a:p>
          <a:p>
            <a:pPr algn="just"/>
            <a:r>
              <a:rPr lang="en-US" sz="1800" dirty="0"/>
              <a:t>Generated designs may require manual modifications.</a:t>
            </a:r>
          </a:p>
          <a:p>
            <a:pPr algn="just"/>
            <a:r>
              <a:rPr lang="en-US" sz="1800" dirty="0"/>
              <a:t>NLP may not extract every requirement accurately.</a:t>
            </a:r>
          </a:p>
          <a:p>
            <a:pPr algn="just"/>
            <a:r>
              <a:rPr lang="en-US" sz="1800" dirty="0"/>
              <a:t>Advanced customization may be limited.</a:t>
            </a:r>
          </a:p>
          <a:p>
            <a:pPr algn="just"/>
            <a:r>
              <a:rPr lang="en-US" sz="1800" dirty="0"/>
              <a:t>Human review is necessary before finalizing the design.</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10</a:t>
            </a:fld>
            <a:endParaRPr lang="en-US"/>
          </a:p>
        </p:txBody>
      </p:sp>
    </p:spTree>
    <p:extLst>
      <p:ext uri="{BB962C8B-B14F-4D97-AF65-F5344CB8AC3E}">
        <p14:creationId xmlns:p14="http://schemas.microsoft.com/office/powerpoint/2010/main" val="34754792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E85495-A5F6-4B35-8FCC-B8E25FD8585A}"/>
              </a:ext>
            </a:extLst>
          </p:cNvPr>
          <p:cNvSpPr>
            <a:spLocks noGrp="1"/>
          </p:cNvSpPr>
          <p:nvPr>
            <p:ph type="title"/>
          </p:nvPr>
        </p:nvSpPr>
        <p:spPr/>
        <p:txBody>
          <a:bodyPr>
            <a:normAutofit/>
          </a:bodyPr>
          <a:lstStyle/>
          <a:p>
            <a:r>
              <a:rPr lang="en-US" dirty="0" smtClean="0"/>
              <a:t>5. Conclusion</a:t>
            </a:r>
            <a:endParaRPr lang="en-US" dirty="0"/>
          </a:p>
        </p:txBody>
      </p:sp>
      <p:sp>
        <p:nvSpPr>
          <p:cNvPr id="3" name="Content Placeholder 2">
            <a:extLst>
              <a:ext uri="{FF2B5EF4-FFF2-40B4-BE49-F238E27FC236}">
                <a16:creationId xmlns:a16="http://schemas.microsoft.com/office/drawing/2014/main" xmlns="" id="{AFCE7C34-594D-4583-8824-06541B13F269}"/>
              </a:ext>
            </a:extLst>
          </p:cNvPr>
          <p:cNvSpPr>
            <a:spLocks noGrp="1"/>
          </p:cNvSpPr>
          <p:nvPr>
            <p:ph idx="1"/>
          </p:nvPr>
        </p:nvSpPr>
        <p:spPr/>
        <p:txBody>
          <a:bodyPr>
            <a:normAutofit/>
          </a:bodyPr>
          <a:lstStyle/>
          <a:p>
            <a:pPr marL="0" indent="0">
              <a:buNone/>
            </a:pPr>
            <a:endParaRPr lang="en-US" sz="2000" dirty="0" smtClean="0"/>
          </a:p>
          <a:p>
            <a:pPr marL="0" indent="0" algn="just">
              <a:buNone/>
            </a:pPr>
            <a:r>
              <a:rPr lang="en-US" sz="1800" dirty="0" smtClean="0"/>
              <a:t>	AI-Based </a:t>
            </a:r>
            <a:r>
              <a:rPr lang="en-US" sz="1800" dirty="0"/>
              <a:t>UX/UI Design Generator Using NLP simplifies the process of interface design by converting natural-language requirements into initial UI designs. It reduces manual effort, saves time, and supports rapid prototyping. Overall, it makes UI/UX design easier and more accessible, although human review and modifications may still be required</a:t>
            </a:r>
            <a:r>
              <a:rPr lang="en-US" sz="1800" dirty="0" smtClean="0"/>
              <a:t>.</a:t>
            </a:r>
          </a:p>
          <a:p>
            <a:pPr marL="0" indent="0" algn="just">
              <a:buNone/>
            </a:pPr>
            <a:endParaRPr lang="en-US" sz="18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11</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3109912"/>
            <a:ext cx="6096000" cy="3429000"/>
          </a:xfrm>
          <a:prstGeom prst="rect">
            <a:avLst/>
          </a:prstGeom>
        </p:spPr>
      </p:pic>
    </p:spTree>
    <p:extLst>
      <p:ext uri="{BB962C8B-B14F-4D97-AF65-F5344CB8AC3E}">
        <p14:creationId xmlns:p14="http://schemas.microsoft.com/office/powerpoint/2010/main" val="38479657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7434D9-A048-4FD6-9D39-B86F54567C07}"/>
              </a:ext>
            </a:extLst>
          </p:cNvPr>
          <p:cNvSpPr>
            <a:spLocks noGrp="1"/>
          </p:cNvSpPr>
          <p:nvPr>
            <p:ph type="title"/>
          </p:nvPr>
        </p:nvSpPr>
        <p:spPr/>
        <p:txBody>
          <a:bodyPr>
            <a:normAutofit/>
          </a:bodyPr>
          <a:lstStyle/>
          <a:p>
            <a:r>
              <a:rPr lang="en-US" dirty="0" smtClean="0"/>
              <a:t>6. Project Initiation</a:t>
            </a:r>
            <a:endParaRPr lang="en-US" dirty="0"/>
          </a:p>
        </p:txBody>
      </p:sp>
      <p:sp>
        <p:nvSpPr>
          <p:cNvPr id="3" name="Content Placeholder 2">
            <a:extLst>
              <a:ext uri="{FF2B5EF4-FFF2-40B4-BE49-F238E27FC236}">
                <a16:creationId xmlns:a16="http://schemas.microsoft.com/office/drawing/2014/main" xmlns="" id="{3F610B6C-B12F-476A-AAE5-7131B7B4C34A}"/>
              </a:ext>
            </a:extLst>
          </p:cNvPr>
          <p:cNvSpPr>
            <a:spLocks noGrp="1"/>
          </p:cNvSpPr>
          <p:nvPr>
            <p:ph idx="1"/>
          </p:nvPr>
        </p:nvSpPr>
        <p:spPr/>
        <p:txBody>
          <a:bodyPr>
            <a:normAutofit/>
          </a:bodyPr>
          <a:lstStyle/>
          <a:p>
            <a:pPr marL="0" indent="0">
              <a:buNone/>
            </a:pPr>
            <a:r>
              <a:rPr lang="en-US" sz="2400" dirty="0" smtClean="0"/>
              <a:t>	</a:t>
            </a:r>
          </a:p>
          <a:p>
            <a:pPr marL="0" indent="0" algn="just">
              <a:buNone/>
            </a:pPr>
            <a:r>
              <a:rPr lang="en-US" sz="2400" dirty="0" smtClean="0"/>
              <a:t>	</a:t>
            </a:r>
            <a:r>
              <a:rPr lang="en-US" sz="1800" dirty="0" smtClean="0"/>
              <a:t>The proposed AI-Based UX/UI Design Generator Using NLP addresses the time and effort required to create initial user interfaces. Traditional design methods require users to manually create layouts, buttons, forms and navigation elements.</a:t>
            </a:r>
          </a:p>
          <a:p>
            <a:pPr marL="0" indent="0" algn="just">
              <a:buNone/>
            </a:pPr>
            <a:r>
              <a:rPr lang="en-US" sz="1800" dirty="0" smtClean="0"/>
              <a:t>	</a:t>
            </a:r>
          </a:p>
          <a:p>
            <a:pPr marL="0" indent="0" algn="just">
              <a:buNone/>
            </a:pPr>
            <a:r>
              <a:rPr lang="en-US" sz="1800" dirty="0"/>
              <a:t>	</a:t>
            </a:r>
            <a:r>
              <a:rPr lang="en-US" sz="1800" dirty="0" smtClean="0"/>
              <a:t>The </a:t>
            </a:r>
            <a:r>
              <a:rPr lang="en-US" sz="1800" dirty="0"/>
              <a:t>proposed system accepts requirements written in natural language and processes them using NLP techniques. It identifies important interface components and assists in preparing an initial design that can be reviewed and modified</a:t>
            </a:r>
            <a:r>
              <a:rPr lang="en-US" sz="1800" dirty="0" smtClean="0"/>
              <a:t>.</a:t>
            </a:r>
          </a:p>
          <a:p>
            <a:pPr marL="0" indent="0" algn="just">
              <a:buNone/>
            </a:pPr>
            <a:r>
              <a:rPr lang="en-US" sz="1800" dirty="0" smtClean="0"/>
              <a:t>	</a:t>
            </a:r>
          </a:p>
          <a:p>
            <a:pPr marL="0" indent="0" algn="just">
              <a:buNone/>
            </a:pPr>
            <a:r>
              <a:rPr lang="en-US" sz="1800" dirty="0"/>
              <a:t>	</a:t>
            </a:r>
            <a:r>
              <a:rPr lang="en-US" sz="1800" dirty="0" smtClean="0"/>
              <a:t>The </a:t>
            </a:r>
            <a:r>
              <a:rPr lang="en-US" sz="1800" dirty="0"/>
              <a:t>project aims to simplify the prototyping process, improve productivity and make initial interface design easier for developers and users.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12</a:t>
            </a:fld>
            <a:endParaRPr lang="en-US"/>
          </a:p>
        </p:txBody>
      </p:sp>
    </p:spTree>
    <p:extLst>
      <p:ext uri="{BB962C8B-B14F-4D97-AF65-F5344CB8AC3E}">
        <p14:creationId xmlns:p14="http://schemas.microsoft.com/office/powerpoint/2010/main" val="547508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6(a) Problem Statement</a:t>
            </a:r>
            <a:endParaRPr lang="en-US" sz="3600" dirty="0"/>
          </a:p>
        </p:txBody>
      </p:sp>
      <p:sp>
        <p:nvSpPr>
          <p:cNvPr id="3" name="Content Placeholder 2"/>
          <p:cNvSpPr>
            <a:spLocks noGrp="1"/>
          </p:cNvSpPr>
          <p:nvPr>
            <p:ph idx="1"/>
          </p:nvPr>
        </p:nvSpPr>
        <p:spPr/>
        <p:txBody>
          <a:bodyPr>
            <a:normAutofit/>
          </a:bodyPr>
          <a:lstStyle/>
          <a:p>
            <a:pPr marL="0" indent="0" algn="just">
              <a:buNone/>
            </a:pPr>
            <a:r>
              <a:rPr lang="en-US" sz="2000" dirty="0" smtClean="0"/>
              <a:t>	</a:t>
            </a:r>
            <a:endParaRPr lang="en-US" sz="2000" dirty="0"/>
          </a:p>
          <a:p>
            <a:pPr marL="0" indent="0" algn="just">
              <a:buNone/>
            </a:pPr>
            <a:r>
              <a:rPr lang="en-US" sz="2000" dirty="0" smtClean="0"/>
              <a:t>	</a:t>
            </a:r>
            <a:r>
              <a:rPr lang="en-US" sz="1800" dirty="0" smtClean="0"/>
              <a:t>Traditional </a:t>
            </a:r>
            <a:r>
              <a:rPr lang="en-US" sz="1800" dirty="0"/>
              <a:t>UI/UX design requires considerable manual effort, time and design knowledge. Users must manually plan layouts, forms, buttons and navigation elements to create an interface</a:t>
            </a:r>
            <a:r>
              <a:rPr lang="en-US" sz="1800" dirty="0" smtClean="0"/>
              <a:t>.</a:t>
            </a:r>
          </a:p>
          <a:p>
            <a:pPr marL="0" indent="0" algn="just">
              <a:buNone/>
            </a:pPr>
            <a:r>
              <a:rPr lang="en-US" sz="1800" dirty="0"/>
              <a:t>	</a:t>
            </a:r>
            <a:r>
              <a:rPr lang="en-US" sz="1800" dirty="0" smtClean="0"/>
              <a:t>This </a:t>
            </a:r>
            <a:r>
              <a:rPr lang="en-US" sz="1800" dirty="0"/>
              <a:t>process can be difficult for beginners and may require repeated modifications. The proposed system aims to address this problem by processing natural-language requirements and assisting in the generation of an initial interface </a:t>
            </a:r>
            <a:r>
              <a:rPr lang="en-US" sz="1800" dirty="0" smtClean="0"/>
              <a:t>design.</a:t>
            </a:r>
          </a:p>
          <a:p>
            <a:pPr marL="0" indent="0" algn="just">
              <a:buNone/>
            </a:pPr>
            <a:r>
              <a:rPr lang="en-US" sz="1800" dirty="0" smtClean="0"/>
              <a:t>	It </a:t>
            </a:r>
            <a:r>
              <a:rPr lang="en-US" sz="1800" dirty="0"/>
              <a:t>focuses on reducing repetitive work, simplifying prototyping and improving the efficiency of the initial design process.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13</a:t>
            </a:fld>
            <a:endParaRPr lang="en-US"/>
          </a:p>
        </p:txBody>
      </p:sp>
      <p:pic>
        <p:nvPicPr>
          <p:cNvPr id="6" name="Picture 5" descr="WhatsApp Image 2026-10-16 at 2.19.16 AM.jpeg"/>
          <p:cNvPicPr>
            <a:picLocks noChangeAspect="1"/>
          </p:cNvPicPr>
          <p:nvPr/>
        </p:nvPicPr>
        <p:blipFill>
          <a:blip r:embed="rId2"/>
          <a:stretch>
            <a:fillRect/>
          </a:stretch>
        </p:blipFill>
        <p:spPr>
          <a:xfrm>
            <a:off x="1676400" y="4267200"/>
            <a:ext cx="5638800" cy="216961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6(b) Scope and Objective</a:t>
            </a:r>
            <a:endParaRPr lang="en-US" sz="3600" dirty="0"/>
          </a:p>
        </p:txBody>
      </p:sp>
      <p:sp>
        <p:nvSpPr>
          <p:cNvPr id="3" name="Content Placeholder 2"/>
          <p:cNvSpPr>
            <a:spLocks noGrp="1"/>
          </p:cNvSpPr>
          <p:nvPr>
            <p:ph idx="1"/>
          </p:nvPr>
        </p:nvSpPr>
        <p:spPr/>
        <p:txBody>
          <a:bodyPr>
            <a:normAutofit/>
          </a:bodyPr>
          <a:lstStyle/>
          <a:p>
            <a:pPr marL="0" indent="0">
              <a:buNone/>
            </a:pPr>
            <a:r>
              <a:rPr lang="en-US" sz="1800" b="1" dirty="0"/>
              <a:t>Objectives:</a:t>
            </a:r>
          </a:p>
          <a:p>
            <a:pPr marL="0" indent="0">
              <a:buNone/>
            </a:pPr>
            <a:r>
              <a:rPr lang="en-US" sz="1800" dirty="0"/>
              <a:t>Accept user requirements written in natural language.</a:t>
            </a:r>
          </a:p>
          <a:p>
            <a:pPr marL="0" indent="0">
              <a:buNone/>
            </a:pPr>
            <a:r>
              <a:rPr lang="en-US" sz="1800" dirty="0"/>
              <a:t>Process text using Natural Language Processing (NLP).</a:t>
            </a:r>
          </a:p>
          <a:p>
            <a:pPr marL="0" indent="0">
              <a:buNone/>
            </a:pPr>
            <a:r>
              <a:rPr lang="en-US" sz="1800" dirty="0"/>
              <a:t>Identify important UI components and design requirements.</a:t>
            </a:r>
          </a:p>
          <a:p>
            <a:pPr marL="0" indent="0">
              <a:buNone/>
            </a:pPr>
            <a:r>
              <a:rPr lang="en-US" sz="1800" dirty="0"/>
              <a:t>Assist in generating an initial user interface.</a:t>
            </a:r>
          </a:p>
          <a:p>
            <a:pPr marL="0" indent="0">
              <a:buNone/>
            </a:pPr>
            <a:r>
              <a:rPr lang="en-US" sz="1800" dirty="0"/>
              <a:t>Provide a simple and user-friendly design process.</a:t>
            </a:r>
          </a:p>
          <a:p>
            <a:pPr marL="0" indent="0">
              <a:buNone/>
            </a:pPr>
            <a:r>
              <a:rPr lang="en-US" sz="1800" dirty="0"/>
              <a:t>Store relevant information using </a:t>
            </a:r>
            <a:r>
              <a:rPr lang="en-US" sz="1800" dirty="0" err="1"/>
              <a:t>MongoDB</a:t>
            </a:r>
            <a:r>
              <a:rPr lang="en-US" sz="1800" dirty="0"/>
              <a:t>, if included in the implementation.</a:t>
            </a:r>
          </a:p>
          <a:p>
            <a:pPr marL="0" indent="0">
              <a:buNone/>
            </a:pPr>
            <a:r>
              <a:rPr lang="en-US" sz="1800" b="1" dirty="0"/>
              <a:t>Scope:</a:t>
            </a:r>
          </a:p>
          <a:p>
            <a:pPr marL="0" indent="0">
              <a:buNone/>
            </a:pPr>
            <a:r>
              <a:rPr lang="en-US" sz="1800" dirty="0"/>
              <a:t>Initial UI/UX design generation from text requirements.</a:t>
            </a:r>
          </a:p>
          <a:p>
            <a:pPr marL="0" indent="0">
              <a:buNone/>
            </a:pPr>
            <a:r>
              <a:rPr lang="en-US" sz="1800" dirty="0"/>
              <a:t>Identification of pages, buttons, forms and other components.</a:t>
            </a:r>
          </a:p>
          <a:p>
            <a:pPr marL="0" indent="0">
              <a:buNone/>
            </a:pPr>
            <a:r>
              <a:rPr lang="en-US" sz="1800" dirty="0"/>
              <a:t>Creation of interface prototypes for review and modification.</a:t>
            </a:r>
          </a:p>
          <a:p>
            <a:pPr marL="0" indent="0">
              <a:buNone/>
            </a:pPr>
            <a:r>
              <a:rPr lang="en-US" sz="1800" dirty="0"/>
              <a:t>Support for website and application prototyping.</a:t>
            </a:r>
          </a:p>
          <a:p>
            <a:pPr marL="0" indent="0">
              <a:buNone/>
            </a:pPr>
            <a:r>
              <a:rPr lang="en-US" sz="1800" dirty="0"/>
              <a:t>Future integration with advanced Generative AI models.</a:t>
            </a:r>
          </a:p>
          <a:p>
            <a:pPr marL="0" indent="0">
              <a:buNone/>
            </a:pPr>
            <a:r>
              <a:rPr lang="en-US" sz="1800" dirty="0"/>
              <a:t>Further improvements in customization and requirement understanding.</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6(c) Stake holders</a:t>
            </a:r>
            <a:endParaRPr lang="en-US" sz="3600" dirty="0"/>
          </a:p>
        </p:txBody>
      </p:sp>
      <p:sp>
        <p:nvSpPr>
          <p:cNvPr id="3" name="Content Placeholder 2"/>
          <p:cNvSpPr>
            <a:spLocks noGrp="1"/>
          </p:cNvSpPr>
          <p:nvPr>
            <p:ph idx="1"/>
          </p:nvPr>
        </p:nvSpPr>
        <p:spPr/>
        <p:txBody>
          <a:bodyPr>
            <a:normAutofit/>
          </a:bodyPr>
          <a:lstStyle/>
          <a:p>
            <a:pPr marL="0" indent="0">
              <a:buNone/>
            </a:pPr>
            <a:endParaRPr lang="en-US" sz="1800" dirty="0" smtClean="0"/>
          </a:p>
          <a:p>
            <a:pPr marL="0" indent="0"/>
            <a:r>
              <a:rPr lang="en-US" sz="1800" b="1" dirty="0" smtClean="0"/>
              <a:t> End </a:t>
            </a:r>
            <a:r>
              <a:rPr lang="en-US" sz="1800" b="1" dirty="0"/>
              <a:t>Users:</a:t>
            </a:r>
          </a:p>
          <a:p>
            <a:pPr marL="0" indent="0">
              <a:buNone/>
            </a:pPr>
            <a:r>
              <a:rPr lang="en-US" sz="1800" dirty="0" smtClean="0"/>
              <a:t>  Provide </a:t>
            </a:r>
            <a:r>
              <a:rPr lang="en-US" sz="1800" dirty="0"/>
              <a:t>requirements in natural language and review the generated interface</a:t>
            </a:r>
            <a:r>
              <a:rPr lang="en-US" sz="1800" dirty="0" smtClean="0"/>
              <a:t>.</a:t>
            </a:r>
          </a:p>
          <a:p>
            <a:pPr marL="0" indent="0"/>
            <a:endParaRPr lang="en-US" sz="1800" dirty="0"/>
          </a:p>
          <a:p>
            <a:pPr marL="0" indent="0"/>
            <a:r>
              <a:rPr lang="en-US" sz="1800" b="1" dirty="0" smtClean="0"/>
              <a:t> UI/UX </a:t>
            </a:r>
            <a:r>
              <a:rPr lang="en-US" sz="1800" b="1" dirty="0"/>
              <a:t>Designers:</a:t>
            </a:r>
          </a:p>
          <a:p>
            <a:pPr marL="0" indent="0">
              <a:buNone/>
            </a:pPr>
            <a:r>
              <a:rPr lang="en-US" sz="1800" dirty="0" smtClean="0"/>
              <a:t>  Use </a:t>
            </a:r>
            <a:r>
              <a:rPr lang="en-US" sz="1800" dirty="0"/>
              <a:t>AI-generated initial designs as a starting point for prototyping</a:t>
            </a:r>
            <a:r>
              <a:rPr lang="en-US" sz="1800" dirty="0" smtClean="0"/>
              <a:t>.</a:t>
            </a:r>
          </a:p>
          <a:p>
            <a:pPr marL="0" indent="0"/>
            <a:endParaRPr lang="en-US" sz="1800" dirty="0"/>
          </a:p>
          <a:p>
            <a:pPr marL="0" indent="0"/>
            <a:r>
              <a:rPr lang="en-US" sz="1800" b="1" dirty="0" smtClean="0"/>
              <a:t> Developers</a:t>
            </a:r>
            <a:r>
              <a:rPr lang="en-US" sz="1800" b="1" dirty="0"/>
              <a:t>:</a:t>
            </a:r>
          </a:p>
          <a:p>
            <a:pPr marL="0" indent="0">
              <a:buNone/>
            </a:pPr>
            <a:r>
              <a:rPr lang="en-US" sz="1800" dirty="0" smtClean="0"/>
              <a:t>  Review </a:t>
            </a:r>
            <a:r>
              <a:rPr lang="en-US" sz="1800" dirty="0"/>
              <a:t>the generated interface and use it during application development</a:t>
            </a:r>
            <a:r>
              <a:rPr lang="en-US" sz="1800" dirty="0" smtClean="0"/>
              <a:t>.</a:t>
            </a:r>
          </a:p>
          <a:p>
            <a:pPr marL="0" indent="0"/>
            <a:endParaRPr lang="en-US" sz="1800" dirty="0"/>
          </a:p>
          <a:p>
            <a:pPr marL="0" indent="0"/>
            <a:r>
              <a:rPr lang="en-US" sz="1800" b="1" dirty="0" smtClean="0"/>
              <a:t> Project </a:t>
            </a:r>
            <a:r>
              <a:rPr lang="en-US" sz="1800" b="1" dirty="0"/>
              <a:t>Team:</a:t>
            </a:r>
          </a:p>
          <a:p>
            <a:pPr marL="0" indent="0">
              <a:buNone/>
            </a:pPr>
            <a:r>
              <a:rPr lang="en-US" sz="1800" dirty="0" smtClean="0"/>
              <a:t>  Develop</a:t>
            </a:r>
            <a:r>
              <a:rPr lang="en-US" sz="1800" dirty="0"/>
              <a:t>, test and maintain the proposed system</a:t>
            </a:r>
            <a:r>
              <a:rPr lang="en-US" sz="1800" dirty="0" smtClean="0"/>
              <a:t>.</a:t>
            </a:r>
          </a:p>
          <a:p>
            <a:pPr marL="0" indent="0"/>
            <a:endParaRPr lang="en-US" sz="1800" dirty="0"/>
          </a:p>
          <a:p>
            <a:pPr marL="0" indent="0"/>
            <a:r>
              <a:rPr lang="en-US" sz="1800" b="1" dirty="0" smtClean="0"/>
              <a:t> Project </a:t>
            </a:r>
            <a:r>
              <a:rPr lang="en-US" sz="1800" b="1" dirty="0"/>
              <a:t>Guide:</a:t>
            </a:r>
          </a:p>
          <a:p>
            <a:pPr marL="0" indent="0">
              <a:buNone/>
            </a:pPr>
            <a:r>
              <a:rPr lang="en-US" sz="1800" dirty="0" smtClean="0"/>
              <a:t>  Provides </a:t>
            </a:r>
            <a:r>
              <a:rPr lang="en-US" sz="1800" dirty="0"/>
              <a:t>guidance, reviews project progress and evaluates the project.</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6(d) Platform / Equipment / Resources identification</a:t>
            </a: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en-US" sz="3800" b="1" dirty="0" smtClean="0"/>
              <a:t>1. Development </a:t>
            </a:r>
            <a:r>
              <a:rPr lang="en-US" sz="3800" b="1" dirty="0"/>
              <a:t>Platform</a:t>
            </a:r>
          </a:p>
          <a:p>
            <a:pPr>
              <a:buNone/>
            </a:pPr>
            <a:r>
              <a:rPr lang="en-US" sz="3800" dirty="0" smtClean="0"/>
              <a:t>	Windows </a:t>
            </a:r>
            <a:r>
              <a:rPr lang="en-US" sz="3800" dirty="0"/>
              <a:t>or Linux operating system.</a:t>
            </a:r>
          </a:p>
          <a:p>
            <a:pPr>
              <a:buNone/>
            </a:pPr>
            <a:r>
              <a:rPr lang="en-US" sz="3800" dirty="0" smtClean="0"/>
              <a:t>	Python </a:t>
            </a:r>
            <a:r>
              <a:rPr lang="en-US" sz="3800" dirty="0"/>
              <a:t>development environment.</a:t>
            </a:r>
          </a:p>
          <a:p>
            <a:pPr>
              <a:buNone/>
            </a:pPr>
            <a:r>
              <a:rPr lang="en-US" sz="3800" dirty="0" smtClean="0"/>
              <a:t>	Web </a:t>
            </a:r>
            <a:r>
              <a:rPr lang="en-US" sz="3800" dirty="0"/>
              <a:t>browser for viewing and testing interfaces.</a:t>
            </a:r>
          </a:p>
          <a:p>
            <a:pPr>
              <a:buNone/>
            </a:pPr>
            <a:r>
              <a:rPr lang="en-US" sz="3800" dirty="0" smtClean="0"/>
              <a:t>	Development </a:t>
            </a:r>
            <a:r>
              <a:rPr lang="en-US" sz="3800" dirty="0"/>
              <a:t>tools for implementing NLP-based processing</a:t>
            </a:r>
            <a:r>
              <a:rPr lang="en-US" sz="3800" dirty="0" smtClean="0"/>
              <a:t>.</a:t>
            </a:r>
          </a:p>
          <a:p>
            <a:endParaRPr lang="en-US" sz="3800" dirty="0"/>
          </a:p>
          <a:p>
            <a:pPr marL="0" indent="0">
              <a:buNone/>
            </a:pPr>
            <a:r>
              <a:rPr lang="en-US" sz="3800" b="1" dirty="0"/>
              <a:t>2. System Equipment</a:t>
            </a:r>
          </a:p>
          <a:p>
            <a:pPr>
              <a:buNone/>
            </a:pPr>
            <a:r>
              <a:rPr lang="en-US" sz="3800" dirty="0" smtClean="0"/>
              <a:t>	Computer </a:t>
            </a:r>
            <a:r>
              <a:rPr lang="en-US" sz="3800" dirty="0"/>
              <a:t>or laptop for development and testing.</a:t>
            </a:r>
          </a:p>
          <a:p>
            <a:pPr>
              <a:buNone/>
            </a:pPr>
            <a:r>
              <a:rPr lang="en-US" sz="3800" dirty="0" smtClean="0"/>
              <a:t>	Minimum </a:t>
            </a:r>
            <a:r>
              <a:rPr lang="en-US" sz="3800" dirty="0"/>
              <a:t>4 GB RAM, with higher memory recommended for AI tools.</a:t>
            </a:r>
          </a:p>
          <a:p>
            <a:pPr>
              <a:buNone/>
            </a:pPr>
            <a:r>
              <a:rPr lang="en-US" sz="3800" dirty="0" smtClean="0"/>
              <a:t>	Internet </a:t>
            </a:r>
            <a:r>
              <a:rPr lang="en-US" sz="3800" dirty="0"/>
              <a:t>connection for accessing documentation and AI services.</a:t>
            </a:r>
          </a:p>
          <a:p>
            <a:pPr>
              <a:buNone/>
            </a:pPr>
            <a:r>
              <a:rPr lang="en-US" sz="3800" dirty="0" smtClean="0"/>
              <a:t>	Keyboard </a:t>
            </a:r>
            <a:r>
              <a:rPr lang="en-US" sz="3800" dirty="0"/>
              <a:t>and mouse for development work</a:t>
            </a:r>
            <a:r>
              <a:rPr lang="en-US" sz="3800" dirty="0" smtClean="0"/>
              <a:t>.</a:t>
            </a:r>
          </a:p>
          <a:p>
            <a:endParaRPr lang="en-US" sz="3800" dirty="0"/>
          </a:p>
          <a:p>
            <a:pPr marL="0" indent="0">
              <a:buNone/>
            </a:pPr>
            <a:r>
              <a:rPr lang="en-US" sz="3800" b="1" dirty="0"/>
              <a:t>3. Supporting Resources</a:t>
            </a:r>
          </a:p>
          <a:p>
            <a:pPr>
              <a:buNone/>
            </a:pPr>
            <a:r>
              <a:rPr lang="en-US" sz="3800" dirty="0" smtClean="0"/>
              <a:t>	Python </a:t>
            </a:r>
            <a:r>
              <a:rPr lang="en-US" sz="3800" dirty="0"/>
              <a:t>programming language.</a:t>
            </a:r>
          </a:p>
          <a:p>
            <a:pPr>
              <a:buNone/>
            </a:pPr>
            <a:r>
              <a:rPr lang="en-US" sz="3800" dirty="0" smtClean="0"/>
              <a:t>	NLP </a:t>
            </a:r>
            <a:r>
              <a:rPr lang="en-US" sz="3800" dirty="0"/>
              <a:t>libraries and tools.</a:t>
            </a:r>
          </a:p>
          <a:p>
            <a:pPr>
              <a:buNone/>
            </a:pPr>
            <a:r>
              <a:rPr lang="en-US" sz="3800" dirty="0" smtClean="0"/>
              <a:t>	</a:t>
            </a:r>
            <a:r>
              <a:rPr lang="en-US" sz="3800" dirty="0" err="1" smtClean="0"/>
              <a:t>MongoDB</a:t>
            </a:r>
            <a:r>
              <a:rPr lang="en-US" sz="3800" dirty="0" smtClean="0"/>
              <a:t> </a:t>
            </a:r>
            <a:r>
              <a:rPr lang="en-US" sz="3800" dirty="0"/>
              <a:t>for data storage, if implemented.</a:t>
            </a:r>
          </a:p>
          <a:p>
            <a:pPr>
              <a:buNone/>
            </a:pPr>
            <a:r>
              <a:rPr lang="en-US" sz="3800" dirty="0" smtClean="0"/>
              <a:t>	HTML </a:t>
            </a:r>
            <a:r>
              <a:rPr lang="en-US" sz="3800" dirty="0"/>
              <a:t>and CSS for interface development.</a:t>
            </a:r>
          </a:p>
          <a:p>
            <a:pPr>
              <a:buNone/>
            </a:pPr>
            <a:r>
              <a:rPr lang="en-US" sz="3800" dirty="0" smtClean="0"/>
              <a:t>	Visual </a:t>
            </a:r>
            <a:r>
              <a:rPr lang="en-US" sz="3800" dirty="0"/>
              <a:t>Studio Code or a similar code editor.</a:t>
            </a:r>
          </a:p>
          <a:p>
            <a:pPr>
              <a:buNone/>
            </a:pPr>
            <a:r>
              <a:rPr lang="en-US" sz="3800" dirty="0" smtClean="0"/>
              <a:t>	Research </a:t>
            </a:r>
            <a:r>
              <a:rPr lang="en-US" sz="3800" dirty="0"/>
              <a:t>papers and technical documentation related to AI and UI/UX design.</a:t>
            </a:r>
            <a:endParaRPr lang="en-US"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B1CD3E-C74F-420C-BD9A-E0313EDF2E77}"/>
              </a:ext>
            </a:extLst>
          </p:cNvPr>
          <p:cNvSpPr>
            <a:spLocks noGrp="1"/>
          </p:cNvSpPr>
          <p:nvPr>
            <p:ph type="title"/>
          </p:nvPr>
        </p:nvSpPr>
        <p:spPr>
          <a:ln w="28575">
            <a:solidFill>
              <a:schemeClr val="accent1"/>
            </a:solidFill>
          </a:ln>
        </p:spPr>
        <p:txBody>
          <a:bodyPr>
            <a:normAutofit/>
          </a:bodyPr>
          <a:lstStyle/>
          <a:p>
            <a:r>
              <a:rPr lang="en-US" dirty="0" smtClean="0"/>
              <a:t>Bibliography</a:t>
            </a:r>
            <a:endParaRPr lang="en-US" dirty="0"/>
          </a:p>
        </p:txBody>
      </p:sp>
      <p:sp>
        <p:nvSpPr>
          <p:cNvPr id="3" name="Content Placeholder 2">
            <a:extLst>
              <a:ext uri="{FF2B5EF4-FFF2-40B4-BE49-F238E27FC236}">
                <a16:creationId xmlns:a16="http://schemas.microsoft.com/office/drawing/2014/main" xmlns="" id="{C8C1F963-92E9-4553-8803-B0DDEE98DFC4}"/>
              </a:ext>
            </a:extLst>
          </p:cNvPr>
          <p:cNvSpPr>
            <a:spLocks noGrp="1"/>
          </p:cNvSpPr>
          <p:nvPr>
            <p:ph idx="1"/>
          </p:nvPr>
        </p:nvSpPr>
        <p:spPr>
          <a:ln w="28575">
            <a:solidFill>
              <a:schemeClr val="accent1"/>
            </a:solidFill>
          </a:ln>
        </p:spPr>
        <p:txBody>
          <a:bodyPr>
            <a:normAutofit/>
          </a:bodyPr>
          <a:lstStyle/>
          <a:p>
            <a:pPr marL="0" indent="0">
              <a:buNone/>
            </a:pPr>
            <a:r>
              <a:rPr lang="en-US" sz="1800" b="1" dirty="0"/>
              <a:t>Books</a:t>
            </a:r>
          </a:p>
          <a:p>
            <a:r>
              <a:rPr lang="en-US" sz="1800" dirty="0"/>
              <a:t>Natural Language Processing — reference material on language processing techniques.</a:t>
            </a:r>
          </a:p>
          <a:p>
            <a:r>
              <a:rPr lang="en-US" sz="1800" dirty="0"/>
              <a:t>Artificial Intelligence: A Modern Approach — Stuart Russell and Peter </a:t>
            </a:r>
            <a:r>
              <a:rPr lang="en-US" sz="1800" dirty="0" err="1"/>
              <a:t>Norvig</a:t>
            </a:r>
            <a:r>
              <a:rPr lang="en-US" sz="1800" dirty="0"/>
              <a:t>.</a:t>
            </a:r>
          </a:p>
          <a:p>
            <a:r>
              <a:rPr lang="en-US" sz="1800" dirty="0"/>
              <a:t>Software Engineering — Ian </a:t>
            </a:r>
            <a:r>
              <a:rPr lang="en-US" sz="1800" dirty="0" err="1"/>
              <a:t>Sommerville</a:t>
            </a:r>
            <a:r>
              <a:rPr lang="en-US" sz="1800" dirty="0"/>
              <a:t>.</a:t>
            </a:r>
          </a:p>
          <a:p>
            <a:r>
              <a:rPr lang="en-US" sz="1800" dirty="0"/>
              <a:t>Reference materials on user interface and user experience design.</a:t>
            </a:r>
          </a:p>
          <a:p>
            <a:pPr marL="0" indent="0">
              <a:buNone/>
            </a:pPr>
            <a:r>
              <a:rPr lang="en-US" sz="1800" b="1" dirty="0"/>
              <a:t>Websites</a:t>
            </a:r>
          </a:p>
          <a:p>
            <a:r>
              <a:rPr lang="en-US" sz="1800" dirty="0"/>
              <a:t>Python Official Website – </a:t>
            </a:r>
            <a:r>
              <a:rPr lang="en-US" sz="1800" dirty="0">
                <a:hlinkClick r:id="rId2"/>
              </a:rPr>
              <a:t>https://</a:t>
            </a:r>
            <a:r>
              <a:rPr lang="en-US" sz="1800" dirty="0" smtClean="0">
                <a:hlinkClick r:id="rId2"/>
              </a:rPr>
              <a:t>www.python.org</a:t>
            </a:r>
            <a:endParaRPr lang="en-US" sz="1800" dirty="0"/>
          </a:p>
          <a:p>
            <a:r>
              <a:rPr lang="en-US" sz="1800" dirty="0"/>
              <a:t>Python Documentation – </a:t>
            </a:r>
            <a:r>
              <a:rPr lang="en-US" sz="1800" dirty="0">
                <a:hlinkClick r:id="rId3"/>
              </a:rPr>
              <a:t>https://</a:t>
            </a:r>
            <a:r>
              <a:rPr lang="en-US" sz="1800" dirty="0" smtClean="0">
                <a:hlinkClick r:id="rId3"/>
              </a:rPr>
              <a:t>docs.python.org/3</a:t>
            </a:r>
            <a:endParaRPr lang="en-US" sz="1800" dirty="0"/>
          </a:p>
          <a:p>
            <a:r>
              <a:rPr lang="en-US" sz="1800" dirty="0" err="1"/>
              <a:t>MongoDB</a:t>
            </a:r>
            <a:r>
              <a:rPr lang="en-US" sz="1800" dirty="0"/>
              <a:t> Official Website – </a:t>
            </a:r>
            <a:r>
              <a:rPr lang="en-US" sz="1800" dirty="0">
                <a:hlinkClick r:id="rId4"/>
              </a:rPr>
              <a:t>https://</a:t>
            </a:r>
            <a:r>
              <a:rPr lang="en-US" sz="1800" dirty="0" smtClean="0">
                <a:hlinkClick r:id="rId4"/>
              </a:rPr>
              <a:t>www.mongodb.com</a:t>
            </a:r>
            <a:endParaRPr lang="en-US" sz="1800" dirty="0"/>
          </a:p>
          <a:p>
            <a:r>
              <a:rPr lang="en-US" sz="1800" dirty="0"/>
              <a:t>Natural Language Toolkit (NLTK) – </a:t>
            </a:r>
            <a:r>
              <a:rPr lang="en-US" sz="1800" dirty="0">
                <a:hlinkClick r:id="rId5"/>
              </a:rPr>
              <a:t>https://</a:t>
            </a:r>
            <a:r>
              <a:rPr lang="en-US" sz="1800" dirty="0" smtClean="0">
                <a:hlinkClick r:id="rId5"/>
              </a:rPr>
              <a:t>www.nltk.org</a:t>
            </a:r>
            <a:endParaRPr lang="en-US" sz="1800" dirty="0"/>
          </a:p>
          <a:p>
            <a:pPr marL="0" indent="0">
              <a:buNone/>
            </a:pPr>
            <a:endParaRPr lang="en-US" sz="1800" dirty="0"/>
          </a:p>
          <a:p>
            <a:pPr marL="0" indent="0">
              <a:buNone/>
            </a:pPr>
            <a:endParaRPr lang="en-US" sz="1800" dirty="0"/>
          </a:p>
          <a:p>
            <a:pPr marL="0" indent="0">
              <a:buNone/>
            </a:pPr>
            <a:endParaRPr lang="en-US" sz="18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17</a:t>
            </a:fld>
            <a:endParaRPr lang="en-US"/>
          </a:p>
        </p:txBody>
      </p:sp>
    </p:spTree>
    <p:extLst>
      <p:ext uri="{BB962C8B-B14F-4D97-AF65-F5344CB8AC3E}">
        <p14:creationId xmlns:p14="http://schemas.microsoft.com/office/powerpoint/2010/main" val="40504227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47500" lnSpcReduction="20000"/>
          </a:bodyPr>
          <a:lstStyle/>
          <a:p>
            <a:pPr marL="514350" indent="-514350" algn="just">
              <a:buFont typeface="+mj-lt"/>
              <a:buAutoNum type="arabicPeriod"/>
            </a:pPr>
            <a:r>
              <a:rPr lang="en-US" dirty="0" smtClean="0"/>
              <a:t>F. Huang, G. Li, X. Zhou, J. F. Canny, and Y. Li, “Creating User Interface Mock-ups from High-Level Text Descriptions with Deep-Learning Models,” </a:t>
            </a:r>
            <a:r>
              <a:rPr lang="en-US" dirty="0" err="1" smtClean="0"/>
              <a:t>arXiv</a:t>
            </a:r>
            <a:r>
              <a:rPr lang="en-US" dirty="0" smtClean="0"/>
              <a:t> preprint arXiv:2110.07775, 2021. [Online]. Available: https://arxiv.org/abs/2110.07775 </a:t>
            </a:r>
          </a:p>
          <a:p>
            <a:pPr marL="514350" indent="-514350" algn="just">
              <a:buFont typeface="+mj-lt"/>
              <a:buAutoNum type="arabicPeriod"/>
            </a:pPr>
            <a:endParaRPr lang="en-US" dirty="0" smtClean="0"/>
          </a:p>
          <a:p>
            <a:pPr marL="514350" indent="-514350" algn="just">
              <a:buFont typeface="+mj-lt"/>
              <a:buAutoNum type="arabicPeriod"/>
            </a:pPr>
            <a:r>
              <a:rPr lang="en-US" dirty="0" smtClean="0"/>
              <a:t>K. </a:t>
            </a:r>
            <a:r>
              <a:rPr lang="en-US" dirty="0" err="1" smtClean="0"/>
              <a:t>Kolthoff</a:t>
            </a:r>
            <a:r>
              <a:rPr lang="en-US" dirty="0" smtClean="0"/>
              <a:t>, C. </a:t>
            </a:r>
            <a:r>
              <a:rPr lang="en-US" dirty="0" err="1" smtClean="0"/>
              <a:t>Bartelt</a:t>
            </a:r>
            <a:r>
              <a:rPr lang="en-US" dirty="0" smtClean="0"/>
              <a:t>, and S. P. </a:t>
            </a:r>
            <a:r>
              <a:rPr lang="en-US" dirty="0" err="1" smtClean="0"/>
              <a:t>Ponzetto</a:t>
            </a:r>
            <a:r>
              <a:rPr lang="en-US" dirty="0" smtClean="0"/>
              <a:t>, “Data-driven prototyping via natural-language-based GUI retrieval,” Automated Software Engineering, vol. 30, Art. no. 13, 2023. [Online]. Available: https://doi.org/10.1007/s10515-023-00377-x </a:t>
            </a:r>
          </a:p>
          <a:p>
            <a:pPr marL="514350" indent="-514350" algn="just">
              <a:buFont typeface="+mj-lt"/>
              <a:buAutoNum type="arabicPeriod"/>
            </a:pPr>
            <a:endParaRPr lang="en-US" dirty="0" smtClean="0"/>
          </a:p>
          <a:p>
            <a:pPr marL="514350" indent="-514350" algn="just">
              <a:buFont typeface="+mj-lt"/>
              <a:buAutoNum type="arabicPeriod"/>
            </a:pPr>
            <a:r>
              <a:rPr lang="en-US" dirty="0" smtClean="0"/>
              <a:t>L. Sun, “AI-assisted UI design: Enhancing efficiency and creativity through generative tools,” Journal of Computer Technology and Applied Mathematics, vol. 3, no. 1, 2026. [Online]. Available: https://doi.org/10.70393/6a6374616d.333638 </a:t>
            </a:r>
          </a:p>
          <a:p>
            <a:pPr marL="514350" indent="-514350" algn="just">
              <a:buFont typeface="+mj-lt"/>
              <a:buAutoNum type="arabicPeriod"/>
            </a:pPr>
            <a:endParaRPr lang="en-US" dirty="0" smtClean="0"/>
          </a:p>
          <a:p>
            <a:pPr marL="514350" indent="-514350" algn="just">
              <a:buFont typeface="+mj-lt"/>
              <a:buAutoNum type="arabicPeriod"/>
            </a:pPr>
            <a:r>
              <a:rPr lang="en-US" dirty="0" smtClean="0"/>
              <a:t>M. Yuan et al., “Towards Human-AI Synergy in UI Design: Enhancing Multi-Agent Based UI Generation with Intent Clarification and Alignment,” </a:t>
            </a:r>
            <a:r>
              <a:rPr lang="en-US" dirty="0" err="1" smtClean="0"/>
              <a:t>arXiv</a:t>
            </a:r>
            <a:r>
              <a:rPr lang="en-US" dirty="0" smtClean="0"/>
              <a:t> preprint arXiv:2412.20071, 2024. [Online]. Available: https://arxiv.org/abs/2412.20071 </a:t>
            </a:r>
          </a:p>
          <a:p>
            <a:pPr marL="514350" indent="-514350" algn="just">
              <a:buFont typeface="+mj-lt"/>
              <a:buAutoNum type="arabicPeriod"/>
            </a:pPr>
            <a:endParaRPr lang="en-US" dirty="0" smtClean="0"/>
          </a:p>
          <a:p>
            <a:pPr marL="514350" indent="-514350" algn="just">
              <a:buFont typeface="+mj-lt"/>
              <a:buAutoNum type="arabicPeriod"/>
            </a:pPr>
            <a:r>
              <a:rPr lang="en-US" dirty="0" smtClean="0"/>
              <a:t>X. </a:t>
            </a:r>
            <a:r>
              <a:rPr lang="en-US" dirty="0" err="1" smtClean="0"/>
              <a:t>Feng</a:t>
            </a:r>
            <a:r>
              <a:rPr lang="en-US" dirty="0" smtClean="0"/>
              <a:t>, H. Du, J. Ma, H. Wang, L. Zhou, and M. Wang, “Crafting User-Centric Prompts for UI Generations Based on </a:t>
            </a:r>
            <a:r>
              <a:rPr lang="en-US" dirty="0" err="1" smtClean="0"/>
              <a:t>Kansei</a:t>
            </a:r>
            <a:r>
              <a:rPr lang="en-US" dirty="0" smtClean="0"/>
              <a:t> Engineering and Knowledge Graph,” 2025. [Online]. Available: https://doi.org/10.1016/j.aei.2025.103217 </a:t>
            </a:r>
          </a:p>
          <a:p>
            <a:pPr marL="514350" indent="-514350" algn="just">
              <a:buFont typeface="+mj-lt"/>
              <a:buAutoNum type="arabicPeriod"/>
            </a:pPr>
            <a:endParaRPr lang="en-US" dirty="0" smtClean="0"/>
          </a:p>
          <a:p>
            <a:pPr marL="514350" indent="-514350" algn="just">
              <a:buFont typeface="+mj-lt"/>
              <a:buAutoNum type="arabicPeriod"/>
            </a:pPr>
            <a:r>
              <a:rPr lang="en-US" dirty="0" smtClean="0"/>
              <a:t>T. Zhang, F. </a:t>
            </a:r>
            <a:r>
              <a:rPr lang="en-US" dirty="0" err="1" smtClean="0"/>
              <a:t>Peiguo</a:t>
            </a:r>
            <a:r>
              <a:rPr lang="en-US" dirty="0" smtClean="0"/>
              <a:t>, J. Liu, Y. Zhang, and X. Chen, “</a:t>
            </a:r>
            <a:r>
              <a:rPr lang="en-US" dirty="0" err="1" smtClean="0"/>
              <a:t>NLDesign</a:t>
            </a:r>
            <a:r>
              <a:rPr lang="en-US" dirty="0" smtClean="0"/>
              <a:t>: A UI Design Tool for Natural Language Interfaces,” 2024. [Online]. Available: https://doi.org/10.1145/3674399.3674455 </a:t>
            </a:r>
          </a:p>
          <a:p>
            <a:pPr algn="just"/>
            <a:endParaRPr lang="en-US" dirty="0" smtClean="0"/>
          </a:p>
        </p:txBody>
      </p:sp>
      <p:sp>
        <p:nvSpPr>
          <p:cNvPr id="4" name="Slide Number Placeholder 3"/>
          <p:cNvSpPr>
            <a:spLocks noGrp="1"/>
          </p:cNvSpPr>
          <p:nvPr>
            <p:ph type="sldNum" sz="quarter" idx="12"/>
          </p:nvPr>
        </p:nvSpPr>
        <p:spPr/>
        <p:txBody>
          <a:bodyPr/>
          <a:lstStyle/>
          <a:p>
            <a:fld id="{4AF1F8D0-972F-472E-AFE5-1F27E299DB0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fontScale="32500" lnSpcReduction="20000"/>
          </a:bodyPr>
          <a:lstStyle/>
          <a:p>
            <a:pPr marL="514350" indent="-514350">
              <a:buNone/>
            </a:pPr>
            <a:r>
              <a:rPr lang="en-US" dirty="0" smtClean="0"/>
              <a:t>5</a:t>
            </a:r>
            <a:r>
              <a:rPr lang="en-US" sz="4500" dirty="0" smtClean="0"/>
              <a:t>.        Y. Cao, P. Jiang, and H. Xia, “Generative and Malleable User Interfaces with Generative and Evolving Task-Driven Data Model,” in Proc. CHI Conference on Human Factors in Computing Systems (CHI ’25), 2025. [Online]. Available: https://doi.org/10.1145/3706598.3713285 </a:t>
            </a:r>
          </a:p>
          <a:p>
            <a:pPr marL="514350" indent="-514350">
              <a:buFont typeface="+mj-lt"/>
              <a:buAutoNum type="arabicPeriod"/>
            </a:pPr>
            <a:endParaRPr lang="en-US" sz="4500" dirty="0" smtClean="0"/>
          </a:p>
          <a:p>
            <a:pPr marL="514350" indent="-514350">
              <a:buNone/>
            </a:pPr>
            <a:r>
              <a:rPr lang="en-US" sz="4500" dirty="0" smtClean="0"/>
              <a:t>6.        T. </a:t>
            </a:r>
            <a:r>
              <a:rPr lang="en-US" sz="4500" dirty="0" err="1" smtClean="0"/>
              <a:t>Calò</a:t>
            </a:r>
            <a:r>
              <a:rPr lang="en-US" sz="4500" dirty="0" smtClean="0"/>
              <a:t>, A. </a:t>
            </a:r>
            <a:r>
              <a:rPr lang="en-US" sz="4500" dirty="0" err="1" smtClean="0"/>
              <a:t>Sillano</a:t>
            </a:r>
            <a:r>
              <a:rPr lang="en-US" sz="4500" dirty="0" smtClean="0"/>
              <a:t>, and L. De </a:t>
            </a:r>
            <a:r>
              <a:rPr lang="en-US" sz="4500" dirty="0" err="1" smtClean="0"/>
              <a:t>Russis</a:t>
            </a:r>
            <a:r>
              <a:rPr lang="en-US" sz="4500" dirty="0" smtClean="0"/>
              <a:t>, “</a:t>
            </a:r>
            <a:r>
              <a:rPr lang="en-US" sz="4500" dirty="0" err="1" smtClean="0"/>
              <a:t>MorphGUI</a:t>
            </a:r>
            <a:r>
              <a:rPr lang="en-US" sz="4500" dirty="0" smtClean="0"/>
              <a:t>: Real-time GUIs customization with large language models,” International Journal of Human-Computer Studies, 2026. [Online]. Available: https://doi.org/10.1016/j.ijhcs.2025.103695 </a:t>
            </a:r>
          </a:p>
          <a:p>
            <a:pPr marL="514350" indent="-514350">
              <a:buFont typeface="+mj-lt"/>
              <a:buAutoNum type="arabicPeriod"/>
            </a:pPr>
            <a:endParaRPr lang="en-US" sz="4500" dirty="0" smtClean="0"/>
          </a:p>
          <a:p>
            <a:pPr marL="514350" indent="-514350">
              <a:buNone/>
            </a:pPr>
            <a:r>
              <a:rPr lang="en-US" sz="4500" dirty="0" smtClean="0"/>
              <a:t>7.       “</a:t>
            </a:r>
            <a:r>
              <a:rPr lang="en-US" sz="4500" dirty="0" err="1" smtClean="0"/>
              <a:t>DesignCoder</a:t>
            </a:r>
            <a:r>
              <a:rPr lang="en-US" sz="4500" dirty="0" smtClean="0"/>
              <a:t>: Hierarchy-aware and self-correcting UI code generation with large language models,” Information and Software Technology, vol. 198, Oct. 2026. [Online]. Available: https://doi.org/10.1016/j.infsof.2026.108214 </a:t>
            </a:r>
          </a:p>
          <a:p>
            <a:pPr marL="514350" indent="-514350">
              <a:buFont typeface="+mj-lt"/>
              <a:buAutoNum type="arabicPeriod"/>
            </a:pPr>
            <a:endParaRPr lang="en-US" sz="4500" dirty="0" smtClean="0"/>
          </a:p>
          <a:p>
            <a:pPr marL="514350" indent="-514350">
              <a:buNone/>
            </a:pPr>
            <a:r>
              <a:rPr lang="en-US" sz="4500" dirty="0" smtClean="0"/>
              <a:t>8.        F. Wu, C. </a:t>
            </a:r>
            <a:r>
              <a:rPr lang="en-US" sz="4500" dirty="0" err="1" smtClean="0"/>
              <a:t>Gao</a:t>
            </a:r>
            <a:r>
              <a:rPr lang="en-US" sz="4500" dirty="0" smtClean="0"/>
              <a:t>, S. Li, X.-C. </a:t>
            </a:r>
            <a:r>
              <a:rPr lang="en-US" sz="4500" dirty="0" err="1" smtClean="0"/>
              <a:t>Wen</a:t>
            </a:r>
            <a:r>
              <a:rPr lang="en-US" sz="4500" dirty="0" smtClean="0"/>
              <a:t>, and Q. Liao, “MLLM-Based UI2Code Automation Guided by UI Layout Information,” </a:t>
            </a:r>
            <a:r>
              <a:rPr lang="en-US" sz="4500" dirty="0" err="1" smtClean="0"/>
              <a:t>arXiv</a:t>
            </a:r>
            <a:r>
              <a:rPr lang="en-US" sz="4500" dirty="0" smtClean="0"/>
              <a:t> preprint arXiv:2506.10376, 2025. [Online]. Available: https://arxiv.org/abs/2506.10376 </a:t>
            </a:r>
          </a:p>
          <a:p>
            <a:pPr marL="514350" indent="-514350">
              <a:buFont typeface="+mj-lt"/>
              <a:buAutoNum type="arabicPeriod"/>
            </a:pPr>
            <a:endParaRPr lang="en-US" sz="4500" dirty="0" smtClean="0"/>
          </a:p>
          <a:p>
            <a:pPr marL="514350" indent="-514350">
              <a:buNone/>
            </a:pPr>
            <a:r>
              <a:rPr lang="en-US" sz="4500" dirty="0" smtClean="0"/>
              <a:t>9.        Z. Yang et al., “UI2Code^N: A Visual Language Model for Test-Time Scalable Interactive UI-to Code Generation,” </a:t>
            </a:r>
            <a:r>
              <a:rPr lang="en-US" sz="4500" dirty="0" err="1" smtClean="0"/>
              <a:t>arXiv</a:t>
            </a:r>
            <a:r>
              <a:rPr lang="en-US" sz="4500" dirty="0" smtClean="0"/>
              <a:t> preprint arXiv:2511.08195, 2025. [Online]. Available: https://arxiv.org/abs/2511.08195 </a:t>
            </a:r>
          </a:p>
          <a:p>
            <a:pPr marL="514350" indent="-514350">
              <a:buFont typeface="+mj-lt"/>
              <a:buAutoNum type="arabicPeriod"/>
            </a:pPr>
            <a:endParaRPr lang="en-US" sz="4500" dirty="0" smtClean="0"/>
          </a:p>
          <a:p>
            <a:pPr marL="514350" indent="-514350">
              <a:buNone/>
            </a:pPr>
            <a:r>
              <a:rPr lang="en-US" sz="4500" dirty="0" smtClean="0"/>
              <a:t>10.      Y. </a:t>
            </a:r>
            <a:r>
              <a:rPr lang="en-US" sz="4500" dirty="0" err="1" smtClean="0"/>
              <a:t>Xu</a:t>
            </a:r>
            <a:r>
              <a:rPr lang="en-US" sz="4500" dirty="0" smtClean="0"/>
              <a:t>, Y. Liu, H. </a:t>
            </a:r>
            <a:r>
              <a:rPr lang="en-US" sz="4500" dirty="0" err="1" smtClean="0"/>
              <a:t>Xu</a:t>
            </a:r>
            <a:r>
              <a:rPr lang="en-US" sz="4500" dirty="0" smtClean="0"/>
              <a:t>, and H. Tan, “AI-driven UX/UI design: Empirical research and applications in </a:t>
            </a:r>
            <a:r>
              <a:rPr lang="en-US" sz="4500" dirty="0" err="1" smtClean="0"/>
              <a:t>FinTech</a:t>
            </a:r>
            <a:r>
              <a:rPr lang="en-US" sz="4500" dirty="0" smtClean="0"/>
              <a:t>,” International Journal of Innovative Research in Computer Science and Technology, vol. 12, no. 4, pp. 99–109, Jul. 2024. [Online]. Available: https://doi.org/10.55524/ijircst.2024.12.4.16</a:t>
            </a:r>
          </a:p>
          <a:p>
            <a:pPr marL="514350" indent="-514350">
              <a:buFont typeface="+mj-lt"/>
              <a:buAutoNum type="arabicPeriod"/>
            </a:pPr>
            <a:endParaRPr lang="en-US" sz="45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905D240A-E601-4D59-96FD-F7BC6247F306}"/>
              </a:ext>
            </a:extLst>
          </p:cNvPr>
          <p:cNvSpPr/>
          <p:nvPr/>
        </p:nvSpPr>
        <p:spPr>
          <a:xfrm>
            <a:off x="1447801" y="2810112"/>
            <a:ext cx="6248399" cy="1200329"/>
          </a:xfrm>
          <a:prstGeom prst="rect">
            <a:avLst/>
          </a:prstGeom>
          <a:noFill/>
          <a:ln w="28575">
            <a:solidFill>
              <a:schemeClr val="accent1"/>
            </a:solidFill>
          </a:ln>
        </p:spPr>
        <p:txBody>
          <a:bodyPr wrap="square" lIns="91440" tIns="45720" rIns="91440" bIns="45720">
            <a:spAutoFit/>
          </a:bodyPr>
          <a:lstStyle/>
          <a:p>
            <a:pPr algn="ctr"/>
            <a:r>
              <a:rPr lang="en-US" sz="7200" dirty="0">
                <a:ln w="0"/>
                <a:effectLst>
                  <a:outerShdw blurRad="38100" dist="19050" dir="2700000" algn="tl" rotWithShape="0">
                    <a:schemeClr val="dk1">
                      <a:alpha val="40000"/>
                    </a:schemeClr>
                  </a:outerShdw>
                </a:effectLst>
              </a:rPr>
              <a:t>Thank you</a:t>
            </a:r>
          </a:p>
        </p:txBody>
      </p:sp>
      <p:sp>
        <p:nvSpPr>
          <p:cNvPr id="4" name="Slide Number Placeholder 3"/>
          <p:cNvSpPr>
            <a:spLocks noGrp="1"/>
          </p:cNvSpPr>
          <p:nvPr>
            <p:ph type="sldNum" sz="quarter" idx="12"/>
          </p:nvPr>
        </p:nvSpPr>
        <p:spPr/>
        <p:txBody>
          <a:bodyPr/>
          <a:lstStyle/>
          <a:p>
            <a:fld id="{4AF1F8D0-972F-472E-AFE5-1F27E299DB0B}" type="slidenum">
              <a:rPr lang="en-US" smtClean="0"/>
              <a:pPr/>
              <a:t>20</a:t>
            </a:fld>
            <a:endParaRPr lang="en-US"/>
          </a:p>
        </p:txBody>
      </p:sp>
    </p:spTree>
    <p:extLst>
      <p:ext uri="{BB962C8B-B14F-4D97-AF65-F5344CB8AC3E}">
        <p14:creationId xmlns:p14="http://schemas.microsoft.com/office/powerpoint/2010/main" val="3212743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B45C23AA495248876994551EBC0B0D" ma:contentTypeVersion="6" ma:contentTypeDescription="Create a new document." ma:contentTypeScope="" ma:versionID="79eb160fa61b479c849f569640ab7fda">
  <xsd:schema xmlns:xsd="http://www.w3.org/2001/XMLSchema" xmlns:xs="http://www.w3.org/2001/XMLSchema" xmlns:p="http://schemas.microsoft.com/office/2006/metadata/properties" xmlns:ns2="05e192a1-976a-4ea8-b7f3-58c86a22ffe4" targetNamespace="http://schemas.microsoft.com/office/2006/metadata/properties" ma:root="true" ma:fieldsID="ad5e13a2b368e1adc336d9fe921cd917" ns2:_="">
    <xsd:import namespace="05e192a1-976a-4ea8-b7f3-58c86a22ffe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e192a1-976a-4ea8-b7f3-58c86a22ff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B96158-47AC-4B87-8B3C-D13EC7A9D122}">
  <ds:schemaRefs>
    <ds:schemaRef ds:uri="http://purl.org/dc/terms/"/>
    <ds:schemaRef ds:uri="http://schemas.openxmlformats.org/package/2006/metadata/core-properties"/>
    <ds:schemaRef ds:uri="http://schemas.microsoft.com/office/2006/documentManagement/types"/>
    <ds:schemaRef ds:uri="http://purl.org/dc/dcmitype/"/>
    <ds:schemaRef ds:uri="05e192a1-976a-4ea8-b7f3-58c86a22ffe4"/>
    <ds:schemaRef ds:uri="http://purl.org/dc/elements/1.1/"/>
    <ds:schemaRef ds:uri="http://schemas.microsoft.com/office/2006/metadata/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65F70FD7-F058-458D-A9D8-BACA9DA867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e192a1-976a-4ea8-b7f3-58c86a22ff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A14DBB-52E1-4F10-9F3F-60AA0AB20D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1169</TotalTime>
  <Words>1623</Words>
  <Application>Microsoft Office PowerPoint</Application>
  <PresentationFormat>On-screen Show (4:3)</PresentationFormat>
  <Paragraphs>317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MS Mincho</vt:lpstr>
      <vt:lpstr>Times New Roman</vt:lpstr>
      <vt:lpstr>Office Theme</vt:lpstr>
      <vt:lpstr>PowerPoint Presentation</vt:lpstr>
      <vt:lpstr>Contents</vt:lpstr>
      <vt:lpstr>Abstract</vt:lpstr>
      <vt:lpstr>1. Introduction</vt:lpstr>
      <vt:lpstr>2. Literature Survey</vt:lpstr>
      <vt:lpstr>PowerPoint Presentation</vt:lpstr>
      <vt:lpstr>PowerPoint Presentation</vt:lpstr>
      <vt:lpstr>PowerPoint Presentation</vt:lpstr>
      <vt:lpstr>3. Information to seminar topic</vt:lpstr>
      <vt:lpstr>4. Advantages / Disadvantages</vt:lpstr>
      <vt:lpstr>5. Conclusion</vt:lpstr>
      <vt:lpstr>6. Project Initiation</vt:lpstr>
      <vt:lpstr>6(a) Problem Statement</vt:lpstr>
      <vt:lpstr>6(b) Scope and Objective</vt:lpstr>
      <vt:lpstr>6(c) Stake holders</vt:lpstr>
      <vt:lpstr>6(d) Platform / Equipment / Resources identification</vt:lpstr>
      <vt:lpstr>Bibliography</vt:lpstr>
      <vt:lpstr>References</vt:lpstr>
      <vt:lpstr>References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ssvps</dc:creator>
  <cp:lastModifiedBy>Admin</cp:lastModifiedBy>
  <cp:revision>101</cp:revision>
  <dcterms:created xsi:type="dcterms:W3CDTF">2015-09-18T08:45:14Z</dcterms:created>
  <dcterms:modified xsi:type="dcterms:W3CDTF">2026-10-16T08:38:24Z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0x0101008FB45C23AA495248876994551EBC0B0D</vt:lpwstr>
  </property>
</Properties>
</file>