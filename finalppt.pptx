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1"/>
  </p:notesMasterIdLst>
  <p:sldIdLst>
    <p:sldId id="256" r:id="rId5"/>
    <p:sldId id="299" r:id="rId6"/>
    <p:sldId id="288" r:id="rId7"/>
    <p:sldId id="298" r:id="rId8"/>
    <p:sldId id="306" r:id="rId9"/>
    <p:sldId id="289" r:id="rId10"/>
    <p:sldId id="290" r:id="rId11"/>
    <p:sldId id="291" r:id="rId12"/>
    <p:sldId id="292" r:id="rId13"/>
    <p:sldId id="300" r:id="rId14"/>
    <p:sldId id="301" r:id="rId15"/>
    <p:sldId id="302" r:id="rId16"/>
    <p:sldId id="303" r:id="rId17"/>
    <p:sldId id="286" r:id="rId18"/>
    <p:sldId id="304" r:id="rId19"/>
    <p:sldId id="276"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D3E1406F-3E0B-4A76-BC53-D38CF81A0145}">
          <p14:sldIdLst>
            <p14:sldId id="256"/>
            <p14:sldId id="299"/>
            <p14:sldId id="288"/>
            <p14:sldId id="298"/>
            <p14:sldId id="306"/>
            <p14:sldId id="289"/>
            <p14:sldId id="290"/>
            <p14:sldId id="291"/>
            <p14:sldId id="292"/>
            <p14:sldId id="300"/>
            <p14:sldId id="301"/>
            <p14:sldId id="302"/>
            <p14:sldId id="303"/>
            <p14:sldId id="286"/>
            <p14:sldId id="304"/>
            <p14:sldId id="27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5" d="100"/>
          <a:sy n="55" d="100"/>
        </p:scale>
        <p:origin x="1600"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88BA2-E329-49E8-A2CE-E0F8A4332C44}" type="datetimeFigureOut">
              <a:rPr lang="en-US" smtClean="0"/>
              <a:pPr/>
              <a:t>10/29/2026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7AF6FA-6E3A-44B1-85F9-6F12943D6755}" type="slidenum">
              <a:rPr lang="en-US" smtClean="0"/>
              <a:pPr/>
              <a:t>‹#›</a:t>
            </a:fld>
            <a:endParaRPr lang="en-US"/>
          </a:p>
        </p:txBody>
      </p:sp>
    </p:spTree>
    <p:extLst>
      <p:ext uri="{BB962C8B-B14F-4D97-AF65-F5344CB8AC3E}">
        <p14:creationId xmlns:p14="http://schemas.microsoft.com/office/powerpoint/2010/main" val="430911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918379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5A2CFAB-EAD8-48B6-877C-51B5044397D3}" type="datetime1">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style>
          <a:lnRef idx="2">
            <a:schemeClr val="accent1"/>
          </a:lnRef>
          <a:fillRef idx="1">
            <a:schemeClr val="lt1"/>
          </a:fillRef>
          <a:effectRef idx="0">
            <a:schemeClr val="accent1"/>
          </a:effectRef>
          <a:fontRef idx="minor">
            <a:schemeClr val="dk1"/>
          </a:fontRef>
        </p:style>
        <p:txBody>
          <a:bodyPr/>
          <a:lstStyle>
            <a:lvl1pPr>
              <a:defRPr>
                <a:solidFill>
                  <a:srgbClr val="002060"/>
                </a:solidFill>
              </a:defRPr>
            </a:lvl1pPr>
          </a:lstStyle>
          <a:p>
            <a:r>
              <a:rPr lang="en-US" dirty="0"/>
              <a:t>Click to edit Master title style</a:t>
            </a:r>
          </a:p>
        </p:txBody>
      </p:sp>
      <p:sp>
        <p:nvSpPr>
          <p:cNvPr id="3" name="Content Placeholder 2"/>
          <p:cNvSpPr>
            <a:spLocks noGrp="1"/>
          </p:cNvSpPr>
          <p:nvPr>
            <p:ph idx="1"/>
          </p:nvPr>
        </p:nvSpPr>
        <p:spPr>
          <a:xfrm>
            <a:off x="457200" y="1219200"/>
            <a:ext cx="8229600" cy="5334000"/>
          </a:xfrm>
        </p:spPr>
        <p:style>
          <a:lnRef idx="2">
            <a:schemeClr val="accent1"/>
          </a:lnRef>
          <a:fillRef idx="1">
            <a:schemeClr val="lt1"/>
          </a:fillRef>
          <a:effectRef idx="0">
            <a:schemeClr val="accent1"/>
          </a:effectRef>
          <a:fontRef idx="minor">
            <a:schemeClr val="dk1"/>
          </a:fontRef>
        </p:style>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style>
          <a:lnRef idx="2">
            <a:schemeClr val="accent1"/>
          </a:lnRef>
          <a:fillRef idx="1">
            <a:schemeClr val="lt1"/>
          </a:fillRef>
          <a:effectRef idx="0">
            <a:schemeClr val="accent1"/>
          </a:effectRef>
          <a:fontRef idx="minor">
            <a:schemeClr val="dk1"/>
          </a:fontRef>
        </p:style>
        <p:txBody>
          <a:bodyPr/>
          <a:lstStyle/>
          <a:p>
            <a:fld id="{8416966D-A0FB-4775-A5C9-29F4874A3325}" type="datetime1">
              <a:rPr lang="en-US" smtClean="0"/>
              <a:pPr/>
              <a:t>10/29/2026</a:t>
            </a:fld>
            <a:endParaRPr lang="en-US"/>
          </a:p>
        </p:txBody>
      </p:sp>
      <p:sp>
        <p:nvSpPr>
          <p:cNvPr id="5" name="Footer Placeholder 4"/>
          <p:cNvSpPr>
            <a:spLocks noGrp="1"/>
          </p:cNvSpPr>
          <p:nvPr>
            <p:ph type="ftr" sz="quarter" idx="11"/>
          </p:nvPr>
        </p:nvSpPr>
        <p:spPr/>
        <p:style>
          <a:lnRef idx="2">
            <a:schemeClr val="accent1"/>
          </a:lnRef>
          <a:fillRef idx="1">
            <a:schemeClr val="lt1"/>
          </a:fillRef>
          <a:effectRef idx="0">
            <a:schemeClr val="accent1"/>
          </a:effectRef>
          <a:fontRef idx="minor">
            <a:schemeClr val="dk1"/>
          </a:fontRef>
        </p:style>
        <p:txBody>
          <a:bodyPr/>
          <a:lstStyle/>
          <a:p>
            <a:endParaRPr lang="en-US"/>
          </a:p>
        </p:txBody>
      </p:sp>
      <p:sp>
        <p:nvSpPr>
          <p:cNvPr id="6" name="Slide Number Placeholder 5"/>
          <p:cNvSpPr>
            <a:spLocks noGrp="1"/>
          </p:cNvSpPr>
          <p:nvPr>
            <p:ph type="sldNum" sz="quarter" idx="12"/>
          </p:nvPr>
        </p:nvSpPr>
        <p:spPr>
          <a:xfrm>
            <a:off x="8411428" y="6356350"/>
            <a:ext cx="548640" cy="365125"/>
          </a:xfrm>
        </p:spPr>
        <p:style>
          <a:lnRef idx="2">
            <a:schemeClr val="accent1"/>
          </a:lnRef>
          <a:fillRef idx="1">
            <a:schemeClr val="lt1"/>
          </a:fillRef>
          <a:effectRef idx="0">
            <a:schemeClr val="accent1"/>
          </a:effectRef>
          <a:fontRef idx="minor">
            <a:schemeClr val="dk1"/>
          </a:fontRef>
        </p:style>
        <p:txBody>
          <a:bodyPr/>
          <a:lstStyle>
            <a:lvl1pPr algn="ctr">
              <a:defRPr/>
            </a:lvl1pPr>
          </a:lstStyle>
          <a:p>
            <a:fld id="{4AF1F8D0-972F-472E-AFE5-1F27E299DB0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785E2E-43E3-41AC-BE03-EA57F5AAE4DF}" type="datetime1">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A73DE89-DCBE-43AC-8131-C0E45E617E0F}" type="datetime1">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F5EB2E2-2776-4DF6-98AB-1D4F574FC524}" type="datetime1">
              <a:rPr lang="en-US" smtClean="0"/>
              <a:pPr/>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552B1B-6417-48E2-A01D-53C5473401D7}" type="datetime1">
              <a:rPr lang="en-US" smtClean="0"/>
              <a:pPr/>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33C0DC-0E7D-4A39-89F0-59F705A3D546}" type="datetime1">
              <a:rPr lang="en-US" smtClean="0"/>
              <a:pPr/>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0E1999-7F97-45AB-9004-44C592CE2741}" type="datetime1">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19A760-14F1-4C1A-A93A-35F0A33C2A95}" type="datetime1">
              <a:rPr lang="en-US" smtClean="0"/>
              <a:pPr/>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A323C3-32B4-47F9-9199-4F2415DD9DA6}" type="datetime1">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DF27A7-0C1F-4275-A9A8-72F104EEA568}" type="datetime1">
              <a:rPr lang="en-US" smtClean="0"/>
              <a:pPr/>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F8D0-972F-472E-AFE5-1F27E299DB0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7159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066800"/>
            <a:ext cx="8229600" cy="5181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38E260-A86D-4C74-9289-17B5FA32937E}" type="datetime1">
              <a:rPr lang="en-US" smtClean="0"/>
              <a:pPr/>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F1F8D0-972F-472E-AFE5-1F27E299DB0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4242486648"/>
              </p:ext>
            </p:extLst>
          </p:nvPr>
        </p:nvGraphicFramePr>
        <p:xfrm>
          <a:off x="304800" y="381000"/>
          <a:ext cx="8646204" cy="5831787"/>
        </p:xfrm>
        <a:graphic>
          <a:graphicData uri="http://schemas.openxmlformats.org/drawingml/2006/table">
            <a:tbl>
              <a:tblPr firstRow="1" bandRow="1">
                <a:tableStyleId>{69012ECD-51FC-41F1-AA8D-1B2483CD663E}</a:tableStyleId>
              </a:tblPr>
              <a:tblGrid>
                <a:gridCol w="1476736">
                  <a:extLst>
                    <a:ext uri="{9D8B030D-6E8A-4147-A177-3AD203B41FA5}">
                      <a16:colId xmlns:a16="http://schemas.microsoft.com/office/drawing/2014/main" val="20000"/>
                    </a:ext>
                  </a:extLst>
                </a:gridCol>
                <a:gridCol w="358732">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2619736">
                  <a:extLst>
                    <a:ext uri="{9D8B030D-6E8A-4147-A177-3AD203B41FA5}">
                      <a16:colId xmlns:a16="http://schemas.microsoft.com/office/drawing/2014/main" val="20003"/>
                    </a:ext>
                  </a:extLst>
                </a:gridCol>
              </a:tblGrid>
              <a:tr h="1767926">
                <a:tc>
                  <a:txBody>
                    <a:bodyPr/>
                    <a:lstStyle/>
                    <a:p>
                      <a:pPr algn="ctr"/>
                      <a:endParaRPr lang="en-US" sz="2200"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2800" dirty="0">
                          <a:solidFill>
                            <a:schemeClr val="bg1"/>
                          </a:solidFill>
                        </a:rPr>
                        <a:t>S.S.V.P.S’s B. S. </a:t>
                      </a:r>
                      <a:r>
                        <a:rPr lang="en-US" sz="2800" baseline="0" dirty="0">
                          <a:solidFill>
                            <a:schemeClr val="bg1"/>
                          </a:solidFill>
                        </a:rPr>
                        <a:t>Deore Polytechnic, </a:t>
                      </a:r>
                      <a:r>
                        <a:rPr lang="en-US" sz="2800" baseline="0" dirty="0" err="1">
                          <a:solidFill>
                            <a:schemeClr val="bg1"/>
                          </a:solidFill>
                        </a:rPr>
                        <a:t>Dhule</a:t>
                      </a:r>
                      <a:endParaRPr lang="en-US" sz="2800" baseline="0" dirty="0">
                        <a:solidFill>
                          <a:schemeClr val="bg1"/>
                        </a:solidFill>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3200" dirty="0">
                          <a:solidFill>
                            <a:schemeClr val="bg1"/>
                          </a:solidFill>
                        </a:rPr>
                        <a:t>Department of Computer Engineering</a:t>
                      </a:r>
                    </a:p>
                    <a:p>
                      <a:pPr algn="ctr"/>
                      <a:r>
                        <a:rPr lang="en-US" sz="3200" b="0" i="1" baseline="0" dirty="0">
                          <a:solidFill>
                            <a:schemeClr val="bg1"/>
                          </a:solidFill>
                        </a:rPr>
                        <a:t>Academic Year : 2025-2026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8415">
                <a:tc gridSpan="4">
                  <a:txBody>
                    <a:bodyPr/>
                    <a:lstStyle/>
                    <a:p>
                      <a:pPr algn="ctr"/>
                      <a:r>
                        <a:rPr lang="en-US" sz="2800" b="1" kern="1200" baseline="0" dirty="0">
                          <a:solidFill>
                            <a:srgbClr val="002060"/>
                          </a:solidFill>
                          <a:latin typeface="+mn-lt"/>
                          <a:ea typeface="+mn-ea"/>
                          <a:cs typeface="+mn-cs"/>
                        </a:rPr>
                        <a:t>SEMINAR AND PROJECT INITIATION COURSE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98066">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100" b="1" dirty="0" err="1">
                          <a:solidFill>
                            <a:srgbClr val="FF0000"/>
                          </a:solidFill>
                        </a:rPr>
                        <a:t>Sem</a:t>
                      </a:r>
                      <a:r>
                        <a:rPr lang="en-US" sz="2100" b="1" dirty="0">
                          <a:solidFill>
                            <a:srgbClr val="FF0000"/>
                          </a:solidFill>
                        </a:rPr>
                        <a:t> : CO 5</a:t>
                      </a:r>
                      <a:r>
                        <a:rPr lang="en-US" sz="2100" b="1" baseline="0" dirty="0">
                          <a:solidFill>
                            <a:srgbClr val="FF0000"/>
                          </a:solidFill>
                        </a:rPr>
                        <a:t> K</a:t>
                      </a:r>
                      <a:endParaRPr lang="en-US" sz="21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b="1" kern="1200" baseline="0" dirty="0">
                          <a:solidFill>
                            <a:srgbClr val="002060"/>
                          </a:solidFill>
                          <a:latin typeface="+mn-lt"/>
                          <a:ea typeface="+mn-ea"/>
                          <a:cs typeface="+mn-cs"/>
                        </a:rPr>
                        <a:t>SPI – 315003</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100" b="1">
                          <a:solidFill>
                            <a:srgbClr val="FF0000"/>
                          </a:solidFill>
                        </a:rPr>
                        <a:t>Date: 19/10/2026</a:t>
                      </a:r>
                      <a:endParaRPr lang="en-US" sz="2100" b="1"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56489819"/>
                  </a:ext>
                </a:extLst>
              </a:tr>
              <a:tr h="498066">
                <a:tc gridSpan="4">
                  <a:txBody>
                    <a:bodyPr/>
                    <a:lstStyle/>
                    <a:p>
                      <a:pPr algn="l"/>
                      <a:r>
                        <a:rPr lang="en-US" sz="2400" b="1" dirty="0">
                          <a:solidFill>
                            <a:schemeClr val="tx2"/>
                          </a:solidFill>
                        </a:rPr>
                        <a:t>Topic :IOT Based Home Automation System</a:t>
                      </a:r>
                      <a:endParaRPr lang="en-US" sz="2400" b="1" dirty="0">
                        <a:solidFill>
                          <a:srgbClr val="0070C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498066">
                <a:tc gridSpan="2">
                  <a:txBody>
                    <a:bodyPr/>
                    <a:lstStyle/>
                    <a:p>
                      <a:pPr algn="ctr"/>
                      <a:r>
                        <a:rPr lang="en-US" sz="2400" b="1" dirty="0"/>
                        <a:t>Roll</a:t>
                      </a:r>
                      <a:r>
                        <a:rPr lang="en-US" sz="2400" b="1" baseline="0" dirty="0"/>
                        <a:t> No.</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b="1" dirty="0"/>
                        <a:t>Name</a:t>
                      </a:r>
                      <a:r>
                        <a:rPr lang="en-US" sz="2400" b="1" baseline="0" dirty="0"/>
                        <a:t> of Student</a:t>
                      </a:r>
                      <a:endParaRPr lang="en-US" sz="2400"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92812">
                <a:tc gridSpan="2">
                  <a:txBody>
                    <a:bodyPr/>
                    <a:lstStyle/>
                    <a:p>
                      <a:pPr algn="ctr"/>
                      <a:r>
                        <a:rPr lang="en-US" sz="2000" dirty="0"/>
                        <a:t>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rPr lang="en-US" sz="2000" dirty="0"/>
                        <a:t>Yogeshwari Ravindra Pawar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92812">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rPr lang="en-US" sz="2000" dirty="0"/>
                        <a:t>Karansing Dipak Rajput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92812">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000" dirty="0"/>
                        <a:t>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r>
                        <a:rPr lang="en-US" sz="2000" dirty="0"/>
                        <a:t>Sejal Pravin Patil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92812">
                <a:tc gridSpan="2">
                  <a:txBody>
                    <a:bodyPr/>
                    <a:lstStyle/>
                    <a:p>
                      <a:pPr algn="ctr"/>
                      <a:r>
                        <a:rPr lang="en-US" sz="2000" b="0" dirty="0">
                          <a:solidFill>
                            <a:schemeClr val="tx1"/>
                          </a:solidFill>
                          <a:latin typeface="+mn-lt"/>
                        </a:rPr>
                        <a:t>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gridSpan="2">
                  <a:txBody>
                    <a:bodyPr/>
                    <a:lstStyle/>
                    <a:p>
                      <a:r>
                        <a:rPr lang="en-US" sz="2000" dirty="0"/>
                        <a:t>Harshal Samadhan Shinde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pic>
        <p:nvPicPr>
          <p:cNvPr id="16" name="Picture 15" descr="ssvpslogo.png"/>
          <p:cNvPicPr>
            <a:picLocks noChangeAspect="1"/>
          </p:cNvPicPr>
          <p:nvPr/>
        </p:nvPicPr>
        <p:blipFill>
          <a:blip r:embed="rId2" cstate="print"/>
          <a:stretch>
            <a:fillRect/>
          </a:stretch>
        </p:blipFill>
        <p:spPr>
          <a:xfrm>
            <a:off x="381000" y="457200"/>
            <a:ext cx="1219200" cy="16272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pPr marL="514350" indent="-514350"/>
            <a:r>
              <a:rPr lang="en-US" dirty="0"/>
              <a:t>Certificate</a:t>
            </a:r>
          </a:p>
          <a:p>
            <a:pPr marL="514350" indent="-514350"/>
            <a:r>
              <a:rPr lang="en-US" dirty="0"/>
              <a:t>Abstract </a:t>
            </a:r>
          </a:p>
          <a:p>
            <a:pPr marL="514350" indent="-514350">
              <a:buFont typeface="+mj-lt"/>
              <a:buAutoNum type="arabicPeriod"/>
            </a:pPr>
            <a:r>
              <a:rPr lang="en-US" dirty="0"/>
              <a:t>Introduction</a:t>
            </a:r>
          </a:p>
          <a:p>
            <a:pPr marL="514350" indent="-514350">
              <a:buFont typeface="+mj-lt"/>
              <a:buAutoNum type="arabicPeriod"/>
            </a:pPr>
            <a:r>
              <a:rPr lang="en-US" dirty="0"/>
              <a:t>Literature Review</a:t>
            </a:r>
          </a:p>
          <a:p>
            <a:pPr marL="514350" indent="-514350">
              <a:buFont typeface="+mj-lt"/>
              <a:buAutoNum type="arabicPeriod"/>
            </a:pPr>
            <a:r>
              <a:rPr lang="en-US" dirty="0"/>
              <a:t>Information to Seminar topic</a:t>
            </a:r>
          </a:p>
          <a:p>
            <a:pPr marL="514350" indent="-514350">
              <a:buFont typeface="+mj-lt"/>
              <a:buAutoNum type="arabicPeriod"/>
            </a:pPr>
            <a:r>
              <a:rPr lang="en-US" dirty="0"/>
              <a:t>Advantages and Disadvantages</a:t>
            </a:r>
          </a:p>
          <a:p>
            <a:pPr marL="514350" indent="-514350">
              <a:buFont typeface="+mj-lt"/>
              <a:buAutoNum type="arabicPeriod"/>
            </a:pPr>
            <a:r>
              <a:rPr lang="en-US" dirty="0"/>
              <a:t>Conclusion</a:t>
            </a:r>
          </a:p>
          <a:p>
            <a:pPr marL="514350" indent="-514350">
              <a:buFont typeface="+mj-lt"/>
              <a:buAutoNum type="arabicPeriod"/>
            </a:pPr>
            <a:r>
              <a:rPr lang="en-US" dirty="0"/>
              <a:t>Project Initiation : </a:t>
            </a:r>
          </a:p>
          <a:p>
            <a:pPr marL="971550" lvl="1" indent="-514350">
              <a:buFont typeface="+mj-lt"/>
              <a:buAutoNum type="alphaLcParenR"/>
            </a:pPr>
            <a:r>
              <a:rPr lang="en-US" dirty="0"/>
              <a:t>Description of problem statement. </a:t>
            </a:r>
          </a:p>
          <a:p>
            <a:pPr marL="971550" lvl="1" indent="-514350">
              <a:buFont typeface="+mj-lt"/>
              <a:buAutoNum type="alphaLcParenR"/>
            </a:pPr>
            <a:r>
              <a:rPr lang="en-US" dirty="0"/>
              <a:t>Scope and objectives. </a:t>
            </a:r>
          </a:p>
          <a:p>
            <a:pPr marL="971550" lvl="1" indent="-514350">
              <a:buFont typeface="+mj-lt"/>
              <a:buAutoNum type="alphaLcParenR"/>
            </a:pPr>
            <a:r>
              <a:rPr lang="en-US" dirty="0"/>
              <a:t>Stake holder </a:t>
            </a:r>
          </a:p>
          <a:p>
            <a:pPr marL="971550" lvl="1" indent="-514350">
              <a:buFont typeface="+mj-lt"/>
              <a:buAutoNum type="alphaLcParenR"/>
            </a:pPr>
            <a:r>
              <a:rPr lang="en-US" dirty="0"/>
              <a:t>Platform/ Equipment/ Resources identification.</a:t>
            </a:r>
          </a:p>
          <a:p>
            <a:pPr marL="514350" indent="-514350">
              <a:buFont typeface="+mj-lt"/>
              <a:buAutoNum type="arabicPeriod"/>
            </a:pPr>
            <a:r>
              <a:rPr lang="en-US" dirty="0"/>
              <a:t>Bibliography</a:t>
            </a:r>
          </a:p>
          <a:p>
            <a:pPr marL="514350" indent="-514350">
              <a:buFont typeface="+mj-lt"/>
              <a:buAutoNum type="arabicPeriod"/>
            </a:pPr>
            <a:r>
              <a:rPr lang="en-US" dirty="0"/>
              <a:t>References</a:t>
            </a:r>
          </a:p>
          <a:p>
            <a:endParaRPr lang="en-US" dirty="0"/>
          </a:p>
        </p:txBody>
      </p:sp>
      <p:sp>
        <p:nvSpPr>
          <p:cNvPr id="4" name="Title 1"/>
          <p:cNvSpPr>
            <a:spLocks noGrp="1"/>
          </p:cNvSpPr>
          <p:nvPr>
            <p:ph type="title"/>
          </p:nvPr>
        </p:nvSpPr>
        <p:spPr>
          <a:ln w="28575">
            <a:solidFill>
              <a:schemeClr val="accent1"/>
            </a:solidFill>
          </a:ln>
        </p:spPr>
        <p:txBody>
          <a:bodyPr/>
          <a:lstStyle/>
          <a:p>
            <a:r>
              <a:rPr lang="en-US" dirty="0"/>
              <a:t>Contents</a:t>
            </a:r>
          </a:p>
        </p:txBody>
      </p:sp>
      <p:sp>
        <p:nvSpPr>
          <p:cNvPr id="5" name="Slide Number Placeholder 4"/>
          <p:cNvSpPr>
            <a:spLocks noGrp="1"/>
          </p:cNvSpPr>
          <p:nvPr>
            <p:ph type="sldNum" sz="quarter" idx="12"/>
          </p:nvPr>
        </p:nvSpPr>
        <p:spPr/>
        <p:txBody>
          <a:bodyPr/>
          <a:lstStyle/>
          <a:p>
            <a:fld id="{4AF1F8D0-972F-472E-AFE5-1F27E299DB0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48C87-E7FF-4FE7-943B-6346EA7380F6}"/>
              </a:ext>
            </a:extLst>
          </p:cNvPr>
          <p:cNvSpPr>
            <a:spLocks noGrp="1"/>
          </p:cNvSpPr>
          <p:nvPr>
            <p:ph type="title"/>
          </p:nvPr>
        </p:nvSpPr>
        <p:spPr/>
        <p:txBody>
          <a:bodyPr>
            <a:normAutofit/>
          </a:bodyPr>
          <a:lstStyle/>
          <a:p>
            <a:r>
              <a:rPr lang="en-US" dirty="0"/>
              <a:t>Abstract</a:t>
            </a:r>
          </a:p>
        </p:txBody>
      </p:sp>
      <p:sp>
        <p:nvSpPr>
          <p:cNvPr id="3" name="Content Placeholder 2">
            <a:extLst>
              <a:ext uri="{FF2B5EF4-FFF2-40B4-BE49-F238E27FC236}">
                <a16:creationId xmlns:a16="http://schemas.microsoft.com/office/drawing/2014/main" id="{654493BC-4685-4595-81D6-98FD51C4B225}"/>
              </a:ext>
            </a:extLst>
          </p:cNvPr>
          <p:cNvSpPr>
            <a:spLocks noGrp="1"/>
          </p:cNvSpPr>
          <p:nvPr>
            <p:ph idx="1"/>
          </p:nvPr>
        </p:nvSpPr>
        <p:spPr/>
        <p:txBody>
          <a:bodyPr>
            <a:normAutofit/>
          </a:bodyPr>
          <a:lstStyle/>
          <a:p>
            <a:pPr marL="0" indent="0">
              <a:buNone/>
            </a:pPr>
            <a:endParaRPr lang="en-US" sz="2000" dirty="0"/>
          </a:p>
          <a:p>
            <a:pPr marL="0" indent="0" algn="just">
              <a:buNone/>
            </a:pPr>
            <a:r>
              <a:rPr lang="en-US" sz="2000" dirty="0"/>
              <a:t>	</a:t>
            </a:r>
            <a:r>
              <a:rPr lang="en-US" sz="1800" dirty="0"/>
              <a:t>The Internet of Things (IoT) enables interconnection among physical devices using the Internet, allowing them to communicate and share data.</a:t>
            </a:r>
          </a:p>
          <a:p>
            <a:pPr marL="0" indent="0" algn="just">
              <a:buNone/>
            </a:pPr>
            <a:r>
              <a:rPr lang="en-US" sz="1800" dirty="0"/>
              <a:t>In a Smart Home Automation System, IoT is used to monitor and control home appliances such as lights, fans, and security systems remotely.</a:t>
            </a:r>
          </a:p>
          <a:p>
            <a:pPr marL="0" indent="0" algn="just">
              <a:buNone/>
            </a:pPr>
            <a:r>
              <a:rPr lang="en-US" sz="1800" dirty="0"/>
              <a:t>This project uses </a:t>
            </a:r>
            <a:r>
              <a:rPr lang="en-US" sz="1800" dirty="0" err="1"/>
              <a:t>NodeMCU</a:t>
            </a:r>
            <a:r>
              <a:rPr lang="en-US" sz="1800" dirty="0"/>
              <a:t> (ESP8266), sensors, relay modules, and Blynk/Firebase Cloud to build a cost-effective, energy-efficient, and secure automation system.</a:t>
            </a:r>
          </a:p>
          <a:p>
            <a:pPr marL="0" indent="0" algn="just">
              <a:buNone/>
            </a:pPr>
            <a:r>
              <a:rPr lang="en-US" sz="1800" dirty="0"/>
              <a:t>It enhances comfort, reduces manual work, and increases safety through real-time monitoring and control.</a:t>
            </a:r>
          </a:p>
        </p:txBody>
      </p:sp>
      <p:sp>
        <p:nvSpPr>
          <p:cNvPr id="4" name="Slide Number Placeholder 3"/>
          <p:cNvSpPr>
            <a:spLocks noGrp="1"/>
          </p:cNvSpPr>
          <p:nvPr>
            <p:ph type="sldNum" sz="quarter" idx="12"/>
          </p:nvPr>
        </p:nvSpPr>
        <p:spPr/>
        <p:txBody>
          <a:bodyPr/>
          <a:lstStyle/>
          <a:p>
            <a:fld id="{4AF1F8D0-972F-472E-AFE5-1F27E299DB0B}" type="slidenum">
              <a:rPr lang="en-US" smtClean="0"/>
              <a:pPr/>
              <a:t>3</a:t>
            </a:fld>
            <a:endParaRPr lang="en-US"/>
          </a:p>
        </p:txBody>
      </p:sp>
    </p:spTree>
    <p:extLst>
      <p:ext uri="{BB962C8B-B14F-4D97-AF65-F5344CB8AC3E}">
        <p14:creationId xmlns:p14="http://schemas.microsoft.com/office/powerpoint/2010/main" val="983819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Introduction</a:t>
            </a:r>
          </a:p>
        </p:txBody>
      </p:sp>
      <p:sp>
        <p:nvSpPr>
          <p:cNvPr id="3" name="Content Placeholder 2"/>
          <p:cNvSpPr>
            <a:spLocks noGrp="1"/>
          </p:cNvSpPr>
          <p:nvPr>
            <p:ph idx="1"/>
          </p:nvPr>
        </p:nvSpPr>
        <p:spPr/>
        <p:txBody>
          <a:bodyPr>
            <a:normAutofit/>
          </a:bodyPr>
          <a:lstStyle/>
          <a:p>
            <a:pPr algn="just"/>
            <a:endParaRPr lang="en-US" sz="1800" dirty="0"/>
          </a:p>
          <a:p>
            <a:pPr algn="just"/>
            <a:r>
              <a:rPr lang="en-US" sz="1800" dirty="0"/>
              <a:t>IoT (Internet of Things) connects various devices via the Internet to exchange data.</a:t>
            </a:r>
          </a:p>
          <a:p>
            <a:pPr algn="just"/>
            <a:endParaRPr lang="en-US" sz="1800" dirty="0"/>
          </a:p>
          <a:p>
            <a:pPr algn="just"/>
            <a:r>
              <a:rPr lang="en-US" sz="1800" dirty="0"/>
              <a:t>Smart Home Automation applies IoT to control home appliances through smartphones or web interfaces.</a:t>
            </a:r>
          </a:p>
          <a:p>
            <a:pPr algn="just"/>
            <a:endParaRPr lang="en-US" sz="1800" dirty="0"/>
          </a:p>
          <a:p>
            <a:pPr algn="just"/>
            <a:r>
              <a:rPr lang="en-US" sz="1800" dirty="0"/>
              <a:t>Users can automate lights, fans, and security systems based on environmental conditions or voice commands.</a:t>
            </a:r>
          </a:p>
          <a:p>
            <a:pPr algn="just"/>
            <a:endParaRPr lang="en-US" sz="1800" dirty="0"/>
          </a:p>
          <a:p>
            <a:pPr algn="just"/>
            <a:r>
              <a:rPr lang="en-US" sz="1800" dirty="0"/>
              <a:t>Between 2021–2025, IoT-based automation has expanded rapidly, integrating AI assistants (Alexa, Google Home) and cloud computing for better efficiency.</a:t>
            </a:r>
          </a:p>
          <a:p>
            <a:pPr algn="just"/>
            <a:endParaRPr lang="en-US" sz="1800" dirty="0"/>
          </a:p>
          <a:p>
            <a:pPr algn="just"/>
            <a:r>
              <a:rPr lang="en-US" sz="1800" dirty="0"/>
              <a:t>The goal is to make homes more intelligent, safe, and sustainable.</a:t>
            </a:r>
          </a:p>
        </p:txBody>
      </p:sp>
      <p:sp>
        <p:nvSpPr>
          <p:cNvPr id="4" name="Slide Number Placeholder 3"/>
          <p:cNvSpPr>
            <a:spLocks noGrp="1"/>
          </p:cNvSpPr>
          <p:nvPr>
            <p:ph type="sldNum" sz="quarter" idx="12"/>
          </p:nvPr>
        </p:nvSpPr>
        <p:spPr/>
        <p:txBody>
          <a:bodyPr/>
          <a:lstStyle/>
          <a:p>
            <a:fld id="{4AF1F8D0-972F-472E-AFE5-1F27E299DB0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183872" y="274638"/>
            <a:ext cx="8502928"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2. Literature Survey</a:t>
            </a:r>
            <a:endParaRPr/>
          </a:p>
        </p:txBody>
      </p:sp>
      <p:sp>
        <p:nvSpPr>
          <p:cNvPr id="532" name="Google Shape;532;p17"/>
          <p:cNvSpPr txBox="1">
            <a:spLocks noGrp="1"/>
          </p:cNvSpPr>
          <p:nvPr>
            <p:ph type="body" idx="1"/>
          </p:nvPr>
        </p:nvSpPr>
        <p:spPr>
          <a:xfrm>
            <a:off x="182210" y="1219200"/>
            <a:ext cx="8502928" cy="53641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546100" lvl="0">
              <a:spcBef>
                <a:spcPts val="0"/>
              </a:spcBef>
              <a:buClr>
                <a:schemeClr val="dk1"/>
              </a:buClr>
              <a:buSzPts val="3200"/>
            </a:pPr>
            <a:endParaRPr lang="en-GB" sz="1900" dirty="0"/>
          </a:p>
          <a:p>
            <a:pPr marL="546100" lvl="0">
              <a:spcBef>
                <a:spcPts val="0"/>
              </a:spcBef>
              <a:buClr>
                <a:schemeClr val="dk1"/>
              </a:buClr>
              <a:buSzPts val="3200"/>
            </a:pPr>
            <a:r>
              <a:rPr lang="en-GB" sz="1900" dirty="0"/>
              <a:t>Vardakis, G. (2024) – Developed an IoT-based security system using motion and gas sensors with real-time alerts.</a:t>
            </a:r>
          </a:p>
          <a:p>
            <a:pPr marL="546100" lvl="0">
              <a:spcBef>
                <a:spcPts val="0"/>
              </a:spcBef>
              <a:buClr>
                <a:schemeClr val="dk1"/>
              </a:buClr>
              <a:buSzPts val="3200"/>
            </a:pPr>
            <a:r>
              <a:rPr lang="en-GB" sz="1900" dirty="0"/>
              <a:t>Yuan, B. (2023) – Researched IoT security issues and introduced encryption models for safer communication.</a:t>
            </a:r>
          </a:p>
          <a:p>
            <a:pPr marL="546100">
              <a:spcBef>
                <a:spcPts val="0"/>
              </a:spcBef>
              <a:buClr>
                <a:schemeClr val="dk1"/>
              </a:buClr>
              <a:buSzPts val="3200"/>
            </a:pPr>
            <a:r>
              <a:rPr lang="en-GB" sz="1900" dirty="0"/>
              <a:t>Rathore, Y. S. (2025) – Designed an advanced smart home system integrating AI and solar energy monitoring.</a:t>
            </a:r>
          </a:p>
          <a:p>
            <a:pPr marL="546100">
              <a:spcBef>
                <a:spcPts val="0"/>
              </a:spcBef>
              <a:buClr>
                <a:schemeClr val="dk1"/>
              </a:buClr>
              <a:buSzPts val="3200"/>
            </a:pPr>
            <a:r>
              <a:rPr lang="en-GB" sz="1900" dirty="0"/>
              <a:t>Chen, Y. (2024) – Implemented low-cost IoT architecture using </a:t>
            </a:r>
            <a:r>
              <a:rPr lang="en-GB" sz="1900" dirty="0" err="1"/>
              <a:t>NodeMCU</a:t>
            </a:r>
            <a:r>
              <a:rPr lang="en-GB" sz="1900" dirty="0"/>
              <a:t> and Blynk Cloud.</a:t>
            </a:r>
          </a:p>
          <a:p>
            <a:pPr marL="546100">
              <a:spcBef>
                <a:spcPts val="0"/>
              </a:spcBef>
              <a:buClr>
                <a:schemeClr val="dk1"/>
              </a:buClr>
              <a:buSzPts val="3200"/>
            </a:pPr>
            <a:r>
              <a:rPr lang="en-GB" sz="1900" dirty="0"/>
              <a:t>Google (2023–2024) – Introduced AI automation features and IoT </a:t>
            </a:r>
            <a:r>
              <a:rPr lang="en-GB" sz="1900" dirty="0" err="1"/>
              <a:t>voic</a:t>
            </a:r>
            <a:r>
              <a:rPr lang="en-GB" sz="1900" dirty="0"/>
              <a:t>. </a:t>
            </a:r>
            <a:endParaRPr dirty="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200" b="0" i="0" u="none" strike="noStrike" kern="0" cap="none" spc="0" normalizeH="0" baseline="0" noProof="0">
                <a:ln>
                  <a:noFill/>
                </a:ln>
                <a:solidFill>
                  <a:srgbClr val="888888"/>
                </a:solidFill>
                <a:effectLst/>
                <a:uLnTx/>
                <a:uFillTx/>
                <a:latin typeface="Times New Roman"/>
                <a:cs typeface="Times New Roman"/>
                <a:sym typeface="Times New Roman"/>
              </a:rPr>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sz="1200" b="0" i="0" u="none" strike="noStrike" kern="0" cap="none" spc="0" normalizeH="0" baseline="0" noProof="0">
              <a:ln>
                <a:noFill/>
              </a:ln>
              <a:solidFill>
                <a:srgbClr val="888888"/>
              </a:solidFill>
              <a:effectLst/>
              <a:uLnTx/>
              <a:uFillTx/>
              <a:latin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DA397-A149-4EDE-9736-3E34CADBFA86}"/>
              </a:ext>
            </a:extLst>
          </p:cNvPr>
          <p:cNvSpPr>
            <a:spLocks noGrp="1"/>
          </p:cNvSpPr>
          <p:nvPr>
            <p:ph type="title"/>
          </p:nvPr>
        </p:nvSpPr>
        <p:spPr/>
        <p:txBody>
          <a:bodyPr>
            <a:normAutofit/>
          </a:bodyPr>
          <a:lstStyle/>
          <a:p>
            <a:r>
              <a:rPr lang="en-US" dirty="0"/>
              <a:t>3. Information to seminar topic</a:t>
            </a:r>
          </a:p>
        </p:txBody>
      </p:sp>
      <p:sp>
        <p:nvSpPr>
          <p:cNvPr id="3" name="Content Placeholder 2">
            <a:extLst>
              <a:ext uri="{FF2B5EF4-FFF2-40B4-BE49-F238E27FC236}">
                <a16:creationId xmlns:a16="http://schemas.microsoft.com/office/drawing/2014/main" id="{62F16C77-19C6-4EA7-8D73-238BE60B7F8B}"/>
              </a:ext>
            </a:extLst>
          </p:cNvPr>
          <p:cNvSpPr>
            <a:spLocks noGrp="1"/>
          </p:cNvSpPr>
          <p:nvPr>
            <p:ph idx="1"/>
          </p:nvPr>
        </p:nvSpPr>
        <p:spPr/>
        <p:txBody>
          <a:bodyPr>
            <a:normAutofit/>
          </a:bodyPr>
          <a:lstStyle/>
          <a:p>
            <a:pPr algn="just"/>
            <a:endParaRPr lang="en-US" sz="1800" b="1" dirty="0"/>
          </a:p>
          <a:p>
            <a:pPr algn="just"/>
            <a:endParaRPr lang="en-US" sz="1800" b="1" dirty="0"/>
          </a:p>
          <a:p>
            <a:pPr algn="just"/>
            <a:r>
              <a:rPr lang="en-US" sz="1800" dirty="0"/>
              <a:t>The IoT-Based Smart Home Automation System allows users to control and monitor home devices via the Internet.</a:t>
            </a:r>
          </a:p>
          <a:p>
            <a:pPr algn="just"/>
            <a:r>
              <a:rPr lang="en-US" sz="1800" dirty="0"/>
              <a:t>Sensors collect real-time data (temperature, motion, light, gas, etc.).</a:t>
            </a:r>
          </a:p>
          <a:p>
            <a:pPr algn="just"/>
            <a:r>
              <a:rPr lang="en-US" sz="1800" dirty="0" err="1"/>
              <a:t>NodeMCU</a:t>
            </a:r>
            <a:r>
              <a:rPr lang="en-US" sz="1800" dirty="0"/>
              <a:t> (ESP8266) acts as the main microcontroller and communicates with the cloud server.</a:t>
            </a:r>
          </a:p>
          <a:p>
            <a:pPr algn="just"/>
            <a:r>
              <a:rPr lang="en-US" sz="1800" dirty="0"/>
              <a:t>The Blynk app enables users to turn devices on/off, view sensor readings, and receive alerts on smartphones.</a:t>
            </a:r>
          </a:p>
          <a:p>
            <a:pPr algn="just"/>
            <a:r>
              <a:rPr lang="en-US" sz="1800" dirty="0"/>
              <a:t>The system reduces energy consumption and ensures safety by automatically controlling devices.</a:t>
            </a:r>
          </a:p>
        </p:txBody>
      </p:sp>
      <p:sp>
        <p:nvSpPr>
          <p:cNvPr id="4" name="Slide Number Placeholder 3"/>
          <p:cNvSpPr>
            <a:spLocks noGrp="1"/>
          </p:cNvSpPr>
          <p:nvPr>
            <p:ph type="sldNum" sz="quarter" idx="12"/>
          </p:nvPr>
        </p:nvSpPr>
        <p:spPr/>
        <p:txBody>
          <a:bodyPr/>
          <a:lstStyle/>
          <a:p>
            <a:fld id="{4AF1F8D0-972F-472E-AFE5-1F27E299DB0B}" type="slidenum">
              <a:rPr lang="en-US" smtClean="0"/>
              <a:pPr/>
              <a:t>6</a:t>
            </a:fld>
            <a:endParaRPr lang="en-US"/>
          </a:p>
        </p:txBody>
      </p:sp>
    </p:spTree>
    <p:extLst>
      <p:ext uri="{BB962C8B-B14F-4D97-AF65-F5344CB8AC3E}">
        <p14:creationId xmlns:p14="http://schemas.microsoft.com/office/powerpoint/2010/main" val="2941351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042F5-68B7-4EB5-9165-DB3AA25E36E1}"/>
              </a:ext>
            </a:extLst>
          </p:cNvPr>
          <p:cNvSpPr>
            <a:spLocks noGrp="1"/>
          </p:cNvSpPr>
          <p:nvPr>
            <p:ph type="title"/>
          </p:nvPr>
        </p:nvSpPr>
        <p:spPr/>
        <p:txBody>
          <a:bodyPr>
            <a:normAutofit/>
          </a:bodyPr>
          <a:lstStyle/>
          <a:p>
            <a:r>
              <a:rPr lang="en-US" dirty="0"/>
              <a:t>4. Advantages / Disadvantages</a:t>
            </a:r>
          </a:p>
        </p:txBody>
      </p:sp>
      <p:sp>
        <p:nvSpPr>
          <p:cNvPr id="3" name="Content Placeholder 2">
            <a:extLst>
              <a:ext uri="{FF2B5EF4-FFF2-40B4-BE49-F238E27FC236}">
                <a16:creationId xmlns:a16="http://schemas.microsoft.com/office/drawing/2014/main" id="{0A40085B-6985-4DEB-B4ED-124FB8321665}"/>
              </a:ext>
            </a:extLst>
          </p:cNvPr>
          <p:cNvSpPr>
            <a:spLocks noGrp="1"/>
          </p:cNvSpPr>
          <p:nvPr>
            <p:ph idx="1"/>
          </p:nvPr>
        </p:nvSpPr>
        <p:spPr/>
        <p:txBody>
          <a:bodyPr>
            <a:normAutofit/>
          </a:bodyPr>
          <a:lstStyle/>
          <a:p>
            <a:pPr algn="just">
              <a:buFont typeface="Wingdings" panose="05000000000000000000" pitchFamily="2" charset="2"/>
              <a:buChar char="Ø"/>
            </a:pPr>
            <a:endParaRPr lang="en-US" sz="1800" b="1" dirty="0"/>
          </a:p>
          <a:p>
            <a:pPr algn="just">
              <a:buFont typeface="Wingdings" panose="05000000000000000000" pitchFamily="2" charset="2"/>
              <a:buChar char="Ø"/>
            </a:pPr>
            <a:r>
              <a:rPr lang="en-US" sz="1800" b="1" dirty="0"/>
              <a:t>Advantages</a:t>
            </a:r>
          </a:p>
          <a:p>
            <a:pPr marL="0" indent="0" algn="just">
              <a:buNone/>
            </a:pPr>
            <a:r>
              <a:rPr lang="en-US" sz="1800" dirty="0"/>
              <a:t>Real-time monitoring and control.</a:t>
            </a:r>
          </a:p>
          <a:p>
            <a:pPr marL="0" indent="0" algn="just">
              <a:buNone/>
            </a:pPr>
            <a:r>
              <a:rPr lang="en-US" sz="1800" dirty="0"/>
              <a:t>Energy efficiency through smart scheduling.</a:t>
            </a:r>
          </a:p>
          <a:p>
            <a:pPr marL="0" indent="0" algn="just">
              <a:buNone/>
            </a:pPr>
            <a:r>
              <a:rPr lang="en-US" sz="1800" dirty="0"/>
              <a:t>Enhanced home safety (motion/gas alerts).</a:t>
            </a:r>
          </a:p>
          <a:p>
            <a:pPr marL="0" indent="0" algn="just">
              <a:buNone/>
            </a:pPr>
            <a:r>
              <a:rPr lang="en-US" sz="1800" dirty="0"/>
              <a:t>Low cost and easy maintenance.</a:t>
            </a:r>
          </a:p>
          <a:p>
            <a:pPr marL="0" indent="0" algn="just">
              <a:buNone/>
            </a:pPr>
            <a:r>
              <a:rPr lang="en-US" sz="1800" dirty="0"/>
              <a:t>Compatible with AI assistants (Alexa, Google).</a:t>
            </a:r>
          </a:p>
          <a:p>
            <a:pPr algn="just">
              <a:buFont typeface="Wingdings" panose="05000000000000000000" pitchFamily="2" charset="2"/>
              <a:buChar char="Ø"/>
            </a:pPr>
            <a:r>
              <a:rPr lang="en-US" sz="1800" b="1" dirty="0"/>
              <a:t> Disadvantages</a:t>
            </a:r>
          </a:p>
          <a:p>
            <a:pPr marL="0" indent="0" algn="just">
              <a:buNone/>
            </a:pPr>
            <a:r>
              <a:rPr lang="en-US" sz="1800" dirty="0"/>
              <a:t>Requires stable Internet connectivity.</a:t>
            </a:r>
          </a:p>
          <a:p>
            <a:pPr marL="0" indent="0" algn="just">
              <a:buNone/>
            </a:pPr>
            <a:r>
              <a:rPr lang="en-US" sz="1800" dirty="0"/>
              <a:t>Possible data privacy and security issues.</a:t>
            </a:r>
          </a:p>
          <a:p>
            <a:pPr marL="0" indent="0" algn="just">
              <a:buNone/>
            </a:pPr>
            <a:r>
              <a:rPr lang="en-US" sz="1800" dirty="0"/>
              <a:t>High initial installation cost for large systems.</a:t>
            </a:r>
          </a:p>
          <a:p>
            <a:pPr marL="0" indent="0" algn="just">
              <a:buNone/>
            </a:pPr>
            <a:r>
              <a:rPr lang="en-US" sz="1800" dirty="0"/>
              <a:t>Power/internet outages can disrupt automation</a:t>
            </a:r>
            <a:r>
              <a:rPr lang="en-US" sz="1800" b="1" dirty="0"/>
              <a:t>.</a:t>
            </a:r>
            <a:endParaRPr lang="en-US" sz="1800"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7</a:t>
            </a:fld>
            <a:endParaRPr lang="en-US"/>
          </a:p>
        </p:txBody>
      </p:sp>
    </p:spTree>
    <p:extLst>
      <p:ext uri="{BB962C8B-B14F-4D97-AF65-F5344CB8AC3E}">
        <p14:creationId xmlns:p14="http://schemas.microsoft.com/office/powerpoint/2010/main" val="3475479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85495-A5F6-4B35-8FCC-B8E25FD8585A}"/>
              </a:ext>
            </a:extLst>
          </p:cNvPr>
          <p:cNvSpPr>
            <a:spLocks noGrp="1"/>
          </p:cNvSpPr>
          <p:nvPr>
            <p:ph type="title"/>
          </p:nvPr>
        </p:nvSpPr>
        <p:spPr/>
        <p:txBody>
          <a:bodyPr>
            <a:normAutofit/>
          </a:bodyPr>
          <a:lstStyle/>
          <a:p>
            <a:r>
              <a:rPr lang="en-US" dirty="0"/>
              <a:t>5. Conclusion</a:t>
            </a:r>
          </a:p>
        </p:txBody>
      </p:sp>
      <p:sp>
        <p:nvSpPr>
          <p:cNvPr id="3" name="Content Placeholder 2">
            <a:extLst>
              <a:ext uri="{FF2B5EF4-FFF2-40B4-BE49-F238E27FC236}">
                <a16:creationId xmlns:a16="http://schemas.microsoft.com/office/drawing/2014/main" id="{AFCE7C34-594D-4583-8824-06541B13F269}"/>
              </a:ext>
            </a:extLst>
          </p:cNvPr>
          <p:cNvSpPr>
            <a:spLocks noGrp="1"/>
          </p:cNvSpPr>
          <p:nvPr>
            <p:ph idx="1"/>
          </p:nvPr>
        </p:nvSpPr>
        <p:spPr/>
        <p:txBody>
          <a:bodyPr>
            <a:normAutofit/>
          </a:bodyPr>
          <a:lstStyle/>
          <a:p>
            <a:pPr marL="0" indent="0">
              <a:buNone/>
            </a:pPr>
            <a:endParaRPr lang="en-US" sz="2000" dirty="0"/>
          </a:p>
          <a:p>
            <a:pPr marL="0" indent="0" algn="just">
              <a:buNone/>
            </a:pPr>
            <a:r>
              <a:rPr lang="en-US" sz="1800" dirty="0"/>
              <a:t>	The IoT-Based Smart Home Automation System provides an efficient, affordable, and intelligent way to control and monitor household appliances remotely. By using </a:t>
            </a:r>
            <a:r>
              <a:rPr lang="en-US" sz="1800" dirty="0" err="1"/>
              <a:t>NodeMCU</a:t>
            </a:r>
            <a:r>
              <a:rPr lang="en-US" sz="1800" dirty="0"/>
              <a:t>, sensors, and cloud-based platforms like Blynk or Firebase, the system enables real-time communication between the user and devices, enhancing comfort, security, and energy efficiency. It simplifies daily life by automating routine tasks such as controlling lights, fans, and other electrical appliances. This project demonstrates how IoT technology can transform ordinary homes into smart, sustainable living spaces. With future integration of Artificial Intelligence, enhanced data security, and renewable energy systems, smart homes will become more autonomous, reliable, and environmentally friendly.</a:t>
            </a:r>
          </a:p>
        </p:txBody>
      </p:sp>
      <p:sp>
        <p:nvSpPr>
          <p:cNvPr id="4" name="Slide Number Placeholder 3"/>
          <p:cNvSpPr>
            <a:spLocks noGrp="1"/>
          </p:cNvSpPr>
          <p:nvPr>
            <p:ph type="sldNum" sz="quarter" idx="12"/>
          </p:nvPr>
        </p:nvSpPr>
        <p:spPr/>
        <p:txBody>
          <a:bodyPr/>
          <a:lstStyle/>
          <a:p>
            <a:fld id="{4AF1F8D0-972F-472E-AFE5-1F27E299DB0B}" type="slidenum">
              <a:rPr lang="en-US" smtClean="0"/>
              <a:pPr/>
              <a:t>8</a:t>
            </a:fld>
            <a:endParaRPr lang="en-US"/>
          </a:p>
        </p:txBody>
      </p:sp>
    </p:spTree>
    <p:extLst>
      <p:ext uri="{BB962C8B-B14F-4D97-AF65-F5344CB8AC3E}">
        <p14:creationId xmlns:p14="http://schemas.microsoft.com/office/powerpoint/2010/main" val="3847965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434D9-A048-4FD6-9D39-B86F54567C07}"/>
              </a:ext>
            </a:extLst>
          </p:cNvPr>
          <p:cNvSpPr>
            <a:spLocks noGrp="1"/>
          </p:cNvSpPr>
          <p:nvPr>
            <p:ph type="title"/>
          </p:nvPr>
        </p:nvSpPr>
        <p:spPr/>
        <p:txBody>
          <a:bodyPr>
            <a:normAutofit/>
          </a:bodyPr>
          <a:lstStyle/>
          <a:p>
            <a:r>
              <a:rPr lang="en-US" dirty="0"/>
              <a:t>6. Project Initiation</a:t>
            </a:r>
          </a:p>
        </p:txBody>
      </p:sp>
      <p:sp>
        <p:nvSpPr>
          <p:cNvPr id="3" name="Content Placeholder 2">
            <a:extLst>
              <a:ext uri="{FF2B5EF4-FFF2-40B4-BE49-F238E27FC236}">
                <a16:creationId xmlns:a16="http://schemas.microsoft.com/office/drawing/2014/main" id="{3F610B6C-B12F-476A-AAE5-7131B7B4C34A}"/>
              </a:ext>
            </a:extLst>
          </p:cNvPr>
          <p:cNvSpPr>
            <a:spLocks noGrp="1"/>
          </p:cNvSpPr>
          <p:nvPr>
            <p:ph idx="1"/>
          </p:nvPr>
        </p:nvSpPr>
        <p:spPr/>
        <p:txBody>
          <a:bodyPr>
            <a:normAutofit/>
          </a:bodyPr>
          <a:lstStyle/>
          <a:p>
            <a:pPr marL="0" indent="0">
              <a:buNone/>
            </a:pPr>
            <a:r>
              <a:rPr lang="en-US" sz="2400" dirty="0"/>
              <a:t>	</a:t>
            </a:r>
          </a:p>
          <a:p>
            <a:pPr marL="0" indent="0" algn="just">
              <a:buNone/>
            </a:pPr>
            <a:r>
              <a:rPr lang="en-US" sz="2400" dirty="0"/>
              <a:t>	</a:t>
            </a:r>
            <a:r>
              <a:rPr lang="en-US" sz="1800" dirty="0"/>
              <a:t>The project was initiated to address challenges in manually managing household devices. The focus was on developing a low-cost IoT solution suitable for everyday homes. The system was planned, designed, and tested using readily available IoT components like </a:t>
            </a:r>
            <a:r>
              <a:rPr lang="en-US" sz="1800" dirty="0" err="1"/>
              <a:t>NodeMCU</a:t>
            </a:r>
            <a:r>
              <a:rPr lang="en-US" sz="1800" dirty="0"/>
              <a:t> and Blynk. Testing verified performance in real-time appliance control and monitoring.</a:t>
            </a:r>
          </a:p>
        </p:txBody>
      </p:sp>
      <p:sp>
        <p:nvSpPr>
          <p:cNvPr id="4" name="Slide Number Placeholder 3"/>
          <p:cNvSpPr>
            <a:spLocks noGrp="1"/>
          </p:cNvSpPr>
          <p:nvPr>
            <p:ph type="sldNum" sz="quarter" idx="12"/>
          </p:nvPr>
        </p:nvSpPr>
        <p:spPr/>
        <p:txBody>
          <a:bodyPr/>
          <a:lstStyle/>
          <a:p>
            <a:fld id="{4AF1F8D0-972F-472E-AFE5-1F27E299DB0B}" type="slidenum">
              <a:rPr lang="en-US" smtClean="0"/>
              <a:pPr/>
              <a:t>9</a:t>
            </a:fld>
            <a:endParaRPr lang="en-US"/>
          </a:p>
        </p:txBody>
      </p:sp>
    </p:spTree>
    <p:extLst>
      <p:ext uri="{BB962C8B-B14F-4D97-AF65-F5344CB8AC3E}">
        <p14:creationId xmlns:p14="http://schemas.microsoft.com/office/powerpoint/2010/main" val="54750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6(a) Problem Statement</a:t>
            </a:r>
          </a:p>
        </p:txBody>
      </p:sp>
      <p:sp>
        <p:nvSpPr>
          <p:cNvPr id="3" name="Content Placeholder 2"/>
          <p:cNvSpPr>
            <a:spLocks noGrp="1"/>
          </p:cNvSpPr>
          <p:nvPr>
            <p:ph idx="1"/>
          </p:nvPr>
        </p:nvSpPr>
        <p:spPr/>
        <p:txBody>
          <a:bodyPr>
            <a:normAutofit/>
          </a:bodyPr>
          <a:lstStyle/>
          <a:p>
            <a:pPr marL="0" indent="0" algn="just">
              <a:buNone/>
            </a:pPr>
            <a:r>
              <a:rPr lang="en-US" sz="2000" dirty="0"/>
              <a:t>	</a:t>
            </a:r>
          </a:p>
          <a:p>
            <a:pPr marL="0" indent="0" algn="just">
              <a:buNone/>
            </a:pPr>
            <a:r>
              <a:rPr lang="en-US" sz="1800" dirty="0"/>
              <a:t>Manual operation of home appliances leads to:</a:t>
            </a:r>
          </a:p>
          <a:p>
            <a:pPr algn="just"/>
            <a:r>
              <a:rPr lang="en-US" sz="1800" dirty="0"/>
              <a:t>Energy wastage.</a:t>
            </a:r>
          </a:p>
          <a:p>
            <a:pPr algn="just"/>
            <a:r>
              <a:rPr lang="en-US" sz="1800" dirty="0"/>
              <a:t>Inconvenience and inefficiency.</a:t>
            </a:r>
          </a:p>
          <a:p>
            <a:pPr algn="just"/>
            <a:r>
              <a:rPr lang="en-US" sz="1800" dirty="0"/>
              <a:t>Lack of centralized control and monitoring.</a:t>
            </a:r>
          </a:p>
          <a:p>
            <a:pPr algn="just"/>
            <a:r>
              <a:rPr lang="en-US" sz="1800" dirty="0"/>
              <a:t>Safety risks (fire, gas leak, intrusion).</a:t>
            </a:r>
          </a:p>
          <a:p>
            <a:pPr algn="just"/>
            <a:r>
              <a:rPr lang="en-US" sz="1800" dirty="0"/>
              <a:t>Hence, a smart IoT system is needed for remote, automated, and secure home management.</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6(b) Scope and Objective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endParaRPr lang="en-US" sz="1800" b="1" dirty="0"/>
          </a:p>
          <a:p>
            <a:pPr>
              <a:buFont typeface="Wingdings" panose="05000000000000000000" pitchFamily="2" charset="2"/>
              <a:buChar char="Ø"/>
            </a:pPr>
            <a:endParaRPr lang="en-US" sz="1800" b="1" dirty="0"/>
          </a:p>
          <a:p>
            <a:pPr>
              <a:buFont typeface="Wingdings" panose="05000000000000000000" pitchFamily="2" charset="2"/>
              <a:buChar char="Ø"/>
            </a:pPr>
            <a:r>
              <a:rPr lang="en-US" sz="1800" b="1" dirty="0"/>
              <a:t>Scope:</a:t>
            </a:r>
          </a:p>
          <a:p>
            <a:pPr marL="0" indent="0">
              <a:buNone/>
            </a:pPr>
            <a:r>
              <a:rPr lang="en-US" sz="1800" dirty="0"/>
              <a:t>To implement IoT-based automation for residential and multi-scale environments. The system provides a reliable solution compatible with IoT and remote monitoring of devices</a:t>
            </a:r>
            <a:r>
              <a:rPr lang="en-US" sz="1800" b="1" dirty="0"/>
              <a:t>.</a:t>
            </a:r>
          </a:p>
          <a:p>
            <a:pPr marL="0" indent="0">
              <a:buNone/>
            </a:pPr>
            <a:endParaRPr lang="en-US" sz="1800" b="1" dirty="0"/>
          </a:p>
          <a:p>
            <a:pPr>
              <a:buFont typeface="Wingdings" panose="05000000000000000000" pitchFamily="2" charset="2"/>
              <a:buChar char="Ø"/>
            </a:pPr>
            <a:r>
              <a:rPr lang="en-US" sz="1800" b="1" dirty="0"/>
              <a:t>Objectives:</a:t>
            </a:r>
          </a:p>
          <a:p>
            <a:pPr marL="0" indent="0">
              <a:buNone/>
            </a:pPr>
            <a:r>
              <a:rPr lang="en-US" sz="1800" dirty="0"/>
              <a:t>Design a cost-effective automation prototype using </a:t>
            </a:r>
            <a:r>
              <a:rPr lang="en-US" sz="1800" dirty="0" err="1"/>
              <a:t>NodeMCU</a:t>
            </a:r>
            <a:r>
              <a:rPr lang="en-US" sz="1800" dirty="0"/>
              <a:t>. Provide real-time monitoring and control via smartphone. Improve energy efficiency by 15–20%. Enhance safety with smart sensors and alerts.</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6(c) Stake holders</a:t>
            </a:r>
          </a:p>
        </p:txBody>
      </p:sp>
      <p:sp>
        <p:nvSpPr>
          <p:cNvPr id="3" name="Content Placeholder 2"/>
          <p:cNvSpPr>
            <a:spLocks noGrp="1"/>
          </p:cNvSpPr>
          <p:nvPr>
            <p:ph idx="1"/>
          </p:nvPr>
        </p:nvSpPr>
        <p:spPr/>
        <p:txBody>
          <a:bodyPr>
            <a:normAutofit/>
          </a:bodyPr>
          <a:lstStyle/>
          <a:p>
            <a:pPr marL="0" indent="0">
              <a:buNone/>
            </a:pPr>
            <a:endParaRPr lang="en-US" sz="1800" dirty="0"/>
          </a:p>
          <a:p>
            <a:pPr marL="0" indent="0"/>
            <a:r>
              <a:rPr lang="en-US" sz="1800" b="1" dirty="0"/>
              <a:t> End-users (Owners):</a:t>
            </a:r>
          </a:p>
          <a:p>
            <a:pPr marL="0" indent="0">
              <a:buNone/>
            </a:pPr>
            <a:r>
              <a:rPr lang="en-US" sz="1800" dirty="0"/>
              <a:t>End-users who operate the system</a:t>
            </a:r>
            <a:r>
              <a:rPr lang="en-US" sz="1800" b="1" dirty="0"/>
              <a:t>.</a:t>
            </a:r>
          </a:p>
          <a:p>
            <a:pPr marL="0" indent="0">
              <a:buNone/>
            </a:pPr>
            <a:endParaRPr lang="en-US" sz="1800" b="1" dirty="0"/>
          </a:p>
          <a:p>
            <a:pPr marL="0" indent="0"/>
            <a:r>
              <a:rPr lang="en-US" sz="1800" b="1" dirty="0"/>
              <a:t>Developers/Students:</a:t>
            </a:r>
          </a:p>
          <a:p>
            <a:pPr marL="0" indent="0">
              <a:buNone/>
            </a:pPr>
            <a:r>
              <a:rPr lang="en-US" sz="1800" dirty="0"/>
              <a:t>Build, test, and maintain the system</a:t>
            </a:r>
            <a:r>
              <a:rPr lang="en-US" sz="1800" b="1" dirty="0"/>
              <a:t>.</a:t>
            </a:r>
          </a:p>
          <a:p>
            <a:pPr marL="0" indent="0">
              <a:buNone/>
            </a:pPr>
            <a:endParaRPr lang="en-US" sz="1800" b="1" dirty="0"/>
          </a:p>
          <a:p>
            <a:pPr marL="0" indent="0"/>
            <a:r>
              <a:rPr lang="en-US" sz="1800" b="1" dirty="0"/>
              <a:t>Suppliers:</a:t>
            </a:r>
          </a:p>
          <a:p>
            <a:pPr marL="0" indent="0">
              <a:buNone/>
            </a:pPr>
            <a:r>
              <a:rPr lang="en-US" sz="1800" dirty="0"/>
              <a:t>Supply IoT components and hardware.</a:t>
            </a:r>
          </a:p>
          <a:p>
            <a:pPr marL="0" indent="0">
              <a:buNone/>
            </a:pPr>
            <a:endParaRPr lang="en-US" sz="1800" dirty="0"/>
          </a:p>
          <a:p>
            <a:pPr marL="0" indent="0"/>
            <a:r>
              <a:rPr lang="en-US" sz="1800" b="1" dirty="0"/>
              <a:t>Cloud Providers:</a:t>
            </a:r>
          </a:p>
          <a:p>
            <a:pPr marL="0" indent="0">
              <a:buNone/>
            </a:pPr>
            <a:r>
              <a:rPr lang="en-US" sz="1800" dirty="0"/>
              <a:t>Offer data communication services (Blynk/Firebase).</a:t>
            </a:r>
          </a:p>
          <a:p>
            <a:pPr marL="0" indent="0">
              <a:buNone/>
            </a:pPr>
            <a:endParaRPr lang="en-US" sz="1800" dirty="0"/>
          </a:p>
          <a:p>
            <a:pPr marL="0" indent="0"/>
            <a:r>
              <a:rPr lang="en-US" sz="1800" b="1" dirty="0"/>
              <a:t>Institutions/Organizations:</a:t>
            </a:r>
          </a:p>
          <a:p>
            <a:pPr marL="0" indent="0">
              <a:buNone/>
            </a:pPr>
            <a:r>
              <a:rPr lang="en-US" sz="1800" dirty="0"/>
              <a:t>Support research and deployment.</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6(d) Platform / Equipment / Resources identification</a:t>
            </a:r>
            <a:endParaRPr lang="en-US"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1800" b="1" dirty="0"/>
              <a:t>Hardware:</a:t>
            </a:r>
          </a:p>
          <a:p>
            <a:pPr marL="0" indent="0">
              <a:buNone/>
            </a:pPr>
            <a:r>
              <a:rPr lang="en-US" sz="1800" dirty="0" err="1"/>
              <a:t>NodeMCU</a:t>
            </a:r>
            <a:r>
              <a:rPr lang="en-US" sz="1800" dirty="0"/>
              <a:t> (ESP8266 Wi-Fi Module)</a:t>
            </a:r>
          </a:p>
          <a:p>
            <a:pPr marL="0" indent="0">
              <a:buNone/>
            </a:pPr>
            <a:r>
              <a:rPr lang="en-US" sz="1800" dirty="0"/>
              <a:t>Sensors (Temperature, Motion, LDR, Gas)</a:t>
            </a:r>
          </a:p>
          <a:p>
            <a:pPr marL="0" indent="0">
              <a:buNone/>
            </a:pPr>
            <a:r>
              <a:rPr lang="en-US" sz="1800" dirty="0"/>
              <a:t>Relay Module (4/8 Channel)</a:t>
            </a:r>
          </a:p>
          <a:p>
            <a:pPr marL="0" indent="0">
              <a:buNone/>
            </a:pPr>
            <a:r>
              <a:rPr lang="en-US" sz="1800" dirty="0"/>
              <a:t>Power Supply</a:t>
            </a:r>
          </a:p>
          <a:p>
            <a:pPr marL="0" indent="0">
              <a:buNone/>
            </a:pPr>
            <a:r>
              <a:rPr lang="en-US" sz="1800" dirty="0"/>
              <a:t>Electrical appliances (fan, light, etc.)</a:t>
            </a:r>
          </a:p>
          <a:p>
            <a:pPr>
              <a:buFont typeface="Wingdings" panose="05000000000000000000" pitchFamily="2" charset="2"/>
              <a:buChar char="Ø"/>
            </a:pPr>
            <a:r>
              <a:rPr lang="en-US" sz="1800" b="1" dirty="0"/>
              <a:t>Software:</a:t>
            </a:r>
          </a:p>
          <a:p>
            <a:pPr marL="0" indent="0">
              <a:buNone/>
            </a:pPr>
            <a:r>
              <a:rPr lang="en-US" sz="1800" dirty="0"/>
              <a:t>Arduino IDE – for coding </a:t>
            </a:r>
            <a:r>
              <a:rPr lang="en-US" sz="1800" dirty="0" err="1"/>
              <a:t>NodeMCU</a:t>
            </a:r>
            <a:endParaRPr lang="en-US" sz="1800" dirty="0"/>
          </a:p>
          <a:p>
            <a:pPr marL="0" indent="0">
              <a:buNone/>
            </a:pPr>
            <a:r>
              <a:rPr lang="en-US" sz="1800" dirty="0"/>
              <a:t>Blynk/Firebase – for cloud communication</a:t>
            </a:r>
          </a:p>
          <a:p>
            <a:pPr marL="0" indent="0">
              <a:buNone/>
            </a:pPr>
            <a:r>
              <a:rPr lang="en-US" sz="1800" dirty="0"/>
              <a:t>Mobile App – for monitoring and control</a:t>
            </a:r>
          </a:p>
          <a:p>
            <a:pPr marL="0" indent="0">
              <a:buNone/>
            </a:pPr>
            <a:r>
              <a:rPr lang="en-US" sz="1800" dirty="0"/>
              <a:t>IoT Protocols – MQTT / HTTP</a:t>
            </a:r>
          </a:p>
          <a:p>
            <a:pPr>
              <a:buFont typeface="Wingdings" panose="05000000000000000000" pitchFamily="2" charset="2"/>
              <a:buChar char="Ø"/>
            </a:pPr>
            <a:r>
              <a:rPr lang="en-US" sz="1800" b="1" dirty="0"/>
              <a:t>Resources:</a:t>
            </a:r>
          </a:p>
          <a:p>
            <a:pPr marL="0" indent="0">
              <a:buNone/>
            </a:pPr>
            <a:r>
              <a:rPr lang="en-US" sz="1800" dirty="0"/>
              <a:t>Internet connection</a:t>
            </a:r>
          </a:p>
          <a:p>
            <a:pPr marL="0" indent="0">
              <a:buNone/>
            </a:pPr>
            <a:r>
              <a:rPr lang="en-US" sz="1800" dirty="0"/>
              <a:t>Smartphone</a:t>
            </a:r>
          </a:p>
          <a:p>
            <a:pPr marL="0" indent="0">
              <a:buNone/>
            </a:pPr>
            <a:r>
              <a:rPr lang="en-US" sz="1800" dirty="0"/>
              <a:t>Breadboard and jumper wires for circuit connections</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CD3E-C74F-420C-BD9A-E0313EDF2E77}"/>
              </a:ext>
            </a:extLst>
          </p:cNvPr>
          <p:cNvSpPr>
            <a:spLocks noGrp="1"/>
          </p:cNvSpPr>
          <p:nvPr>
            <p:ph type="title"/>
          </p:nvPr>
        </p:nvSpPr>
        <p:spPr>
          <a:ln w="28575">
            <a:solidFill>
              <a:schemeClr val="accent1"/>
            </a:solidFill>
          </a:ln>
        </p:spPr>
        <p:txBody>
          <a:bodyPr>
            <a:normAutofit/>
          </a:bodyPr>
          <a:lstStyle/>
          <a:p>
            <a:r>
              <a:rPr lang="en-US" dirty="0"/>
              <a:t>Bibliography</a:t>
            </a:r>
          </a:p>
        </p:txBody>
      </p:sp>
      <p:sp>
        <p:nvSpPr>
          <p:cNvPr id="3" name="Content Placeholder 2">
            <a:extLst>
              <a:ext uri="{FF2B5EF4-FFF2-40B4-BE49-F238E27FC236}">
                <a16:creationId xmlns:a16="http://schemas.microsoft.com/office/drawing/2014/main" id="{C8C1F963-92E9-4553-8803-B0DDEE98DFC4}"/>
              </a:ext>
            </a:extLst>
          </p:cNvPr>
          <p:cNvSpPr>
            <a:spLocks noGrp="1"/>
          </p:cNvSpPr>
          <p:nvPr>
            <p:ph idx="1"/>
          </p:nvPr>
        </p:nvSpPr>
        <p:spPr>
          <a:ln w="28575">
            <a:solidFill>
              <a:schemeClr val="accent1"/>
            </a:solidFill>
          </a:ln>
        </p:spPr>
        <p:txBody>
          <a:bodyPr>
            <a:normAutofit/>
          </a:bodyPr>
          <a:lstStyle/>
          <a:p>
            <a:pPr>
              <a:buFont typeface="Wingdings" panose="05000000000000000000" pitchFamily="2" charset="2"/>
              <a:buChar char="Ø"/>
            </a:pPr>
            <a:endParaRPr lang="en-US" sz="1800" b="1" dirty="0"/>
          </a:p>
          <a:p>
            <a:pPr>
              <a:buFont typeface="Wingdings" panose="05000000000000000000" pitchFamily="2" charset="2"/>
              <a:buChar char="Ø"/>
            </a:pPr>
            <a:r>
              <a:rPr lang="en-US" sz="1800" b="1" dirty="0"/>
              <a:t>Books</a:t>
            </a:r>
          </a:p>
          <a:p>
            <a:pPr marL="0" indent="0">
              <a:buNone/>
            </a:pPr>
            <a:r>
              <a:rPr lang="en-US" sz="1800" dirty="0"/>
              <a:t>Internet of Things: Principles and Paradigms – Rajkumar </a:t>
            </a:r>
            <a:r>
              <a:rPr lang="en-US" sz="1800" dirty="0" err="1"/>
              <a:t>Buyya</a:t>
            </a:r>
            <a:r>
              <a:rPr lang="en-US" sz="1800" dirty="0"/>
              <a:t>.</a:t>
            </a:r>
          </a:p>
          <a:p>
            <a:pPr marL="0" indent="0">
              <a:buNone/>
            </a:pPr>
            <a:r>
              <a:rPr lang="en-US" sz="1800" dirty="0"/>
              <a:t>IoT Fundamentals – David Hanes, Gonzalo Salgueiro, Patrick Grossetete, Rob Barton, Jerome Henry.</a:t>
            </a:r>
          </a:p>
          <a:p>
            <a:pPr marL="0" indent="0">
              <a:buNone/>
            </a:pPr>
            <a:r>
              <a:rPr lang="en-US" sz="1800" dirty="0"/>
              <a:t>Smart Home Technologies – Y. S. Rathore, IEEE Publications, 2025.</a:t>
            </a:r>
          </a:p>
          <a:p>
            <a:pPr>
              <a:buFont typeface="Wingdings" panose="05000000000000000000" pitchFamily="2" charset="2"/>
              <a:buChar char="Ø"/>
            </a:pPr>
            <a:r>
              <a:rPr lang="en-US" sz="1800" b="1" dirty="0"/>
              <a:t>Websites</a:t>
            </a:r>
          </a:p>
          <a:p>
            <a:pPr marL="0" indent="0">
              <a:buNone/>
            </a:pPr>
            <a:r>
              <a:rPr lang="en-US" sz="1800" dirty="0">
                <a:solidFill>
                  <a:srgbClr val="00B0F0"/>
                </a:solidFill>
              </a:rPr>
              <a:t>www.blynk.io</a:t>
            </a:r>
          </a:p>
          <a:p>
            <a:pPr marL="0" indent="0">
              <a:buNone/>
            </a:pPr>
            <a:r>
              <a:rPr lang="en-US" sz="1800" dirty="0">
                <a:solidFill>
                  <a:srgbClr val="00B0F0"/>
                </a:solidFill>
              </a:rPr>
              <a:t>www.arduino.cc</a:t>
            </a:r>
          </a:p>
          <a:p>
            <a:pPr marL="0" indent="0">
              <a:buNone/>
            </a:pPr>
            <a:r>
              <a:rPr lang="en-US" sz="1800" dirty="0">
                <a:solidFill>
                  <a:srgbClr val="00B0F0"/>
                </a:solidFill>
              </a:rPr>
              <a:t>www.nodemcu.com</a:t>
            </a:r>
          </a:p>
          <a:p>
            <a:pPr marL="0" indent="0">
              <a:buNone/>
            </a:pPr>
            <a:r>
              <a:rPr lang="en-US" sz="1800" dirty="0">
                <a:solidFill>
                  <a:srgbClr val="00B0F0"/>
                </a:solidFill>
              </a:rPr>
              <a:t>www.sciencedirect.com</a:t>
            </a:r>
          </a:p>
          <a:p>
            <a:pPr marL="0" indent="0">
              <a:buNone/>
            </a:pPr>
            <a:endParaRPr lang="en-US" sz="1800" dirty="0"/>
          </a:p>
          <a:p>
            <a:pPr marL="0" indent="0">
              <a:buNone/>
            </a:pPr>
            <a:endParaRPr lang="en-US" sz="1800" dirty="0"/>
          </a:p>
        </p:txBody>
      </p:sp>
      <p:sp>
        <p:nvSpPr>
          <p:cNvPr id="4" name="Slide Number Placeholder 3"/>
          <p:cNvSpPr>
            <a:spLocks noGrp="1"/>
          </p:cNvSpPr>
          <p:nvPr>
            <p:ph type="sldNum" sz="quarter" idx="12"/>
          </p:nvPr>
        </p:nvSpPr>
        <p:spPr/>
        <p:txBody>
          <a:bodyPr/>
          <a:lstStyle/>
          <a:p>
            <a:fld id="{4AF1F8D0-972F-472E-AFE5-1F27E299DB0B}" type="slidenum">
              <a:rPr lang="en-US" smtClean="0"/>
              <a:pPr/>
              <a:t>14</a:t>
            </a:fld>
            <a:endParaRPr lang="en-US"/>
          </a:p>
        </p:txBody>
      </p:sp>
    </p:spTree>
    <p:extLst>
      <p:ext uri="{BB962C8B-B14F-4D97-AF65-F5344CB8AC3E}">
        <p14:creationId xmlns:p14="http://schemas.microsoft.com/office/powerpoint/2010/main" val="4050422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456148" y="1116542"/>
            <a:ext cx="8229600" cy="5334000"/>
          </a:xfrm>
        </p:spPr>
        <p:txBody>
          <a:bodyPr>
            <a:normAutofit/>
          </a:bodyPr>
          <a:lstStyle/>
          <a:p>
            <a:pPr algn="just"/>
            <a:endParaRPr lang="en-US" sz="1800" dirty="0"/>
          </a:p>
          <a:p>
            <a:pPr algn="just"/>
            <a:r>
              <a:rPr lang="en-US" sz="1800" dirty="0"/>
              <a:t>Vardakis, G. (2024). Smart Home Security Using IoT, Electronics Journal.</a:t>
            </a:r>
          </a:p>
          <a:p>
            <a:pPr algn="just"/>
            <a:r>
              <a:rPr lang="en-US" sz="1800" dirty="0"/>
              <a:t>Yuan, B. (2023). Security of Smart Home Systems: A Survey, JCST.</a:t>
            </a:r>
          </a:p>
          <a:p>
            <a:pPr algn="just"/>
            <a:r>
              <a:rPr lang="en-US" sz="1800" dirty="0"/>
              <a:t>Rathore, Y. S. (2025). Advanced IoT-Based Smart Home, IJSAT.</a:t>
            </a:r>
          </a:p>
          <a:p>
            <a:pPr algn="just"/>
            <a:r>
              <a:rPr lang="en-US" sz="1800" dirty="0"/>
              <a:t>Chen, Y. (2024). Design and Implementation of Smart Home System, ScienceDirect.</a:t>
            </a:r>
          </a:p>
          <a:p>
            <a:pPr algn="just"/>
            <a:r>
              <a:rPr lang="en-US" sz="1800" dirty="0"/>
              <a:t>Google AI Automation Features, Product Release Notes (2023–2024).</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05D240A-E601-4D59-96FD-F7BC6247F306}"/>
              </a:ext>
            </a:extLst>
          </p:cNvPr>
          <p:cNvSpPr/>
          <p:nvPr/>
        </p:nvSpPr>
        <p:spPr>
          <a:xfrm>
            <a:off x="1447801" y="2810112"/>
            <a:ext cx="6248399" cy="1200329"/>
          </a:xfrm>
          <a:prstGeom prst="rect">
            <a:avLst/>
          </a:prstGeom>
          <a:noFill/>
          <a:ln w="28575">
            <a:solidFill>
              <a:schemeClr val="accent1"/>
            </a:solidFill>
          </a:ln>
        </p:spPr>
        <p:txBody>
          <a:bodyPr wrap="square" lIns="91440" tIns="45720" rIns="91440" bIns="45720">
            <a:spAutoFit/>
          </a:bodyPr>
          <a:lstStyle/>
          <a:p>
            <a:pPr algn="ctr"/>
            <a:r>
              <a:rPr lang="en-US" sz="7200" dirty="0">
                <a:ln w="0"/>
                <a:effectLst>
                  <a:outerShdw blurRad="38100" dist="19050" dir="2700000" algn="tl" rotWithShape="0">
                    <a:schemeClr val="dk1">
                      <a:alpha val="40000"/>
                    </a:schemeClr>
                  </a:outerShdw>
                </a:effectLst>
              </a:rPr>
              <a:t>Thank you</a:t>
            </a:r>
          </a:p>
        </p:txBody>
      </p:sp>
      <p:sp>
        <p:nvSpPr>
          <p:cNvPr id="4" name="Slide Number Placeholder 3"/>
          <p:cNvSpPr>
            <a:spLocks noGrp="1"/>
          </p:cNvSpPr>
          <p:nvPr>
            <p:ph type="sldNum" sz="quarter" idx="12"/>
          </p:nvPr>
        </p:nvSpPr>
        <p:spPr/>
        <p:txBody>
          <a:bodyPr/>
          <a:lstStyle/>
          <a:p>
            <a:fld id="{4AF1F8D0-972F-472E-AFE5-1F27E299DB0B}" type="slidenum">
              <a:rPr lang="en-US" smtClean="0"/>
              <a:pPr/>
              <a:t>16</a:t>
            </a:fld>
            <a:endParaRPr lang="en-US"/>
          </a:p>
        </p:txBody>
      </p:sp>
    </p:spTree>
    <p:extLst>
      <p:ext uri="{BB962C8B-B14F-4D97-AF65-F5344CB8AC3E}">
        <p14:creationId xmlns:p14="http://schemas.microsoft.com/office/powerpoint/2010/main" val="3212743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FB45C23AA495248876994551EBC0B0D" ma:contentTypeVersion="6" ma:contentTypeDescription="Create a new document." ma:contentTypeScope="" ma:versionID="79eb160fa61b479c849f569640ab7fda">
  <xsd:schema xmlns:xsd="http://www.w3.org/2001/XMLSchema" xmlns:xs="http://www.w3.org/2001/XMLSchema" xmlns:p="http://schemas.microsoft.com/office/2006/metadata/properties" xmlns:ns2="05e192a1-976a-4ea8-b7f3-58c86a22ffe4" targetNamespace="http://schemas.microsoft.com/office/2006/metadata/properties" ma:root="true" ma:fieldsID="ad5e13a2b368e1adc336d9fe921cd917" ns2:_="">
    <xsd:import namespace="05e192a1-976a-4ea8-b7f3-58c86a22ffe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e192a1-976a-4ea8-b7f3-58c86a22ff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5F70FD7-F058-458D-A9D8-BACA9DA867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5e192a1-976a-4ea8-b7f3-58c86a22ff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FA14DBB-52E1-4F10-9F3F-60AA0AB20DD9}">
  <ds:schemaRefs>
    <ds:schemaRef ds:uri="http://schemas.microsoft.com/sharepoint/v3/contenttype/forms"/>
  </ds:schemaRefs>
</ds:datastoreItem>
</file>

<file path=customXml/itemProps3.xml><?xml version="1.0" encoding="utf-8"?>
<ds:datastoreItem xmlns:ds="http://schemas.openxmlformats.org/officeDocument/2006/customXml" ds:itemID="{C2B96158-47AC-4B87-8B3C-D13EC7A9D122}">
  <ds:schemaRefs>
    <ds:schemaRef ds:uri="http://purl.org/dc/dcmitype/"/>
    <ds:schemaRef ds:uri="05e192a1-976a-4ea8-b7f3-58c86a22ffe4"/>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1216</TotalTime>
  <Words>1177</Words>
  <Application>Microsoft Office PowerPoint</Application>
  <PresentationFormat>On-screen Show (4:3)</PresentationFormat>
  <Paragraphs>166</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Times New Roman</vt:lpstr>
      <vt:lpstr>Wingdings</vt:lpstr>
      <vt:lpstr>Office Theme</vt:lpstr>
      <vt:lpstr>PowerPoint Presentation</vt:lpstr>
      <vt:lpstr>Contents</vt:lpstr>
      <vt:lpstr>Abstract</vt:lpstr>
      <vt:lpstr>1. Introduction</vt:lpstr>
      <vt:lpstr>2. Literature Survey</vt:lpstr>
      <vt:lpstr>3. Information to seminar topic</vt:lpstr>
      <vt:lpstr>4. Advantages / Disadvantages</vt:lpstr>
      <vt:lpstr>5. Conclusion</vt:lpstr>
      <vt:lpstr>6. Project Initiation</vt:lpstr>
      <vt:lpstr>6(a) Problem Statement</vt:lpstr>
      <vt:lpstr>6(b) Scope and Objective</vt:lpstr>
      <vt:lpstr>6(c) Stake holders</vt:lpstr>
      <vt:lpstr>6(d) Platform / Equipment / Resources identification</vt:lpstr>
      <vt:lpstr>Bibliography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ssvps</dc:creator>
  <cp:lastModifiedBy>Karansing Rajput</cp:lastModifiedBy>
  <cp:revision>101</cp:revision>
  <dcterms:created xsi:type="dcterms:W3CDTF">2015-09-18T08:45:14Z</dcterms:created>
  <dcterms:modified xsi:type="dcterms:W3CDTF">2026-10-29T08:32:30Z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0x0101008FB45C23AA495248876994551EBC0B0D</vt:lpwstr>
  </property>
</Properties>
</file>