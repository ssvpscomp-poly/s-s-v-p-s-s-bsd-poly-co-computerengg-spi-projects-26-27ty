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2748" y="340817"/>
            <a:ext cx="6918502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4585" y="2006549"/>
            <a:ext cx="6037580" cy="438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85834" y="6447975"/>
            <a:ext cx="2667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google.com/" TargetMode="External"/><Relationship Id="rId3" Type="http://schemas.openxmlformats.org/officeDocument/2006/relationships/hyperlink" Target="http://www.indiacode.com/" TargetMode="External"/><Relationship Id="rId4" Type="http://schemas.openxmlformats.org/officeDocument/2006/relationships/hyperlink" Target="http://www.sciencedirect.com/" TargetMode="Externa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22250" y="298450"/>
          <a:ext cx="8728710" cy="57638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7010"/>
                <a:gridCol w="352425"/>
                <a:gridCol w="4191635"/>
                <a:gridCol w="2620645"/>
              </a:tblGrid>
              <a:tr h="175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255270" marR="248920" indent="-6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S.S.V.P.S’s</a:t>
                      </a:r>
                      <a:r>
                        <a:rPr dirty="0" sz="28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B.</a:t>
                      </a:r>
                      <a:r>
                        <a:rPr dirty="0" sz="28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dirty="0" sz="28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Deore</a:t>
                      </a:r>
                      <a:r>
                        <a:rPr dirty="0" sz="28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Polytechnic,</a:t>
                      </a:r>
                      <a:r>
                        <a:rPr dirty="0" sz="28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Dhule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Department</a:t>
                      </a:r>
                      <a:r>
                        <a:rPr dirty="0" sz="32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3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dirty="0" sz="32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Engineering </a:t>
                      </a: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Academic</a:t>
                      </a:r>
                      <a:r>
                        <a:rPr dirty="0" sz="3200" spc="-3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dirty="0" sz="320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3200" spc="-5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20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2026-</a:t>
                      </a:r>
                      <a:r>
                        <a:rPr dirty="0" sz="3200" spc="-20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2027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93090">
                <a:tc gridSpan="4"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dirty="0" sz="28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SEMINAR</a:t>
                      </a:r>
                      <a:r>
                        <a:rPr dirty="0" sz="2800" spc="-1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800" spc="-1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2800" spc="-105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INITIATION</a:t>
                      </a:r>
                      <a:r>
                        <a:rPr dirty="0" sz="2800" spc="-1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11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Sem</a:t>
                      </a:r>
                      <a:r>
                        <a:rPr dirty="0" sz="2100" spc="-15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2100" spc="-1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dirty="0" sz="2100" spc="-1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2100" spc="-2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490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SPI</a:t>
                      </a:r>
                      <a:r>
                        <a:rPr dirty="0" sz="2400" spc="-3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25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315003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dirty="0" sz="210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dirty="0" sz="2100" spc="48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100" spc="-50" b="1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8315">
                <a:tc gridSpan="4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Topic</a:t>
                      </a:r>
                      <a:r>
                        <a:rPr dirty="0" sz="2400" spc="-20" b="1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dirty="0" sz="2400" spc="-35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System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Roll </a:t>
                      </a:r>
                      <a:r>
                        <a:rPr dirty="0" sz="24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2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Student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33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Vaishavi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Ravindra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kathale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52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Divya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Ashok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Patil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59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Kalpesh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Sanjay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Patil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64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Komal Chandrashekhar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Patil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206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57200"/>
            <a:ext cx="1219200" cy="16272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8575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pc="-10"/>
              <a:t>Contents</a:t>
            </a:r>
          </a:p>
        </p:txBody>
      </p:sp>
      <p:sp>
        <p:nvSpPr>
          <p:cNvPr id="2" name="object 2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66419" y="1176273"/>
            <a:ext cx="6435090" cy="4942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7205" indent="-484505">
              <a:lnSpc>
                <a:spcPts val="2630"/>
              </a:lnSpc>
              <a:spcBef>
                <a:spcPts val="95"/>
              </a:spcBef>
              <a:buFont typeface="Arial"/>
              <a:buChar char="•"/>
              <a:tabLst>
                <a:tab pos="497205" algn="l"/>
              </a:tabLst>
            </a:pPr>
            <a:r>
              <a:rPr dirty="0" sz="2200" spc="-10">
                <a:latin typeface="Times New Roman"/>
                <a:cs typeface="Times New Roman"/>
              </a:rPr>
              <a:t>Certificate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610"/>
              </a:lnSpc>
              <a:buFont typeface="Arial"/>
              <a:buChar char="•"/>
              <a:tabLst>
                <a:tab pos="497205" algn="l"/>
              </a:tabLst>
            </a:pPr>
            <a:r>
              <a:rPr dirty="0" sz="2200" spc="-10">
                <a:latin typeface="Times New Roman"/>
                <a:cs typeface="Times New Roman"/>
              </a:rPr>
              <a:t>Abstract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610"/>
              </a:lnSpc>
              <a:buAutoNum type="arabicPeriod"/>
              <a:tabLst>
                <a:tab pos="497205" algn="l"/>
              </a:tabLst>
            </a:pPr>
            <a:r>
              <a:rPr dirty="0" sz="2200" spc="-10">
                <a:latin typeface="Times New Roman"/>
                <a:cs typeface="Times New Roman"/>
              </a:rPr>
              <a:t>Introduction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620"/>
              </a:lnSpc>
              <a:buAutoNum type="arabicPeriod"/>
              <a:tabLst>
                <a:tab pos="497205" algn="l"/>
              </a:tabLst>
            </a:pPr>
            <a:r>
              <a:rPr dirty="0" sz="2200">
                <a:latin typeface="Times New Roman"/>
                <a:cs typeface="Times New Roman"/>
              </a:rPr>
              <a:t>Literature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Review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610"/>
              </a:lnSpc>
              <a:buAutoNum type="arabicPeriod"/>
              <a:tabLst>
                <a:tab pos="497205" algn="l"/>
              </a:tabLst>
            </a:pPr>
            <a:r>
              <a:rPr dirty="0" sz="2200">
                <a:latin typeface="Times New Roman"/>
                <a:cs typeface="Times New Roman"/>
              </a:rPr>
              <a:t>Information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Seminar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topic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610"/>
              </a:lnSpc>
              <a:buAutoNum type="arabicPeriod"/>
              <a:tabLst>
                <a:tab pos="497205" algn="l"/>
              </a:tabLst>
            </a:pPr>
            <a:r>
              <a:rPr dirty="0" sz="2200">
                <a:latin typeface="Times New Roman"/>
                <a:cs typeface="Times New Roman"/>
              </a:rPr>
              <a:t>Advantages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Disadvantages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615"/>
              </a:lnSpc>
              <a:buAutoNum type="arabicPeriod"/>
              <a:tabLst>
                <a:tab pos="497205" algn="l"/>
              </a:tabLst>
            </a:pPr>
            <a:r>
              <a:rPr dirty="0" sz="2200" spc="-10">
                <a:latin typeface="Times New Roman"/>
                <a:cs typeface="Times New Roman"/>
              </a:rPr>
              <a:t>Conclusion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565"/>
              </a:lnSpc>
              <a:buAutoNum type="arabicPeriod"/>
              <a:tabLst>
                <a:tab pos="497205" algn="l"/>
              </a:tabLst>
            </a:pPr>
            <a:r>
              <a:rPr dirty="0" sz="2200">
                <a:latin typeface="Times New Roman"/>
                <a:cs typeface="Times New Roman"/>
              </a:rPr>
              <a:t>Project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Initiation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5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lvl="1" marL="1214120" indent="-488315">
              <a:lnSpc>
                <a:spcPts val="2510"/>
              </a:lnSpc>
              <a:buAutoNum type="arabicPeriod"/>
              <a:tabLst>
                <a:tab pos="1214120" algn="l"/>
              </a:tabLst>
            </a:pPr>
            <a:r>
              <a:rPr dirty="0" sz="2200">
                <a:latin typeface="Times New Roman"/>
                <a:cs typeface="Times New Roman"/>
              </a:rPr>
              <a:t>Description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problem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statement.</a:t>
            </a:r>
            <a:endParaRPr sz="2200">
              <a:latin typeface="Times New Roman"/>
              <a:cs typeface="Times New Roman"/>
            </a:endParaRPr>
          </a:p>
          <a:p>
            <a:pPr lvl="1" marL="1214120" indent="-488315">
              <a:lnSpc>
                <a:spcPts val="2515"/>
              </a:lnSpc>
              <a:buAutoNum type="arabicPeriod"/>
              <a:tabLst>
                <a:tab pos="1214120" algn="l"/>
              </a:tabLst>
            </a:pPr>
            <a:r>
              <a:rPr dirty="0" sz="2200">
                <a:latin typeface="Times New Roman"/>
                <a:cs typeface="Times New Roman"/>
              </a:rPr>
              <a:t>Scope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objectives.</a:t>
            </a:r>
            <a:endParaRPr sz="2200">
              <a:latin typeface="Times New Roman"/>
              <a:cs typeface="Times New Roman"/>
            </a:endParaRPr>
          </a:p>
          <a:p>
            <a:pPr lvl="1" marL="1214120" indent="-488315">
              <a:lnSpc>
                <a:spcPts val="2515"/>
              </a:lnSpc>
              <a:buAutoNum type="arabicPeriod"/>
              <a:tabLst>
                <a:tab pos="1214120" algn="l"/>
              </a:tabLst>
            </a:pPr>
            <a:r>
              <a:rPr dirty="0" sz="2200">
                <a:latin typeface="Times New Roman"/>
                <a:cs typeface="Times New Roman"/>
              </a:rPr>
              <a:t>Stake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holder</a:t>
            </a:r>
            <a:endParaRPr sz="2200">
              <a:latin typeface="Times New Roman"/>
              <a:cs typeface="Times New Roman"/>
            </a:endParaRPr>
          </a:p>
          <a:p>
            <a:pPr lvl="1" marL="1214120" indent="-488315">
              <a:lnSpc>
                <a:spcPts val="2510"/>
              </a:lnSpc>
              <a:buAutoNum type="arabicPeriod"/>
              <a:tabLst>
                <a:tab pos="1214120" algn="l"/>
              </a:tabLst>
            </a:pPr>
            <a:r>
              <a:rPr dirty="0" sz="2200">
                <a:latin typeface="Times New Roman"/>
                <a:cs typeface="Times New Roman"/>
              </a:rPr>
              <a:t>seminar</a:t>
            </a:r>
            <a:r>
              <a:rPr dirty="0" sz="2200" spc="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exsicussion</a:t>
            </a:r>
            <a:r>
              <a:rPr dirty="0" sz="2200" spc="49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plan</a:t>
            </a:r>
            <a:endParaRPr sz="2200">
              <a:latin typeface="Times New Roman"/>
              <a:cs typeface="Times New Roman"/>
            </a:endParaRPr>
          </a:p>
          <a:p>
            <a:pPr lvl="1" marL="1143635" indent="-417830">
              <a:lnSpc>
                <a:spcPts val="2565"/>
              </a:lnSpc>
              <a:buAutoNum type="arabicPeriod"/>
              <a:tabLst>
                <a:tab pos="1143635" algn="l"/>
              </a:tabLst>
            </a:pPr>
            <a:r>
              <a:rPr dirty="0" sz="2200">
                <a:latin typeface="Times New Roman"/>
                <a:cs typeface="Times New Roman"/>
              </a:rPr>
              <a:t>Platform/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Equipment/</a:t>
            </a:r>
            <a:r>
              <a:rPr dirty="0" sz="2200" spc="-8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Resources</a:t>
            </a:r>
            <a:r>
              <a:rPr dirty="0" sz="2200" spc="-9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identification.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615"/>
              </a:lnSpc>
              <a:buAutoNum type="arabicPeriod"/>
              <a:tabLst>
                <a:tab pos="497205" algn="l"/>
              </a:tabLst>
            </a:pPr>
            <a:r>
              <a:rPr dirty="0" sz="2200" spc="-10">
                <a:latin typeface="Times New Roman"/>
                <a:cs typeface="Times New Roman"/>
              </a:rPr>
              <a:t>Bibliography</a:t>
            </a:r>
            <a:endParaRPr sz="2200">
              <a:latin typeface="Times New Roman"/>
              <a:cs typeface="Times New Roman"/>
            </a:endParaRPr>
          </a:p>
          <a:p>
            <a:pPr marL="497205" indent="-484505">
              <a:lnSpc>
                <a:spcPts val="2630"/>
              </a:lnSpc>
              <a:buAutoNum type="arabicPeriod"/>
              <a:tabLst>
                <a:tab pos="497205" algn="l"/>
              </a:tabLst>
            </a:pPr>
            <a:r>
              <a:rPr dirty="0" sz="2200" spc="-10">
                <a:latin typeface="Times New Roman"/>
                <a:cs typeface="Times New Roman"/>
              </a:rPr>
              <a:t>References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636634" y="6431381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/>
          <p:cNvSpPr/>
          <p:nvPr/>
        </p:nvSpPr>
        <p:spPr>
          <a:xfrm>
            <a:off x="8411464" y="6356350"/>
            <a:ext cx="549275" cy="365125"/>
          </a:xfrm>
          <a:custGeom>
            <a:avLst/>
            <a:gdLst/>
            <a:ahLst/>
            <a:cxnLst/>
            <a:rect l="l" t="t" r="r" b="b"/>
            <a:pathLst>
              <a:path w="549275" h="365125">
                <a:moveTo>
                  <a:pt x="548703" y="0"/>
                </a:moveTo>
                <a:lnTo>
                  <a:pt x="0" y="0"/>
                </a:lnTo>
                <a:lnTo>
                  <a:pt x="0" y="365099"/>
                </a:lnTo>
                <a:lnTo>
                  <a:pt x="548703" y="365099"/>
                </a:lnTo>
                <a:lnTo>
                  <a:pt x="5487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4500" y="1206474"/>
          <a:ext cx="8604885" cy="550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4009"/>
                <a:gridCol w="274954"/>
                <a:gridCol w="273050"/>
              </a:tblGrid>
              <a:tr h="5137150">
                <a:tc gridSpan="2">
                  <a:txBody>
                    <a:bodyPr/>
                    <a:lstStyle/>
                    <a:p>
                      <a:pPr algn="just" marL="434340" marR="83185" indent="-342900">
                        <a:lnSpc>
                          <a:spcPct val="9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Char char="•"/>
                        <a:tabLst>
                          <a:tab pos="434340" algn="l"/>
                        </a:tabLst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2200" spc="1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22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dirty="0" sz="22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challenge</a:t>
                      </a:r>
                      <a:r>
                        <a:rPr dirty="0" sz="22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2200" spc="1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cities,</a:t>
                      </a:r>
                      <a:r>
                        <a:rPr dirty="0" sz="22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towns,</a:t>
                      </a:r>
                      <a:r>
                        <a:rPr dirty="0" sz="22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campuses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27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public</a:t>
                      </a:r>
                      <a:r>
                        <a:rPr dirty="0" sz="2200" spc="26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places.</a:t>
                      </a:r>
                      <a:r>
                        <a:rPr dirty="0" sz="2200" spc="27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Overflowing</a:t>
                      </a:r>
                      <a:r>
                        <a:rPr dirty="0" sz="2200" spc="27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bins,</a:t>
                      </a:r>
                      <a:r>
                        <a:rPr dirty="0" sz="2200" spc="27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mixed</a:t>
                      </a:r>
                      <a:r>
                        <a:rPr dirty="0" sz="2200" spc="27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waste,</a:t>
                      </a:r>
                      <a:r>
                        <a:rPr dirty="0" sz="2200" spc="27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irregular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collection</a:t>
                      </a:r>
                      <a:r>
                        <a:rPr dirty="0" sz="2200" spc="4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4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2200" spc="4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2200" spc="4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2200" spc="4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cause</a:t>
                      </a:r>
                      <a:r>
                        <a:rPr dirty="0" sz="2200" spc="4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pollution</a:t>
                      </a:r>
                      <a:r>
                        <a:rPr dirty="0" sz="2200" spc="4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4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health risks.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just" marL="434340" marR="82550" indent="-342900">
                        <a:lnSpc>
                          <a:spcPts val="2380"/>
                        </a:lnSpc>
                        <a:spcBef>
                          <a:spcPts val="2410"/>
                        </a:spcBef>
                        <a:buSzPct val="145454"/>
                        <a:buFont typeface="Arial"/>
                        <a:buChar char="•"/>
                        <a:tabLst>
                          <a:tab pos="434340" algn="l"/>
                        </a:tabLst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22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22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22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22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dirty="0" sz="22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technologies</a:t>
                      </a:r>
                      <a:r>
                        <a:rPr dirty="0" sz="22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dirty="0" sz="22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5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cameras,</a:t>
                      </a:r>
                      <a:r>
                        <a:rPr dirty="0" sz="2200" spc="4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dirty="0" sz="2200" spc="4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2200" spc="4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2200" spc="4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43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2200" spc="4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analytics</a:t>
                      </a:r>
                      <a:r>
                        <a:rPr dirty="0" sz="2200" spc="4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200" spc="43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support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segregation,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bin-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collection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planning.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just" marL="434340" marR="83820" indent="-342900">
                        <a:lnSpc>
                          <a:spcPts val="2380"/>
                        </a:lnSpc>
                        <a:spcBef>
                          <a:spcPts val="2365"/>
                        </a:spcBef>
                        <a:buSzPct val="145454"/>
                        <a:buFont typeface="Arial"/>
                        <a:buChar char="•"/>
                        <a:tabLst>
                          <a:tab pos="434340" algn="l"/>
                        </a:tabLst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2200" spc="5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2200" spc="5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dirty="0" sz="2200" spc="5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cleanliness</a:t>
                      </a:r>
                      <a:r>
                        <a:rPr dirty="0" sz="2200" spc="5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5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dirty="0" sz="2200" spc="5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2200" spc="5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2200" spc="5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supported</a:t>
                      </a:r>
                      <a:r>
                        <a:rPr dirty="0" sz="2200" spc="5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5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proper</a:t>
                      </a:r>
                      <a:r>
                        <a:rPr dirty="0" sz="2200" spc="204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infrastructure,</a:t>
                      </a:r>
                      <a:r>
                        <a:rPr dirty="0" sz="2200" spc="21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dirty="0" sz="2200" spc="215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supervision</a:t>
                      </a:r>
                      <a:r>
                        <a:rPr dirty="0" sz="2200" spc="21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21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responsible</a:t>
                      </a:r>
                      <a:r>
                        <a:rPr dirty="0" sz="2200" spc="21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handling.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33070" indent="-341630">
                        <a:lnSpc>
                          <a:spcPts val="2495"/>
                        </a:lnSpc>
                        <a:spcBef>
                          <a:spcPts val="2065"/>
                        </a:spcBef>
                        <a:buSzPct val="145454"/>
                        <a:buFont typeface="Arial"/>
                        <a:buChar char="•"/>
                        <a:tabLst>
                          <a:tab pos="433070" algn="l"/>
                        </a:tabLst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Keywords:</a:t>
                      </a:r>
                      <a:r>
                        <a:rPr dirty="0" sz="2200" spc="4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dirty="0" sz="2200" spc="48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Intelligence,</a:t>
                      </a:r>
                      <a:r>
                        <a:rPr dirty="0" sz="2200" spc="48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2200" spc="4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Bin,</a:t>
                      </a:r>
                      <a:r>
                        <a:rPr dirty="0" sz="2200" spc="4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4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Segregation,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434340">
                        <a:lnSpc>
                          <a:spcPts val="2735"/>
                        </a:lnSpc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IoT,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Learning,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Route</a:t>
                      </a:r>
                      <a:r>
                        <a:rPr dirty="0" sz="22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Optimization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5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2451735">
              <a:lnSpc>
                <a:spcPct val="100000"/>
              </a:lnSpc>
              <a:spcBef>
                <a:spcPts val="625"/>
              </a:spcBef>
            </a:pPr>
            <a:r>
              <a:rPr dirty="0"/>
              <a:t>1. </a:t>
            </a:r>
            <a:r>
              <a:rPr dirty="0" spc="-10"/>
              <a:t>Introduction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5940" y="4734719"/>
            <a:ext cx="8070850" cy="166433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ctr" marL="177165">
              <a:lnSpc>
                <a:spcPct val="100000"/>
              </a:lnSpc>
              <a:spcBef>
                <a:spcPts val="855"/>
              </a:spcBef>
            </a:pPr>
            <a:r>
              <a:rPr dirty="0" sz="2200" b="1">
                <a:latin typeface="Times New Roman"/>
                <a:cs typeface="Times New Roman"/>
              </a:rPr>
              <a:t>Fig</a:t>
            </a:r>
            <a:r>
              <a:rPr dirty="0" sz="2200" spc="-3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1.1</a:t>
            </a:r>
            <a:r>
              <a:rPr dirty="0" sz="2200" spc="-4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Smart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Dustbin</a:t>
            </a:r>
            <a:endParaRPr sz="2200">
              <a:latin typeface="Times New Roman"/>
              <a:cs typeface="Times New Roman"/>
            </a:endParaRPr>
          </a:p>
          <a:p>
            <a:pPr algn="just" marL="355600" marR="5080" indent="-342900">
              <a:lnSpc>
                <a:spcPts val="2380"/>
              </a:lnSpc>
              <a:spcBef>
                <a:spcPts val="2410"/>
              </a:spcBef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40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proposed</a:t>
            </a:r>
            <a:r>
              <a:rPr dirty="0" sz="2200" spc="4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3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is</a:t>
            </a:r>
            <a:r>
              <a:rPr dirty="0" sz="2200" spc="4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40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decision-</a:t>
            </a:r>
            <a:r>
              <a:rPr dirty="0" sz="2200">
                <a:latin typeface="Times New Roman"/>
                <a:cs typeface="Times New Roman"/>
              </a:rPr>
              <a:t>support</a:t>
            </a:r>
            <a:r>
              <a:rPr dirty="0" sz="2200" spc="4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tool.</a:t>
            </a:r>
            <a:r>
              <a:rPr dirty="0" sz="2200" spc="3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Final</a:t>
            </a:r>
            <a:r>
              <a:rPr dirty="0" sz="2200" spc="45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disposal, </a:t>
            </a:r>
            <a:r>
              <a:rPr dirty="0" sz="2200">
                <a:latin typeface="Times New Roman"/>
                <a:cs typeface="Times New Roman"/>
              </a:rPr>
              <a:t>safety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checks</a:t>
            </a:r>
            <a:r>
              <a:rPr dirty="0" sz="2200" spc="1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hazardous-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1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handling</a:t>
            </a:r>
            <a:r>
              <a:rPr dirty="0" sz="2200" spc="2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still</a:t>
            </a:r>
            <a:r>
              <a:rPr dirty="0" sz="2200" spc="15">
                <a:latin typeface="Times New Roman"/>
                <a:cs typeface="Times New Roman"/>
              </a:rPr>
              <a:t>  </a:t>
            </a:r>
            <a:r>
              <a:rPr dirty="0" sz="2200">
                <a:latin typeface="Times New Roman"/>
                <a:cs typeface="Times New Roman"/>
              </a:rPr>
              <a:t>require</a:t>
            </a:r>
            <a:r>
              <a:rPr dirty="0" sz="2200" spc="20">
                <a:latin typeface="Times New Roman"/>
                <a:cs typeface="Times New Roman"/>
              </a:rPr>
              <a:t>  </a:t>
            </a:r>
            <a:r>
              <a:rPr dirty="0" sz="2200" spc="-10">
                <a:latin typeface="Times New Roman"/>
                <a:cs typeface="Times New Roman"/>
              </a:rPr>
              <a:t>trained </a:t>
            </a:r>
            <a:r>
              <a:rPr dirty="0" sz="2200">
                <a:latin typeface="Times New Roman"/>
                <a:cs typeface="Times New Roman"/>
              </a:rPr>
              <a:t>people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approved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procedures.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10981" y="1320482"/>
            <a:ext cx="6962140" cy="5414010"/>
            <a:chOff x="2010981" y="1320482"/>
            <a:chExt cx="6962140" cy="5414010"/>
          </a:xfrm>
        </p:grpSpPr>
        <p:sp>
          <p:nvSpPr>
            <p:cNvPr id="6" name="object 6"/>
            <p:cNvSpPr/>
            <p:nvPr/>
          </p:nvSpPr>
          <p:spPr>
            <a:xfrm>
              <a:off x="8411464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0570" y="1329943"/>
              <a:ext cx="5309361" cy="353822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15744" y="1325244"/>
              <a:ext cx="5319395" cy="3547745"/>
            </a:xfrm>
            <a:custGeom>
              <a:avLst/>
              <a:gdLst/>
              <a:ahLst/>
              <a:cxnLst/>
              <a:rect l="l" t="t" r="r" b="b"/>
              <a:pathLst>
                <a:path w="5319395" h="3547745">
                  <a:moveTo>
                    <a:pt x="0" y="3547745"/>
                  </a:moveTo>
                  <a:lnTo>
                    <a:pt x="5318886" y="3547745"/>
                  </a:lnTo>
                  <a:lnTo>
                    <a:pt x="5318886" y="0"/>
                  </a:lnTo>
                  <a:lnTo>
                    <a:pt x="0" y="0"/>
                  </a:lnTo>
                  <a:lnTo>
                    <a:pt x="0" y="354774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660400"/>
          </a:xfrm>
          <a:prstGeom prst="rect"/>
          <a:ln w="25400">
            <a:solidFill>
              <a:srgbClr val="4F80BC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4980"/>
              </a:lnSpc>
            </a:pPr>
            <a:r>
              <a:rPr dirty="0">
                <a:solidFill>
                  <a:srgbClr val="0A2A6B"/>
                </a:solidFill>
              </a:rPr>
              <a:t>2.Literature </a:t>
            </a:r>
            <a:r>
              <a:rPr dirty="0" spc="-10">
                <a:solidFill>
                  <a:srgbClr val="0A2A6B"/>
                </a:solidFill>
              </a:rPr>
              <a:t>Survey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2119" y="1264919"/>
          <a:ext cx="8315959" cy="4888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524000"/>
                <a:gridCol w="1651000"/>
                <a:gridCol w="1219200"/>
                <a:gridCol w="1727200"/>
                <a:gridCol w="1651000"/>
              </a:tblGrid>
              <a:tr h="711200">
                <a:tc>
                  <a:txBody>
                    <a:bodyPr/>
                    <a:lstStyle/>
                    <a:p>
                      <a:pPr marL="76200" marR="67945" indent="-635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 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494665" marR="220345" indent="-2667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Approach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545465" marR="80645" indent="-4572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Technologies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Objective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Limitations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1392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181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 management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651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AI,</a:t>
                      </a:r>
                      <a:r>
                        <a:rPr dirty="0" sz="18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Smart</a:t>
                      </a:r>
                      <a:r>
                        <a:rPr dirty="0" sz="18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Bins, Route Optimisation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054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Identify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monitor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bins,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optimise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routes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632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High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cost, technical difficulty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</a:tr>
              <a:tr h="1392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578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CNN</a:t>
                      </a:r>
                      <a:r>
                        <a:rPr dirty="0" sz="18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 segregation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11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Computer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Vision,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CNN,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Sensors, Motors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73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Separate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into </a:t>
                      </a:r>
                      <a:r>
                        <a:rPr dirty="0" sz="1800" spc="-50">
                          <a:latin typeface="Arial"/>
                          <a:cs typeface="Arial"/>
                        </a:rPr>
                        <a:t>3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categories automatically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689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Needs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sensor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motor hardware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2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981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IoT and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AI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smart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bins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203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IoT,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Sensors,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Cloud,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AI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203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Predict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cut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collection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trips by up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to 40%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467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Depends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on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connectivity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356600" y="6375400"/>
            <a:ext cx="482600" cy="330200"/>
          </a:xfrm>
          <a:custGeom>
            <a:avLst/>
            <a:gdLst/>
            <a:ahLst/>
            <a:cxnLst/>
            <a:rect l="l" t="t" r="r" b="b"/>
            <a:pathLst>
              <a:path w="482600" h="330200">
                <a:moveTo>
                  <a:pt x="0" y="330200"/>
                </a:moveTo>
                <a:lnTo>
                  <a:pt x="482600" y="330200"/>
                </a:lnTo>
                <a:lnTo>
                  <a:pt x="482600" y="0"/>
                </a:lnTo>
                <a:lnTo>
                  <a:pt x="0" y="0"/>
                </a:lnTo>
                <a:lnTo>
                  <a:pt x="0" y="330200"/>
                </a:lnTo>
                <a:close/>
              </a:path>
            </a:pathLst>
          </a:custGeom>
          <a:ln w="25400">
            <a:solidFill>
              <a:srgbClr val="4F80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2119" y="312420"/>
          <a:ext cx="8315959" cy="584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524000"/>
                <a:gridCol w="1651000"/>
                <a:gridCol w="1219200"/>
                <a:gridCol w="1727200"/>
                <a:gridCol w="1651000"/>
              </a:tblGrid>
              <a:tr h="711200">
                <a:tc>
                  <a:txBody>
                    <a:bodyPr/>
                    <a:lstStyle/>
                    <a:p>
                      <a:pPr marL="76200" marR="67945" indent="-635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 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494665" marR="220345" indent="-2667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Approach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545465" marR="80645" indent="-4572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Technologies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Objective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Limitations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1282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822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Smart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 collection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AI, ML,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IoT,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63500" marR="575945">
                        <a:lnSpc>
                          <a:spcPts val="2100"/>
                        </a:lnSpc>
                        <a:spcBef>
                          <a:spcPts val="9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Computer Vision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054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Monitor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bins,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optimise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routes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79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High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cost,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network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issues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</a:tr>
              <a:tr h="1282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11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ML, DL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IoT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bins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324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ML,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Deep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Learning,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IoT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3500" marR="2959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Monitor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bins,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save fuel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cost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2705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Needs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future technology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82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124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TrashNet dataset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330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Image Classification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  <a:spcBef>
                          <a:spcPts val="40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~2,500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63500" marR="156845">
                        <a:lnSpc>
                          <a:spcPts val="2100"/>
                        </a:lnSpc>
                        <a:spcBef>
                          <a:spcPts val="9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images, </a:t>
                      </a:r>
                      <a:r>
                        <a:rPr dirty="0" sz="1800" spc="-50">
                          <a:latin typeface="Arial"/>
                          <a:cs typeface="Arial"/>
                        </a:rPr>
                        <a:t>6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classes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1054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Dataset to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train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AI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models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838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Few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images, plain background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</a:tr>
              <a:tr h="1282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MobileNetV2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800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Lightweight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Deep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Learning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679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Low-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memory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model for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smart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bins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3467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Needs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good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training images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8356600" y="6375400"/>
            <a:ext cx="482600" cy="330200"/>
          </a:xfrm>
          <a:custGeom>
            <a:avLst/>
            <a:gdLst/>
            <a:ahLst/>
            <a:cxnLst/>
            <a:rect l="l" t="t" r="r" b="b"/>
            <a:pathLst>
              <a:path w="482600" h="330200">
                <a:moveTo>
                  <a:pt x="0" y="330200"/>
                </a:moveTo>
                <a:lnTo>
                  <a:pt x="482600" y="330200"/>
                </a:lnTo>
                <a:lnTo>
                  <a:pt x="482600" y="0"/>
                </a:lnTo>
                <a:lnTo>
                  <a:pt x="0" y="0"/>
                </a:lnTo>
                <a:lnTo>
                  <a:pt x="0" y="330200"/>
                </a:lnTo>
                <a:close/>
              </a:path>
            </a:pathLst>
          </a:custGeom>
          <a:ln w="25400">
            <a:solidFill>
              <a:srgbClr val="4F80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2119" y="312420"/>
          <a:ext cx="8315959" cy="5840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1524000"/>
                <a:gridCol w="1651000"/>
                <a:gridCol w="1219200"/>
                <a:gridCol w="1727200"/>
                <a:gridCol w="1651000"/>
              </a:tblGrid>
              <a:tr h="711200">
                <a:tc>
                  <a:txBody>
                    <a:bodyPr/>
                    <a:lstStyle/>
                    <a:p>
                      <a:pPr marL="76200" marR="67945" indent="-635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 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494665" marR="220345" indent="-2667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Approach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545465" marR="80645" indent="-4572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Technologies </a:t>
                      </a:r>
                      <a:r>
                        <a:rPr dirty="0" sz="18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914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 </a:t>
                      </a: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Objective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Limitations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5759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 review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092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AI,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Route Optimisation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981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Review paper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94%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accuracy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4108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High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cost,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limited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data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50">
                          <a:latin typeface="Arial"/>
                          <a:cs typeface="Arial"/>
                        </a:rPr>
                        <a:t>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822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Smart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with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AI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AI, Smart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Bins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435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Save time,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fuel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and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effort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4108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High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cost,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limited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data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3600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 in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smart cities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AI,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IoT,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63500">
                        <a:lnSpc>
                          <a:spcPts val="213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Sensors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  <a:spcBef>
                          <a:spcPts val="40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94.3%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63500" marR="156210">
                        <a:lnSpc>
                          <a:spcPts val="2100"/>
                        </a:lnSpc>
                        <a:spcBef>
                          <a:spcPts val="9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accuracy,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32%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less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fuel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05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High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cost, maintenance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181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AI-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based waste management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213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AI,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IoT,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63500">
                        <a:lnSpc>
                          <a:spcPts val="2130"/>
                        </a:lnSpc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Sensors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1054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Identify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waste,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optimise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routes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0" marR="5632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High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cost, technical issues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26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 spc="-25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578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AI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smart waste segregation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71145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 spc="-10">
                          <a:latin typeface="Arial"/>
                          <a:cs typeface="Arial"/>
                        </a:rPr>
                        <a:t>Computer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Vision, </a:t>
                      </a:r>
                      <a:r>
                        <a:rPr dirty="0" sz="1800" spc="-20">
                          <a:latin typeface="Arial"/>
                          <a:cs typeface="Arial"/>
                        </a:rPr>
                        <a:t>CNN,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IoT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207010">
                        <a:lnSpc>
                          <a:spcPts val="2100"/>
                        </a:lnSpc>
                        <a:spcBef>
                          <a:spcPts val="52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Send waste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to </a:t>
                      </a:r>
                      <a:r>
                        <a:rPr dirty="0" sz="1800">
                          <a:latin typeface="Arial"/>
                          <a:cs typeface="Arial"/>
                        </a:rPr>
                        <a:t>correct </a:t>
                      </a:r>
                      <a:r>
                        <a:rPr dirty="0" sz="1800" spc="-25">
                          <a:latin typeface="Arial"/>
                          <a:cs typeface="Arial"/>
                        </a:rPr>
                        <a:t>bin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Not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stated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8356600" y="6375400"/>
            <a:ext cx="482600" cy="330200"/>
          </a:xfrm>
          <a:custGeom>
            <a:avLst/>
            <a:gdLst/>
            <a:ahLst/>
            <a:cxnLst/>
            <a:rect l="l" t="t" r="r" b="b"/>
            <a:pathLst>
              <a:path w="482600" h="330200">
                <a:moveTo>
                  <a:pt x="0" y="330200"/>
                </a:moveTo>
                <a:lnTo>
                  <a:pt x="482600" y="330200"/>
                </a:lnTo>
                <a:lnTo>
                  <a:pt x="482600" y="0"/>
                </a:lnTo>
                <a:lnTo>
                  <a:pt x="0" y="0"/>
                </a:lnTo>
                <a:lnTo>
                  <a:pt x="0" y="330200"/>
                </a:lnTo>
                <a:close/>
              </a:path>
            </a:pathLst>
          </a:custGeom>
          <a:ln w="25400">
            <a:solidFill>
              <a:srgbClr val="4F80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870710">
              <a:lnSpc>
                <a:spcPct val="100000"/>
              </a:lnSpc>
              <a:spcBef>
                <a:spcPts val="625"/>
              </a:spcBef>
            </a:pPr>
            <a:r>
              <a:rPr dirty="0"/>
              <a:t>2.</a:t>
            </a:r>
            <a:r>
              <a:rPr dirty="0" spc="-20"/>
              <a:t> </a:t>
            </a:r>
            <a:r>
              <a:rPr dirty="0"/>
              <a:t>Literature</a:t>
            </a:r>
            <a:r>
              <a:rPr dirty="0" spc="-35"/>
              <a:t> </a:t>
            </a:r>
            <a:r>
              <a:rPr dirty="0" spc="-10"/>
              <a:t>Survey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8631" y="4749342"/>
            <a:ext cx="7872095" cy="156845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0"/>
              </a:spcBef>
            </a:pPr>
            <a:r>
              <a:rPr dirty="0" sz="2200" b="1">
                <a:latin typeface="Times New Roman"/>
                <a:cs typeface="Times New Roman"/>
              </a:rPr>
              <a:t>Fig2.1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AI</a:t>
            </a:r>
            <a:r>
              <a:rPr dirty="0" sz="2200" spc="-4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Waste</a:t>
            </a:r>
            <a:r>
              <a:rPr dirty="0" sz="2200" spc="-3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Sorting</a:t>
            </a:r>
            <a:endParaRPr sz="2200">
              <a:latin typeface="Times New Roman"/>
              <a:cs typeface="Times New Roman"/>
            </a:endParaRPr>
          </a:p>
          <a:p>
            <a:pPr algn="just" marL="354330" marR="5080" indent="-342265">
              <a:lnSpc>
                <a:spcPts val="2160"/>
              </a:lnSpc>
              <a:spcBef>
                <a:spcPts val="2420"/>
              </a:spcBef>
              <a:buSzPct val="160000"/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Computer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vision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machine-</a:t>
            </a:r>
            <a:r>
              <a:rPr dirty="0" sz="2000">
                <a:latin typeface="Times New Roman"/>
                <a:cs typeface="Times New Roman"/>
              </a:rPr>
              <a:t>learning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models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classify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visible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waste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categories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such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paper,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plastic,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metal</a:t>
            </a:r>
            <a:r>
              <a:rPr dirty="0" sz="2000" spc="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organic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waste.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Accuracy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depends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lighting,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camera angle,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 quality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training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dataset.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81517" y="1327721"/>
            <a:ext cx="6991350" cy="5407025"/>
            <a:chOff x="1981517" y="1327721"/>
            <a:chExt cx="6991350" cy="5407025"/>
          </a:xfrm>
        </p:grpSpPr>
        <p:sp>
          <p:nvSpPr>
            <p:cNvPr id="6" name="object 6"/>
            <p:cNvSpPr/>
            <p:nvPr/>
          </p:nvSpPr>
          <p:spPr>
            <a:xfrm>
              <a:off x="8411464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0978" y="1337182"/>
              <a:ext cx="5161915" cy="343992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86279" y="1332483"/>
              <a:ext cx="5171440" cy="3449954"/>
            </a:xfrm>
            <a:custGeom>
              <a:avLst/>
              <a:gdLst/>
              <a:ahLst/>
              <a:cxnLst/>
              <a:rect l="l" t="t" r="r" b="b"/>
              <a:pathLst>
                <a:path w="5171440" h="3449954">
                  <a:moveTo>
                    <a:pt x="0" y="3449447"/>
                  </a:moveTo>
                  <a:lnTo>
                    <a:pt x="5171440" y="3449447"/>
                  </a:lnTo>
                  <a:lnTo>
                    <a:pt x="5171440" y="0"/>
                  </a:lnTo>
                  <a:lnTo>
                    <a:pt x="0" y="0"/>
                  </a:lnTo>
                  <a:lnTo>
                    <a:pt x="0" y="344944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628650">
              <a:lnSpc>
                <a:spcPct val="100000"/>
              </a:lnSpc>
              <a:spcBef>
                <a:spcPts val="625"/>
              </a:spcBef>
            </a:pPr>
            <a:r>
              <a:rPr dirty="0"/>
              <a:t>3.</a:t>
            </a:r>
            <a:r>
              <a:rPr dirty="0" spc="-10"/>
              <a:t> </a:t>
            </a:r>
            <a:r>
              <a:rPr dirty="0"/>
              <a:t>Information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seminar</a:t>
            </a:r>
            <a:r>
              <a:rPr dirty="0" spc="-5"/>
              <a:t> </a:t>
            </a:r>
            <a:r>
              <a:rPr dirty="0" spc="-10"/>
              <a:t>topic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8631" y="1243329"/>
            <a:ext cx="7848600" cy="4719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 marR="114300" indent="-342265">
              <a:lnSpc>
                <a:spcPct val="100000"/>
              </a:lnSpc>
              <a:spcBef>
                <a:spcPts val="95"/>
              </a:spcBef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Data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collection: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camera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captures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waste,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sensors </a:t>
            </a:r>
            <a:r>
              <a:rPr dirty="0" sz="2200" spc="-1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estimate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bin's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fill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level.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330" marR="165735" indent="-342265">
              <a:lnSpc>
                <a:spcPct val="100000"/>
              </a:lnSpc>
              <a:spcBef>
                <a:spcPts val="5"/>
              </a:spcBef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AI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analysis: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trained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image-</a:t>
            </a:r>
            <a:r>
              <a:rPr dirty="0" sz="2200">
                <a:latin typeface="Times New Roman"/>
                <a:cs typeface="Times New Roman"/>
              </a:rPr>
              <a:t>classification model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predicts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waste </a:t>
            </a:r>
            <a:r>
              <a:rPr dirty="0" sz="2200" spc="-1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category.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may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show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confidence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score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review.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Smart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monitoring: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sensor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readings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results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sent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0">
                <a:latin typeface="Times New Roman"/>
                <a:cs typeface="Times New Roman"/>
              </a:rPr>
              <a:t> a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>
                <a:latin typeface="Times New Roman"/>
                <a:cs typeface="Times New Roman"/>
              </a:rPr>
              <a:t>database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10">
                <a:latin typeface="Times New Roman"/>
                <a:cs typeface="Times New Roman"/>
              </a:rPr>
              <a:t> szerver.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54330" marR="23939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Dashboard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alerts: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staff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view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status,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identify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near-</a:t>
            </a:r>
            <a:r>
              <a:rPr dirty="0" sz="2200" spc="-20">
                <a:latin typeface="Times New Roman"/>
                <a:cs typeface="Times New Roman"/>
              </a:rPr>
              <a:t>full </a:t>
            </a:r>
            <a:r>
              <a:rPr dirty="0" sz="2200" spc="-2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bins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receive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notifications.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5"/>
              </a:spcBef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Collection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planning: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locations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needing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service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prioritised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to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support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efficient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route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planning.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3500">
              <a:lnSpc>
                <a:spcPts val="1410"/>
              </a:lnSpc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625"/>
              </a:spcBef>
            </a:pPr>
            <a:r>
              <a:rPr dirty="0"/>
              <a:t>System</a:t>
            </a:r>
            <a:r>
              <a:rPr dirty="0" spc="-15"/>
              <a:t> </a:t>
            </a:r>
            <a:r>
              <a:rPr dirty="0" spc="-1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4500" y="1206500"/>
            <a:ext cx="8528685" cy="5527675"/>
            <a:chOff x="444500" y="1206500"/>
            <a:chExt cx="8528685" cy="5527675"/>
          </a:xfrm>
        </p:grpSpPr>
        <p:sp>
          <p:nvSpPr>
            <p:cNvPr id="4" name="object 4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674734" y="6431381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Times New Roman"/>
                <a:cs typeface="Times New Roman"/>
              </a:rPr>
              <a:t>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11234" y="6460675"/>
            <a:ext cx="76200" cy="168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5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50850" y="1212850"/>
            <a:ext cx="8242300" cy="5451475"/>
            <a:chOff x="450850" y="1212850"/>
            <a:chExt cx="8242300" cy="5451475"/>
          </a:xfrm>
        </p:grpSpPr>
        <p:sp>
          <p:nvSpPr>
            <p:cNvPr id="10" name="object 10"/>
            <p:cNvSpPr/>
            <p:nvPr/>
          </p:nvSpPr>
          <p:spPr>
            <a:xfrm>
              <a:off x="457200" y="1219250"/>
              <a:ext cx="8229600" cy="715010"/>
            </a:xfrm>
            <a:custGeom>
              <a:avLst/>
              <a:gdLst/>
              <a:ahLst/>
              <a:cxnLst/>
              <a:rect l="l" t="t" r="r" b="b"/>
              <a:pathLst>
                <a:path w="8229600" h="715010">
                  <a:moveTo>
                    <a:pt x="8229600" y="0"/>
                  </a:moveTo>
                  <a:lnTo>
                    <a:pt x="2934970" y="0"/>
                  </a:lnTo>
                  <a:lnTo>
                    <a:pt x="0" y="0"/>
                  </a:lnTo>
                  <a:lnTo>
                    <a:pt x="0" y="714451"/>
                  </a:lnTo>
                  <a:lnTo>
                    <a:pt x="2934970" y="714451"/>
                  </a:lnTo>
                  <a:lnTo>
                    <a:pt x="8229600" y="714451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7200" y="1933625"/>
              <a:ext cx="8229600" cy="4724400"/>
            </a:xfrm>
            <a:custGeom>
              <a:avLst/>
              <a:gdLst/>
              <a:ahLst/>
              <a:cxnLst/>
              <a:rect l="l" t="t" r="r" b="b"/>
              <a:pathLst>
                <a:path w="8229600" h="4724400">
                  <a:moveTo>
                    <a:pt x="8229600" y="4084243"/>
                  </a:moveTo>
                  <a:lnTo>
                    <a:pt x="2934970" y="4084243"/>
                  </a:lnTo>
                  <a:lnTo>
                    <a:pt x="0" y="4084243"/>
                  </a:lnTo>
                  <a:lnTo>
                    <a:pt x="0" y="4724311"/>
                  </a:lnTo>
                  <a:lnTo>
                    <a:pt x="2934970" y="4724311"/>
                  </a:lnTo>
                  <a:lnTo>
                    <a:pt x="8229600" y="4724311"/>
                  </a:lnTo>
                  <a:lnTo>
                    <a:pt x="8229600" y="4084243"/>
                  </a:lnTo>
                  <a:close/>
                </a:path>
                <a:path w="8229600" h="4724400">
                  <a:moveTo>
                    <a:pt x="8229600" y="2857754"/>
                  </a:moveTo>
                  <a:lnTo>
                    <a:pt x="2934970" y="2857754"/>
                  </a:lnTo>
                  <a:lnTo>
                    <a:pt x="0" y="2857754"/>
                  </a:lnTo>
                  <a:lnTo>
                    <a:pt x="0" y="3572205"/>
                  </a:lnTo>
                  <a:lnTo>
                    <a:pt x="2934970" y="3572205"/>
                  </a:lnTo>
                  <a:lnTo>
                    <a:pt x="8229600" y="3572205"/>
                  </a:lnTo>
                  <a:lnTo>
                    <a:pt x="8229600" y="2857754"/>
                  </a:lnTo>
                  <a:close/>
                </a:path>
                <a:path w="8229600" h="4724400">
                  <a:moveTo>
                    <a:pt x="8229600" y="1428877"/>
                  </a:moveTo>
                  <a:lnTo>
                    <a:pt x="2934970" y="1428877"/>
                  </a:lnTo>
                  <a:lnTo>
                    <a:pt x="0" y="1428877"/>
                  </a:lnTo>
                  <a:lnTo>
                    <a:pt x="0" y="2143328"/>
                  </a:lnTo>
                  <a:lnTo>
                    <a:pt x="2934970" y="2143328"/>
                  </a:lnTo>
                  <a:lnTo>
                    <a:pt x="8229600" y="2143328"/>
                  </a:lnTo>
                  <a:lnTo>
                    <a:pt x="8229600" y="1428877"/>
                  </a:lnTo>
                  <a:close/>
                </a:path>
                <a:path w="8229600" h="4724400">
                  <a:moveTo>
                    <a:pt x="8229600" y="0"/>
                  </a:moveTo>
                  <a:lnTo>
                    <a:pt x="2934970" y="0"/>
                  </a:lnTo>
                  <a:lnTo>
                    <a:pt x="0" y="0"/>
                  </a:lnTo>
                  <a:lnTo>
                    <a:pt x="0" y="714451"/>
                  </a:lnTo>
                  <a:lnTo>
                    <a:pt x="2934970" y="714451"/>
                  </a:lnTo>
                  <a:lnTo>
                    <a:pt x="8229600" y="714451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E9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0850" y="1212850"/>
              <a:ext cx="8242300" cy="5451475"/>
            </a:xfrm>
            <a:custGeom>
              <a:avLst/>
              <a:gdLst/>
              <a:ahLst/>
              <a:cxnLst/>
              <a:rect l="l" t="t" r="r" b="b"/>
              <a:pathLst>
                <a:path w="8242300" h="5451475">
                  <a:moveTo>
                    <a:pt x="2941320" y="0"/>
                  </a:moveTo>
                  <a:lnTo>
                    <a:pt x="2941320" y="5451436"/>
                  </a:lnTo>
                </a:path>
                <a:path w="8242300" h="5451475">
                  <a:moveTo>
                    <a:pt x="0" y="720851"/>
                  </a:moveTo>
                  <a:lnTo>
                    <a:pt x="8242300" y="720851"/>
                  </a:lnTo>
                </a:path>
                <a:path w="8242300" h="5451475">
                  <a:moveTo>
                    <a:pt x="0" y="1435227"/>
                  </a:moveTo>
                  <a:lnTo>
                    <a:pt x="8242300" y="1435227"/>
                  </a:lnTo>
                </a:path>
                <a:path w="8242300" h="5451475">
                  <a:moveTo>
                    <a:pt x="0" y="2149729"/>
                  </a:moveTo>
                  <a:lnTo>
                    <a:pt x="8242300" y="2149729"/>
                  </a:lnTo>
                </a:path>
                <a:path w="8242300" h="5451475">
                  <a:moveTo>
                    <a:pt x="0" y="2864104"/>
                  </a:moveTo>
                  <a:lnTo>
                    <a:pt x="8242300" y="2864104"/>
                  </a:lnTo>
                </a:path>
                <a:path w="8242300" h="5451475">
                  <a:moveTo>
                    <a:pt x="0" y="3578605"/>
                  </a:moveTo>
                  <a:lnTo>
                    <a:pt x="8242300" y="3578605"/>
                  </a:lnTo>
                </a:path>
                <a:path w="8242300" h="5451475">
                  <a:moveTo>
                    <a:pt x="0" y="4292981"/>
                  </a:moveTo>
                  <a:lnTo>
                    <a:pt x="8242300" y="4292981"/>
                  </a:lnTo>
                </a:path>
                <a:path w="8242300" h="5451475">
                  <a:moveTo>
                    <a:pt x="0" y="4805006"/>
                  </a:moveTo>
                  <a:lnTo>
                    <a:pt x="8242300" y="4805006"/>
                  </a:lnTo>
                </a:path>
                <a:path w="8242300" h="5451475">
                  <a:moveTo>
                    <a:pt x="6350" y="0"/>
                  </a:moveTo>
                  <a:lnTo>
                    <a:pt x="6350" y="5451436"/>
                  </a:lnTo>
                </a:path>
                <a:path w="8242300" h="5451475">
                  <a:moveTo>
                    <a:pt x="8235950" y="0"/>
                  </a:moveTo>
                  <a:lnTo>
                    <a:pt x="8235950" y="5451436"/>
                  </a:lnTo>
                </a:path>
                <a:path w="8242300" h="5451475">
                  <a:moveTo>
                    <a:pt x="0" y="6350"/>
                  </a:moveTo>
                  <a:lnTo>
                    <a:pt x="8242300" y="6350"/>
                  </a:lnTo>
                </a:path>
                <a:path w="8242300" h="5451475">
                  <a:moveTo>
                    <a:pt x="0" y="5445086"/>
                  </a:moveTo>
                  <a:lnTo>
                    <a:pt x="8242300" y="544508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35940" y="1241805"/>
            <a:ext cx="6773545" cy="1017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25475">
              <a:lnSpc>
                <a:spcPct val="100000"/>
              </a:lnSpc>
              <a:spcBef>
                <a:spcPts val="100"/>
              </a:spcBef>
              <a:tabLst>
                <a:tab pos="4970780" algn="l"/>
              </a:tabLst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Component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Purpose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947670" algn="l"/>
              </a:tabLst>
            </a:pPr>
            <a:r>
              <a:rPr dirty="0" sz="1800">
                <a:latin typeface="Times New Roman"/>
                <a:cs typeface="Times New Roman"/>
              </a:rPr>
              <a:t>Camera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Input</a:t>
            </a:r>
            <a:r>
              <a:rPr dirty="0" sz="1800">
                <a:latin typeface="Times New Roman"/>
                <a:cs typeface="Times New Roman"/>
              </a:rPr>
              <a:t>	Captures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waste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 </a:t>
            </a:r>
            <a:r>
              <a:rPr dirty="0" sz="1800" spc="-10">
                <a:latin typeface="Times New Roman"/>
                <a:cs typeface="Times New Roman"/>
              </a:rPr>
              <a:t>classification.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" y="2674111"/>
            <a:ext cx="1505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Fill-</a:t>
            </a:r>
            <a:r>
              <a:rPr dirty="0" sz="1800">
                <a:latin typeface="Times New Roman"/>
                <a:cs typeface="Times New Roman"/>
              </a:rPr>
              <a:t>level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sensor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1417" y="2674111"/>
            <a:ext cx="51301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Estimates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whether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empty,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full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nearly full.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40" y="3388614"/>
            <a:ext cx="894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model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71417" y="3388614"/>
            <a:ext cx="48869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Classifies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visible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based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model's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training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4103370"/>
            <a:ext cx="13220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loT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10">
                <a:latin typeface="Times New Roman"/>
                <a:cs typeface="Times New Roman"/>
              </a:rPr>
              <a:t> Network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71417" y="4103370"/>
            <a:ext cx="40055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Transfers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readings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results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server.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4817745"/>
            <a:ext cx="8648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Database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71417" y="4817745"/>
            <a:ext cx="470408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Stores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IDs,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locations,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readings,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timestamps</a:t>
            </a:r>
            <a:r>
              <a:rPr dirty="0" sz="1800" spc="-25">
                <a:latin typeface="Times New Roman"/>
                <a:cs typeface="Times New Roman"/>
              </a:rPr>
              <a:t> and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Times New Roman"/>
                <a:cs typeface="Times New Roman"/>
              </a:rPr>
              <a:t>classifications.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40" y="5532526"/>
            <a:ext cx="10160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Dashboard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71417" y="5532526"/>
            <a:ext cx="42995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Displays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status,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collection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priorities.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5940" y="6044590"/>
            <a:ext cx="14789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Collection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team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71417" y="6044590"/>
            <a:ext cx="4997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Verifies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alerts,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collects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reports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maintenance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71417" y="6318910"/>
            <a:ext cx="571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Times New Roman"/>
                <a:cs typeface="Times New Roman"/>
              </a:rPr>
              <a:t>issues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404495">
              <a:lnSpc>
                <a:spcPct val="100000"/>
              </a:lnSpc>
              <a:spcBef>
                <a:spcPts val="625"/>
              </a:spcBef>
            </a:pPr>
            <a:r>
              <a:rPr dirty="0"/>
              <a:t>Working</a:t>
            </a:r>
            <a:r>
              <a:rPr dirty="0" spc="-25"/>
              <a:t> </a:t>
            </a:r>
            <a:r>
              <a:rPr dirty="0"/>
              <a:t>of the</a:t>
            </a:r>
            <a:r>
              <a:rPr dirty="0" spc="-25"/>
              <a:t> </a:t>
            </a:r>
            <a:r>
              <a:rPr dirty="0"/>
              <a:t>Proposed</a:t>
            </a:r>
            <a:r>
              <a:rPr dirty="0" spc="-25"/>
              <a:t> </a:t>
            </a:r>
            <a:r>
              <a:rPr dirty="0" spc="-1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5940" y="1267714"/>
            <a:ext cx="8073390" cy="277685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99085" marR="5715" indent="-287020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Step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1: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user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camera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provides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waste,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</a:t>
            </a:r>
            <a:r>
              <a:rPr dirty="0" sz="1800" spc="7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measures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the </a:t>
            </a:r>
            <a:r>
              <a:rPr dirty="0" sz="1800">
                <a:latin typeface="Times New Roman"/>
                <a:cs typeface="Times New Roman"/>
              </a:rPr>
              <a:t>bin's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level.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Step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2: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analyses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predicts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likely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waste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category.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18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Step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3: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classification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results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transmitted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server.</a:t>
            </a:r>
            <a:endParaRPr sz="1800">
              <a:latin typeface="Times New Roman"/>
              <a:cs typeface="Times New Roman"/>
            </a:endParaRPr>
          </a:p>
          <a:p>
            <a:pPr marL="299085" marR="6985" indent="-287020">
              <a:lnSpc>
                <a:spcPts val="1939"/>
              </a:lnSpc>
              <a:spcBef>
                <a:spcPts val="43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Step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4:</a:t>
            </a:r>
            <a:r>
              <a:rPr dirty="0" sz="1800" spc="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dashboard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updates</a:t>
            </a:r>
            <a:r>
              <a:rPr dirty="0" sz="1800" spc="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bin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status</a:t>
            </a:r>
            <a:r>
              <a:rPr dirty="0" sz="1800" spc="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raises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when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bin</a:t>
            </a:r>
            <a:r>
              <a:rPr dirty="0" sz="1800" spc="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reaches</a:t>
            </a:r>
            <a:r>
              <a:rPr dirty="0" sz="1800" spc="65">
                <a:latin typeface="Times New Roman"/>
                <a:cs typeface="Times New Roman"/>
              </a:rPr>
              <a:t> </a:t>
            </a:r>
            <a:r>
              <a:rPr dirty="0" sz="1800" spc="-50">
                <a:latin typeface="Times New Roman"/>
                <a:cs typeface="Times New Roman"/>
              </a:rPr>
              <a:t>a </a:t>
            </a:r>
            <a:r>
              <a:rPr dirty="0" sz="1800">
                <a:latin typeface="Times New Roman"/>
                <a:cs typeface="Times New Roman"/>
              </a:rPr>
              <a:t>defined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threshold.</a:t>
            </a:r>
            <a:endParaRPr sz="1800">
              <a:latin typeface="Times New Roman"/>
              <a:cs typeface="Times New Roman"/>
            </a:endParaRPr>
          </a:p>
          <a:p>
            <a:pPr marL="299085" marR="5715" indent="-287020">
              <a:lnSpc>
                <a:spcPts val="1939"/>
              </a:lnSpc>
              <a:spcBef>
                <a:spcPts val="415"/>
              </a:spcBef>
              <a:buFont typeface="Arial"/>
              <a:buChar char="•"/>
              <a:tabLst>
                <a:tab pos="299085" algn="l"/>
                <a:tab pos="6900545" algn="l"/>
              </a:tabLst>
            </a:pPr>
            <a:r>
              <a:rPr dirty="0" sz="1800">
                <a:latin typeface="Times New Roman"/>
                <a:cs typeface="Times New Roman"/>
              </a:rPr>
              <a:t>Step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5: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collection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team</a:t>
            </a:r>
            <a:r>
              <a:rPr dirty="0" sz="1800" spc="1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reviews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priorities</a:t>
            </a:r>
            <a:r>
              <a:rPr dirty="0" sz="1800" spc="1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1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collects</a:t>
            </a:r>
            <a:r>
              <a:rPr dirty="0" sz="1800" spc="1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waste</a:t>
            </a:r>
            <a:r>
              <a:rPr dirty="0" sz="1800">
                <a:latin typeface="Times New Roman"/>
                <a:cs typeface="Times New Roman"/>
              </a:rPr>
              <a:t>	according</a:t>
            </a:r>
            <a:r>
              <a:rPr dirty="0" sz="1800" spc="1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to </a:t>
            </a:r>
            <a:r>
              <a:rPr dirty="0" sz="1800">
                <a:latin typeface="Times New Roman"/>
                <a:cs typeface="Times New Roman"/>
              </a:rPr>
              <a:t>local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operating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rules.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950"/>
              </a:lnSpc>
              <a:spcBef>
                <a:spcPts val="395"/>
              </a:spcBef>
              <a:buFont typeface="Arial"/>
              <a:buChar char="•"/>
              <a:tabLst>
                <a:tab pos="299085" algn="l"/>
                <a:tab pos="7731125" algn="l"/>
              </a:tabLst>
            </a:pPr>
            <a:r>
              <a:rPr dirty="0" sz="1800">
                <a:latin typeface="Times New Roman"/>
                <a:cs typeface="Times New Roman"/>
              </a:rPr>
              <a:t>Step</a:t>
            </a:r>
            <a:r>
              <a:rPr dirty="0" sz="1800" spc="2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6:</a:t>
            </a:r>
            <a:r>
              <a:rPr dirty="0" sz="1800" spc="3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Staff</a:t>
            </a:r>
            <a:r>
              <a:rPr dirty="0" sz="1800" spc="3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feedback</a:t>
            </a:r>
            <a:r>
              <a:rPr dirty="0" sz="1800" spc="2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2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recorded</a:t>
            </a:r>
            <a:r>
              <a:rPr dirty="0" sz="1800" spc="3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25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help</a:t>
            </a:r>
            <a:r>
              <a:rPr dirty="0" sz="1800" spc="4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evaluate</a:t>
            </a:r>
            <a:r>
              <a:rPr dirty="0" sz="1800" spc="30">
                <a:latin typeface="Times New Roman"/>
                <a:cs typeface="Times New Roman"/>
              </a:rPr>
              <a:t> 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25">
                <a:latin typeface="Times New Roman"/>
                <a:cs typeface="Times New Roman"/>
              </a:rPr>
              <a:t>  </a:t>
            </a:r>
            <a:r>
              <a:rPr dirty="0" sz="1800" spc="-10">
                <a:latin typeface="Times New Roman"/>
                <a:cs typeface="Times New Roman"/>
              </a:rPr>
              <a:t>performance</a:t>
            </a: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improve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model.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1526" y="6127191"/>
            <a:ext cx="3519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Fig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3.1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Camera+Sensor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+Smart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Bin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76105" y="3876725"/>
            <a:ext cx="6097270" cy="2857500"/>
            <a:chOff x="2876105" y="3876725"/>
            <a:chExt cx="6097270" cy="2857500"/>
          </a:xfrm>
        </p:grpSpPr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85693" y="3886250"/>
              <a:ext cx="2674493" cy="227482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880867" y="3881488"/>
              <a:ext cx="2684145" cy="2284730"/>
            </a:xfrm>
            <a:custGeom>
              <a:avLst/>
              <a:gdLst/>
              <a:ahLst/>
              <a:cxnLst/>
              <a:rect l="l" t="t" r="r" b="b"/>
              <a:pathLst>
                <a:path w="2684145" h="2284729">
                  <a:moveTo>
                    <a:pt x="0" y="2284348"/>
                  </a:moveTo>
                  <a:lnTo>
                    <a:pt x="2684018" y="2284348"/>
                  </a:lnTo>
                  <a:lnTo>
                    <a:pt x="2684018" y="0"/>
                  </a:lnTo>
                  <a:lnTo>
                    <a:pt x="0" y="0"/>
                  </a:lnTo>
                  <a:lnTo>
                    <a:pt x="0" y="228434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624"/>
            <a:ext cx="8229600" cy="868680"/>
          </a:xfrm>
          <a:custGeom>
            <a:avLst/>
            <a:gdLst/>
            <a:ahLst/>
            <a:cxnLst/>
            <a:rect l="l" t="t" r="r" b="b"/>
            <a:pathLst>
              <a:path w="8229600" h="868680">
                <a:moveTo>
                  <a:pt x="0" y="868502"/>
                </a:moveTo>
                <a:lnTo>
                  <a:pt x="8229600" y="868502"/>
                </a:lnTo>
                <a:lnTo>
                  <a:pt x="8229600" y="0"/>
                </a:lnTo>
                <a:lnTo>
                  <a:pt x="0" y="0"/>
                </a:lnTo>
                <a:lnTo>
                  <a:pt x="0" y="86850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4.</a:t>
            </a:r>
            <a:r>
              <a:rPr dirty="0" spc="-20"/>
              <a:t> </a:t>
            </a:r>
            <a:r>
              <a:rPr dirty="0"/>
              <a:t>Advantages</a:t>
            </a:r>
            <a:r>
              <a:rPr dirty="0" spc="-65"/>
              <a:t> </a:t>
            </a:r>
            <a:r>
              <a:rPr dirty="0"/>
              <a:t>/</a:t>
            </a:r>
            <a:r>
              <a:rPr dirty="0" spc="-20"/>
              <a:t> </a:t>
            </a:r>
            <a:r>
              <a:rPr dirty="0" spc="-10"/>
              <a:t>Disadvantages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44500" y="1195069"/>
            <a:ext cx="8528685" cy="5539105"/>
            <a:chOff x="444500" y="1195069"/>
            <a:chExt cx="8528685" cy="5539105"/>
          </a:xfrm>
        </p:grpSpPr>
        <p:sp>
          <p:nvSpPr>
            <p:cNvPr id="5" name="object 5"/>
            <p:cNvSpPr/>
            <p:nvPr/>
          </p:nvSpPr>
          <p:spPr>
            <a:xfrm>
              <a:off x="457200" y="1219199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11464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7200" y="1201381"/>
              <a:ext cx="8229600" cy="871855"/>
            </a:xfrm>
            <a:custGeom>
              <a:avLst/>
              <a:gdLst/>
              <a:ahLst/>
              <a:cxnLst/>
              <a:rect l="l" t="t" r="r" b="b"/>
              <a:pathLst>
                <a:path w="8229600" h="871855">
                  <a:moveTo>
                    <a:pt x="8229600" y="0"/>
                  </a:moveTo>
                  <a:lnTo>
                    <a:pt x="4100068" y="0"/>
                  </a:lnTo>
                  <a:lnTo>
                    <a:pt x="0" y="0"/>
                  </a:lnTo>
                  <a:lnTo>
                    <a:pt x="0" y="871258"/>
                  </a:lnTo>
                  <a:lnTo>
                    <a:pt x="4100068" y="871258"/>
                  </a:lnTo>
                  <a:lnTo>
                    <a:pt x="8229600" y="871258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57200" y="2072601"/>
              <a:ext cx="8229600" cy="4462780"/>
            </a:xfrm>
            <a:custGeom>
              <a:avLst/>
              <a:gdLst/>
              <a:ahLst/>
              <a:cxnLst/>
              <a:rect l="l" t="t" r="r" b="b"/>
              <a:pathLst>
                <a:path w="8229600" h="4462780">
                  <a:moveTo>
                    <a:pt x="8229600" y="3564915"/>
                  </a:moveTo>
                  <a:lnTo>
                    <a:pt x="4100068" y="3564915"/>
                  </a:lnTo>
                  <a:lnTo>
                    <a:pt x="0" y="3564915"/>
                  </a:lnTo>
                  <a:lnTo>
                    <a:pt x="0" y="4462780"/>
                  </a:lnTo>
                  <a:lnTo>
                    <a:pt x="4100068" y="4462780"/>
                  </a:lnTo>
                  <a:lnTo>
                    <a:pt x="8229600" y="4462780"/>
                  </a:lnTo>
                  <a:lnTo>
                    <a:pt x="8229600" y="3564915"/>
                  </a:lnTo>
                  <a:close/>
                </a:path>
                <a:path w="8229600" h="4462780">
                  <a:moveTo>
                    <a:pt x="8229600" y="1769173"/>
                  </a:moveTo>
                  <a:lnTo>
                    <a:pt x="4100068" y="1769173"/>
                  </a:lnTo>
                  <a:lnTo>
                    <a:pt x="0" y="1769173"/>
                  </a:lnTo>
                  <a:lnTo>
                    <a:pt x="0" y="2667038"/>
                  </a:lnTo>
                  <a:lnTo>
                    <a:pt x="4100068" y="2667038"/>
                  </a:lnTo>
                  <a:lnTo>
                    <a:pt x="8229600" y="2667038"/>
                  </a:lnTo>
                  <a:lnTo>
                    <a:pt x="8229600" y="1769173"/>
                  </a:lnTo>
                  <a:close/>
                </a:path>
                <a:path w="8229600" h="4462780">
                  <a:moveTo>
                    <a:pt x="8229600" y="0"/>
                  </a:moveTo>
                  <a:lnTo>
                    <a:pt x="4100068" y="0"/>
                  </a:lnTo>
                  <a:lnTo>
                    <a:pt x="0" y="0"/>
                  </a:lnTo>
                  <a:lnTo>
                    <a:pt x="0" y="871258"/>
                  </a:lnTo>
                  <a:lnTo>
                    <a:pt x="4100068" y="871258"/>
                  </a:lnTo>
                  <a:lnTo>
                    <a:pt x="8229600" y="871258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E9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0850" y="1195069"/>
              <a:ext cx="8242300" cy="5346700"/>
            </a:xfrm>
            <a:custGeom>
              <a:avLst/>
              <a:gdLst/>
              <a:ahLst/>
              <a:cxnLst/>
              <a:rect l="l" t="t" r="r" b="b"/>
              <a:pathLst>
                <a:path w="8242300" h="5346700">
                  <a:moveTo>
                    <a:pt x="4106417" y="0"/>
                  </a:moveTo>
                  <a:lnTo>
                    <a:pt x="4106417" y="5346661"/>
                  </a:lnTo>
                </a:path>
                <a:path w="8242300" h="5346700">
                  <a:moveTo>
                    <a:pt x="0" y="877569"/>
                  </a:moveTo>
                  <a:lnTo>
                    <a:pt x="8242300" y="877569"/>
                  </a:lnTo>
                </a:path>
                <a:path w="8242300" h="5346700">
                  <a:moveTo>
                    <a:pt x="0" y="1748789"/>
                  </a:moveTo>
                  <a:lnTo>
                    <a:pt x="8242300" y="1748789"/>
                  </a:lnTo>
                </a:path>
                <a:path w="8242300" h="5346700">
                  <a:moveTo>
                    <a:pt x="0" y="2646679"/>
                  </a:moveTo>
                  <a:lnTo>
                    <a:pt x="8242300" y="2646679"/>
                  </a:lnTo>
                </a:path>
                <a:path w="8242300" h="5346700">
                  <a:moveTo>
                    <a:pt x="0" y="3544569"/>
                  </a:moveTo>
                  <a:lnTo>
                    <a:pt x="8242300" y="3544569"/>
                  </a:lnTo>
                </a:path>
                <a:path w="8242300" h="5346700">
                  <a:moveTo>
                    <a:pt x="0" y="4442447"/>
                  </a:moveTo>
                  <a:lnTo>
                    <a:pt x="8242300" y="4442447"/>
                  </a:lnTo>
                </a:path>
                <a:path w="8242300" h="5346700">
                  <a:moveTo>
                    <a:pt x="6350" y="0"/>
                  </a:moveTo>
                  <a:lnTo>
                    <a:pt x="6350" y="5346661"/>
                  </a:lnTo>
                </a:path>
                <a:path w="8242300" h="5346700">
                  <a:moveTo>
                    <a:pt x="8235950" y="0"/>
                  </a:moveTo>
                  <a:lnTo>
                    <a:pt x="8235950" y="5346661"/>
                  </a:lnTo>
                </a:path>
                <a:path w="8242300" h="5346700">
                  <a:moveTo>
                    <a:pt x="0" y="6350"/>
                  </a:moveTo>
                  <a:lnTo>
                    <a:pt x="8242300" y="6350"/>
                  </a:lnTo>
                </a:path>
                <a:path w="8242300" h="5346700">
                  <a:moveTo>
                    <a:pt x="0" y="5340311"/>
                  </a:moveTo>
                  <a:lnTo>
                    <a:pt x="8242300" y="534031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732914" y="1224153"/>
            <a:ext cx="58426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9700" algn="l"/>
              </a:tabLst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Advantages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Disadvantages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5940" y="2098675"/>
            <a:ext cx="3566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help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identify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waste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categories.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6770" y="2100198"/>
            <a:ext cx="3492500" cy="5727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>
                <a:latin typeface="Arial"/>
                <a:cs typeface="Arial"/>
              </a:rPr>
              <a:t>AI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predictions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may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incorrect </a:t>
            </a:r>
            <a:r>
              <a:rPr dirty="0" sz="1800" spc="-25">
                <a:latin typeface="Arial"/>
                <a:cs typeface="Arial"/>
              </a:rPr>
              <a:t>for </a:t>
            </a:r>
            <a:r>
              <a:rPr dirty="0" sz="1800">
                <a:latin typeface="Arial"/>
                <a:cs typeface="Arial"/>
              </a:rPr>
              <a:t>dirty,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hidden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mixed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waste.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" y="2971546"/>
            <a:ext cx="3616960" cy="5727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alert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staff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when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bins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nearly full.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6770" y="2971546"/>
            <a:ext cx="3169285" cy="5727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>
                <a:latin typeface="Arial"/>
                <a:cs typeface="Arial"/>
              </a:rPr>
              <a:t>Sensors,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cameras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network </a:t>
            </a:r>
            <a:r>
              <a:rPr dirty="0" sz="1800">
                <a:latin typeface="Arial"/>
                <a:cs typeface="Arial"/>
              </a:rPr>
              <a:t>devices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need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maintenance.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40" y="3869563"/>
            <a:ext cx="3718560" cy="5727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>
                <a:latin typeface="Arial"/>
                <a:cs typeface="Arial"/>
              </a:rPr>
              <a:t>Can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support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more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efficient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collection planning.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36770" y="3869563"/>
            <a:ext cx="3759200" cy="5727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>
                <a:latin typeface="Arial"/>
                <a:cs typeface="Arial"/>
              </a:rPr>
              <a:t>Initial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installation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operating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costs </a:t>
            </a:r>
            <a:r>
              <a:rPr dirty="0" sz="1800">
                <a:latin typeface="Arial"/>
                <a:cs typeface="Arial"/>
              </a:rPr>
              <a:t>may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10">
                <a:latin typeface="Arial"/>
                <a:cs typeface="Arial"/>
              </a:rPr>
              <a:t> high.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4767453"/>
            <a:ext cx="3796029" cy="572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55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Provides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status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planning </a:t>
            </a:r>
            <a:r>
              <a:rPr dirty="0" sz="1800" spc="-25"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55"/>
              </a:lnSpc>
            </a:pPr>
            <a:r>
              <a:rPr dirty="0" sz="1800" spc="-10">
                <a:latin typeface="Arial"/>
                <a:cs typeface="Arial"/>
              </a:rPr>
              <a:t>reporting.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36770" y="4767453"/>
            <a:ext cx="3906520" cy="572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55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Performance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depends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connectivity,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55"/>
              </a:lnSpc>
            </a:pPr>
            <a:r>
              <a:rPr dirty="0" sz="1800">
                <a:latin typeface="Arial"/>
                <a:cs typeface="Arial"/>
              </a:rPr>
              <a:t>power and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quality.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5665723"/>
            <a:ext cx="3931920" cy="5727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>
                <a:latin typeface="Arial"/>
                <a:cs typeface="Arial"/>
              </a:rPr>
              <a:t>May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improve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cleanliness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recycling workflows.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6770" y="5665723"/>
            <a:ext cx="3870960" cy="57277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dirty="0" sz="1800">
                <a:latin typeface="Arial"/>
                <a:cs typeface="Arial"/>
              </a:rPr>
              <a:t>Privacy,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security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responsible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data </a:t>
            </a:r>
            <a:r>
              <a:rPr dirty="0" sz="1800">
                <a:latin typeface="Arial"/>
                <a:cs typeface="Arial"/>
              </a:rPr>
              <a:t>handling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must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considered.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2559685">
              <a:lnSpc>
                <a:spcPct val="100000"/>
              </a:lnSpc>
              <a:spcBef>
                <a:spcPts val="625"/>
              </a:spcBef>
            </a:pPr>
            <a:r>
              <a:rPr dirty="0"/>
              <a:t>5. </a:t>
            </a:r>
            <a:r>
              <a:rPr dirty="0" spc="-1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8631" y="1243329"/>
            <a:ext cx="7684770" cy="4719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330" marR="257810" indent="-342265">
              <a:lnSpc>
                <a:spcPct val="100000"/>
              </a:lnSpc>
              <a:spcBef>
                <a:spcPts val="95"/>
              </a:spcBef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An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AI-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Management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combine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AI,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IoT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sensors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dashboard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support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classification,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bin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monitoring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collection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planning.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spcBef>
                <a:spcPts val="5"/>
              </a:spcBef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may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reduce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unnecessary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manual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inspections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help </a:t>
            </a:r>
            <a:r>
              <a:rPr dirty="0" sz="2200" spc="-2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staff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respond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to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full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bins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more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quickly.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330" marR="196850" indent="-342265">
              <a:lnSpc>
                <a:spcPct val="100000"/>
              </a:lnSpc>
              <a:spcBef>
                <a:spcPts val="5"/>
              </a:spcBef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Its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success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depends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on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reliable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sensors,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locally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relevant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training </a:t>
            </a:r>
            <a:r>
              <a:rPr dirty="0" sz="2200" spc="-1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data,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regular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maintenance,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safe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waste-</a:t>
            </a:r>
            <a:r>
              <a:rPr dirty="0" sz="2200">
                <a:latin typeface="Times New Roman"/>
                <a:cs typeface="Times New Roman"/>
              </a:rPr>
              <a:t>handling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practices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and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human</a:t>
            </a:r>
            <a:r>
              <a:rPr dirty="0" sz="2200" spc="-6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verification.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330" marR="29908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The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project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can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developed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stages,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starting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small </a:t>
            </a:r>
            <a:r>
              <a:rPr dirty="0" sz="2200" spc="-1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prototype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testing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sample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simulated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20">
                <a:latin typeface="Times New Roman"/>
                <a:cs typeface="Times New Roman"/>
              </a:rPr>
              <a:t>bin-</a:t>
            </a:r>
            <a:r>
              <a:rPr dirty="0" sz="2200" spc="-20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level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11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marL="1946910">
              <a:lnSpc>
                <a:spcPct val="100000"/>
              </a:lnSpc>
              <a:spcBef>
                <a:spcPts val="625"/>
              </a:spcBef>
            </a:pPr>
            <a:r>
              <a:rPr dirty="0"/>
              <a:t>6. Project</a:t>
            </a:r>
            <a:r>
              <a:rPr dirty="0" spc="-25"/>
              <a:t> </a:t>
            </a:r>
            <a:r>
              <a:rPr dirty="0" spc="-10"/>
              <a:t>Initiation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411464" y="6356350"/>
            <a:ext cx="549275" cy="365125"/>
          </a:xfrm>
          <a:custGeom>
            <a:avLst/>
            <a:gdLst/>
            <a:ahLst/>
            <a:cxnLst/>
            <a:rect l="l" t="t" r="r" b="b"/>
            <a:pathLst>
              <a:path w="549275" h="365125">
                <a:moveTo>
                  <a:pt x="548703" y="0"/>
                </a:moveTo>
                <a:lnTo>
                  <a:pt x="0" y="0"/>
                </a:lnTo>
                <a:lnTo>
                  <a:pt x="0" y="365099"/>
                </a:lnTo>
                <a:lnTo>
                  <a:pt x="548703" y="365099"/>
                </a:lnTo>
                <a:lnTo>
                  <a:pt x="5487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4500" y="1206474"/>
          <a:ext cx="8604885" cy="550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4009"/>
                <a:gridCol w="274954"/>
                <a:gridCol w="273050"/>
              </a:tblGrid>
              <a:tr h="5137150">
                <a:tc gridSpan="2">
                  <a:txBody>
                    <a:bodyPr/>
                    <a:lstStyle/>
                    <a:p>
                      <a:pPr marL="636270" indent="-342265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Char char="•"/>
                        <a:tabLst>
                          <a:tab pos="636270" algn="l"/>
                        </a:tabLst>
                      </a:pPr>
                      <a:r>
                        <a:rPr dirty="0" sz="2200" b="1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22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latin typeface="Times New Roman"/>
                          <a:cs typeface="Times New Roman"/>
                        </a:rPr>
                        <a:t>Title:</a:t>
                      </a:r>
                      <a:r>
                        <a:rPr dirty="0" sz="22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AI-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System.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Arial"/>
                        <a:buChar char="•"/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6270" indent="-342265">
                        <a:lnSpc>
                          <a:spcPct val="100000"/>
                        </a:lnSpc>
                        <a:buSzPct val="145454"/>
                        <a:buFont typeface="Arial"/>
                        <a:buChar char="•"/>
                        <a:tabLst>
                          <a:tab pos="636270" algn="l"/>
                        </a:tabLst>
                      </a:pPr>
                      <a:r>
                        <a:rPr dirty="0" sz="2200" b="1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dirty="0" sz="22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latin typeface="Times New Roman"/>
                          <a:cs typeface="Times New Roman"/>
                        </a:rPr>
                        <a:t>Statement:</a:t>
                      </a:r>
                      <a:r>
                        <a:rPr dirty="0" sz="22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Traditional</a:t>
                      </a:r>
                      <a:r>
                        <a:rPr dirty="0" sz="2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dirty="0" sz="22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face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6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improper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segregation,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inefficient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collection.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5635" marR="546735" indent="-34226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145454"/>
                        <a:buFont typeface="Arial"/>
                        <a:buChar char="•"/>
                        <a:tabLst>
                          <a:tab pos="636905" algn="l"/>
                        </a:tabLst>
                      </a:pPr>
                      <a:r>
                        <a:rPr dirty="0" sz="2200" b="1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22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dirty="0" sz="2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segregation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collection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5">
                          <a:latin typeface="Times New Roman"/>
                          <a:cs typeface="Times New Roman"/>
                        </a:rPr>
                        <a:t>AI.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Arial"/>
                        <a:buChar char="•"/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5635" marR="113030" indent="-342265">
                        <a:lnSpc>
                          <a:spcPct val="100000"/>
                        </a:lnSpc>
                        <a:buSzPct val="145454"/>
                        <a:buFont typeface="Arial"/>
                        <a:buChar char="•"/>
                        <a:tabLst>
                          <a:tab pos="636905" algn="l"/>
                        </a:tabLst>
                      </a:pPr>
                      <a:r>
                        <a:rPr dirty="0" sz="2200" b="1">
                          <a:latin typeface="Times New Roman"/>
                          <a:cs typeface="Times New Roman"/>
                        </a:rPr>
                        <a:t>Scope:</a:t>
                      </a:r>
                      <a:r>
                        <a:rPr dirty="0" sz="2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focuses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dustbins,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classification,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monitoring.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Arial"/>
                        <a:buChar char="•"/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6270" indent="-342265">
                        <a:lnSpc>
                          <a:spcPct val="100000"/>
                        </a:lnSpc>
                        <a:buSzPct val="145454"/>
                        <a:buFont typeface="Arial"/>
                        <a:buChar char="•"/>
                        <a:tabLst>
                          <a:tab pos="636270" algn="l"/>
                        </a:tabLst>
                      </a:pPr>
                      <a:r>
                        <a:rPr dirty="0" sz="2200" b="1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22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latin typeface="Times New Roman"/>
                          <a:cs typeface="Times New Roman"/>
                        </a:rPr>
                        <a:t>Solution:</a:t>
                      </a:r>
                      <a:r>
                        <a:rPr dirty="0" sz="22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2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Intelligence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2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sensors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69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levels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classify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dirty="0" sz="2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dirty="0" sz="2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waste.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marL="636270" indent="-34226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145454"/>
                        <a:buFont typeface="Arial"/>
                        <a:buChar char="•"/>
                        <a:tabLst>
                          <a:tab pos="636270" algn="l"/>
                        </a:tabLst>
                      </a:pPr>
                      <a:r>
                        <a:rPr dirty="0" sz="2200" b="1">
                          <a:latin typeface="Times New Roman"/>
                          <a:cs typeface="Times New Roman"/>
                        </a:rPr>
                        <a:t>Expected</a:t>
                      </a:r>
                      <a:r>
                        <a:rPr dirty="0" sz="22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b="1">
                          <a:latin typeface="Times New Roman"/>
                          <a:cs typeface="Times New Roman"/>
                        </a:rPr>
                        <a:t>outcome:</a:t>
                      </a:r>
                      <a:r>
                        <a:rPr dirty="0" sz="22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Cleaner</a:t>
                      </a:r>
                      <a:r>
                        <a:rPr dirty="0" sz="22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surroaundings,</a:t>
                      </a:r>
                      <a:r>
                        <a:rPr dirty="0" sz="22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22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pollution,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636905">
                        <a:lnSpc>
                          <a:spcPts val="2085"/>
                        </a:lnSpc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management.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624"/>
            <a:ext cx="8229600" cy="868680"/>
          </a:xfrm>
          <a:custGeom>
            <a:avLst/>
            <a:gdLst/>
            <a:ahLst/>
            <a:cxnLst/>
            <a:rect l="l" t="t" r="r" b="b"/>
            <a:pathLst>
              <a:path w="8229600" h="868680">
                <a:moveTo>
                  <a:pt x="0" y="868502"/>
                </a:moveTo>
                <a:lnTo>
                  <a:pt x="8229600" y="868502"/>
                </a:lnTo>
                <a:lnTo>
                  <a:pt x="8229600" y="0"/>
                </a:lnTo>
                <a:lnTo>
                  <a:pt x="0" y="0"/>
                </a:lnTo>
                <a:lnTo>
                  <a:pt x="0" y="86850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90955">
              <a:lnSpc>
                <a:spcPct val="100000"/>
              </a:lnSpc>
              <a:spcBef>
                <a:spcPts val="105"/>
              </a:spcBef>
            </a:pPr>
            <a:r>
              <a:rPr dirty="0"/>
              <a:t>6. Project</a:t>
            </a:r>
            <a:r>
              <a:rPr dirty="0" spc="-25"/>
              <a:t> </a:t>
            </a:r>
            <a:r>
              <a:rPr dirty="0" spc="-10"/>
              <a:t>Initiation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44500" y="1070038"/>
            <a:ext cx="8255000" cy="5359400"/>
            <a:chOff x="444500" y="1070038"/>
            <a:chExt cx="8255000" cy="5359400"/>
          </a:xfrm>
        </p:grpSpPr>
        <p:sp>
          <p:nvSpPr>
            <p:cNvPr id="5" name="object 5"/>
            <p:cNvSpPr/>
            <p:nvPr/>
          </p:nvSpPr>
          <p:spPr>
            <a:xfrm>
              <a:off x="457200" y="1082738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8229600" y="0"/>
                  </a:moveTo>
                  <a:lnTo>
                    <a:pt x="0" y="0"/>
                  </a:lnTo>
                  <a:lnTo>
                    <a:pt x="0" y="5334000"/>
                  </a:lnTo>
                  <a:lnTo>
                    <a:pt x="8229600" y="5334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57200" y="1082738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496057" y="5466384"/>
            <a:ext cx="426275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latin typeface="Times New Roman"/>
                <a:cs typeface="Times New Roman"/>
              </a:rPr>
              <a:t>Fig6.1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Waste</a:t>
            </a:r>
            <a:r>
              <a:rPr dirty="0" sz="2200" spc="-65" b="1">
                <a:latin typeface="Times New Roman"/>
                <a:cs typeface="Times New Roman"/>
              </a:rPr>
              <a:t> </a:t>
            </a:r>
            <a:r>
              <a:rPr dirty="0" sz="2200" b="1">
                <a:latin typeface="Times New Roman"/>
                <a:cs typeface="Times New Roman"/>
              </a:rPr>
              <a:t>management</a:t>
            </a:r>
            <a:r>
              <a:rPr dirty="0" sz="2200" spc="-55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problem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73387" y="1337500"/>
            <a:ext cx="3197225" cy="4183379"/>
            <a:chOff x="2973387" y="1337500"/>
            <a:chExt cx="3197225" cy="4183379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2975" y="1347089"/>
              <a:ext cx="3178048" cy="416394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78150" y="1342263"/>
              <a:ext cx="3187700" cy="4173854"/>
            </a:xfrm>
            <a:custGeom>
              <a:avLst/>
              <a:gdLst/>
              <a:ahLst/>
              <a:cxnLst/>
              <a:rect l="l" t="t" r="r" b="b"/>
              <a:pathLst>
                <a:path w="3187700" h="4173854">
                  <a:moveTo>
                    <a:pt x="0" y="4173474"/>
                  </a:moveTo>
                  <a:lnTo>
                    <a:pt x="3187573" y="4173474"/>
                  </a:lnTo>
                  <a:lnTo>
                    <a:pt x="3187573" y="0"/>
                  </a:lnTo>
                  <a:lnTo>
                    <a:pt x="0" y="0"/>
                  </a:lnTo>
                  <a:lnTo>
                    <a:pt x="0" y="4173474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9" name="object 9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598534" y="6431381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78787"/>
                </a:solidFill>
                <a:latin typeface="Times New Roman"/>
                <a:cs typeface="Times New Roman"/>
              </a:rPr>
              <a:t>15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136575"/>
            <a:ext cx="8229600" cy="125095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2828290" marR="641350" indent="-2179955">
              <a:lnSpc>
                <a:spcPct val="100000"/>
              </a:lnSpc>
              <a:spcBef>
                <a:spcPts val="484"/>
              </a:spcBef>
            </a:pPr>
            <a:r>
              <a:rPr dirty="0" sz="3600"/>
              <a:t>6.1</a:t>
            </a:r>
            <a:r>
              <a:rPr dirty="0" sz="3600" spc="-20"/>
              <a:t> </a:t>
            </a:r>
            <a:r>
              <a:rPr dirty="0" sz="3600"/>
              <a:t>Description</a:t>
            </a:r>
            <a:r>
              <a:rPr dirty="0" sz="3600" spc="-5"/>
              <a:t> </a:t>
            </a:r>
            <a:r>
              <a:rPr dirty="0" sz="3600"/>
              <a:t>of</a:t>
            </a:r>
            <a:r>
              <a:rPr dirty="0" sz="3600" spc="-10"/>
              <a:t> </a:t>
            </a:r>
            <a:r>
              <a:rPr dirty="0" sz="3600"/>
              <a:t>problem</a:t>
            </a:r>
            <a:r>
              <a:rPr dirty="0" sz="3600" spc="-10"/>
              <a:t> statement, Identification.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411464" y="6356350"/>
            <a:ext cx="549275" cy="365125"/>
          </a:xfrm>
          <a:custGeom>
            <a:avLst/>
            <a:gdLst/>
            <a:ahLst/>
            <a:cxnLst/>
            <a:rect l="l" t="t" r="r" b="b"/>
            <a:pathLst>
              <a:path w="549275" h="365125">
                <a:moveTo>
                  <a:pt x="548703" y="0"/>
                </a:moveTo>
                <a:lnTo>
                  <a:pt x="0" y="0"/>
                </a:lnTo>
                <a:lnTo>
                  <a:pt x="0" y="365099"/>
                </a:lnTo>
                <a:lnTo>
                  <a:pt x="548703" y="365099"/>
                </a:lnTo>
                <a:lnTo>
                  <a:pt x="5487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44500" y="1506321"/>
          <a:ext cx="8604885" cy="5201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4009"/>
                <a:gridCol w="274954"/>
                <a:gridCol w="273050"/>
              </a:tblGrid>
              <a:tr h="4836795">
                <a:tc gridSpan="2">
                  <a:txBody>
                    <a:bodyPr/>
                    <a:lstStyle/>
                    <a:p>
                      <a:pPr algn="just" marL="635635" marR="82550" indent="-342265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Char char="•"/>
                        <a:tabLst>
                          <a:tab pos="636905" algn="l"/>
                        </a:tabLst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dirty="0" sz="22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statement:</a:t>
                      </a:r>
                      <a:r>
                        <a:rPr dirty="0" sz="22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dirty="0" sz="22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22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dirty="0" sz="22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collection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schedules</a:t>
                      </a:r>
                      <a:r>
                        <a:rPr dirty="0" sz="22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2200" spc="3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22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reflect</a:t>
                      </a:r>
                      <a:r>
                        <a:rPr dirty="0" sz="22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22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dirty="0" sz="22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condition</a:t>
                      </a:r>
                      <a:r>
                        <a:rPr dirty="0" sz="2200" spc="3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2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dirty="0" sz="22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bin.</a:t>
                      </a:r>
                      <a:r>
                        <a:rPr dirty="0" sz="22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22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dirty="0" sz="22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22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overflowing</a:t>
                      </a:r>
                      <a:r>
                        <a:rPr dirty="0" sz="22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bins,</a:t>
                      </a:r>
                      <a:r>
                        <a:rPr dirty="0" sz="22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unnecessary</a:t>
                      </a:r>
                      <a:r>
                        <a:rPr dirty="0" sz="2200" spc="2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trips</a:t>
                      </a:r>
                      <a:r>
                        <a:rPr dirty="0" sz="22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2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poor</a:t>
                      </a:r>
                      <a:r>
                        <a:rPr dirty="0" sz="2200" spc="2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waste 	segregation.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Arial"/>
                        <a:buChar char="•"/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just" marL="635635" marR="85090" indent="-342265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145454"/>
                        <a:buFont typeface="Arial"/>
                        <a:buChar char="•"/>
                        <a:tabLst>
                          <a:tab pos="636905" algn="l"/>
                        </a:tabLst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Proposed</a:t>
                      </a:r>
                      <a:r>
                        <a:rPr dirty="0" sz="22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solution:</a:t>
                      </a:r>
                      <a:r>
                        <a:rPr dirty="0" sz="22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dirty="0" sz="22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prototype</a:t>
                      </a:r>
                      <a:r>
                        <a:rPr dirty="0" sz="2200" spc="1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2200" spc="1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classifies</a:t>
                      </a:r>
                      <a:r>
                        <a:rPr dirty="0" sz="22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waste</a:t>
                      </a:r>
                      <a:r>
                        <a:rPr dirty="0" sz="2200" spc="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images,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receives</a:t>
                      </a:r>
                      <a:r>
                        <a:rPr dirty="0" sz="2200" spc="4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bin</a:t>
                      </a:r>
                      <a:r>
                        <a:rPr dirty="0" sz="2200" spc="509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fill-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2200" spc="5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readings</a:t>
                      </a:r>
                      <a:r>
                        <a:rPr dirty="0" sz="2200" spc="5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5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displays</a:t>
                      </a:r>
                      <a:r>
                        <a:rPr dirty="0" sz="2200" spc="5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dirty="0" sz="22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22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4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simple 	dashboard.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  <a:buFont typeface="Arial"/>
                        <a:buChar char="•"/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just" marL="635635" marR="84455" indent="-342265">
                        <a:lnSpc>
                          <a:spcPct val="100000"/>
                        </a:lnSpc>
                        <a:buSzPct val="145454"/>
                        <a:buFont typeface="Arial"/>
                        <a:buChar char="•"/>
                        <a:tabLst>
                          <a:tab pos="636905" algn="l"/>
                        </a:tabLst>
                      </a:pPr>
                      <a:r>
                        <a:rPr dirty="0" sz="2200">
                          <a:latin typeface="Times New Roman"/>
                          <a:cs typeface="Times New Roman"/>
                        </a:rPr>
                        <a:t>Assumptions:</a:t>
                      </a:r>
                      <a:r>
                        <a:rPr dirty="0" sz="2200" spc="11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2200" spc="12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prototype</a:t>
                      </a:r>
                      <a:r>
                        <a:rPr dirty="0" sz="2200" spc="114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2200" spc="12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2200" spc="11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114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dirty="0" sz="2200" spc="114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dirty="0" sz="2200" spc="12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2200" spc="114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waste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categories,</a:t>
                      </a:r>
                      <a:r>
                        <a:rPr dirty="0" sz="22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2200" spc="2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dirty="0" sz="22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dirty="0" sz="22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2200" spc="2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22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simulated</a:t>
                      </a:r>
                      <a:r>
                        <a:rPr dirty="0" sz="22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22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2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dirty="0" sz="22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readings.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dirty="0" sz="2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autonomously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handle</a:t>
                      </a:r>
                      <a:r>
                        <a:rPr dirty="0" sz="22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>
                          <a:latin typeface="Times New Roman"/>
                          <a:cs typeface="Times New Roman"/>
                        </a:rPr>
                        <a:t>hazardous</a:t>
                      </a:r>
                      <a:r>
                        <a:rPr dirty="0" sz="2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200" spc="-10">
                          <a:latin typeface="Times New Roman"/>
                          <a:cs typeface="Times New Roman"/>
                        </a:rPr>
                        <a:t>waste.</a:t>
                      </a: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dirty="0" sz="1200" spc="-25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763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177165" rIns="0" bIns="0" rtlCol="0" vert="horz">
            <a:spAutoFit/>
          </a:bodyPr>
          <a:lstStyle/>
          <a:p>
            <a:pPr marL="1943100">
              <a:lnSpc>
                <a:spcPct val="100000"/>
              </a:lnSpc>
              <a:spcBef>
                <a:spcPts val="1395"/>
              </a:spcBef>
            </a:pPr>
            <a:r>
              <a:rPr dirty="0" sz="3200"/>
              <a:t>6.</a:t>
            </a:r>
            <a:r>
              <a:rPr dirty="0" sz="3200" spc="-10"/>
              <a:t> </a:t>
            </a:r>
            <a:r>
              <a:rPr dirty="0" sz="3200"/>
              <a:t>2</a:t>
            </a:r>
            <a:r>
              <a:rPr dirty="0" sz="3200" spc="-5"/>
              <a:t> </a:t>
            </a:r>
            <a:r>
              <a:rPr dirty="0" sz="3200"/>
              <a:t>Scope</a:t>
            </a:r>
            <a:r>
              <a:rPr dirty="0" sz="3200" spc="-35"/>
              <a:t> </a:t>
            </a:r>
            <a:r>
              <a:rPr dirty="0" sz="3200"/>
              <a:t>and</a:t>
            </a:r>
            <a:r>
              <a:rPr dirty="0" sz="3200" spc="5"/>
              <a:t> </a:t>
            </a:r>
            <a:r>
              <a:rPr dirty="0" sz="3200" spc="-10"/>
              <a:t>Objectives.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8631" y="1062941"/>
            <a:ext cx="6541770" cy="4712335"/>
          </a:xfrm>
          <a:prstGeom prst="rect">
            <a:avLst/>
          </a:prstGeom>
        </p:spPr>
        <p:txBody>
          <a:bodyPr wrap="square" lIns="0" tIns="191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400" spc="-10" b="1">
                <a:latin typeface="Times New Roman"/>
                <a:cs typeface="Times New Roman"/>
              </a:rPr>
              <a:t>Scope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Classify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selected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images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into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basic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Categories.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Monitor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fill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level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sensor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or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simulated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input.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Provide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basic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dashboard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staff.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Support</a:t>
            </a:r>
            <a:r>
              <a:rPr dirty="0" sz="2200" spc="-8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collection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prioritisation.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Objectives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Prepare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test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small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image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dataset.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Display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bin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status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2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threshold-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2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alerts.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Store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readings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with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bin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timestamp.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Evaluate</a:t>
            </a:r>
            <a:r>
              <a:rPr dirty="0" sz="2200" spc="-7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classification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accuracy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alert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behaviour.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598534" y="6447975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878787"/>
                </a:solidFill>
                <a:latin typeface="Times New Roman"/>
                <a:cs typeface="Times New Roman"/>
              </a:rPr>
              <a:t>17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144780" rIns="0" bIns="0" rtlCol="0" vert="horz">
            <a:spAutoFit/>
          </a:bodyPr>
          <a:lstStyle/>
          <a:p>
            <a:pPr marL="2513965">
              <a:lnSpc>
                <a:spcPct val="100000"/>
              </a:lnSpc>
              <a:spcBef>
                <a:spcPts val="1140"/>
              </a:spcBef>
            </a:pPr>
            <a:r>
              <a:rPr dirty="0" sz="3600"/>
              <a:t>6.</a:t>
            </a:r>
            <a:r>
              <a:rPr dirty="0" sz="3600" spc="-5"/>
              <a:t> </a:t>
            </a:r>
            <a:r>
              <a:rPr dirty="0" sz="3600"/>
              <a:t>3</a:t>
            </a:r>
            <a:r>
              <a:rPr dirty="0" sz="3600" spc="-5"/>
              <a:t> </a:t>
            </a:r>
            <a:r>
              <a:rPr dirty="0" sz="3600"/>
              <a:t>Stake </a:t>
            </a:r>
            <a:r>
              <a:rPr dirty="0" sz="3600" spc="-10"/>
              <a:t>Holder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44500" y="1206500"/>
            <a:ext cx="8528685" cy="5527675"/>
            <a:chOff x="444500" y="1206500"/>
            <a:chExt cx="8528685" cy="5527675"/>
          </a:xfrm>
        </p:grpSpPr>
        <p:sp>
          <p:nvSpPr>
            <p:cNvPr id="4" name="object 4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611234" y="6460675"/>
            <a:ext cx="76200" cy="168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5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0850" y="1212850"/>
            <a:ext cx="8242300" cy="5346700"/>
            <a:chOff x="450850" y="1212850"/>
            <a:chExt cx="8242300" cy="5346700"/>
          </a:xfrm>
        </p:grpSpPr>
        <p:sp>
          <p:nvSpPr>
            <p:cNvPr id="9" name="object 9"/>
            <p:cNvSpPr/>
            <p:nvPr/>
          </p:nvSpPr>
          <p:spPr>
            <a:xfrm>
              <a:off x="457200" y="1219199"/>
              <a:ext cx="8229600" cy="762000"/>
            </a:xfrm>
            <a:custGeom>
              <a:avLst/>
              <a:gdLst/>
              <a:ahLst/>
              <a:cxnLst/>
              <a:rect l="l" t="t" r="r" b="b"/>
              <a:pathLst>
                <a:path w="8229600" h="762000">
                  <a:moveTo>
                    <a:pt x="8229600" y="0"/>
                  </a:moveTo>
                  <a:lnTo>
                    <a:pt x="4114800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4114800" y="762000"/>
                  </a:lnTo>
                  <a:lnTo>
                    <a:pt x="8229600" y="762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7200" y="1981199"/>
              <a:ext cx="8229600" cy="3810000"/>
            </a:xfrm>
            <a:custGeom>
              <a:avLst/>
              <a:gdLst/>
              <a:ahLst/>
              <a:cxnLst/>
              <a:rect l="l" t="t" r="r" b="b"/>
              <a:pathLst>
                <a:path w="8229600" h="3810000">
                  <a:moveTo>
                    <a:pt x="8229600" y="3048000"/>
                  </a:moveTo>
                  <a:lnTo>
                    <a:pt x="4114800" y="3048000"/>
                  </a:lnTo>
                  <a:lnTo>
                    <a:pt x="0" y="3048000"/>
                  </a:lnTo>
                  <a:lnTo>
                    <a:pt x="0" y="3810000"/>
                  </a:lnTo>
                  <a:lnTo>
                    <a:pt x="4114800" y="3810000"/>
                  </a:lnTo>
                  <a:lnTo>
                    <a:pt x="8229600" y="3810000"/>
                  </a:lnTo>
                  <a:lnTo>
                    <a:pt x="8229600" y="3048000"/>
                  </a:lnTo>
                  <a:close/>
                </a:path>
                <a:path w="8229600" h="3810000">
                  <a:moveTo>
                    <a:pt x="8229600" y="1524000"/>
                  </a:moveTo>
                  <a:lnTo>
                    <a:pt x="4114800" y="1524000"/>
                  </a:lnTo>
                  <a:lnTo>
                    <a:pt x="0" y="1524000"/>
                  </a:lnTo>
                  <a:lnTo>
                    <a:pt x="0" y="2286000"/>
                  </a:lnTo>
                  <a:lnTo>
                    <a:pt x="4114800" y="2286000"/>
                  </a:lnTo>
                  <a:lnTo>
                    <a:pt x="8229600" y="2286000"/>
                  </a:lnTo>
                  <a:lnTo>
                    <a:pt x="8229600" y="1524000"/>
                  </a:lnTo>
                  <a:close/>
                </a:path>
                <a:path w="8229600" h="3810000">
                  <a:moveTo>
                    <a:pt x="8229600" y="0"/>
                  </a:moveTo>
                  <a:lnTo>
                    <a:pt x="4114800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4114800" y="762000"/>
                  </a:lnTo>
                  <a:lnTo>
                    <a:pt x="8229600" y="762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E9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72000" y="5791200"/>
              <a:ext cx="4114800" cy="762000"/>
            </a:xfrm>
            <a:custGeom>
              <a:avLst/>
              <a:gdLst/>
              <a:ahLst/>
              <a:cxnLst/>
              <a:rect l="l" t="t" r="r" b="b"/>
              <a:pathLst>
                <a:path w="4114800" h="762000">
                  <a:moveTo>
                    <a:pt x="41148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4114800" y="76200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0850" y="1212850"/>
              <a:ext cx="8242300" cy="5346700"/>
            </a:xfrm>
            <a:custGeom>
              <a:avLst/>
              <a:gdLst/>
              <a:ahLst/>
              <a:cxnLst/>
              <a:rect l="l" t="t" r="r" b="b"/>
              <a:pathLst>
                <a:path w="8242300" h="5346700">
                  <a:moveTo>
                    <a:pt x="4121150" y="0"/>
                  </a:moveTo>
                  <a:lnTo>
                    <a:pt x="4121150" y="5346700"/>
                  </a:lnTo>
                </a:path>
                <a:path w="8242300" h="5346700">
                  <a:moveTo>
                    <a:pt x="0" y="768350"/>
                  </a:moveTo>
                  <a:lnTo>
                    <a:pt x="8242300" y="768350"/>
                  </a:lnTo>
                </a:path>
                <a:path w="8242300" h="5346700">
                  <a:moveTo>
                    <a:pt x="0" y="1530350"/>
                  </a:moveTo>
                  <a:lnTo>
                    <a:pt x="8242300" y="1530350"/>
                  </a:lnTo>
                </a:path>
                <a:path w="8242300" h="5346700">
                  <a:moveTo>
                    <a:pt x="0" y="2292350"/>
                  </a:moveTo>
                  <a:lnTo>
                    <a:pt x="8242300" y="2292350"/>
                  </a:lnTo>
                </a:path>
                <a:path w="8242300" h="5346700">
                  <a:moveTo>
                    <a:pt x="0" y="3054350"/>
                  </a:moveTo>
                  <a:lnTo>
                    <a:pt x="8242300" y="3054350"/>
                  </a:lnTo>
                </a:path>
                <a:path w="8242300" h="5346700">
                  <a:moveTo>
                    <a:pt x="0" y="3816350"/>
                  </a:moveTo>
                  <a:lnTo>
                    <a:pt x="8242300" y="3816350"/>
                  </a:lnTo>
                </a:path>
                <a:path w="8242300" h="5346700">
                  <a:moveTo>
                    <a:pt x="0" y="4578350"/>
                  </a:moveTo>
                  <a:lnTo>
                    <a:pt x="8242300" y="4578350"/>
                  </a:lnTo>
                </a:path>
                <a:path w="8242300" h="5346700">
                  <a:moveTo>
                    <a:pt x="6350" y="0"/>
                  </a:moveTo>
                  <a:lnTo>
                    <a:pt x="6350" y="5346700"/>
                  </a:lnTo>
                </a:path>
                <a:path w="8242300" h="5346700">
                  <a:moveTo>
                    <a:pt x="8235950" y="0"/>
                  </a:moveTo>
                  <a:lnTo>
                    <a:pt x="8235950" y="5346700"/>
                  </a:lnTo>
                </a:path>
                <a:path w="8242300" h="5346700">
                  <a:moveTo>
                    <a:pt x="0" y="6350"/>
                  </a:moveTo>
                  <a:lnTo>
                    <a:pt x="8242300" y="6350"/>
                  </a:lnTo>
                </a:path>
                <a:path w="8242300" h="5346700">
                  <a:moveTo>
                    <a:pt x="0" y="5340350"/>
                  </a:moveTo>
                  <a:lnTo>
                    <a:pt x="8242300" y="5340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713357" y="1241805"/>
            <a:ext cx="5775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8445" algn="l"/>
              </a:tabLst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Stakeholder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Role/Interest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" y="2006549"/>
            <a:ext cx="39503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Municipal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council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 campus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administration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1375" y="2006549"/>
            <a:ext cx="3830954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Sets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requirements,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policies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 </a:t>
            </a:r>
            <a:r>
              <a:rPr dirty="0" sz="1800" spc="-10">
                <a:latin typeface="Times New Roman"/>
                <a:cs typeface="Times New Roman"/>
              </a:rPr>
              <a:t>collection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Times New Roman"/>
                <a:cs typeface="Times New Roman"/>
              </a:rPr>
              <a:t>schedules.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40" y="2769234"/>
            <a:ext cx="2349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Waste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collection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workers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1375" y="2769234"/>
            <a:ext cx="37973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Use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alerts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provide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feedback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the </a:t>
            </a:r>
            <a:r>
              <a:rPr dirty="0" sz="1800" spc="-10">
                <a:latin typeface="Times New Roman"/>
                <a:cs typeface="Times New Roman"/>
              </a:rPr>
              <a:t>field.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3530930"/>
            <a:ext cx="17024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Citizens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students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1375" y="3530930"/>
            <a:ext cx="34988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Dispose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waste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correctly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follow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segregation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guidance.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4293489"/>
            <a:ext cx="1174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Project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team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1375" y="4293489"/>
            <a:ext cx="36442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Designs,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develops,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tests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documents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prototype.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40" y="5055184"/>
            <a:ext cx="12757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Faculty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guide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1375" y="5055184"/>
            <a:ext cx="345567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Reviews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progress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gives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technical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Times New Roman"/>
                <a:cs typeface="Times New Roman"/>
              </a:rPr>
              <a:t>guidance.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5940" y="5817819"/>
            <a:ext cx="2814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Recycling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facility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51375" y="5817819"/>
            <a:ext cx="388492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Receives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segregated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material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according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to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51375" y="6092138"/>
            <a:ext cx="1530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local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procedures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410"/>
              </a:lnSpc>
            </a:pPr>
            <a:r>
              <a:rPr dirty="0" spc="-50"/>
              <a:t>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177165" rIns="0" bIns="0" rtlCol="0" vert="horz">
            <a:spAutoFit/>
          </a:bodyPr>
          <a:lstStyle/>
          <a:p>
            <a:pPr marL="1646555">
              <a:lnSpc>
                <a:spcPct val="100000"/>
              </a:lnSpc>
              <a:spcBef>
                <a:spcPts val="1395"/>
              </a:spcBef>
            </a:pPr>
            <a:r>
              <a:rPr dirty="0" sz="3200"/>
              <a:t>6.</a:t>
            </a:r>
            <a:r>
              <a:rPr dirty="0" sz="3200" spc="-10"/>
              <a:t> </a:t>
            </a:r>
            <a:r>
              <a:rPr dirty="0" sz="3200"/>
              <a:t>4</a:t>
            </a:r>
            <a:r>
              <a:rPr dirty="0" sz="3200" spc="-10"/>
              <a:t> </a:t>
            </a:r>
            <a:r>
              <a:rPr dirty="0" sz="3200"/>
              <a:t>Seminar</a:t>
            </a:r>
            <a:r>
              <a:rPr dirty="0" sz="3200" spc="-35"/>
              <a:t> </a:t>
            </a:r>
            <a:r>
              <a:rPr dirty="0" sz="3200"/>
              <a:t>Exsicussion</a:t>
            </a:r>
            <a:r>
              <a:rPr dirty="0" sz="3200" spc="-20"/>
              <a:t> Plan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44500" y="1206500"/>
            <a:ext cx="8528685" cy="5527675"/>
            <a:chOff x="444500" y="1206500"/>
            <a:chExt cx="8528685" cy="5527675"/>
          </a:xfrm>
        </p:grpSpPr>
        <p:sp>
          <p:nvSpPr>
            <p:cNvPr id="4" name="object 4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611234" y="6460675"/>
            <a:ext cx="76200" cy="1689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5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0850" y="1212850"/>
            <a:ext cx="8242300" cy="5346700"/>
            <a:chOff x="450850" y="1212850"/>
            <a:chExt cx="8242300" cy="5346700"/>
          </a:xfrm>
        </p:grpSpPr>
        <p:sp>
          <p:nvSpPr>
            <p:cNvPr id="9" name="object 9"/>
            <p:cNvSpPr/>
            <p:nvPr/>
          </p:nvSpPr>
          <p:spPr>
            <a:xfrm>
              <a:off x="457200" y="1219199"/>
              <a:ext cx="8229600" cy="762000"/>
            </a:xfrm>
            <a:custGeom>
              <a:avLst/>
              <a:gdLst/>
              <a:ahLst/>
              <a:cxnLst/>
              <a:rect l="l" t="t" r="r" b="b"/>
              <a:pathLst>
                <a:path w="8229600" h="762000">
                  <a:moveTo>
                    <a:pt x="5088128" y="0"/>
                  </a:moveTo>
                  <a:lnTo>
                    <a:pt x="1858264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1858264" y="762000"/>
                  </a:lnTo>
                  <a:lnTo>
                    <a:pt x="5088128" y="762000"/>
                  </a:lnTo>
                  <a:lnTo>
                    <a:pt x="5088128" y="0"/>
                  </a:lnTo>
                  <a:close/>
                </a:path>
                <a:path w="8229600" h="762000">
                  <a:moveTo>
                    <a:pt x="8229600" y="0"/>
                  </a:moveTo>
                  <a:lnTo>
                    <a:pt x="5088255" y="0"/>
                  </a:lnTo>
                  <a:lnTo>
                    <a:pt x="5088255" y="762000"/>
                  </a:lnTo>
                  <a:lnTo>
                    <a:pt x="8229600" y="762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57200" y="1981199"/>
              <a:ext cx="8229600" cy="3810000"/>
            </a:xfrm>
            <a:custGeom>
              <a:avLst/>
              <a:gdLst/>
              <a:ahLst/>
              <a:cxnLst/>
              <a:rect l="l" t="t" r="r" b="b"/>
              <a:pathLst>
                <a:path w="8229600" h="3810000">
                  <a:moveTo>
                    <a:pt x="5088128" y="3048000"/>
                  </a:moveTo>
                  <a:lnTo>
                    <a:pt x="1858264" y="3048000"/>
                  </a:lnTo>
                  <a:lnTo>
                    <a:pt x="0" y="3048000"/>
                  </a:lnTo>
                  <a:lnTo>
                    <a:pt x="0" y="3810000"/>
                  </a:lnTo>
                  <a:lnTo>
                    <a:pt x="1858264" y="3810000"/>
                  </a:lnTo>
                  <a:lnTo>
                    <a:pt x="5088128" y="3810000"/>
                  </a:lnTo>
                  <a:lnTo>
                    <a:pt x="5088128" y="3048000"/>
                  </a:lnTo>
                  <a:close/>
                </a:path>
                <a:path w="8229600" h="3810000">
                  <a:moveTo>
                    <a:pt x="5088128" y="1524000"/>
                  </a:moveTo>
                  <a:lnTo>
                    <a:pt x="1858264" y="1524000"/>
                  </a:lnTo>
                  <a:lnTo>
                    <a:pt x="0" y="1524000"/>
                  </a:lnTo>
                  <a:lnTo>
                    <a:pt x="0" y="2286000"/>
                  </a:lnTo>
                  <a:lnTo>
                    <a:pt x="1858264" y="2286000"/>
                  </a:lnTo>
                  <a:lnTo>
                    <a:pt x="5088128" y="2286000"/>
                  </a:lnTo>
                  <a:lnTo>
                    <a:pt x="5088128" y="1524000"/>
                  </a:lnTo>
                  <a:close/>
                </a:path>
                <a:path w="8229600" h="3810000">
                  <a:moveTo>
                    <a:pt x="5088128" y="0"/>
                  </a:moveTo>
                  <a:lnTo>
                    <a:pt x="1858264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1858264" y="762000"/>
                  </a:lnTo>
                  <a:lnTo>
                    <a:pt x="5088128" y="762000"/>
                  </a:lnTo>
                  <a:lnTo>
                    <a:pt x="5088128" y="0"/>
                  </a:lnTo>
                  <a:close/>
                </a:path>
                <a:path w="8229600" h="3810000">
                  <a:moveTo>
                    <a:pt x="8229600" y="3048000"/>
                  </a:moveTo>
                  <a:lnTo>
                    <a:pt x="5088255" y="3048000"/>
                  </a:lnTo>
                  <a:lnTo>
                    <a:pt x="5088255" y="3810000"/>
                  </a:lnTo>
                  <a:lnTo>
                    <a:pt x="8229600" y="3810000"/>
                  </a:lnTo>
                  <a:lnTo>
                    <a:pt x="8229600" y="3048000"/>
                  </a:lnTo>
                  <a:close/>
                </a:path>
                <a:path w="8229600" h="3810000">
                  <a:moveTo>
                    <a:pt x="8229600" y="1524000"/>
                  </a:moveTo>
                  <a:lnTo>
                    <a:pt x="5088255" y="1524000"/>
                  </a:lnTo>
                  <a:lnTo>
                    <a:pt x="5088255" y="2286000"/>
                  </a:lnTo>
                  <a:lnTo>
                    <a:pt x="8229600" y="2286000"/>
                  </a:lnTo>
                  <a:lnTo>
                    <a:pt x="8229600" y="1524000"/>
                  </a:lnTo>
                  <a:close/>
                </a:path>
                <a:path w="8229600" h="3810000">
                  <a:moveTo>
                    <a:pt x="8229600" y="0"/>
                  </a:moveTo>
                  <a:lnTo>
                    <a:pt x="5088255" y="0"/>
                  </a:lnTo>
                  <a:lnTo>
                    <a:pt x="5088255" y="762000"/>
                  </a:lnTo>
                  <a:lnTo>
                    <a:pt x="8229600" y="762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E9F0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545454" y="5791200"/>
              <a:ext cx="3141345" cy="762000"/>
            </a:xfrm>
            <a:custGeom>
              <a:avLst/>
              <a:gdLst/>
              <a:ahLst/>
              <a:cxnLst/>
              <a:rect l="l" t="t" r="r" b="b"/>
              <a:pathLst>
                <a:path w="3141345" h="762000">
                  <a:moveTo>
                    <a:pt x="314134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3141345" y="762000"/>
                  </a:lnTo>
                  <a:lnTo>
                    <a:pt x="31413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0850" y="1212850"/>
              <a:ext cx="8242300" cy="5346700"/>
            </a:xfrm>
            <a:custGeom>
              <a:avLst/>
              <a:gdLst/>
              <a:ahLst/>
              <a:cxnLst/>
              <a:rect l="l" t="t" r="r" b="b"/>
              <a:pathLst>
                <a:path w="8242300" h="5346700">
                  <a:moveTo>
                    <a:pt x="1864614" y="0"/>
                  </a:moveTo>
                  <a:lnTo>
                    <a:pt x="1864614" y="5346700"/>
                  </a:lnTo>
                </a:path>
                <a:path w="8242300" h="5346700">
                  <a:moveTo>
                    <a:pt x="5094605" y="0"/>
                  </a:moveTo>
                  <a:lnTo>
                    <a:pt x="5094605" y="5346700"/>
                  </a:lnTo>
                </a:path>
                <a:path w="8242300" h="5346700">
                  <a:moveTo>
                    <a:pt x="0" y="768350"/>
                  </a:moveTo>
                  <a:lnTo>
                    <a:pt x="8242300" y="768350"/>
                  </a:lnTo>
                </a:path>
                <a:path w="8242300" h="5346700">
                  <a:moveTo>
                    <a:pt x="0" y="1530350"/>
                  </a:moveTo>
                  <a:lnTo>
                    <a:pt x="8242300" y="1530350"/>
                  </a:lnTo>
                </a:path>
                <a:path w="8242300" h="5346700">
                  <a:moveTo>
                    <a:pt x="0" y="2292350"/>
                  </a:moveTo>
                  <a:lnTo>
                    <a:pt x="8242300" y="2292350"/>
                  </a:lnTo>
                </a:path>
                <a:path w="8242300" h="5346700">
                  <a:moveTo>
                    <a:pt x="0" y="3054350"/>
                  </a:moveTo>
                  <a:lnTo>
                    <a:pt x="8242300" y="3054350"/>
                  </a:lnTo>
                </a:path>
                <a:path w="8242300" h="5346700">
                  <a:moveTo>
                    <a:pt x="0" y="3816350"/>
                  </a:moveTo>
                  <a:lnTo>
                    <a:pt x="8242300" y="3816350"/>
                  </a:lnTo>
                </a:path>
                <a:path w="8242300" h="5346700">
                  <a:moveTo>
                    <a:pt x="0" y="4578350"/>
                  </a:moveTo>
                  <a:lnTo>
                    <a:pt x="8242300" y="4578350"/>
                  </a:lnTo>
                </a:path>
                <a:path w="8242300" h="5346700">
                  <a:moveTo>
                    <a:pt x="6350" y="0"/>
                  </a:moveTo>
                  <a:lnTo>
                    <a:pt x="6350" y="5346700"/>
                  </a:lnTo>
                </a:path>
                <a:path w="8242300" h="5346700">
                  <a:moveTo>
                    <a:pt x="8235950" y="0"/>
                  </a:moveTo>
                  <a:lnTo>
                    <a:pt x="8235950" y="5346700"/>
                  </a:lnTo>
                </a:path>
                <a:path w="8242300" h="5346700">
                  <a:moveTo>
                    <a:pt x="0" y="6350"/>
                  </a:moveTo>
                  <a:lnTo>
                    <a:pt x="8242300" y="6350"/>
                  </a:lnTo>
                </a:path>
                <a:path w="8242300" h="5346700">
                  <a:moveTo>
                    <a:pt x="0" y="5340350"/>
                  </a:moveTo>
                  <a:lnTo>
                    <a:pt x="8242300" y="5340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899261" y="1241805"/>
            <a:ext cx="73005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3965" algn="l"/>
                <a:tab pos="5145405" algn="l"/>
              </a:tabLst>
            </a:pP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Session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Activity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Expected</a:t>
            </a:r>
            <a:r>
              <a:rPr dirty="0" sz="2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87907" y="2006549"/>
            <a:ext cx="1968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imes New Roman"/>
                <a:cs typeface="Times New Roman"/>
              </a:rPr>
              <a:t>1.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7907" y="2769234"/>
            <a:ext cx="196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imes New Roman"/>
                <a:cs typeface="Times New Roman"/>
              </a:rPr>
              <a:t>2.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7907" y="3530930"/>
            <a:ext cx="1968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imes New Roman"/>
                <a:cs typeface="Times New Roman"/>
              </a:rPr>
              <a:t>3.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7907" y="4293489"/>
            <a:ext cx="196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imes New Roman"/>
                <a:cs typeface="Times New Roman"/>
              </a:rPr>
              <a:t>4.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87907" y="5055184"/>
            <a:ext cx="1968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imes New Roman"/>
                <a:cs typeface="Times New Roman"/>
              </a:rPr>
              <a:t>5.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7907" y="5817819"/>
            <a:ext cx="196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Times New Roman"/>
                <a:cs typeface="Times New Roman"/>
              </a:rPr>
              <a:t>6.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42310" algn="l"/>
              </a:tabLst>
            </a:pPr>
            <a:r>
              <a:rPr dirty="0"/>
              <a:t>Define</a:t>
            </a:r>
            <a:r>
              <a:rPr dirty="0" spc="-5"/>
              <a:t> </a:t>
            </a:r>
            <a:r>
              <a:rPr dirty="0"/>
              <a:t>the problem</a:t>
            </a:r>
            <a:r>
              <a:rPr dirty="0" spc="-20"/>
              <a:t> </a:t>
            </a:r>
            <a:r>
              <a:rPr dirty="0"/>
              <a:t>and </a:t>
            </a:r>
            <a:r>
              <a:rPr dirty="0" spc="-10"/>
              <a:t>project</a:t>
            </a:r>
            <a:r>
              <a:rPr dirty="0"/>
              <a:t>	.</a:t>
            </a:r>
            <a:r>
              <a:rPr dirty="0" spc="-15"/>
              <a:t> </a:t>
            </a:r>
            <a:r>
              <a:rPr dirty="0"/>
              <a:t>Approved</a:t>
            </a:r>
            <a:r>
              <a:rPr dirty="0" spc="-15"/>
              <a:t> </a:t>
            </a:r>
            <a:r>
              <a:rPr dirty="0"/>
              <a:t>problem</a:t>
            </a:r>
            <a:r>
              <a:rPr dirty="0" spc="-10"/>
              <a:t> statement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goals</a:t>
            </a:r>
          </a:p>
          <a:p>
            <a:pPr marL="12700" marR="1345565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Study</a:t>
            </a:r>
            <a:r>
              <a:rPr dirty="0" spc="-30"/>
              <a:t> </a:t>
            </a:r>
            <a:r>
              <a:rPr dirty="0"/>
              <a:t>AI,</a:t>
            </a:r>
            <a:r>
              <a:rPr dirty="0" spc="-15"/>
              <a:t> </a:t>
            </a:r>
            <a:r>
              <a:rPr dirty="0"/>
              <a:t>IoT</a:t>
            </a:r>
            <a:r>
              <a:rPr dirty="0" spc="-2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10"/>
              <a:t>existing</a:t>
            </a:r>
            <a:r>
              <a:rPr dirty="0"/>
              <a:t>	Literature</a:t>
            </a:r>
            <a:r>
              <a:rPr dirty="0" spc="-90"/>
              <a:t> </a:t>
            </a:r>
            <a:r>
              <a:rPr dirty="0" spc="-10"/>
              <a:t>notes smart-</a:t>
            </a:r>
            <a:r>
              <a:rPr dirty="0"/>
              <a:t>bin</a:t>
            </a:r>
            <a:r>
              <a:rPr dirty="0" spc="25"/>
              <a:t> </a:t>
            </a:r>
            <a:r>
              <a:rPr dirty="0" spc="-10"/>
              <a:t>approaches.</a:t>
            </a: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Prepare</a:t>
            </a:r>
            <a:r>
              <a:rPr dirty="0" spc="5"/>
              <a:t> </a:t>
            </a:r>
            <a:r>
              <a:rPr dirty="0"/>
              <a:t>system</a:t>
            </a:r>
            <a:r>
              <a:rPr dirty="0" spc="-25"/>
              <a:t> </a:t>
            </a:r>
            <a:r>
              <a:rPr dirty="0"/>
              <a:t>architecture</a:t>
            </a:r>
            <a:r>
              <a:rPr dirty="0" spc="-25"/>
              <a:t> and</a:t>
            </a:r>
            <a:r>
              <a:rPr dirty="0"/>
              <a:t>	Architecture</a:t>
            </a:r>
            <a:r>
              <a:rPr dirty="0" spc="-30"/>
              <a:t> </a:t>
            </a:r>
            <a:r>
              <a:rPr dirty="0" spc="-10"/>
              <a:t>diagram</a:t>
            </a:r>
          </a:p>
          <a:p>
            <a:pPr marL="12700">
              <a:lnSpc>
                <a:spcPct val="100000"/>
              </a:lnSpc>
            </a:pPr>
            <a:r>
              <a:rPr dirty="0" spc="-10"/>
              <a:t>workflow.</a:t>
            </a:r>
          </a:p>
          <a:p>
            <a:pPr marL="12700" marR="1598295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Identify</a:t>
            </a:r>
            <a:r>
              <a:rPr dirty="0" spc="-55"/>
              <a:t> </a:t>
            </a:r>
            <a:r>
              <a:rPr dirty="0"/>
              <a:t>tools,</a:t>
            </a:r>
            <a:r>
              <a:rPr dirty="0" spc="-30"/>
              <a:t> </a:t>
            </a:r>
            <a:r>
              <a:rPr dirty="0"/>
              <a:t>hardware</a:t>
            </a:r>
            <a:r>
              <a:rPr dirty="0" spc="-30"/>
              <a:t> </a:t>
            </a:r>
            <a:r>
              <a:rPr dirty="0" spc="-25"/>
              <a:t>and</a:t>
            </a:r>
            <a:r>
              <a:rPr dirty="0"/>
              <a:t>	Resource</a:t>
            </a:r>
            <a:r>
              <a:rPr dirty="0" spc="-70"/>
              <a:t> </a:t>
            </a:r>
            <a:r>
              <a:rPr dirty="0" spc="-20"/>
              <a:t>list </a:t>
            </a:r>
            <a:r>
              <a:rPr dirty="0" spc="-10"/>
              <a:t>dataset.</a:t>
            </a:r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Plan</a:t>
            </a:r>
            <a:r>
              <a:rPr dirty="0" spc="-5"/>
              <a:t> </a:t>
            </a:r>
            <a:r>
              <a:rPr dirty="0"/>
              <a:t>prototype</a:t>
            </a:r>
            <a:r>
              <a:rPr dirty="0" spc="-20"/>
              <a:t> </a:t>
            </a:r>
            <a:r>
              <a:rPr dirty="0" spc="-10"/>
              <a:t>implementation</a:t>
            </a:r>
            <a:r>
              <a:rPr dirty="0"/>
              <a:t>	Task</a:t>
            </a:r>
            <a:r>
              <a:rPr dirty="0" spc="-25"/>
              <a:t> </a:t>
            </a:r>
            <a:r>
              <a:rPr dirty="0"/>
              <a:t>plan</a:t>
            </a:r>
            <a:r>
              <a:rPr dirty="0" spc="-10"/>
              <a:t> </a:t>
            </a:r>
            <a:r>
              <a:rPr dirty="0"/>
              <a:t>and test</a:t>
            </a:r>
            <a:r>
              <a:rPr dirty="0" spc="-5"/>
              <a:t> </a:t>
            </a:r>
            <a:r>
              <a:rPr dirty="0" spc="-10"/>
              <a:t>cases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testing.</a:t>
            </a:r>
          </a:p>
          <a:p>
            <a:pPr marL="12700" marR="359410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Review</a:t>
            </a:r>
            <a:r>
              <a:rPr dirty="0" spc="-45"/>
              <a:t> </a:t>
            </a:r>
            <a:r>
              <a:rPr dirty="0"/>
              <a:t>findings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 spc="-10"/>
              <a:t>prepare</a:t>
            </a:r>
            <a:r>
              <a:rPr dirty="0"/>
              <a:t>	Final</a:t>
            </a:r>
            <a:r>
              <a:rPr dirty="0" spc="-35"/>
              <a:t> </a:t>
            </a:r>
            <a:r>
              <a:rPr dirty="0"/>
              <a:t>seminar</a:t>
            </a:r>
            <a:r>
              <a:rPr dirty="0" spc="-30"/>
              <a:t> </a:t>
            </a:r>
            <a:r>
              <a:rPr dirty="0" spc="-10"/>
              <a:t>presentation presentation.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01600">
              <a:lnSpc>
                <a:spcPts val="1410"/>
              </a:lnSpc>
            </a:pPr>
            <a:r>
              <a:rPr dirty="0" spc="-50"/>
              <a:t>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177165" rIns="0" bIns="0" rtlCol="0" vert="horz">
            <a:spAutoFit/>
          </a:bodyPr>
          <a:lstStyle/>
          <a:p>
            <a:pPr marL="1155700">
              <a:lnSpc>
                <a:spcPct val="100000"/>
              </a:lnSpc>
              <a:spcBef>
                <a:spcPts val="1395"/>
              </a:spcBef>
            </a:pPr>
            <a:r>
              <a:rPr dirty="0" sz="3200"/>
              <a:t>6.5</a:t>
            </a:r>
            <a:r>
              <a:rPr dirty="0" sz="3200" spc="-20"/>
              <a:t> </a:t>
            </a:r>
            <a:r>
              <a:rPr dirty="0" sz="3200"/>
              <a:t>Platform/</a:t>
            </a:r>
            <a:r>
              <a:rPr dirty="0" sz="3200" spc="-35"/>
              <a:t> </a:t>
            </a:r>
            <a:r>
              <a:rPr dirty="0" sz="3200"/>
              <a:t>Equipment/</a:t>
            </a:r>
            <a:r>
              <a:rPr dirty="0" sz="3200" spc="-45"/>
              <a:t> </a:t>
            </a:r>
            <a:r>
              <a:rPr dirty="0" sz="3200" spc="-10"/>
              <a:t>Resources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57200" y="1297876"/>
            <a:ext cx="8229600" cy="5161915"/>
          </a:xfrm>
          <a:custGeom>
            <a:avLst/>
            <a:gdLst/>
            <a:ahLst/>
            <a:cxnLst/>
            <a:rect l="l" t="t" r="r" b="b"/>
            <a:pathLst>
              <a:path w="8229600" h="5161915">
                <a:moveTo>
                  <a:pt x="0" y="5161915"/>
                </a:moveTo>
                <a:lnTo>
                  <a:pt x="8229600" y="5161915"/>
                </a:lnTo>
                <a:lnTo>
                  <a:pt x="8229600" y="0"/>
                </a:lnTo>
                <a:lnTo>
                  <a:pt x="0" y="0"/>
                </a:lnTo>
                <a:lnTo>
                  <a:pt x="0" y="5161915"/>
                </a:lnTo>
                <a:close/>
              </a:path>
            </a:pathLst>
          </a:custGeom>
          <a:ln w="25399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98423" y="1474089"/>
            <a:ext cx="7399020" cy="17818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ts val="205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Programming: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Python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development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backend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logic.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Vision: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TensorFlow,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PyTorch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OpenCV.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Frontend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Dashboard: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HTML,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CSS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JavaScript.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Hardware: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Laptop,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webcam,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ultrasonic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sensor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microcontroller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(optional).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Dataset: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paper,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plastic,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metal,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organic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other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waste.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Database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/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Network: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SQLite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database,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Wi-</a:t>
            </a:r>
            <a:r>
              <a:rPr dirty="0" sz="1800">
                <a:latin typeface="Times New Roman"/>
                <a:cs typeface="Times New Roman"/>
              </a:rPr>
              <a:t>Fi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USB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connection.</a:t>
            </a:r>
            <a:endParaRPr sz="1800">
              <a:latin typeface="Times New Roman"/>
              <a:cs typeface="Times New Roman"/>
            </a:endParaRPr>
          </a:p>
          <a:p>
            <a:pPr marL="299085" indent="-286385">
              <a:lnSpc>
                <a:spcPts val="205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>
                <a:latin typeface="Times New Roman"/>
                <a:cs typeface="Times New Roman"/>
              </a:rPr>
              <a:t>Testing: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Sample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images,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test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evaluation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0758" y="3770757"/>
            <a:ext cx="635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78787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8575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pc="-10"/>
              <a:t>Bibliography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8575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35940" y="1240281"/>
            <a:ext cx="5734685" cy="3885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SzPct val="125000"/>
              <a:buFont typeface="Arial"/>
              <a:buChar char="•"/>
              <a:tabLst>
                <a:tab pos="355600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Books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SzPct val="115909"/>
              <a:buFont typeface="Wingdings"/>
              <a:buChar char="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Artificial</a:t>
            </a:r>
            <a:r>
              <a:rPr dirty="0" sz="2200" spc="-1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Intelligence-</a:t>
            </a:r>
            <a:r>
              <a:rPr dirty="0" sz="2200">
                <a:latin typeface="Times New Roman"/>
                <a:cs typeface="Times New Roman"/>
              </a:rPr>
              <a:t>A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Modern</a:t>
            </a:r>
            <a:r>
              <a:rPr dirty="0" sz="2200" spc="-4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Approach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15909"/>
              <a:buFont typeface="Wingdings"/>
              <a:buChar char="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Environmental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Science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-7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Management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15909"/>
              <a:buFont typeface="Wingdings"/>
              <a:buChar char="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Internet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of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Things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(IoT)</a:t>
            </a:r>
            <a:r>
              <a:rPr dirty="0" sz="2200" spc="-3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Fundamentals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SzPct val="125000"/>
              <a:buFont typeface="Arial"/>
              <a:buChar char="•"/>
              <a:tabLst>
                <a:tab pos="355600" algn="l"/>
              </a:tabLst>
            </a:pPr>
            <a:r>
              <a:rPr dirty="0" sz="2800" spc="-10" b="1">
                <a:latin typeface="Times New Roman"/>
                <a:cs typeface="Times New Roman"/>
              </a:rPr>
              <a:t>Websites</a:t>
            </a:r>
            <a:endParaRPr sz="28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25"/>
              </a:spcBef>
              <a:buClr>
                <a:srgbClr val="000000"/>
              </a:buClr>
              <a:buSzPct val="122727"/>
              <a:buFont typeface="Wingdings"/>
              <a:buChar char=""/>
              <a:tabLst>
                <a:tab pos="354965" algn="l"/>
              </a:tabLst>
            </a:pPr>
            <a:r>
              <a:rPr dirty="0" u="sng" sz="22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www.google.com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000000"/>
              </a:buClr>
              <a:buSzPct val="122727"/>
              <a:buFont typeface="Wingdings"/>
              <a:buChar char=""/>
              <a:tabLst>
                <a:tab pos="354965" algn="l"/>
              </a:tabLst>
            </a:pPr>
            <a:r>
              <a:rPr dirty="0" u="sng" sz="22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www.indiacode.com</a:t>
            </a: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710"/>
              </a:spcBef>
              <a:buClr>
                <a:srgbClr val="000000"/>
              </a:buClr>
              <a:buSzPct val="122727"/>
              <a:buFont typeface="Wingdings"/>
              <a:buChar char=""/>
              <a:tabLst>
                <a:tab pos="354965" algn="l"/>
              </a:tabLst>
            </a:pPr>
            <a:r>
              <a:rPr dirty="0" u="sng" sz="2200" spc="-10" b="1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4"/>
              </a:rPr>
              <a:t>www.sciencedirect.com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/>
          <a:ln w="25400">
            <a:solidFill>
              <a:srgbClr val="4F81BC"/>
            </a:solidFill>
          </a:ln>
        </p:spPr>
        <p:txBody>
          <a:bodyPr wrap="square" lIns="0" tIns="793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38631" y="1435873"/>
            <a:ext cx="7871459" cy="488823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2200" b="1">
                <a:latin typeface="Times New Roman"/>
                <a:cs typeface="Times New Roman"/>
              </a:rPr>
              <a:t>Research</a:t>
            </a:r>
            <a:r>
              <a:rPr dirty="0" sz="2200" spc="-8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Papers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54330" marR="5080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5600" algn="l"/>
              </a:tabLst>
            </a:pPr>
            <a:r>
              <a:rPr dirty="0" sz="2200">
                <a:latin typeface="Times New Roman"/>
                <a:cs typeface="Times New Roman"/>
              </a:rPr>
              <a:t>Smart</a:t>
            </a:r>
            <a:r>
              <a:rPr dirty="0" sz="2200" spc="5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5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Management</a:t>
            </a:r>
            <a:r>
              <a:rPr dirty="0" sz="2200" spc="5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Using</a:t>
            </a:r>
            <a:r>
              <a:rPr dirty="0" sz="2200" spc="52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Artificial</a:t>
            </a:r>
            <a:r>
              <a:rPr dirty="0" sz="2200" spc="50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Intelligence</a:t>
            </a:r>
            <a:r>
              <a:rPr dirty="0" sz="2200" spc="51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520">
                <a:latin typeface="Times New Roman"/>
                <a:cs typeface="Times New Roman"/>
              </a:rPr>
              <a:t> </a:t>
            </a:r>
            <a:r>
              <a:rPr dirty="0" sz="2200" spc="-25">
                <a:latin typeface="Times New Roman"/>
                <a:cs typeface="Times New Roman"/>
              </a:rPr>
              <a:t>its </a:t>
            </a:r>
            <a:r>
              <a:rPr dirty="0" sz="2200" spc="-25">
                <a:latin typeface="Times New Roman"/>
                <a:cs typeface="Times New Roman"/>
              </a:rPr>
              <a:t>	</a:t>
            </a:r>
            <a:r>
              <a:rPr dirty="0" sz="2200">
                <a:latin typeface="Times New Roman"/>
                <a:cs typeface="Times New Roman"/>
              </a:rPr>
              <a:t>benefits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disposal.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 spc="-20">
                <a:latin typeface="Times New Roman"/>
                <a:cs typeface="Times New Roman"/>
              </a:rPr>
              <a:t>AI-</a:t>
            </a:r>
            <a:r>
              <a:rPr dirty="0" sz="2200">
                <a:latin typeface="Times New Roman"/>
                <a:cs typeface="Times New Roman"/>
              </a:rPr>
              <a:t>Powered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Smart</a:t>
            </a:r>
            <a:r>
              <a:rPr dirty="0" sz="2200" spc="1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14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Segregation</a:t>
            </a:r>
            <a:r>
              <a:rPr dirty="0" sz="2200" spc="16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System</a:t>
            </a:r>
            <a:r>
              <a:rPr dirty="0" sz="2200" spc="12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effective</a:t>
            </a:r>
            <a:r>
              <a:rPr dirty="0" sz="2200" spc="1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waste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classification.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>
                <a:latin typeface="Times New Roman"/>
                <a:cs typeface="Times New Roman"/>
              </a:rPr>
              <a:t>Artificial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Intelligence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and</a:t>
            </a:r>
            <a:r>
              <a:rPr dirty="0" sz="2200" spc="-4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IoT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Smart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City</a:t>
            </a:r>
            <a:r>
              <a:rPr dirty="0" sz="2200" spc="-6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Management.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  <a:tab pos="1251585" algn="l"/>
                <a:tab pos="2178050" algn="l"/>
                <a:tab pos="3865879" algn="l"/>
                <a:tab pos="4761865" algn="l"/>
                <a:tab pos="5394325" algn="l"/>
                <a:tab pos="6026785" algn="l"/>
                <a:tab pos="6845934" algn="l"/>
              </a:tabLst>
            </a:pPr>
            <a:r>
              <a:rPr dirty="0" sz="2200" spc="-10">
                <a:latin typeface="Times New Roman"/>
                <a:cs typeface="Times New Roman"/>
              </a:rPr>
              <a:t>Smart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Waste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Management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Using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IoT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5">
                <a:latin typeface="Times New Roman"/>
                <a:cs typeface="Times New Roman"/>
              </a:rPr>
              <a:t>and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20">
                <a:latin typeface="Times New Roman"/>
                <a:cs typeface="Times New Roman"/>
              </a:rPr>
              <a:t>Deep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 spc="-10">
                <a:latin typeface="Times New Roman"/>
                <a:cs typeface="Times New Roman"/>
              </a:rPr>
              <a:t>Learning</a:t>
            </a:r>
            <a:endParaRPr sz="22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dirty="0" sz="2200" spc="-10">
                <a:latin typeface="Times New Roman"/>
                <a:cs typeface="Times New Roman"/>
              </a:rPr>
              <a:t>Techniques.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SzPct val="145454"/>
              <a:buFont typeface="Arial"/>
              <a:buChar char="•"/>
              <a:tabLst>
                <a:tab pos="354965" algn="l"/>
              </a:tabLst>
            </a:pPr>
            <a:r>
              <a:rPr dirty="0" sz="2200" spc="-20">
                <a:latin typeface="Times New Roman"/>
                <a:cs typeface="Times New Roman"/>
              </a:rPr>
              <a:t>AI-</a:t>
            </a:r>
            <a:r>
              <a:rPr dirty="0" sz="2200">
                <a:latin typeface="Times New Roman"/>
                <a:cs typeface="Times New Roman"/>
              </a:rPr>
              <a:t>Based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Waste</a:t>
            </a:r>
            <a:r>
              <a:rPr dirty="0" sz="2200" spc="-5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Management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for</a:t>
            </a:r>
            <a:r>
              <a:rPr dirty="0" sz="2200" spc="-35">
                <a:latin typeface="Times New Roman"/>
                <a:cs typeface="Times New Roman"/>
              </a:rPr>
              <a:t> </a:t>
            </a:r>
            <a:r>
              <a:rPr dirty="0" sz="2200">
                <a:latin typeface="Times New Roman"/>
                <a:cs typeface="Times New Roman"/>
              </a:rPr>
              <a:t>Sustainable</a:t>
            </a:r>
            <a:r>
              <a:rPr dirty="0" sz="2200" spc="-50">
                <a:latin typeface="Times New Roman"/>
                <a:cs typeface="Times New Roman"/>
              </a:rPr>
              <a:t> </a:t>
            </a:r>
            <a:r>
              <a:rPr dirty="0" sz="2200" spc="-10">
                <a:latin typeface="Times New Roman"/>
                <a:cs typeface="Times New Roman"/>
              </a:rPr>
              <a:t>Development.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5400">
              <a:lnSpc>
                <a:spcPts val="1410"/>
              </a:lnSpc>
            </a:pPr>
            <a:fld id="{81D60167-4931-47E6-BA6A-407CBD079E47}" type="slidenum">
              <a:rPr dirty="0" spc="-25"/>
              <a:t>21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2810103"/>
            <a:ext cx="6248400" cy="1200785"/>
          </a:xfrm>
          <a:prstGeom prst="rect"/>
          <a:ln w="28575">
            <a:solidFill>
              <a:srgbClr val="4F81BC"/>
            </a:solidFill>
          </a:ln>
        </p:spPr>
        <p:txBody>
          <a:bodyPr wrap="square" lIns="0" tIns="234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dirty="0" sz="5400" b="1">
                <a:solidFill>
                  <a:srgbClr val="252525"/>
                </a:solidFill>
                <a:latin typeface="Times New Roman"/>
                <a:cs typeface="Times New Roman"/>
              </a:rPr>
              <a:t>Thank</a:t>
            </a:r>
            <a:r>
              <a:rPr dirty="0" sz="5400" spc="-25" b="1">
                <a:solidFill>
                  <a:srgbClr val="252525"/>
                </a:solidFill>
                <a:latin typeface="Times New Roman"/>
                <a:cs typeface="Times New Roman"/>
              </a:rPr>
              <a:t> you</a:t>
            </a:r>
            <a:endParaRPr sz="5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30006" y="6447975"/>
            <a:ext cx="177800" cy="194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z="1200" spc="-25">
                <a:solidFill>
                  <a:srgbClr val="878787"/>
                </a:solidFill>
                <a:latin typeface="Times New Roman"/>
                <a:cs typeface="Times New Roman"/>
              </a:rPr>
              <a:t>23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2026-10-19T05:01:39Z</dcterms:created>
  <dcterms:modified xsi:type="dcterms:W3CDTF">2026-10-19T05:01:39Z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2026-10-19T00:00:00Z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2026-10-19T00:00:00Z</vt:filetime>
  </property>
</Properties>
</file>