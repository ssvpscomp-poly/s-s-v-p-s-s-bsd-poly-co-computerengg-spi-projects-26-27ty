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22"/>
  </p:notesMasterIdLst>
  <p:sldIdLst>
    <p:sldId id="256" r:id="rId2"/>
    <p:sldId id="257" r:id="rId3"/>
    <p:sldId id="258" r:id="rId4"/>
    <p:sldId id="259" r:id="rId5"/>
    <p:sldId id="260" r:id="rId6"/>
    <p:sldId id="273" r:id="rId7"/>
    <p:sldId id="274" r:id="rId8"/>
    <p:sldId id="276"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8077A5B-8C0D-40D8-8557-44EC33DBB8F6}">
  <a:tblStyle styleId="{98077A5B-8C0D-40D8-8557-44EC33DBB8F6}" styleName="Table_0">
    <a:wholeTbl>
      <a:tcTxStyle b="off" i="off">
        <a:font>
          <a:latin typeface="Times New Roman"/>
          <a:ea typeface="Times New Roman"/>
          <a:cs typeface="Times New Roman"/>
        </a:font>
        <a:schemeClr val="dk1"/>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tcBdr>
      </a:tcStyle>
    </a:band1H>
    <a:band2H>
      <a:tcTxStyle/>
      <a:tcStyle>
        <a:tcBdr/>
      </a:tcStyle>
    </a:band2H>
    <a:band1V>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cBdr>
      </a:tcStyle>
    </a:band1V>
    <a:band2V>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cBdr>
      </a:tcStyle>
    </a:band2V>
    <a:lastCol>
      <a:tcTxStyle b="on" i="off"/>
      <a:tcStyle>
        <a:tcBdr/>
      </a:tcStyle>
    </a:lastCol>
    <a:firstCol>
      <a:tcTxStyle b="on" i="off"/>
      <a:tcStyle>
        <a:tcBdr/>
      </a:tcStyle>
    </a:firstCol>
    <a:lastRow>
      <a:tcTxStyle b="on" i="off"/>
      <a:tcStyle>
        <a:tcBdr>
          <a:top>
            <a:ln w="50800" cap="flat" cmpd="sng">
              <a:solidFill>
                <a:schemeClr val="accent1"/>
              </a:solidFill>
              <a:prstDash val="solid"/>
              <a:round/>
              <a:headEnd type="none" w="sm" len="sm"/>
              <a:tailEnd type="none" w="sm" len="sm"/>
            </a:ln>
          </a:top>
        </a:tcBdr>
      </a:tcStyle>
    </a:lastRow>
    <a:seCell>
      <a:tcTxStyle/>
      <a:tcStyle>
        <a:tcBdr/>
      </a:tcStyle>
    </a:seCell>
    <a:swCell>
      <a:tcTxStyle/>
      <a:tcStyle>
        <a:tcBdr/>
      </a:tcStyle>
    </a:swCell>
    <a:firstRow>
      <a:tcTxStyle b="on" i="off">
        <a:font>
          <a:latin typeface="Times New Roman"/>
          <a:ea typeface="Times New Roman"/>
          <a:cs typeface="Times New Roman"/>
        </a:font>
        <a:schemeClr val="lt1"/>
      </a:tcTxStyle>
      <a:tcStyle>
        <a:tcBdr/>
        <a:fill>
          <a:solidFill>
            <a:schemeClr val="accent1"/>
          </a:solidFill>
        </a:fill>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141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18"/>
        <p:cNvGrpSpPr/>
        <p:nvPr/>
      </p:nvGrpSpPr>
      <p:grpSpPr>
        <a:xfrm>
          <a:off x="0" y="0"/>
          <a:ext cx="0" cy="0"/>
          <a:chOff x="0" y="0"/>
          <a:chExt cx="0" cy="0"/>
        </a:xfrm>
      </p:grpSpPr>
      <p:sp>
        <p:nvSpPr>
          <p:cNvPr id="419" name="Google Shape;419;n"/>
          <p:cNvSpPr txBox="1">
            <a:spLocks noGrp="1"/>
          </p:cNvSpPr>
          <p:nvPr>
            <p:ph type="hdr" idx="2"/>
          </p:nvPr>
        </p:nvSpPr>
        <p:spPr>
          <a:xfrm>
            <a:off x="0" y="0"/>
            <a:ext cx="2971800" cy="4587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20" name="Google Shape;420;n"/>
          <p:cNvSpPr txBox="1">
            <a:spLocks noGrp="1"/>
          </p:cNvSpPr>
          <p:nvPr>
            <p:ph type="dt" idx="10"/>
          </p:nvPr>
        </p:nvSpPr>
        <p:spPr>
          <a:xfrm>
            <a:off x="3884613" y="0"/>
            <a:ext cx="2971800" cy="4587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21" name="Google Shape;421;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2" name="Google Shape;422;n"/>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423" name="Google Shape;423;n"/>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24" name="Google Shape;424;n"/>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0206633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p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2" name="Google Shape;502;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072266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8" name="Google Shape;508;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145038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5" name="Google Shape;515;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4813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p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2" name="Google Shape;522;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489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9" name="Google Shape;529;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03929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6" name="Google Shape;536;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166867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3" name="Google Shape;543;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46141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p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0" name="Google Shape;550;p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89073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7" name="Google Shape;557;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916277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p1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4" name="Google Shape;56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416706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p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1" name="Google Shape;571;p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200241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p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8" name="Google Shape;578;p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85057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p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5" name="Google Shape;585;p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74321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g5ae31baec559f25e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2" name="Google Shape;592;g5ae31baec559f25e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501962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p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9" name="Google Shape;599;p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348132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1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6" name="Google Shape;606;p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95722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1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672195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31"/>
        <p:cNvGrpSpPr/>
        <p:nvPr/>
      </p:nvGrpSpPr>
      <p:grpSpPr>
        <a:xfrm>
          <a:off x="0" y="0"/>
          <a:ext cx="0" cy="0"/>
          <a:chOff x="0" y="0"/>
          <a:chExt cx="0" cy="0"/>
        </a:xfrm>
      </p:grpSpPr>
      <p:sp>
        <p:nvSpPr>
          <p:cNvPr id="432" name="Google Shape;432;p2"/>
          <p:cNvSpPr txBox="1">
            <a:spLocks noGrp="1"/>
          </p:cNvSpPr>
          <p:nvPr>
            <p:ph type="ctrTitle"/>
          </p:nvPr>
        </p:nvSpPr>
        <p:spPr>
          <a:xfrm>
            <a:off x="685800" y="2130425"/>
            <a:ext cx="7772400" cy="14700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33" name="Google Shape;433;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rtl="0">
              <a:spcBef>
                <a:spcPts val="640"/>
              </a:spcBef>
              <a:spcAft>
                <a:spcPts val="0"/>
              </a:spcAft>
              <a:buClr>
                <a:srgbClr val="888888"/>
              </a:buClr>
              <a:buSzPts val="3200"/>
              <a:buNone/>
              <a:defRPr>
                <a:solidFill>
                  <a:srgbClr val="888888"/>
                </a:solidFill>
              </a:defRPr>
            </a:lvl1pPr>
            <a:lvl2pPr lvl="1" algn="ctr" rtl="0">
              <a:spcBef>
                <a:spcPts val="560"/>
              </a:spcBef>
              <a:spcAft>
                <a:spcPts val="0"/>
              </a:spcAft>
              <a:buClr>
                <a:srgbClr val="888888"/>
              </a:buClr>
              <a:buSzPts val="2800"/>
              <a:buNone/>
              <a:defRPr>
                <a:solidFill>
                  <a:srgbClr val="888888"/>
                </a:solidFill>
              </a:defRPr>
            </a:lvl2pPr>
            <a:lvl3pPr lvl="2" algn="ctr" rtl="0">
              <a:spcBef>
                <a:spcPts val="480"/>
              </a:spcBef>
              <a:spcAft>
                <a:spcPts val="0"/>
              </a:spcAft>
              <a:buClr>
                <a:srgbClr val="888888"/>
              </a:buClr>
              <a:buSzPts val="2400"/>
              <a:buNone/>
              <a:defRPr>
                <a:solidFill>
                  <a:srgbClr val="888888"/>
                </a:solidFill>
              </a:defRPr>
            </a:lvl3pPr>
            <a:lvl4pPr lvl="3" algn="ctr" rtl="0">
              <a:spcBef>
                <a:spcPts val="400"/>
              </a:spcBef>
              <a:spcAft>
                <a:spcPts val="0"/>
              </a:spcAft>
              <a:buClr>
                <a:srgbClr val="888888"/>
              </a:buClr>
              <a:buSzPts val="2000"/>
              <a:buNone/>
              <a:defRPr>
                <a:solidFill>
                  <a:srgbClr val="888888"/>
                </a:solidFill>
              </a:defRPr>
            </a:lvl4pPr>
            <a:lvl5pPr lvl="4" algn="ctr" rtl="0">
              <a:spcBef>
                <a:spcPts val="400"/>
              </a:spcBef>
              <a:spcAft>
                <a:spcPts val="0"/>
              </a:spcAft>
              <a:buClr>
                <a:srgbClr val="888888"/>
              </a:buClr>
              <a:buSzPts val="20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434" name="Google Shape;434;p2"/>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35" name="Google Shape;435;p2"/>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36" name="Google Shape;436;p2"/>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37"/>
        <p:cNvGrpSpPr/>
        <p:nvPr/>
      </p:nvGrpSpPr>
      <p:grpSpPr>
        <a:xfrm>
          <a:off x="0" y="0"/>
          <a:ext cx="0" cy="0"/>
          <a:chOff x="0" y="0"/>
          <a:chExt cx="0" cy="0"/>
        </a:xfrm>
      </p:grpSpPr>
      <p:sp>
        <p:nvSpPr>
          <p:cNvPr id="438" name="Google Shape;438;p3"/>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lvl1pPr lvl="0" algn="ctr" rtl="0">
              <a:spcBef>
                <a:spcPts val="0"/>
              </a:spcBef>
              <a:spcAft>
                <a:spcPts val="0"/>
              </a:spcAft>
              <a:buClr>
                <a:srgbClr val="002060"/>
              </a:buClr>
              <a:buSzPts val="4400"/>
              <a:buFont typeface="Arial"/>
              <a:buNone/>
              <a:defRPr>
                <a:solidFill>
                  <a:srgbClr val="002060"/>
                </a:solidFill>
                <a:latin typeface="Times New Roman"/>
                <a:ea typeface="Times New Roman"/>
                <a:cs typeface="Times New Roman"/>
                <a:sym typeface="Times New Roma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39" name="Google Shape;439;p3"/>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440" name="Google Shape;440;p3"/>
          <p:cNvSpPr txBox="1">
            <a:spLocks noGrp="1"/>
          </p:cNvSpPr>
          <p:nvPr>
            <p:ph type="dt" idx="10"/>
          </p:nvPr>
        </p:nvSpPr>
        <p:spPr>
          <a:xfrm>
            <a:off x="457200" y="6356350"/>
            <a:ext cx="21336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41" name="Google Shape;441;p3"/>
          <p:cNvSpPr txBox="1">
            <a:spLocks noGrp="1"/>
          </p:cNvSpPr>
          <p:nvPr>
            <p:ph type="ftr" idx="11"/>
          </p:nvPr>
        </p:nvSpPr>
        <p:spPr>
          <a:xfrm>
            <a:off x="3124200" y="6356350"/>
            <a:ext cx="28956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42" name="Google Shape;442;p3"/>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lvl1pPr marL="0" lvl="0" indent="0" algn="ctr" rtl="0">
              <a:spcBef>
                <a:spcPts val="0"/>
              </a:spcBef>
              <a:buNone/>
              <a:defRPr sz="1200" b="0" i="0" u="none" strike="noStrike" cap="none">
                <a:solidFill>
                  <a:srgbClr val="888888"/>
                </a:solidFill>
                <a:latin typeface="Times New Roman"/>
                <a:ea typeface="Times New Roman"/>
                <a:cs typeface="Times New Roman"/>
                <a:sym typeface="Times New Roman"/>
              </a:defRPr>
            </a:lvl1pPr>
            <a:lvl2pPr marL="0" lvl="1" indent="0" algn="ctr" rtl="0">
              <a:spcBef>
                <a:spcPts val="0"/>
              </a:spcBef>
              <a:buNone/>
              <a:defRPr sz="1200" b="0" i="0" u="none" strike="noStrike" cap="none">
                <a:solidFill>
                  <a:srgbClr val="888888"/>
                </a:solidFill>
                <a:latin typeface="Times New Roman"/>
                <a:ea typeface="Times New Roman"/>
                <a:cs typeface="Times New Roman"/>
                <a:sym typeface="Times New Roman"/>
              </a:defRPr>
            </a:lvl2pPr>
            <a:lvl3pPr marL="0" lvl="2" indent="0" algn="ctr" rtl="0">
              <a:spcBef>
                <a:spcPts val="0"/>
              </a:spcBef>
              <a:buNone/>
              <a:defRPr sz="1200" b="0" i="0" u="none" strike="noStrike" cap="none">
                <a:solidFill>
                  <a:srgbClr val="888888"/>
                </a:solidFill>
                <a:latin typeface="Times New Roman"/>
                <a:ea typeface="Times New Roman"/>
                <a:cs typeface="Times New Roman"/>
                <a:sym typeface="Times New Roman"/>
              </a:defRPr>
            </a:lvl3pPr>
            <a:lvl4pPr marL="0" lvl="3" indent="0" algn="ctr" rtl="0">
              <a:spcBef>
                <a:spcPts val="0"/>
              </a:spcBef>
              <a:buNone/>
              <a:defRPr sz="1200" b="0" i="0" u="none" strike="noStrike" cap="none">
                <a:solidFill>
                  <a:srgbClr val="888888"/>
                </a:solidFill>
                <a:latin typeface="Times New Roman"/>
                <a:ea typeface="Times New Roman"/>
                <a:cs typeface="Times New Roman"/>
                <a:sym typeface="Times New Roman"/>
              </a:defRPr>
            </a:lvl4pPr>
            <a:lvl5pPr marL="0" lvl="4" indent="0" algn="ctr" rtl="0">
              <a:spcBef>
                <a:spcPts val="0"/>
              </a:spcBef>
              <a:buNone/>
              <a:defRPr sz="1200" b="0" i="0" u="none" strike="noStrike" cap="none">
                <a:solidFill>
                  <a:srgbClr val="888888"/>
                </a:solidFill>
                <a:latin typeface="Times New Roman"/>
                <a:ea typeface="Times New Roman"/>
                <a:cs typeface="Times New Roman"/>
                <a:sym typeface="Times New Roman"/>
              </a:defRPr>
            </a:lvl5pPr>
            <a:lvl6pPr marL="0" lvl="5" indent="0" algn="ctr" rtl="0">
              <a:spcBef>
                <a:spcPts val="0"/>
              </a:spcBef>
              <a:buNone/>
              <a:defRPr sz="1200" b="0" i="0" u="none" strike="noStrike" cap="none">
                <a:solidFill>
                  <a:srgbClr val="888888"/>
                </a:solidFill>
                <a:latin typeface="Times New Roman"/>
                <a:ea typeface="Times New Roman"/>
                <a:cs typeface="Times New Roman"/>
                <a:sym typeface="Times New Roman"/>
              </a:defRPr>
            </a:lvl6pPr>
            <a:lvl7pPr marL="0" lvl="6" indent="0" algn="ctr" rtl="0">
              <a:spcBef>
                <a:spcPts val="0"/>
              </a:spcBef>
              <a:buNone/>
              <a:defRPr sz="1200" b="0" i="0" u="none" strike="noStrike" cap="none">
                <a:solidFill>
                  <a:srgbClr val="888888"/>
                </a:solidFill>
                <a:latin typeface="Times New Roman"/>
                <a:ea typeface="Times New Roman"/>
                <a:cs typeface="Times New Roman"/>
                <a:sym typeface="Times New Roman"/>
              </a:defRPr>
            </a:lvl7pPr>
            <a:lvl8pPr marL="0" lvl="7" indent="0" algn="ctr" rtl="0">
              <a:spcBef>
                <a:spcPts val="0"/>
              </a:spcBef>
              <a:buNone/>
              <a:defRPr sz="1200" b="0" i="0" u="none" strike="noStrike" cap="none">
                <a:solidFill>
                  <a:srgbClr val="888888"/>
                </a:solidFill>
                <a:latin typeface="Times New Roman"/>
                <a:ea typeface="Times New Roman"/>
                <a:cs typeface="Times New Roman"/>
                <a:sym typeface="Times New Roman"/>
              </a:defRPr>
            </a:lvl8pPr>
            <a:lvl9pPr marL="0" lvl="8" indent="0" algn="ctr" rtl="0">
              <a:spcBef>
                <a:spcPts val="0"/>
              </a:spcBef>
              <a:buNone/>
              <a:defRPr sz="1200" b="0" i="0" u="none" strike="noStrike" cap="none">
                <a:solidFill>
                  <a:srgbClr val="888888"/>
                </a:solidFill>
                <a:latin typeface="Times New Roman"/>
                <a:ea typeface="Times New Roman"/>
                <a:cs typeface="Times New Roman"/>
                <a:sym typeface="Times New Roman"/>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3"/>
        <p:cNvGrpSpPr/>
        <p:nvPr/>
      </p:nvGrpSpPr>
      <p:grpSpPr>
        <a:xfrm>
          <a:off x="0" y="0"/>
          <a:ext cx="0" cy="0"/>
          <a:chOff x="0" y="0"/>
          <a:chExt cx="0" cy="0"/>
        </a:xfrm>
      </p:grpSpPr>
      <p:sp>
        <p:nvSpPr>
          <p:cNvPr id="444" name="Google Shape;444;p4"/>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45" name="Google Shape;445;p4"/>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46" name="Google Shape;446;p4"/>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47"/>
        <p:cNvGrpSpPr/>
        <p:nvPr/>
      </p:nvGrpSpPr>
      <p:grpSpPr>
        <a:xfrm>
          <a:off x="0" y="0"/>
          <a:ext cx="0" cy="0"/>
          <a:chOff x="0" y="0"/>
          <a:chExt cx="0" cy="0"/>
        </a:xfrm>
      </p:grpSpPr>
      <p:sp>
        <p:nvSpPr>
          <p:cNvPr id="448" name="Google Shape;448;p5"/>
          <p:cNvSpPr txBox="1">
            <a:spLocks noGrp="1"/>
          </p:cNvSpPr>
          <p:nvPr>
            <p:ph type="title"/>
          </p:nvPr>
        </p:nvSpPr>
        <p:spPr>
          <a:xfrm>
            <a:off x="722313" y="4406900"/>
            <a:ext cx="7772400" cy="13620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dk1"/>
              </a:buClr>
              <a:buSzPts val="4000"/>
              <a:buFont typeface="Arial"/>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9" name="Google Shape;449;p5"/>
          <p:cNvSpPr txBox="1">
            <a:spLocks noGrp="1"/>
          </p:cNvSpPr>
          <p:nvPr>
            <p:ph type="body" idx="1"/>
          </p:nvPr>
        </p:nvSpPr>
        <p:spPr>
          <a:xfrm>
            <a:off x="722313" y="2906713"/>
            <a:ext cx="77724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450" name="Google Shape;450;p5"/>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1" name="Google Shape;451;p5"/>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2" name="Google Shape;452;p5"/>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53"/>
        <p:cNvGrpSpPr/>
        <p:nvPr/>
      </p:nvGrpSpPr>
      <p:grpSpPr>
        <a:xfrm>
          <a:off x="0" y="0"/>
          <a:ext cx="0" cy="0"/>
          <a:chOff x="0" y="0"/>
          <a:chExt cx="0" cy="0"/>
        </a:xfrm>
      </p:grpSpPr>
      <p:sp>
        <p:nvSpPr>
          <p:cNvPr id="454" name="Google Shape;454;p6"/>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55" name="Google Shape;455;p6"/>
          <p:cNvSpPr txBox="1">
            <a:spLocks noGrp="1"/>
          </p:cNvSpPr>
          <p:nvPr>
            <p:ph type="body" idx="1"/>
          </p:nvPr>
        </p:nvSpPr>
        <p:spPr>
          <a:xfrm>
            <a:off x="457200" y="1600200"/>
            <a:ext cx="40386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456" name="Google Shape;456;p6"/>
          <p:cNvSpPr txBox="1">
            <a:spLocks noGrp="1"/>
          </p:cNvSpPr>
          <p:nvPr>
            <p:ph type="body" idx="2"/>
          </p:nvPr>
        </p:nvSpPr>
        <p:spPr>
          <a:xfrm>
            <a:off x="4648200" y="1600200"/>
            <a:ext cx="40386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457" name="Google Shape;457;p6"/>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8" name="Google Shape;458;p6"/>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9" name="Google Shape;459;p6"/>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0"/>
        <p:cNvGrpSpPr/>
        <p:nvPr/>
      </p:nvGrpSpPr>
      <p:grpSpPr>
        <a:xfrm>
          <a:off x="0" y="0"/>
          <a:ext cx="0" cy="0"/>
          <a:chOff x="0" y="0"/>
          <a:chExt cx="0" cy="0"/>
        </a:xfrm>
      </p:grpSpPr>
      <p:sp>
        <p:nvSpPr>
          <p:cNvPr id="461" name="Google Shape;461;p7"/>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4400"/>
              <a:buFont typeface="Arial"/>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62" name="Google Shape;462;p7"/>
          <p:cNvSpPr txBox="1">
            <a:spLocks noGrp="1"/>
          </p:cNvSpPr>
          <p:nvPr>
            <p:ph type="body" idx="1"/>
          </p:nvPr>
        </p:nvSpPr>
        <p:spPr>
          <a:xfrm>
            <a:off x="457200" y="1535113"/>
            <a:ext cx="40401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63" name="Google Shape;463;p7"/>
          <p:cNvSpPr txBox="1">
            <a:spLocks noGrp="1"/>
          </p:cNvSpPr>
          <p:nvPr>
            <p:ph type="body" idx="2"/>
          </p:nvPr>
        </p:nvSpPr>
        <p:spPr>
          <a:xfrm>
            <a:off x="457200" y="2174875"/>
            <a:ext cx="40401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64" name="Google Shape;464;p7"/>
          <p:cNvSpPr txBox="1">
            <a:spLocks noGrp="1"/>
          </p:cNvSpPr>
          <p:nvPr>
            <p:ph type="body" idx="3"/>
          </p:nvPr>
        </p:nvSpPr>
        <p:spPr>
          <a:xfrm>
            <a:off x="4645025" y="1535113"/>
            <a:ext cx="4041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65" name="Google Shape;465;p7"/>
          <p:cNvSpPr txBox="1">
            <a:spLocks noGrp="1"/>
          </p:cNvSpPr>
          <p:nvPr>
            <p:ph type="body" idx="4"/>
          </p:nvPr>
        </p:nvSpPr>
        <p:spPr>
          <a:xfrm>
            <a:off x="4645025" y="2174875"/>
            <a:ext cx="4041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66" name="Google Shape;466;p7"/>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7" name="Google Shape;467;p7"/>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8" name="Google Shape;468;p7"/>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69"/>
        <p:cNvGrpSpPr/>
        <p:nvPr/>
      </p:nvGrpSpPr>
      <p:grpSpPr>
        <a:xfrm>
          <a:off x="0" y="0"/>
          <a:ext cx="0" cy="0"/>
          <a:chOff x="0" y="0"/>
          <a:chExt cx="0" cy="0"/>
        </a:xfrm>
      </p:grpSpPr>
      <p:sp>
        <p:nvSpPr>
          <p:cNvPr id="470" name="Google Shape;470;p8"/>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71" name="Google Shape;471;p8"/>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72" name="Google Shape;472;p8"/>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73" name="Google Shape;473;p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74"/>
        <p:cNvGrpSpPr/>
        <p:nvPr/>
      </p:nvGrpSpPr>
      <p:grpSpPr>
        <a:xfrm>
          <a:off x="0" y="0"/>
          <a:ext cx="0" cy="0"/>
          <a:chOff x="0" y="0"/>
          <a:chExt cx="0" cy="0"/>
        </a:xfrm>
      </p:grpSpPr>
      <p:sp>
        <p:nvSpPr>
          <p:cNvPr id="475" name="Google Shape;475;p9"/>
          <p:cNvSpPr txBox="1">
            <a:spLocks noGrp="1"/>
          </p:cNvSpPr>
          <p:nvPr>
            <p:ph type="title"/>
          </p:nvPr>
        </p:nvSpPr>
        <p:spPr>
          <a:xfrm>
            <a:off x="457200" y="273050"/>
            <a:ext cx="3008400" cy="11622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dk1"/>
              </a:buClr>
              <a:buSzPts val="2000"/>
              <a:buFont typeface="Arial"/>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76" name="Google Shape;476;p9"/>
          <p:cNvSpPr txBox="1">
            <a:spLocks noGrp="1"/>
          </p:cNvSpPr>
          <p:nvPr>
            <p:ph type="body" idx="1"/>
          </p:nvPr>
        </p:nvSpPr>
        <p:spPr>
          <a:xfrm>
            <a:off x="3575050" y="273050"/>
            <a:ext cx="5111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477" name="Google Shape;477;p9"/>
          <p:cNvSpPr txBox="1">
            <a:spLocks noGrp="1"/>
          </p:cNvSpPr>
          <p:nvPr>
            <p:ph type="body" idx="2"/>
          </p:nvPr>
        </p:nvSpPr>
        <p:spPr>
          <a:xfrm>
            <a:off x="457200" y="1435100"/>
            <a:ext cx="30084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478" name="Google Shape;478;p9"/>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79" name="Google Shape;479;p9"/>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80" name="Google Shape;480;p9"/>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81"/>
        <p:cNvGrpSpPr/>
        <p:nvPr/>
      </p:nvGrpSpPr>
      <p:grpSpPr>
        <a:xfrm>
          <a:off x="0" y="0"/>
          <a:ext cx="0" cy="0"/>
          <a:chOff x="0" y="0"/>
          <a:chExt cx="0" cy="0"/>
        </a:xfrm>
      </p:grpSpPr>
      <p:sp>
        <p:nvSpPr>
          <p:cNvPr id="482" name="Google Shape;482;p10"/>
          <p:cNvSpPr txBox="1">
            <a:spLocks noGrp="1"/>
          </p:cNvSpPr>
          <p:nvPr>
            <p:ph type="title"/>
          </p:nvPr>
        </p:nvSpPr>
        <p:spPr>
          <a:xfrm>
            <a:off x="1792288" y="4800600"/>
            <a:ext cx="5486400" cy="5667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dk1"/>
              </a:buClr>
              <a:buSzPts val="2000"/>
              <a:buFont typeface="Arial"/>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83" name="Google Shape;483;p10"/>
          <p:cNvSpPr>
            <a:spLocks noGrp="1"/>
          </p:cNvSpPr>
          <p:nvPr>
            <p:ph type="pic" idx="2"/>
          </p:nvPr>
        </p:nvSpPr>
        <p:spPr>
          <a:xfrm>
            <a:off x="1792288" y="612775"/>
            <a:ext cx="5486400" cy="4114800"/>
          </a:xfrm>
          <a:prstGeom prst="rect">
            <a:avLst/>
          </a:prstGeom>
          <a:noFill/>
          <a:ln>
            <a:noFill/>
          </a:ln>
        </p:spPr>
      </p:sp>
      <p:sp>
        <p:nvSpPr>
          <p:cNvPr id="484" name="Google Shape;484;p10"/>
          <p:cNvSpPr txBox="1">
            <a:spLocks noGrp="1"/>
          </p:cNvSpPr>
          <p:nvPr>
            <p:ph type="body" idx="1"/>
          </p:nvPr>
        </p:nvSpPr>
        <p:spPr>
          <a:xfrm>
            <a:off x="1792288" y="5367338"/>
            <a:ext cx="54864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485" name="Google Shape;485;p10"/>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86" name="Google Shape;486;p10"/>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87" name="Google Shape;487;p1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488"/>
        <p:cNvGrpSpPr/>
        <p:nvPr/>
      </p:nvGrpSpPr>
      <p:grpSpPr>
        <a:xfrm>
          <a:off x="0" y="0"/>
          <a:ext cx="0" cy="0"/>
          <a:chOff x="0" y="0"/>
          <a:chExt cx="0" cy="0"/>
        </a:xfrm>
      </p:grpSpPr>
      <p:sp>
        <p:nvSpPr>
          <p:cNvPr id="489" name="Google Shape;489;p11"/>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0" name="Google Shape;490;p11"/>
          <p:cNvSpPr txBox="1">
            <a:spLocks noGrp="1"/>
          </p:cNvSpPr>
          <p:nvPr>
            <p:ph type="body" idx="1"/>
          </p:nvPr>
        </p:nvSpPr>
        <p:spPr>
          <a:xfrm rot="5400000">
            <a:off x="1981200" y="-457200"/>
            <a:ext cx="5181600" cy="82296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491" name="Google Shape;491;p11"/>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2" name="Google Shape;492;p11"/>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3" name="Google Shape;493;p1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494"/>
        <p:cNvGrpSpPr/>
        <p:nvPr/>
      </p:nvGrpSpPr>
      <p:grpSpPr>
        <a:xfrm>
          <a:off x="0" y="0"/>
          <a:ext cx="0" cy="0"/>
          <a:chOff x="0" y="0"/>
          <a:chExt cx="0" cy="0"/>
        </a:xfrm>
      </p:grpSpPr>
      <p:sp>
        <p:nvSpPr>
          <p:cNvPr id="495" name="Google Shape;495;p12"/>
          <p:cNvSpPr txBox="1">
            <a:spLocks noGrp="1"/>
          </p:cNvSpPr>
          <p:nvPr>
            <p:ph type="title"/>
          </p:nvPr>
        </p:nvSpPr>
        <p:spPr>
          <a:xfrm rot="5400000">
            <a:off x="4732350" y="2171688"/>
            <a:ext cx="5851500" cy="20574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6" name="Google Shape;496;p12"/>
          <p:cNvSpPr txBox="1">
            <a:spLocks noGrp="1"/>
          </p:cNvSpPr>
          <p:nvPr>
            <p:ph type="body" idx="1"/>
          </p:nvPr>
        </p:nvSpPr>
        <p:spPr>
          <a:xfrm rot="5400000">
            <a:off x="541350" y="190488"/>
            <a:ext cx="5851500" cy="60198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497" name="Google Shape;497;p12"/>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8" name="Google Shape;498;p12"/>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9" name="Google Shape;499;p12"/>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25"/>
        <p:cNvGrpSpPr/>
        <p:nvPr/>
      </p:nvGrpSpPr>
      <p:grpSpPr>
        <a:xfrm>
          <a:off x="0" y="0"/>
          <a:ext cx="0" cy="0"/>
          <a:chOff x="0" y="0"/>
          <a:chExt cx="0" cy="0"/>
        </a:xfrm>
      </p:grpSpPr>
      <p:sp>
        <p:nvSpPr>
          <p:cNvPr id="426" name="Google Shape;426;p1"/>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27" name="Google Shape;427;p1"/>
          <p:cNvSpPr txBox="1">
            <a:spLocks noGrp="1"/>
          </p:cNvSpPr>
          <p:nvPr>
            <p:ph type="body" idx="1"/>
          </p:nvPr>
        </p:nvSpPr>
        <p:spPr>
          <a:xfrm>
            <a:off x="457200" y="1066800"/>
            <a:ext cx="8229600" cy="5181600"/>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Times New Roman"/>
                <a:ea typeface="Times New Roman"/>
                <a:cs typeface="Times New Roman"/>
                <a:sym typeface="Times New Roman"/>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428" name="Google Shape;428;p1"/>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429" name="Google Shape;429;p1"/>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430" name="Google Shape;430;p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Times New Roman"/>
                <a:ea typeface="Times New Roman"/>
                <a:cs typeface="Times New Roman"/>
                <a:sym typeface="Times New Roman"/>
              </a:defRPr>
            </a:lvl1pPr>
            <a:lvl2pPr marL="0" marR="0" lvl="1" indent="0" algn="r" rtl="0">
              <a:spcBef>
                <a:spcPts val="0"/>
              </a:spcBef>
              <a:buNone/>
              <a:defRPr sz="1200" b="0" i="0" u="none" strike="noStrike" cap="none">
                <a:solidFill>
                  <a:srgbClr val="888888"/>
                </a:solidFill>
                <a:latin typeface="Times New Roman"/>
                <a:ea typeface="Times New Roman"/>
                <a:cs typeface="Times New Roman"/>
                <a:sym typeface="Times New Roman"/>
              </a:defRPr>
            </a:lvl2pPr>
            <a:lvl3pPr marL="0" marR="0" lvl="2" indent="0" algn="r" rtl="0">
              <a:spcBef>
                <a:spcPts val="0"/>
              </a:spcBef>
              <a:buNone/>
              <a:defRPr sz="1200" b="0" i="0" u="none" strike="noStrike" cap="none">
                <a:solidFill>
                  <a:srgbClr val="888888"/>
                </a:solidFill>
                <a:latin typeface="Times New Roman"/>
                <a:ea typeface="Times New Roman"/>
                <a:cs typeface="Times New Roman"/>
                <a:sym typeface="Times New Roman"/>
              </a:defRPr>
            </a:lvl3pPr>
            <a:lvl4pPr marL="0" marR="0" lvl="3" indent="0" algn="r" rtl="0">
              <a:spcBef>
                <a:spcPts val="0"/>
              </a:spcBef>
              <a:buNone/>
              <a:defRPr sz="1200" b="0" i="0" u="none" strike="noStrike" cap="none">
                <a:solidFill>
                  <a:srgbClr val="888888"/>
                </a:solidFill>
                <a:latin typeface="Times New Roman"/>
                <a:ea typeface="Times New Roman"/>
                <a:cs typeface="Times New Roman"/>
                <a:sym typeface="Times New Roman"/>
              </a:defRPr>
            </a:lvl4pPr>
            <a:lvl5pPr marL="0" marR="0" lvl="4" indent="0" algn="r" rtl="0">
              <a:spcBef>
                <a:spcPts val="0"/>
              </a:spcBef>
              <a:buNone/>
              <a:defRPr sz="1200" b="0" i="0" u="none" strike="noStrike" cap="none">
                <a:solidFill>
                  <a:srgbClr val="888888"/>
                </a:solidFill>
                <a:latin typeface="Times New Roman"/>
                <a:ea typeface="Times New Roman"/>
                <a:cs typeface="Times New Roman"/>
                <a:sym typeface="Times New Roman"/>
              </a:defRPr>
            </a:lvl5pPr>
            <a:lvl6pPr marL="0" marR="0" lvl="5" indent="0" algn="r" rtl="0">
              <a:spcBef>
                <a:spcPts val="0"/>
              </a:spcBef>
              <a:buNone/>
              <a:defRPr sz="1200" b="0" i="0" u="none" strike="noStrike" cap="none">
                <a:solidFill>
                  <a:srgbClr val="888888"/>
                </a:solidFill>
                <a:latin typeface="Times New Roman"/>
                <a:ea typeface="Times New Roman"/>
                <a:cs typeface="Times New Roman"/>
                <a:sym typeface="Times New Roman"/>
              </a:defRPr>
            </a:lvl6pPr>
            <a:lvl7pPr marL="0" marR="0" lvl="6" indent="0" algn="r" rtl="0">
              <a:spcBef>
                <a:spcPts val="0"/>
              </a:spcBef>
              <a:buNone/>
              <a:defRPr sz="1200" b="0" i="0" u="none" strike="noStrike" cap="none">
                <a:solidFill>
                  <a:srgbClr val="888888"/>
                </a:solidFill>
                <a:latin typeface="Times New Roman"/>
                <a:ea typeface="Times New Roman"/>
                <a:cs typeface="Times New Roman"/>
                <a:sym typeface="Times New Roman"/>
              </a:defRPr>
            </a:lvl7pPr>
            <a:lvl8pPr marL="0" marR="0" lvl="7" indent="0" algn="r" rtl="0">
              <a:spcBef>
                <a:spcPts val="0"/>
              </a:spcBef>
              <a:buNone/>
              <a:defRPr sz="1200" b="0" i="0" u="none" strike="noStrike" cap="none">
                <a:solidFill>
                  <a:srgbClr val="888888"/>
                </a:solidFill>
                <a:latin typeface="Times New Roman"/>
                <a:ea typeface="Times New Roman"/>
                <a:cs typeface="Times New Roman"/>
                <a:sym typeface="Times New Roman"/>
              </a:defRPr>
            </a:lvl8pPr>
            <a:lvl9pPr marL="0" marR="0" lvl="8" indent="0" algn="r" rtl="0">
              <a:spcBef>
                <a:spcPts val="0"/>
              </a:spcBef>
              <a:buNone/>
              <a:defRPr sz="1200" b="0" i="0" u="none" strike="noStrike" cap="none">
                <a:solidFill>
                  <a:srgbClr val="888888"/>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graphicFrame>
        <p:nvGraphicFramePr>
          <p:cNvPr id="504" name="Google Shape;504;p13"/>
          <p:cNvGraphicFramePr/>
          <p:nvPr>
            <p:extLst>
              <p:ext uri="{D42A27DB-BD31-4B8C-83A1-F6EECF244321}">
                <p14:modId xmlns:p14="http://schemas.microsoft.com/office/powerpoint/2010/main" val="809770545"/>
              </p:ext>
            </p:extLst>
          </p:nvPr>
        </p:nvGraphicFramePr>
        <p:xfrm>
          <a:off x="228600" y="304800"/>
          <a:ext cx="8646213" cy="5765675"/>
        </p:xfrm>
        <a:graphic>
          <a:graphicData uri="http://schemas.openxmlformats.org/drawingml/2006/table">
            <a:tbl>
              <a:tblPr firstRow="1" bandRow="1">
                <a:noFill/>
                <a:tableStyleId>{98077A5B-8C0D-40D8-8557-44EC33DBB8F6}</a:tableStyleId>
              </a:tblPr>
              <a:tblGrid>
                <a:gridCol w="1483413">
                  <a:extLst>
                    <a:ext uri="{9D8B030D-6E8A-4147-A177-3AD203B41FA5}">
                      <a16:colId xmlns:a16="http://schemas.microsoft.com/office/drawing/2014/main" xmlns="" val="20000"/>
                    </a:ext>
                  </a:extLst>
                </a:gridCol>
                <a:gridCol w="352075">
                  <a:extLst>
                    <a:ext uri="{9D8B030D-6E8A-4147-A177-3AD203B41FA5}">
                      <a16:colId xmlns:a16="http://schemas.microsoft.com/office/drawing/2014/main" xmlns="" val="20001"/>
                    </a:ext>
                  </a:extLst>
                </a:gridCol>
                <a:gridCol w="4191000">
                  <a:extLst>
                    <a:ext uri="{9D8B030D-6E8A-4147-A177-3AD203B41FA5}">
                      <a16:colId xmlns:a16="http://schemas.microsoft.com/office/drawing/2014/main" xmlns="" val="20002"/>
                    </a:ext>
                  </a:extLst>
                </a:gridCol>
                <a:gridCol w="2619725">
                  <a:extLst>
                    <a:ext uri="{9D8B030D-6E8A-4147-A177-3AD203B41FA5}">
                      <a16:colId xmlns:a16="http://schemas.microsoft.com/office/drawing/2014/main" xmlns="" val="20003"/>
                    </a:ext>
                  </a:extLst>
                </a:gridCol>
              </a:tblGrid>
              <a:tr h="1752600">
                <a:tc>
                  <a:txBody>
                    <a:bodyPr/>
                    <a:lstStyle/>
                    <a:p>
                      <a:pPr marL="0" marR="0" lvl="0" indent="0" algn="ctr" rtl="0">
                        <a:spcBef>
                          <a:spcPts val="0"/>
                        </a:spcBef>
                        <a:spcAft>
                          <a:spcPts val="0"/>
                        </a:spcAft>
                        <a:buNone/>
                      </a:pPr>
                      <a:endParaRPr sz="2200" u="none" strike="noStrike" cap="none" dirty="0">
                        <a:solidFill>
                          <a:schemeClr val="lt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gridSpan="3">
                  <a:txBody>
                    <a:bodyPr/>
                    <a:lstStyle/>
                    <a:p>
                      <a:pPr marL="0" marR="0" lvl="0" indent="0" algn="ctr" rtl="0">
                        <a:spcBef>
                          <a:spcPts val="0"/>
                        </a:spcBef>
                        <a:spcAft>
                          <a:spcPts val="0"/>
                        </a:spcAft>
                        <a:buNone/>
                      </a:pPr>
                      <a:r>
                        <a:rPr lang="en-US" sz="2800" u="none" strike="noStrike" cap="none">
                          <a:solidFill>
                            <a:schemeClr val="lt1"/>
                          </a:solidFill>
                        </a:rPr>
                        <a:t>S.S.V.P.S’s B. S. Deore Polytechnic, Dhule</a:t>
                      </a:r>
                      <a:endParaRPr sz="2800" u="none" strike="noStrike" cap="none">
                        <a:solidFill>
                          <a:schemeClr val="lt1"/>
                        </a:solidFill>
                      </a:endParaRPr>
                    </a:p>
                    <a:p>
                      <a:pPr marL="0" marR="0" lvl="0" indent="0" algn="ctr" rtl="0">
                        <a:lnSpc>
                          <a:spcPct val="100000"/>
                        </a:lnSpc>
                        <a:spcBef>
                          <a:spcPts val="0"/>
                        </a:spcBef>
                        <a:spcAft>
                          <a:spcPts val="0"/>
                        </a:spcAft>
                        <a:buClr>
                          <a:schemeClr val="lt1"/>
                        </a:buClr>
                        <a:buSzPts val="3200"/>
                        <a:buFont typeface="Times New Roman"/>
                        <a:buNone/>
                      </a:pPr>
                      <a:r>
                        <a:rPr lang="en-US" sz="3200" u="none" strike="noStrike" cap="none">
                          <a:solidFill>
                            <a:schemeClr val="lt1"/>
                          </a:solidFill>
                        </a:rPr>
                        <a:t>Department of Computer Engineering</a:t>
                      </a:r>
                      <a:endParaRPr/>
                    </a:p>
                    <a:p>
                      <a:pPr marL="0" marR="0" lvl="0" indent="0" algn="ctr" rtl="0">
                        <a:spcBef>
                          <a:spcPts val="0"/>
                        </a:spcBef>
                        <a:spcAft>
                          <a:spcPts val="0"/>
                        </a:spcAft>
                        <a:buNone/>
                      </a:pPr>
                      <a:r>
                        <a:rPr lang="en-US" sz="3200" b="0" i="1" u="none" strike="noStrike" cap="none">
                          <a:solidFill>
                            <a:schemeClr val="lt1"/>
                          </a:solidFill>
                        </a:rPr>
                        <a:t>Academic Year : </a:t>
                      </a:r>
                      <a:r>
                        <a:rPr lang="en-US" sz="3200" b="0" i="1"/>
                        <a:t>2026-2027</a:t>
                      </a:r>
                      <a:endParaRPr sz="3200" b="0" i="1" u="none" strike="noStrike" cap="none">
                        <a:solidFill>
                          <a:schemeClr val="lt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0"/>
                  </a:ext>
                </a:extLst>
              </a:tr>
              <a:tr h="593225">
                <a:tc gridSpan="4">
                  <a:txBody>
                    <a:bodyPr/>
                    <a:lstStyle/>
                    <a:p>
                      <a:pPr marL="0" marR="0" lvl="0" indent="0" algn="ctr" rtl="0">
                        <a:spcBef>
                          <a:spcPts val="0"/>
                        </a:spcBef>
                        <a:spcAft>
                          <a:spcPts val="0"/>
                        </a:spcAft>
                        <a:buNone/>
                      </a:pPr>
                      <a:r>
                        <a:rPr lang="en-US" sz="2800" b="1" u="none" strike="noStrike" cap="none" dirty="0">
                          <a:solidFill>
                            <a:srgbClr val="002060"/>
                          </a:solidFill>
                          <a:latin typeface="Times New Roman"/>
                          <a:ea typeface="Times New Roman"/>
                          <a:cs typeface="Times New Roman"/>
                          <a:sym typeface="Times New Roman"/>
                        </a:rPr>
                        <a:t>SEMINAR AND PROJECT INITIATION COURSE</a:t>
                      </a:r>
                      <a:endParaRPr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1"/>
                  </a:ext>
                </a:extLst>
              </a:tr>
              <a:tr h="488550">
                <a:tc gridSpan="2">
                  <a:txBody>
                    <a:bodyPr/>
                    <a:lstStyle/>
                    <a:p>
                      <a:pPr marL="0" marR="0" lvl="0" indent="0" algn="l" rtl="0">
                        <a:lnSpc>
                          <a:spcPct val="100000"/>
                        </a:lnSpc>
                        <a:spcBef>
                          <a:spcPts val="0"/>
                        </a:spcBef>
                        <a:spcAft>
                          <a:spcPts val="0"/>
                        </a:spcAft>
                        <a:buClr>
                          <a:srgbClr val="FF0000"/>
                        </a:buClr>
                        <a:buSzPts val="2100"/>
                        <a:buFont typeface="Times New Roman"/>
                        <a:buNone/>
                      </a:pPr>
                      <a:r>
                        <a:rPr lang="en-US" sz="2100" b="1" u="none" strike="noStrike" cap="none">
                          <a:solidFill>
                            <a:srgbClr val="FF0000"/>
                          </a:solidFill>
                        </a:rPr>
                        <a:t>Sem : CO 5 K</a:t>
                      </a:r>
                      <a:endParaRPr sz="2100" b="1" u="none" strike="noStrike" cap="none">
                        <a:solidFill>
                          <a:srgbClr val="FF0000"/>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a:txBody>
                    <a:bodyPr/>
                    <a:lstStyle/>
                    <a:p>
                      <a:pPr marL="0" marR="0" lvl="0" indent="0" algn="ctr" rtl="0">
                        <a:lnSpc>
                          <a:spcPct val="100000"/>
                        </a:lnSpc>
                        <a:spcBef>
                          <a:spcPts val="0"/>
                        </a:spcBef>
                        <a:spcAft>
                          <a:spcPts val="0"/>
                        </a:spcAft>
                        <a:buClr>
                          <a:srgbClr val="002060"/>
                        </a:buClr>
                        <a:buSzPts val="2400"/>
                        <a:buFont typeface="Times New Roman"/>
                        <a:buNone/>
                      </a:pPr>
                      <a:r>
                        <a:rPr lang="en-US" sz="2400" b="1" u="none" strike="noStrike" cap="none">
                          <a:solidFill>
                            <a:srgbClr val="002060"/>
                          </a:solidFill>
                          <a:latin typeface="Times New Roman"/>
                          <a:ea typeface="Times New Roman"/>
                          <a:cs typeface="Times New Roman"/>
                          <a:sym typeface="Times New Roman"/>
                        </a:rPr>
                        <a:t>SPI – 315003</a:t>
                      </a:r>
                      <a:endParaRPr sz="18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0000"/>
                        </a:buClr>
                        <a:buSzPts val="2100"/>
                        <a:buFont typeface="Times New Roman"/>
                        <a:buNone/>
                      </a:pPr>
                      <a:r>
                        <a:rPr lang="en-US" sz="2100" b="1" u="none" strike="noStrike" cap="none" dirty="0">
                          <a:solidFill>
                            <a:srgbClr val="FF0000"/>
                          </a:solidFill>
                        </a:rPr>
                        <a:t>Date  : </a:t>
                      </a:r>
                      <a:r>
                        <a:rPr lang="en-US" sz="2100" b="1" u="none" strike="noStrike" cap="none" dirty="0" smtClean="0">
                          <a:solidFill>
                            <a:srgbClr val="FF0000"/>
                          </a:solidFill>
                        </a:rPr>
                        <a:t>17/10/2026</a:t>
                      </a:r>
                      <a:endParaRPr sz="2100" b="1" u="none" strike="noStrike" cap="none" dirty="0">
                        <a:solidFill>
                          <a:srgbClr val="FF0000"/>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xmlns="" val="10002"/>
                  </a:ext>
                </a:extLst>
              </a:tr>
              <a:tr h="488550">
                <a:tc gridSpan="4">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400" b="1" u="none" strike="noStrike" cap="none" dirty="0">
                          <a:solidFill>
                            <a:schemeClr val="dk2"/>
                          </a:solidFill>
                        </a:rPr>
                        <a:t>Topic : </a:t>
                      </a:r>
                      <a:r>
                        <a:rPr lang="en-US" sz="2400" b="1" dirty="0">
                          <a:solidFill>
                            <a:schemeClr val="bg2"/>
                          </a:solidFill>
                        </a:rPr>
                        <a:t>AI in Digital Forensics</a:t>
                      </a:r>
                      <a:endParaRPr lang="en-US" sz="2400" dirty="0">
                        <a:solidFill>
                          <a:schemeClr val="bg2"/>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3"/>
                  </a:ext>
                </a:extLst>
              </a:tr>
              <a:tr h="488550">
                <a:tc gridSpan="2">
                  <a:txBody>
                    <a:bodyPr/>
                    <a:lstStyle/>
                    <a:p>
                      <a:pPr marL="0" marR="0" lvl="0" indent="0" algn="ctr" rtl="0">
                        <a:spcBef>
                          <a:spcPts val="0"/>
                        </a:spcBef>
                        <a:spcAft>
                          <a:spcPts val="0"/>
                        </a:spcAft>
                        <a:buNone/>
                      </a:pPr>
                      <a:r>
                        <a:rPr lang="en-US" sz="2400" b="1" u="none" strike="noStrike" cap="none"/>
                        <a:t>Roll No.</a:t>
                      </a:r>
                      <a:endParaRPr sz="2400" b="1"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l" rtl="0">
                        <a:lnSpc>
                          <a:spcPct val="100000"/>
                        </a:lnSpc>
                        <a:spcBef>
                          <a:spcPts val="0"/>
                        </a:spcBef>
                        <a:spcAft>
                          <a:spcPts val="0"/>
                        </a:spcAft>
                        <a:buClr>
                          <a:schemeClr val="dk1"/>
                        </a:buClr>
                        <a:buSzPts val="2400"/>
                        <a:buFont typeface="Times New Roman"/>
                        <a:buNone/>
                      </a:pPr>
                      <a:r>
                        <a:rPr lang="en-US" sz="2400" b="1" u="none" strike="noStrike" cap="none" dirty="0"/>
                        <a:t>Name of Student</a:t>
                      </a:r>
                      <a:endParaRPr sz="2400" b="1" u="none" strike="noStrike" cap="none"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xmlns="" val="10004"/>
                  </a:ext>
                </a:extLst>
              </a:tr>
              <a:tr h="488550">
                <a:tc gridSpan="2">
                  <a:txBody>
                    <a:bodyPr/>
                    <a:lstStyle/>
                    <a:p>
                      <a:pPr marL="0" marR="0" lvl="0" indent="0" algn="ctr" rtl="0">
                        <a:spcBef>
                          <a:spcPts val="0"/>
                        </a:spcBef>
                        <a:spcAft>
                          <a:spcPts val="0"/>
                        </a:spcAft>
                        <a:buNone/>
                      </a:pPr>
                      <a:r>
                        <a:rPr lang="en-US" sz="2400" dirty="0"/>
                        <a:t>75</a:t>
                      </a:r>
                      <a:endParaRPr sz="2400"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l" rtl="0">
                        <a:spcBef>
                          <a:spcPts val="0"/>
                        </a:spcBef>
                        <a:spcAft>
                          <a:spcPts val="0"/>
                        </a:spcAft>
                        <a:buNone/>
                      </a:pPr>
                      <a:r>
                        <a:rPr lang="en-US" sz="2400" dirty="0"/>
                        <a:t>Vedika Hemant Patil</a:t>
                      </a:r>
                      <a:endParaRPr sz="2400"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xmlns="" val="10005"/>
                  </a:ext>
                </a:extLst>
              </a:tr>
              <a:tr h="488550">
                <a:tc gridSpan="2">
                  <a:txBody>
                    <a:bodyPr/>
                    <a:lstStyle/>
                    <a:p>
                      <a:pPr marL="0" marR="0" lvl="0" indent="0" algn="ctr" rtl="0">
                        <a:spcBef>
                          <a:spcPts val="0"/>
                        </a:spcBef>
                        <a:spcAft>
                          <a:spcPts val="0"/>
                        </a:spcAft>
                        <a:buNone/>
                      </a:pPr>
                      <a:r>
                        <a:rPr lang="en-US" sz="2400" dirty="0"/>
                        <a:t>87</a:t>
                      </a:r>
                      <a:endParaRPr sz="2400"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l" rtl="0">
                        <a:spcBef>
                          <a:spcPts val="0"/>
                        </a:spcBef>
                        <a:spcAft>
                          <a:spcPts val="0"/>
                        </a:spcAft>
                        <a:buNone/>
                      </a:pPr>
                      <a:r>
                        <a:rPr lang="en-US" sz="2400" dirty="0"/>
                        <a:t>Trupti Chhotu Shende</a:t>
                      </a:r>
                      <a:endParaRPr sz="2400"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xmlns="" val="10006"/>
                  </a:ext>
                </a:extLst>
              </a:tr>
              <a:tr h="488550">
                <a:tc gridSpan="2">
                  <a:txBody>
                    <a:bodyPr/>
                    <a:lstStyle/>
                    <a:p>
                      <a:pPr marL="0" marR="0" lvl="0" indent="0" algn="ctr" rtl="0">
                        <a:spcBef>
                          <a:spcPts val="0"/>
                        </a:spcBef>
                        <a:spcAft>
                          <a:spcPts val="0"/>
                        </a:spcAft>
                        <a:buNone/>
                      </a:pPr>
                      <a:r>
                        <a:rPr lang="en-US" sz="2400" b="0" dirty="0">
                          <a:solidFill>
                            <a:schemeClr val="tx1"/>
                          </a:solidFill>
                        </a:rPr>
                        <a:t>94</a:t>
                      </a:r>
                      <a:endParaRPr sz="2400" b="0" dirty="0">
                        <a:solidFill>
                          <a:schemeClr val="tx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l" rtl="0">
                        <a:spcBef>
                          <a:spcPts val="0"/>
                        </a:spcBef>
                        <a:spcAft>
                          <a:spcPts val="0"/>
                        </a:spcAft>
                        <a:buNone/>
                      </a:pPr>
                      <a:r>
                        <a:rPr lang="en-US" sz="2400" dirty="0"/>
                        <a:t>Kirtika Suresh Sonwane</a:t>
                      </a:r>
                      <a:endParaRPr sz="2400"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xmlns="" val="10007"/>
                  </a:ext>
                </a:extLst>
              </a:tr>
              <a:tr h="488550">
                <a:tc gridSpan="2">
                  <a:txBody>
                    <a:bodyPr/>
                    <a:lstStyle/>
                    <a:p>
                      <a:pPr marL="0" marR="0" lvl="0" indent="0" algn="ctr" rtl="0">
                        <a:spcBef>
                          <a:spcPts val="0"/>
                        </a:spcBef>
                        <a:spcAft>
                          <a:spcPts val="0"/>
                        </a:spcAft>
                        <a:buNone/>
                      </a:pPr>
                      <a:r>
                        <a:rPr lang="en-US" sz="2200" b="0" dirty="0">
                          <a:solidFill>
                            <a:schemeClr val="tx1"/>
                          </a:solidFill>
                        </a:rPr>
                        <a:t>109</a:t>
                      </a:r>
                      <a:endParaRPr sz="2200" b="0" dirty="0">
                        <a:solidFill>
                          <a:schemeClr val="tx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l" rtl="0">
                        <a:spcBef>
                          <a:spcPts val="0"/>
                        </a:spcBef>
                        <a:spcAft>
                          <a:spcPts val="0"/>
                        </a:spcAft>
                        <a:buNone/>
                      </a:pPr>
                      <a:r>
                        <a:rPr lang="en-US" sz="2400" dirty="0"/>
                        <a:t>Neha Gangadhar Wagh</a:t>
                      </a:r>
                      <a:endParaRPr sz="2400"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xmlns="" val="10008"/>
                  </a:ext>
                </a:extLst>
              </a:tr>
            </a:tbl>
          </a:graphicData>
        </a:graphic>
      </p:graphicFrame>
      <p:pic>
        <p:nvPicPr>
          <p:cNvPr id="505" name="Google Shape;505;p13" descr="ssvpslogo.png"/>
          <p:cNvPicPr preferRelativeResize="0"/>
          <p:nvPr/>
        </p:nvPicPr>
        <p:blipFill rotWithShape="1">
          <a:blip r:embed="rId3">
            <a:alphaModFix/>
          </a:blip>
          <a:srcRect/>
          <a:stretch/>
        </p:blipFill>
        <p:spPr>
          <a:xfrm>
            <a:off x="381000" y="457200"/>
            <a:ext cx="1219200" cy="1627237"/>
          </a:xfrm>
          <a:prstGeom prst="rect">
            <a:avLst/>
          </a:prstGeom>
          <a:noFill/>
          <a:ln>
            <a:noFill/>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14"/>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fontScale="77500" lnSpcReduction="20000"/>
          </a:bodyPr>
          <a:lstStyle/>
          <a:p>
            <a:pPr marL="514350" lvl="0" indent="-483870" algn="l" rtl="0">
              <a:spcBef>
                <a:spcPts val="0"/>
              </a:spcBef>
              <a:spcAft>
                <a:spcPts val="0"/>
              </a:spcAft>
              <a:buClr>
                <a:schemeClr val="dk1"/>
              </a:buClr>
              <a:buSzPct val="100000"/>
              <a:buChar char="•"/>
            </a:pPr>
            <a:r>
              <a:rPr lang="en-US" dirty="0"/>
              <a:t>Certificate</a:t>
            </a:r>
            <a:endParaRPr dirty="0"/>
          </a:p>
          <a:p>
            <a:pPr marL="514350" lvl="0" indent="-483870" algn="l" rtl="0">
              <a:spcBef>
                <a:spcPts val="496"/>
              </a:spcBef>
              <a:spcAft>
                <a:spcPts val="0"/>
              </a:spcAft>
              <a:buClr>
                <a:schemeClr val="dk1"/>
              </a:buClr>
              <a:buSzPct val="100000"/>
              <a:buChar char="•"/>
            </a:pPr>
            <a:r>
              <a:rPr lang="en-US" dirty="0"/>
              <a:t>Abstract </a:t>
            </a:r>
            <a:endParaRPr dirty="0"/>
          </a:p>
          <a:p>
            <a:pPr marL="514350" lvl="0" indent="-483870" algn="l" rtl="0">
              <a:spcBef>
                <a:spcPts val="496"/>
              </a:spcBef>
              <a:spcAft>
                <a:spcPts val="0"/>
              </a:spcAft>
              <a:buClr>
                <a:schemeClr val="dk1"/>
              </a:buClr>
              <a:buSzPct val="100000"/>
              <a:buFont typeface="Arial"/>
              <a:buAutoNum type="arabicPeriod"/>
            </a:pPr>
            <a:r>
              <a:rPr lang="en-US" dirty="0"/>
              <a:t>Introduction</a:t>
            </a:r>
            <a:endParaRPr dirty="0"/>
          </a:p>
          <a:p>
            <a:pPr marL="514350" lvl="0" indent="-483870" algn="l" rtl="0">
              <a:spcBef>
                <a:spcPts val="496"/>
              </a:spcBef>
              <a:spcAft>
                <a:spcPts val="0"/>
              </a:spcAft>
              <a:buClr>
                <a:schemeClr val="dk1"/>
              </a:buClr>
              <a:buSzPct val="100000"/>
              <a:buFont typeface="Arial"/>
              <a:buAutoNum type="arabicPeriod"/>
            </a:pPr>
            <a:r>
              <a:rPr lang="en-US" dirty="0"/>
              <a:t>Literature Review</a:t>
            </a:r>
            <a:endParaRPr dirty="0"/>
          </a:p>
          <a:p>
            <a:pPr marL="514350" lvl="0" indent="-483870" algn="l" rtl="0">
              <a:spcBef>
                <a:spcPts val="496"/>
              </a:spcBef>
              <a:spcAft>
                <a:spcPts val="0"/>
              </a:spcAft>
              <a:buClr>
                <a:schemeClr val="dk1"/>
              </a:buClr>
              <a:buSzPct val="100000"/>
              <a:buFont typeface="Arial"/>
              <a:buAutoNum type="arabicPeriod"/>
            </a:pPr>
            <a:r>
              <a:rPr lang="en-US" dirty="0"/>
              <a:t>Information to Seminar topic</a:t>
            </a:r>
            <a:endParaRPr dirty="0"/>
          </a:p>
          <a:p>
            <a:pPr marL="514350" lvl="0" indent="-483870" algn="l" rtl="0">
              <a:spcBef>
                <a:spcPts val="496"/>
              </a:spcBef>
              <a:spcAft>
                <a:spcPts val="0"/>
              </a:spcAft>
              <a:buClr>
                <a:schemeClr val="dk1"/>
              </a:buClr>
              <a:buSzPct val="100000"/>
              <a:buFont typeface="Arial"/>
              <a:buAutoNum type="arabicPeriod"/>
            </a:pPr>
            <a:r>
              <a:rPr lang="en-US" dirty="0"/>
              <a:t>Advantages and Disadvantages</a:t>
            </a:r>
            <a:endParaRPr dirty="0"/>
          </a:p>
          <a:p>
            <a:pPr marL="514350" lvl="0" indent="-483870" algn="l" rtl="0">
              <a:spcBef>
                <a:spcPts val="496"/>
              </a:spcBef>
              <a:spcAft>
                <a:spcPts val="0"/>
              </a:spcAft>
              <a:buClr>
                <a:schemeClr val="dk1"/>
              </a:buClr>
              <a:buSzPct val="100000"/>
              <a:buFont typeface="Arial"/>
              <a:buAutoNum type="arabicPeriod"/>
            </a:pPr>
            <a:r>
              <a:rPr lang="en-US" dirty="0"/>
              <a:t>Conclusion</a:t>
            </a:r>
            <a:endParaRPr dirty="0"/>
          </a:p>
          <a:p>
            <a:pPr marL="514350" lvl="0" indent="-483870" algn="l" rtl="0">
              <a:spcBef>
                <a:spcPts val="496"/>
              </a:spcBef>
              <a:spcAft>
                <a:spcPts val="0"/>
              </a:spcAft>
              <a:buClr>
                <a:schemeClr val="dk1"/>
              </a:buClr>
              <a:buSzPct val="100000"/>
              <a:buFont typeface="Arial"/>
              <a:buAutoNum type="arabicPeriod"/>
            </a:pPr>
            <a:r>
              <a:rPr lang="en-US" dirty="0"/>
              <a:t>Project Initiation : </a:t>
            </a:r>
            <a:endParaRPr dirty="0"/>
          </a:p>
          <a:p>
            <a:pPr marL="742950" lvl="0" indent="0" algn="l" rtl="0">
              <a:spcBef>
                <a:spcPts val="434"/>
              </a:spcBef>
              <a:spcAft>
                <a:spcPts val="0"/>
              </a:spcAft>
              <a:buNone/>
            </a:pPr>
            <a:r>
              <a:rPr lang="en-US" sz="2800" dirty="0"/>
              <a:t>6. 1 Description of problem statement.</a:t>
            </a:r>
            <a:endParaRPr sz="2800" dirty="0"/>
          </a:p>
          <a:p>
            <a:pPr marL="742950" lvl="0" indent="0" algn="l" rtl="0">
              <a:spcBef>
                <a:spcPts val="434"/>
              </a:spcBef>
              <a:spcAft>
                <a:spcPts val="0"/>
              </a:spcAft>
              <a:buNone/>
            </a:pPr>
            <a:r>
              <a:rPr lang="en-US" sz="2800" dirty="0"/>
              <a:t>6. 2 Scope and objectives.</a:t>
            </a:r>
            <a:endParaRPr sz="2800" dirty="0"/>
          </a:p>
          <a:p>
            <a:pPr marL="742950" lvl="0" indent="0" algn="l" rtl="0">
              <a:spcBef>
                <a:spcPts val="434"/>
              </a:spcBef>
              <a:spcAft>
                <a:spcPts val="0"/>
              </a:spcAft>
              <a:buNone/>
            </a:pPr>
            <a:r>
              <a:rPr lang="en-US" sz="2800" dirty="0"/>
              <a:t>6. 3 Stake holder</a:t>
            </a:r>
            <a:endParaRPr sz="2800" dirty="0"/>
          </a:p>
          <a:p>
            <a:pPr marL="742950" lvl="0" indent="0" algn="l" rtl="0">
              <a:spcBef>
                <a:spcPts val="434"/>
              </a:spcBef>
              <a:spcAft>
                <a:spcPts val="0"/>
              </a:spcAft>
              <a:buNone/>
            </a:pPr>
            <a:r>
              <a:rPr lang="en-US" sz="2800" dirty="0"/>
              <a:t>6. 4 </a:t>
            </a:r>
            <a:r>
              <a:rPr lang="en-US" sz="2800" dirty="0" smtClean="0"/>
              <a:t>Seminar </a:t>
            </a:r>
            <a:r>
              <a:rPr lang="en-US" sz="2800" dirty="0"/>
              <a:t>exsicussion  plan</a:t>
            </a:r>
            <a:endParaRPr sz="2800" dirty="0"/>
          </a:p>
          <a:p>
            <a:pPr marL="742950" lvl="0" indent="0" algn="l" rtl="0">
              <a:spcBef>
                <a:spcPts val="434"/>
              </a:spcBef>
              <a:spcAft>
                <a:spcPts val="0"/>
              </a:spcAft>
              <a:buNone/>
            </a:pPr>
            <a:r>
              <a:rPr lang="en-US" sz="2800" dirty="0"/>
              <a:t>6.5 Platform/ Equipment/ Resources identification.</a:t>
            </a:r>
            <a:endParaRPr sz="2800" dirty="0"/>
          </a:p>
          <a:p>
            <a:pPr marL="514350" lvl="0" indent="-483870" algn="l" rtl="0">
              <a:spcBef>
                <a:spcPts val="496"/>
              </a:spcBef>
              <a:spcAft>
                <a:spcPts val="0"/>
              </a:spcAft>
              <a:buClr>
                <a:schemeClr val="dk1"/>
              </a:buClr>
              <a:buSzPct val="100000"/>
              <a:buFont typeface="Arial"/>
              <a:buAutoNum type="arabicPeriod"/>
            </a:pPr>
            <a:r>
              <a:rPr lang="en-US" dirty="0"/>
              <a:t>Bibliography</a:t>
            </a:r>
            <a:endParaRPr dirty="0"/>
          </a:p>
          <a:p>
            <a:pPr marL="514350" lvl="0" indent="-483870" algn="l" rtl="0">
              <a:spcBef>
                <a:spcPts val="496"/>
              </a:spcBef>
              <a:spcAft>
                <a:spcPts val="0"/>
              </a:spcAft>
              <a:buClr>
                <a:schemeClr val="dk1"/>
              </a:buClr>
              <a:buSzPct val="100000"/>
              <a:buFont typeface="Arial"/>
              <a:buAutoNum type="arabicPeriod"/>
            </a:pPr>
            <a:r>
              <a:rPr lang="en-US" dirty="0"/>
              <a:t>References</a:t>
            </a:r>
            <a:endParaRPr dirty="0"/>
          </a:p>
          <a:p>
            <a:pPr marL="342900" lvl="0" indent="-185420" algn="l" rtl="0">
              <a:spcBef>
                <a:spcPts val="496"/>
              </a:spcBef>
              <a:spcAft>
                <a:spcPts val="0"/>
              </a:spcAft>
              <a:buClr>
                <a:schemeClr val="dk1"/>
              </a:buClr>
              <a:buSzPct val="100000"/>
              <a:buNone/>
            </a:pPr>
            <a:endParaRPr dirty="0"/>
          </a:p>
        </p:txBody>
      </p:sp>
      <p:sp>
        <p:nvSpPr>
          <p:cNvPr id="511" name="Google Shape;511;p14"/>
          <p:cNvSpPr txBox="1">
            <a:spLocks noGrp="1"/>
          </p:cNvSpPr>
          <p:nvPr>
            <p:ph type="title"/>
          </p:nvPr>
        </p:nvSpPr>
        <p:spPr>
          <a:xfrm>
            <a:off x="457200" y="274638"/>
            <a:ext cx="8229600" cy="868500"/>
          </a:xfrm>
          <a:prstGeom prst="rect">
            <a:avLst/>
          </a:prstGeom>
          <a:solidFill>
            <a:schemeClr val="lt1"/>
          </a:solidFill>
          <a:ln w="28575"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sz="4000" dirty="0"/>
              <a:t>Contents</a:t>
            </a:r>
            <a:endParaRPr sz="4000" dirty="0"/>
          </a:p>
        </p:txBody>
      </p:sp>
      <p:sp>
        <p:nvSpPr>
          <p:cNvPr id="512" name="Google Shape;512;p14"/>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a:t>
            </a:fld>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15"/>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sz="4000" dirty="0"/>
              <a:t>Abstract</a:t>
            </a:r>
            <a:endParaRPr sz="4000" dirty="0"/>
          </a:p>
        </p:txBody>
      </p:sp>
      <p:sp>
        <p:nvSpPr>
          <p:cNvPr id="518" name="Google Shape;518;p15"/>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endParaRPr lang="en-US" sz="1800" dirty="0"/>
          </a:p>
          <a:p>
            <a:r>
              <a:rPr lang="en-US" sz="2200" dirty="0"/>
              <a:t>AI in Digital Forensics uses Artificial Intelligence (AI) and Machine Learning (ML) to assist investigators in examining large volumes of digital evidence from computers, mobile phones, networks and cloud services. Traditional investigations can require significant time to search files, messages, images and logs.</a:t>
            </a:r>
          </a:p>
          <a:p>
            <a:r>
              <a:rPr lang="en-US" sz="2200" dirty="0"/>
              <a:t>AI can help classify files, detect suspicious patterns, group related evidence and reconstruct event timelines. Research shows promising support for evidence triage and analysis, but AI results must be validated by trained investigators.</a:t>
            </a:r>
          </a:p>
          <a:p>
            <a:r>
              <a:rPr lang="en-US" sz="2200" dirty="0"/>
              <a:t>The proposed seminar project explores a prototype that analyzes a prepared forensic dataset, flags potentially relevant artifacts and produces a reviewable report while preserving evidence integrity and human oversight.</a:t>
            </a:r>
          </a:p>
          <a:p>
            <a:pPr marL="342900" lvl="0" indent="-139700" algn="just" rtl="0">
              <a:spcBef>
                <a:spcPts val="0"/>
              </a:spcBef>
              <a:spcAft>
                <a:spcPts val="0"/>
              </a:spcAft>
              <a:buClr>
                <a:schemeClr val="dk1"/>
              </a:buClr>
              <a:buSzPts val="3200"/>
              <a:buNone/>
            </a:pPr>
            <a:endParaRPr sz="1800" dirty="0"/>
          </a:p>
        </p:txBody>
      </p:sp>
      <p:sp>
        <p:nvSpPr>
          <p:cNvPr id="519" name="Google Shape;519;p15"/>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3</a:t>
            </a:fld>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16"/>
          <p:cNvSpPr txBox="1">
            <a:spLocks noGrp="1"/>
          </p:cNvSpPr>
          <p:nvPr>
            <p:ph type="title"/>
          </p:nvPr>
        </p:nvSpPr>
        <p:spPr>
          <a:xfrm>
            <a:off x="456178" y="182450"/>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sz="4000" dirty="0"/>
              <a:t>1. Introduction</a:t>
            </a:r>
            <a:endParaRPr sz="4000" dirty="0"/>
          </a:p>
        </p:txBody>
      </p:sp>
      <p:sp>
        <p:nvSpPr>
          <p:cNvPr id="525" name="Google Shape;525;p16"/>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lvl="0">
              <a:buFont typeface="Arial" panose="020B0604020202020204" pitchFamily="34" charset="0"/>
              <a:buChar char="•"/>
            </a:pPr>
            <a:r>
              <a:rPr lang="en-US" sz="2200" dirty="0"/>
              <a:t>Digital forensics is the process of identifying, collecting, preserving, examining and presenting digital evidence.</a:t>
            </a:r>
          </a:p>
          <a:p>
            <a:pPr lvl="0"/>
            <a:r>
              <a:rPr lang="en-US" sz="2200" dirty="0"/>
              <a:t>Digital evidence may come from computers, mobile phones, networks, cloud accounts and multimedia files.</a:t>
            </a:r>
          </a:p>
          <a:p>
            <a:pPr lvl="0"/>
            <a:r>
              <a:rPr lang="en-US" sz="2200" dirty="0"/>
              <a:t>Manual examination of large datasets can be slow and difficult.</a:t>
            </a:r>
          </a:p>
          <a:p>
            <a:pPr lvl="0"/>
            <a:r>
              <a:rPr lang="en-US" sz="2200" dirty="0"/>
              <a:t>AI and ML can help prioritize files, recognize patterns and identify suspicious activity.</a:t>
            </a:r>
          </a:p>
          <a:p>
            <a:pPr marL="342900" lvl="0" indent="-139700" algn="l" rtl="0">
              <a:spcBef>
                <a:spcPts val="0"/>
              </a:spcBef>
              <a:spcAft>
                <a:spcPts val="0"/>
              </a:spcAft>
              <a:buClr>
                <a:schemeClr val="dk1"/>
              </a:buClr>
              <a:buSzPts val="3200"/>
              <a:buNone/>
            </a:pPr>
            <a:endParaRPr dirty="0"/>
          </a:p>
        </p:txBody>
      </p:sp>
      <p:sp>
        <p:nvSpPr>
          <p:cNvPr id="526" name="Google Shape;526;p16"/>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4</a:t>
            </a:fld>
            <a:endParaRPr/>
          </a:p>
        </p:txBody>
      </p:sp>
      <p:pic>
        <p:nvPicPr>
          <p:cNvPr id="3" name="Picture 2">
            <a:extLst>
              <a:ext uri="{FF2B5EF4-FFF2-40B4-BE49-F238E27FC236}">
                <a16:creationId xmlns:a16="http://schemas.microsoft.com/office/drawing/2014/main" xmlns="" id="{52B0DA58-C689-117B-5F7D-778274DFB9DB}"/>
              </a:ext>
            </a:extLst>
          </p:cNvPr>
          <p:cNvPicPr>
            <a:picLocks noChangeAspect="1"/>
          </p:cNvPicPr>
          <p:nvPr/>
        </p:nvPicPr>
        <p:blipFill>
          <a:blip r:embed="rId3"/>
          <a:stretch>
            <a:fillRect/>
          </a:stretch>
        </p:blipFill>
        <p:spPr>
          <a:xfrm>
            <a:off x="945327" y="3856050"/>
            <a:ext cx="7192773" cy="2682850"/>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3" name="Google Shape;533;p17"/>
          <p:cNvSpPr txBox="1">
            <a:spLocks noGrp="1"/>
          </p:cNvSpPr>
          <p:nvPr>
            <p:ph type="sldNum" idx="12"/>
          </p:nvPr>
        </p:nvSpPr>
        <p:spPr>
          <a:xfrm>
            <a:off x="8308258" y="6360032"/>
            <a:ext cx="501445" cy="34575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5</a:t>
            </a:fld>
            <a:endParaRPr dirty="0"/>
          </a:p>
        </p:txBody>
      </p:sp>
      <p:sp>
        <p:nvSpPr>
          <p:cNvPr id="531" name="Google Shape;531;p17"/>
          <p:cNvSpPr txBox="1">
            <a:spLocks noGrp="1"/>
          </p:cNvSpPr>
          <p:nvPr>
            <p:ph type="title" idx="4294967295"/>
          </p:nvPr>
        </p:nvSpPr>
        <p:spPr>
          <a:xfrm>
            <a:off x="334297" y="260361"/>
            <a:ext cx="8229600" cy="866861"/>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sz="4000" dirty="0">
                <a:solidFill>
                  <a:srgbClr val="002060"/>
                </a:solidFill>
                <a:latin typeface="Times New Roman" panose="02020603050405020304" pitchFamily="18" charset="0"/>
                <a:cs typeface="Times New Roman" panose="02020603050405020304" pitchFamily="18" charset="0"/>
              </a:rPr>
              <a:t>2. Literature Survey</a:t>
            </a:r>
            <a:endParaRPr sz="4000" dirty="0">
              <a:solidFill>
                <a:srgbClr val="002060"/>
              </a:solidFill>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xmlns="" id="{5BCF3471-E701-B5EB-FA47-421AEBF5FBCA}"/>
              </a:ext>
            </a:extLst>
          </p:cNvPr>
          <p:cNvGraphicFramePr>
            <a:graphicFrameLocks noGrp="1"/>
          </p:cNvGraphicFramePr>
          <p:nvPr>
            <p:extLst>
              <p:ext uri="{D42A27DB-BD31-4B8C-83A1-F6EECF244321}">
                <p14:modId xmlns:p14="http://schemas.microsoft.com/office/powerpoint/2010/main" val="951840949"/>
              </p:ext>
            </p:extLst>
          </p:nvPr>
        </p:nvGraphicFramePr>
        <p:xfrm>
          <a:off x="334297" y="1219200"/>
          <a:ext cx="8229601" cy="5313707"/>
        </p:xfrm>
        <a:graphic>
          <a:graphicData uri="http://schemas.openxmlformats.org/drawingml/2006/table">
            <a:tbl>
              <a:tblPr firstRow="1" bandRow="1">
                <a:tableStyleId>{BC89EF96-8CEA-46FF-86C4-4CE0E7609802}</a:tableStyleId>
              </a:tblPr>
              <a:tblGrid>
                <a:gridCol w="521109">
                  <a:extLst>
                    <a:ext uri="{9D8B030D-6E8A-4147-A177-3AD203B41FA5}">
                      <a16:colId xmlns:a16="http://schemas.microsoft.com/office/drawing/2014/main" xmlns="" val="264540027"/>
                    </a:ext>
                  </a:extLst>
                </a:gridCol>
                <a:gridCol w="1553063">
                  <a:extLst>
                    <a:ext uri="{9D8B030D-6E8A-4147-A177-3AD203B41FA5}">
                      <a16:colId xmlns:a16="http://schemas.microsoft.com/office/drawing/2014/main" xmlns="" val="716294612"/>
                    </a:ext>
                  </a:extLst>
                </a:gridCol>
                <a:gridCol w="1802310">
                  <a:extLst>
                    <a:ext uri="{9D8B030D-6E8A-4147-A177-3AD203B41FA5}">
                      <a16:colId xmlns:a16="http://schemas.microsoft.com/office/drawing/2014/main" xmlns="" val="2406105130"/>
                    </a:ext>
                  </a:extLst>
                </a:gridCol>
                <a:gridCol w="1122750">
                  <a:extLst>
                    <a:ext uri="{9D8B030D-6E8A-4147-A177-3AD203B41FA5}">
                      <a16:colId xmlns:a16="http://schemas.microsoft.com/office/drawing/2014/main" xmlns="" val="3164028853"/>
                    </a:ext>
                  </a:extLst>
                </a:gridCol>
                <a:gridCol w="1648886">
                  <a:extLst>
                    <a:ext uri="{9D8B030D-6E8A-4147-A177-3AD203B41FA5}">
                      <a16:colId xmlns:a16="http://schemas.microsoft.com/office/drawing/2014/main" xmlns="" val="3145924473"/>
                    </a:ext>
                  </a:extLst>
                </a:gridCol>
                <a:gridCol w="1581483">
                  <a:extLst>
                    <a:ext uri="{9D8B030D-6E8A-4147-A177-3AD203B41FA5}">
                      <a16:colId xmlns:a16="http://schemas.microsoft.com/office/drawing/2014/main" xmlns="" val="3102204753"/>
                    </a:ext>
                  </a:extLst>
                </a:gridCol>
              </a:tblGrid>
              <a:tr h="28532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effectLst/>
                          <a:latin typeface="Times New Roman" panose="02020603050405020304" pitchFamily="18" charset="0"/>
                          <a:cs typeface="Times New Roman" panose="02020603050405020304" pitchFamily="18" charset="0"/>
                        </a:rPr>
                        <a:t>Sr. No.</a:t>
                      </a:r>
                      <a:endParaRPr lang="en-IN" sz="1800" b="1" dirty="0">
                        <a:solidFill>
                          <a:srgbClr val="1E1E1E"/>
                        </a:solidFill>
                        <a:effectLst/>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effectLst/>
                          <a:latin typeface="Times New Roman" panose="02020603050405020304" pitchFamily="18" charset="0"/>
                          <a:cs typeface="Times New Roman" panose="02020603050405020304" pitchFamily="18" charset="0"/>
                        </a:rPr>
                        <a:t>Approach</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effectLst/>
                          <a:latin typeface="Times New Roman" panose="02020603050405020304" pitchFamily="18" charset="0"/>
                          <a:cs typeface="Times New Roman" panose="02020603050405020304" pitchFamily="18" charset="0"/>
                        </a:rPr>
                        <a:t> Type</a:t>
                      </a:r>
                      <a:endParaRPr lang="en-IN" sz="1800" dirty="0">
                        <a:solidFill>
                          <a:srgbClr val="1E1E1E"/>
                        </a:solidFill>
                        <a:effectLst/>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effectLst/>
                          <a:latin typeface="Times New Roman" panose="02020603050405020304" pitchFamily="18" charset="0"/>
                          <a:cs typeface="Times New Roman" panose="02020603050405020304" pitchFamily="18" charset="0"/>
                        </a:rPr>
                        <a:t>Technologies Used</a:t>
                      </a:r>
                      <a:endParaRPr lang="en-IN" sz="1800" dirty="0">
                        <a:solidFill>
                          <a:srgbClr val="1E1E1E"/>
                        </a:solidFill>
                        <a:effectLst/>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effectLst/>
                          <a:latin typeface="Times New Roman" panose="02020603050405020304" pitchFamily="18" charset="0"/>
                          <a:cs typeface="Times New Roman" panose="02020603050405020304" pitchFamily="18" charset="0"/>
                        </a:rPr>
                        <a:t>Dataset</a:t>
                      </a:r>
                      <a:endParaRPr lang="en-IN" sz="1800" dirty="0">
                        <a:solidFill>
                          <a:srgbClr val="1E1E1E"/>
                        </a:solidFill>
                        <a:effectLst/>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effectLst/>
                          <a:latin typeface="Times New Roman" panose="02020603050405020304" pitchFamily="18" charset="0"/>
                          <a:cs typeface="Times New Roman" panose="02020603050405020304" pitchFamily="18" charset="0"/>
                        </a:rPr>
                        <a:t>Key Objective</a:t>
                      </a:r>
                      <a:endParaRPr lang="en-IN" sz="1800" dirty="0">
                        <a:solidFill>
                          <a:srgbClr val="1E1E1E"/>
                        </a:solidFill>
                        <a:effectLst/>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txBody>
                  <a:tcPr/>
                </a:tc>
                <a:tc>
                  <a:txBody>
                    <a:bodyPr/>
                    <a:lstStyle/>
                    <a:p>
                      <a:pPr algn="ctr">
                        <a:buNone/>
                      </a:pPr>
                      <a:r>
                        <a:rPr lang="en-US" sz="1800" dirty="0" smtClean="0">
                          <a:effectLst/>
                          <a:latin typeface="Times New Roman" panose="02020603050405020304" pitchFamily="18" charset="0"/>
                          <a:cs typeface="Times New Roman" panose="02020603050405020304" pitchFamily="18" charset="0"/>
                        </a:rPr>
                        <a:t>Limitations</a:t>
                      </a:r>
                      <a:endParaRPr lang="en-IN" sz="1800" dirty="0" smtClean="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a:tc>
                <a:extLst>
                  <a:ext uri="{0D108BD9-81ED-4DB2-BD59-A6C34878D82A}">
                    <a16:rowId xmlns:a16="http://schemas.microsoft.com/office/drawing/2014/main" xmlns="" val="1070672047"/>
                  </a:ext>
                </a:extLst>
              </a:tr>
              <a:tr h="1440883">
                <a:tc>
                  <a:txBody>
                    <a:bodyPr/>
                    <a:lstStyle/>
                    <a:p>
                      <a:pPr algn="ctr"/>
                      <a:r>
                        <a:rPr lang="en-US" sz="1800" b="1" dirty="0">
                          <a:latin typeface="Times New Roman" panose="02020603050405020304" pitchFamily="18" charset="0"/>
                          <a:cs typeface="Times New Roman" panose="02020603050405020304" pitchFamily="18" charset="0"/>
                        </a:rPr>
                        <a:t>1</a:t>
                      </a:r>
                    </a:p>
                  </a:txBody>
                  <a:tcPr/>
                </a:tc>
                <a:tc>
                  <a:txBody>
                    <a:bodyPr/>
                    <a:lstStyle/>
                    <a:p>
                      <a:r>
                        <a:rPr lang="en-US" sz="1800" dirty="0">
                          <a:latin typeface="Times New Roman" panose="02020603050405020304" pitchFamily="18" charset="0"/>
                          <a:cs typeface="Times New Roman" panose="02020603050405020304" pitchFamily="18" charset="0"/>
                        </a:rPr>
                        <a:t>AI/ML in digital forensics review</a:t>
                      </a:r>
                    </a:p>
                  </a:txBody>
                  <a:tcPr/>
                </a:tc>
                <a:tc>
                  <a:txBody>
                    <a:bodyPr/>
                    <a:lstStyle/>
                    <a:p>
                      <a:r>
                        <a:rPr lang="en-US" sz="1800" dirty="0">
                          <a:latin typeface="Times New Roman" panose="02020603050405020304" pitchFamily="18" charset="0"/>
                          <a:cs typeface="Times New Roman" panose="02020603050405020304" pitchFamily="18" charset="0"/>
                        </a:rPr>
                        <a:t>Machine learning, pattern recognition, forensic workflow</a:t>
                      </a:r>
                    </a:p>
                  </a:txBody>
                  <a:tcPr/>
                </a:tc>
                <a:tc>
                  <a:txBody>
                    <a:bodyPr/>
                    <a:lstStyle/>
                    <a:p>
                      <a:r>
                        <a:rPr lang="en-US" sz="1800" dirty="0">
                          <a:latin typeface="Times New Roman" panose="02020603050405020304" pitchFamily="18" charset="0"/>
                          <a:cs typeface="Times New Roman" panose="02020603050405020304" pitchFamily="18" charset="0"/>
                        </a:rPr>
                        <a:t>Literature review</a:t>
                      </a:r>
                    </a:p>
                  </a:txBody>
                  <a:tcPr/>
                </a:tc>
                <a:tc>
                  <a:txBody>
                    <a:bodyPr/>
                    <a:lstStyle/>
                    <a:p>
                      <a:r>
                        <a:rPr lang="en-US" sz="1800" dirty="0">
                          <a:latin typeface="Times New Roman" panose="02020603050405020304" pitchFamily="18" charset="0"/>
                          <a:cs typeface="Times New Roman" panose="02020603050405020304" pitchFamily="18" charset="0"/>
                        </a:rPr>
                        <a:t>Survey AI use across evidence collection, analysis and incident response</a:t>
                      </a:r>
                    </a:p>
                  </a:txBody>
                  <a:tcPr/>
                </a:tc>
                <a:tc>
                  <a:txBody>
                    <a:bodyPr/>
                    <a:lstStyle/>
                    <a:p>
                      <a:r>
                        <a:rPr lang="en-US" sz="1800" dirty="0">
                          <a:latin typeface="Times New Roman" panose="02020603050405020304" pitchFamily="18" charset="0"/>
                          <a:cs typeface="Times New Roman" panose="02020603050405020304" pitchFamily="18" charset="0"/>
                        </a:rPr>
                        <a:t>Research maturity varies by task; validation needed.</a:t>
                      </a:r>
                    </a:p>
                  </a:txBody>
                  <a:tcPr/>
                </a:tc>
                <a:extLst>
                  <a:ext uri="{0D108BD9-81ED-4DB2-BD59-A6C34878D82A}">
                    <a16:rowId xmlns:a16="http://schemas.microsoft.com/office/drawing/2014/main" xmlns="" val="1651741730"/>
                  </a:ext>
                </a:extLst>
              </a:tr>
              <a:tr h="1271311">
                <a:tc>
                  <a:txBody>
                    <a:bodyPr/>
                    <a:lstStyle/>
                    <a:p>
                      <a:pPr algn="ctr"/>
                      <a:r>
                        <a:rPr lang="en-US" sz="1800" b="1" dirty="0">
                          <a:latin typeface="Times New Roman" panose="02020603050405020304" pitchFamily="18" charset="0"/>
                          <a:cs typeface="Times New Roman" panose="02020603050405020304" pitchFamily="18" charset="0"/>
                        </a:rPr>
                        <a:t>2</a:t>
                      </a:r>
                    </a:p>
                  </a:txBody>
                  <a:tcPr/>
                </a:tc>
                <a:tc>
                  <a:txBody>
                    <a:bodyPr/>
                    <a:lstStyle/>
                    <a:p>
                      <a:r>
                        <a:rPr lang="en-US" sz="1800" dirty="0">
                          <a:latin typeface="Times New Roman" panose="02020603050405020304" pitchFamily="18" charset="0"/>
                          <a:cs typeface="Times New Roman" panose="02020603050405020304" pitchFamily="18" charset="0"/>
                        </a:rPr>
                        <a:t>AI in mobile forensics survey</a:t>
                      </a:r>
                    </a:p>
                  </a:txBody>
                  <a:tcPr/>
                </a:tc>
                <a:tc>
                  <a:txBody>
                    <a:bodyPr/>
                    <a:lstStyle/>
                    <a:p>
                      <a:r>
                        <a:rPr lang="en-US" sz="1800" dirty="0">
                          <a:latin typeface="Times New Roman" panose="02020603050405020304" pitchFamily="18" charset="0"/>
                          <a:cs typeface="Times New Roman" panose="02020603050405020304" pitchFamily="18" charset="0"/>
                        </a:rPr>
                        <a:t>AI/ML, mobile-device artifacts</a:t>
                      </a:r>
                    </a:p>
                  </a:txBody>
                  <a:tcPr/>
                </a:tc>
                <a:tc>
                  <a:txBody>
                    <a:bodyPr/>
                    <a:lstStyle/>
                    <a:p>
                      <a:r>
                        <a:rPr lang="en-US" sz="1800" dirty="0">
                          <a:latin typeface="Times New Roman" panose="02020603050405020304" pitchFamily="18" charset="0"/>
                          <a:cs typeface="Times New Roman" panose="02020603050405020304" pitchFamily="18" charset="0"/>
                        </a:rPr>
                        <a:t>Literature review</a:t>
                      </a:r>
                    </a:p>
                  </a:txBody>
                  <a:tcPr/>
                </a:tc>
                <a:tc>
                  <a:txBody>
                    <a:bodyPr/>
                    <a:lstStyle/>
                    <a:p>
                      <a:r>
                        <a:rPr lang="en-US" sz="1800" dirty="0">
                          <a:latin typeface="Times New Roman" panose="02020603050405020304" pitchFamily="18" charset="0"/>
                          <a:cs typeface="Times New Roman" panose="02020603050405020304" pitchFamily="18" charset="0"/>
                        </a:rPr>
                        <a:t>Review current AI uses and mobile forensic scenarios</a:t>
                      </a:r>
                    </a:p>
                  </a:txBody>
                  <a:tcPr/>
                </a:tc>
                <a:tc>
                  <a:txBody>
                    <a:bodyPr/>
                    <a:lstStyle/>
                    <a:p>
                      <a:r>
                        <a:rPr lang="en-US" sz="1800" dirty="0">
                          <a:latin typeface="Times New Roman" panose="02020603050405020304" pitchFamily="18" charset="0"/>
                          <a:cs typeface="Times New Roman" panose="02020603050405020304" pitchFamily="18" charset="0"/>
                        </a:rPr>
                        <a:t>Models may not generalize to real-world data.</a:t>
                      </a:r>
                    </a:p>
                  </a:txBody>
                  <a:tcPr/>
                </a:tc>
                <a:extLst>
                  <a:ext uri="{0D108BD9-81ED-4DB2-BD59-A6C34878D82A}">
                    <a16:rowId xmlns:a16="http://schemas.microsoft.com/office/drawing/2014/main" xmlns="" val="2615420722"/>
                  </a:ext>
                </a:extLst>
              </a:tr>
              <a:tr h="1390636">
                <a:tc>
                  <a:txBody>
                    <a:bodyPr/>
                    <a:lstStyle/>
                    <a:p>
                      <a:pPr algn="ctr"/>
                      <a:r>
                        <a:rPr lang="en-US" sz="1800" b="1" dirty="0">
                          <a:latin typeface="Times New Roman" panose="02020603050405020304" pitchFamily="18" charset="0"/>
                          <a:cs typeface="Times New Roman" panose="02020603050405020304" pitchFamily="18" charset="0"/>
                        </a:rPr>
                        <a:t>3</a:t>
                      </a:r>
                    </a:p>
                  </a:txBody>
                  <a:tcPr/>
                </a:tc>
                <a:tc>
                  <a:txBody>
                    <a:bodyPr/>
                    <a:lstStyle/>
                    <a:p>
                      <a:r>
                        <a:rPr lang="en-US" sz="1800" dirty="0">
                          <a:latin typeface="Times New Roman" panose="02020603050405020304" pitchFamily="18" charset="0"/>
                          <a:cs typeface="Times New Roman" panose="02020603050405020304" pitchFamily="18" charset="0"/>
                        </a:rPr>
                        <a:t>AI-assisted evidence triage</a:t>
                      </a:r>
                    </a:p>
                  </a:txBody>
                  <a:tcPr/>
                </a:tc>
                <a:tc>
                  <a:txBody>
                    <a:bodyPr/>
                    <a:lstStyle/>
                    <a:p>
                      <a:r>
                        <a:rPr lang="en-US" sz="1800" dirty="0">
                          <a:latin typeface="Times New Roman" panose="02020603050405020304" pitchFamily="18" charset="0"/>
                          <a:cs typeface="Times New Roman" panose="02020603050405020304" pitchFamily="18" charset="0"/>
                        </a:rPr>
                        <a:t>Classification, ranking, keyword/rule matching</a:t>
                      </a:r>
                    </a:p>
                  </a:txBody>
                  <a:tcPr/>
                </a:tc>
                <a:tc>
                  <a:txBody>
                    <a:bodyPr/>
                    <a:lstStyle/>
                    <a:p>
                      <a:r>
                        <a:rPr lang="en-US" sz="1800" dirty="0">
                          <a:latin typeface="Times New Roman" panose="02020603050405020304" pitchFamily="18" charset="0"/>
                          <a:cs typeface="Times New Roman" panose="02020603050405020304" pitchFamily="18" charset="0"/>
                        </a:rPr>
                        <a:t>Prepared forensic files</a:t>
                      </a:r>
                    </a:p>
                  </a:txBody>
                  <a:tcPr/>
                </a:tc>
                <a:tc>
                  <a:txBody>
                    <a:bodyPr/>
                    <a:lstStyle/>
                    <a:p>
                      <a:r>
                        <a:rPr lang="en-US" sz="1800" dirty="0">
                          <a:latin typeface="Times New Roman" panose="02020603050405020304" pitchFamily="18" charset="0"/>
                          <a:cs typeface="Times New Roman" panose="02020603050405020304" pitchFamily="18" charset="0"/>
                        </a:rPr>
                        <a:t>Prioritize artifacts for human examination</a:t>
                      </a:r>
                    </a:p>
                  </a:txBody>
                  <a:tcPr/>
                </a:tc>
                <a:tc>
                  <a:txBody>
                    <a:bodyPr/>
                    <a:lstStyle/>
                    <a:p>
                      <a:r>
                        <a:rPr lang="en-US" sz="1800" dirty="0">
                          <a:latin typeface="Times New Roman" panose="02020603050405020304" pitchFamily="18" charset="0"/>
                          <a:cs typeface="Times New Roman" panose="02020603050405020304" pitchFamily="18" charset="0"/>
                        </a:rPr>
                        <a:t>False positives and missed evidence are possible.</a:t>
                      </a:r>
                    </a:p>
                  </a:txBody>
                  <a:tcPr/>
                </a:tc>
                <a:extLst>
                  <a:ext uri="{0D108BD9-81ED-4DB2-BD59-A6C34878D82A}">
                    <a16:rowId xmlns:a16="http://schemas.microsoft.com/office/drawing/2014/main" xmlns="" val="3099727463"/>
                  </a:ext>
                </a:extLst>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7F608521-049A-534B-5B49-C5EC3C8956A5}"/>
              </a:ext>
            </a:extLst>
          </p:cNvPr>
          <p:cNvSpPr>
            <a:spLocks noGrp="1"/>
          </p:cNvSpPr>
          <p:nvPr>
            <p:ph type="sldNum" idx="12"/>
          </p:nvPr>
        </p:nvSpPr>
        <p:spPr>
          <a:xfrm>
            <a:off x="8423564" y="6252423"/>
            <a:ext cx="623454" cy="411613"/>
          </a:xfrm>
        </p:spPr>
        <p:style>
          <a:lnRef idx="2">
            <a:schemeClr val="accent1"/>
          </a:lnRef>
          <a:fillRef idx="1">
            <a:schemeClr val="lt1"/>
          </a:fillRef>
          <a:effectRef idx="0">
            <a:schemeClr val="accent1"/>
          </a:effectRef>
          <a:fontRef idx="minor">
            <a:schemeClr val="dk1"/>
          </a:fontRef>
        </p:style>
        <p:txBody>
          <a:bodyPr/>
          <a:lstStyle/>
          <a:p>
            <a:pPr marL="0" lvl="0" indent="0" algn="ctr" rtl="0">
              <a:spcBef>
                <a:spcPts val="0"/>
              </a:spcBef>
              <a:spcAft>
                <a:spcPts val="0"/>
              </a:spcAft>
              <a:buNone/>
            </a:pPr>
            <a:fld id="{00000000-1234-1234-1234-123412341234}" type="slidenum">
              <a:rPr lang="en-US" smtClean="0"/>
              <a:pPr marL="0" lvl="0" indent="0" algn="ctr" rtl="0">
                <a:spcBef>
                  <a:spcPts val="0"/>
                </a:spcBef>
                <a:spcAft>
                  <a:spcPts val="0"/>
                </a:spcAft>
                <a:buNone/>
              </a:pPr>
              <a:t>6</a:t>
            </a:fld>
            <a:endParaRPr lang="en-US"/>
          </a:p>
        </p:txBody>
      </p:sp>
      <p:graphicFrame>
        <p:nvGraphicFramePr>
          <p:cNvPr id="3" name="Table 2">
            <a:extLst>
              <a:ext uri="{FF2B5EF4-FFF2-40B4-BE49-F238E27FC236}">
                <a16:creationId xmlns:a16="http://schemas.microsoft.com/office/drawing/2014/main" xmlns="" id="{E1F8513A-22C3-5AF2-2A68-8294A47F5047}"/>
              </a:ext>
            </a:extLst>
          </p:cNvPr>
          <p:cNvGraphicFramePr>
            <a:graphicFrameLocks noGrp="1"/>
          </p:cNvGraphicFramePr>
          <p:nvPr>
            <p:extLst>
              <p:ext uri="{D42A27DB-BD31-4B8C-83A1-F6EECF244321}">
                <p14:modId xmlns:p14="http://schemas.microsoft.com/office/powerpoint/2010/main" val="1033570067"/>
              </p:ext>
            </p:extLst>
          </p:nvPr>
        </p:nvGraphicFramePr>
        <p:xfrm>
          <a:off x="273832" y="406542"/>
          <a:ext cx="8596336" cy="5993198"/>
        </p:xfrm>
        <a:graphic>
          <a:graphicData uri="http://schemas.openxmlformats.org/drawingml/2006/table">
            <a:tbl>
              <a:tblPr firstRow="1" firstCol="1" bandRow="1">
                <a:tableStyleId>{BC89EF96-8CEA-46FF-86C4-4CE0E7609802}</a:tableStyleId>
              </a:tblPr>
              <a:tblGrid>
                <a:gridCol w="458418">
                  <a:extLst>
                    <a:ext uri="{9D8B030D-6E8A-4147-A177-3AD203B41FA5}">
                      <a16:colId xmlns:a16="http://schemas.microsoft.com/office/drawing/2014/main" xmlns="" val="4278332689"/>
                    </a:ext>
                  </a:extLst>
                </a:gridCol>
                <a:gridCol w="1448109">
                  <a:extLst>
                    <a:ext uri="{9D8B030D-6E8A-4147-A177-3AD203B41FA5}">
                      <a16:colId xmlns:a16="http://schemas.microsoft.com/office/drawing/2014/main" xmlns="" val="1806984197"/>
                    </a:ext>
                  </a:extLst>
                </a:gridCol>
                <a:gridCol w="1755018">
                  <a:extLst>
                    <a:ext uri="{9D8B030D-6E8A-4147-A177-3AD203B41FA5}">
                      <a16:colId xmlns:a16="http://schemas.microsoft.com/office/drawing/2014/main" xmlns="" val="254032651"/>
                    </a:ext>
                  </a:extLst>
                </a:gridCol>
                <a:gridCol w="1273248">
                  <a:extLst>
                    <a:ext uri="{9D8B030D-6E8A-4147-A177-3AD203B41FA5}">
                      <a16:colId xmlns:a16="http://schemas.microsoft.com/office/drawing/2014/main" xmlns="" val="1141799394"/>
                    </a:ext>
                  </a:extLst>
                </a:gridCol>
                <a:gridCol w="1665642">
                  <a:extLst>
                    <a:ext uri="{9D8B030D-6E8A-4147-A177-3AD203B41FA5}">
                      <a16:colId xmlns:a16="http://schemas.microsoft.com/office/drawing/2014/main" xmlns="" val="236687033"/>
                    </a:ext>
                  </a:extLst>
                </a:gridCol>
                <a:gridCol w="1995901">
                  <a:extLst>
                    <a:ext uri="{9D8B030D-6E8A-4147-A177-3AD203B41FA5}">
                      <a16:colId xmlns:a16="http://schemas.microsoft.com/office/drawing/2014/main" xmlns="" val="194521798"/>
                    </a:ext>
                  </a:extLst>
                </a:gridCol>
              </a:tblGrid>
              <a:tr h="663776">
                <a:tc>
                  <a:txBody>
                    <a:bodyPr/>
                    <a:lstStyle/>
                    <a:p>
                      <a:pPr algn="ctr">
                        <a:buNone/>
                      </a:pPr>
                      <a:r>
                        <a:rPr lang="en-US" sz="1800" dirty="0">
                          <a:effectLst/>
                          <a:latin typeface="Times New Roman" panose="02020603050405020304" pitchFamily="18" charset="0"/>
                          <a:cs typeface="Times New Roman" panose="02020603050405020304" pitchFamily="18" charset="0"/>
                        </a:rPr>
                        <a:t>Sr. No.</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Approach Type</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Technologies Used</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Dataset</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Key Objective</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smtClean="0">
                          <a:effectLst/>
                          <a:latin typeface="Times New Roman" panose="02020603050405020304" pitchFamily="18" charset="0"/>
                          <a:cs typeface="Times New Roman" panose="02020603050405020304" pitchFamily="18" charset="0"/>
                        </a:rPr>
                        <a:t>Limitations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extLst>
                  <a:ext uri="{0D108BD9-81ED-4DB2-BD59-A6C34878D82A}">
                    <a16:rowId xmlns:a16="http://schemas.microsoft.com/office/drawing/2014/main" xmlns="" val="2412492937"/>
                  </a:ext>
                </a:extLst>
              </a:tr>
              <a:tr h="1535230">
                <a:tc>
                  <a:txBody>
                    <a:bodyPr/>
                    <a:lstStyle/>
                    <a:p>
                      <a:pPr algn="l">
                        <a:buNone/>
                      </a:pPr>
                      <a:r>
                        <a:rPr lang="en-US"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rPr>
                        <a:t>4</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l">
                        <a:spcAft>
                          <a:spcPts val="1200"/>
                        </a:spcAft>
                        <a:buNone/>
                      </a:pPr>
                      <a:r>
                        <a:rPr lang="en-US" sz="1800" dirty="0">
                          <a:latin typeface="Times New Roman" panose="02020603050405020304" pitchFamily="18" charset="0"/>
                          <a:cs typeface="Times New Roman" panose="02020603050405020304" pitchFamily="18" charset="0"/>
                        </a:rPr>
                        <a:t>Timeline reconstruction support</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lgn="l">
                        <a:spcAft>
                          <a:spcPts val="1200"/>
                        </a:spcAft>
                        <a:buNone/>
                      </a:pPr>
                      <a:r>
                        <a:rPr lang="en-US" sz="1800" dirty="0">
                          <a:latin typeface="Times New Roman" panose="02020603050405020304" pitchFamily="18" charset="0"/>
                          <a:cs typeface="Times New Roman" panose="02020603050405020304" pitchFamily="18" charset="0"/>
                        </a:rPr>
                        <a:t>Log parsing, event correlation, ML</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lgn="l">
                        <a:spcAft>
                          <a:spcPts val="1200"/>
                        </a:spcAft>
                        <a:buNone/>
                      </a:pPr>
                      <a:r>
                        <a:rPr lang="en-US" sz="1800" dirty="0">
                          <a:latin typeface="Times New Roman" panose="02020603050405020304" pitchFamily="18" charset="0"/>
                          <a:cs typeface="Times New Roman" panose="02020603050405020304" pitchFamily="18" charset="0"/>
                        </a:rPr>
                        <a:t>System and application logs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lgn="l">
                        <a:spcAft>
                          <a:spcPts val="1200"/>
                        </a:spcAft>
                        <a:buNone/>
                      </a:pPr>
                      <a:r>
                        <a:rPr lang="en-US" sz="1800" dirty="0">
                          <a:latin typeface="Times New Roman" panose="02020603050405020304" pitchFamily="18" charset="0"/>
                          <a:cs typeface="Times New Roman" panose="02020603050405020304" pitchFamily="18" charset="0"/>
                        </a:rPr>
                        <a:t>Connect events and help build investigation timelines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lgn="l">
                        <a:spcAft>
                          <a:spcPts val="1200"/>
                        </a:spcAft>
                        <a:buNone/>
                      </a:pPr>
                      <a:r>
                        <a:rPr lang="en-US" sz="1800" dirty="0">
                          <a:latin typeface="Times New Roman" panose="02020603050405020304" pitchFamily="18" charset="0"/>
                          <a:cs typeface="Times New Roman" panose="02020603050405020304" pitchFamily="18" charset="0"/>
                        </a:rPr>
                        <a:t>Incomplete timestamps and noisy logs affect results.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extLst>
                  <a:ext uri="{0D108BD9-81ED-4DB2-BD59-A6C34878D82A}">
                    <a16:rowId xmlns:a16="http://schemas.microsoft.com/office/drawing/2014/main" xmlns="" val="4065117362"/>
                  </a:ext>
                </a:extLst>
              </a:tr>
              <a:tr h="1897096">
                <a:tc>
                  <a:txBody>
                    <a:bodyPr/>
                    <a:lstStyle/>
                    <a:p>
                      <a:pPr algn="l">
                        <a:buNone/>
                      </a:pPr>
                      <a:r>
                        <a:rPr lang="en-US"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rPr>
                        <a:t>5</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l">
                        <a:spcAft>
                          <a:spcPts val="1200"/>
                        </a:spcAft>
                        <a:buNone/>
                      </a:pPr>
                      <a:r>
                        <a:rPr lang="en-US" sz="1800" dirty="0">
                          <a:latin typeface="Times New Roman" panose="02020603050405020304" pitchFamily="18" charset="0"/>
                          <a:cs typeface="Times New Roman" panose="02020603050405020304" pitchFamily="18" charset="0"/>
                        </a:rPr>
                        <a:t>Multimedia forensic analysis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lgn="l">
                        <a:spcAft>
                          <a:spcPts val="1200"/>
                        </a:spcAft>
                        <a:buNone/>
                      </a:pPr>
                      <a:r>
                        <a:rPr lang="en-US" sz="1800" dirty="0">
                          <a:latin typeface="Times New Roman" panose="02020603050405020304" pitchFamily="18" charset="0"/>
                          <a:cs typeface="Times New Roman" panose="02020603050405020304" pitchFamily="18" charset="0"/>
                        </a:rPr>
                        <a:t>Computer vision, image/audio classification</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lgn="l">
                        <a:spcAft>
                          <a:spcPts val="1200"/>
                        </a:spcAft>
                        <a:buNone/>
                      </a:pPr>
                      <a:r>
                        <a:rPr lang="en-US" sz="1800" dirty="0">
                          <a:latin typeface="Times New Roman" panose="02020603050405020304" pitchFamily="18" charset="0"/>
                          <a:cs typeface="Times New Roman" panose="02020603050405020304" pitchFamily="18" charset="0"/>
                        </a:rPr>
                        <a:t>Image, audio and video samples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lgn="l">
                        <a:spcAft>
                          <a:spcPts val="1200"/>
                        </a:spcAft>
                        <a:buNone/>
                      </a:pPr>
                      <a:r>
                        <a:rPr lang="en-US" sz="1800" dirty="0">
                          <a:latin typeface="Times New Roman" panose="02020603050405020304" pitchFamily="18" charset="0"/>
                          <a:cs typeface="Times New Roman" panose="02020603050405020304" pitchFamily="18" charset="0"/>
                        </a:rPr>
                        <a:t>Group media and flag suspicious or manipulated content</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lgn="l">
                        <a:spcAft>
                          <a:spcPts val="1200"/>
                        </a:spcAft>
                        <a:buNone/>
                      </a:pPr>
                      <a:r>
                        <a:rPr lang="en-US" sz="1800" dirty="0">
                          <a:latin typeface="Times New Roman" panose="02020603050405020304" pitchFamily="18" charset="0"/>
                          <a:cs typeface="Times New Roman" panose="02020603050405020304" pitchFamily="18" charset="0"/>
                        </a:rPr>
                        <a:t>Performance depends on data quality and model bias.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extLst>
                  <a:ext uri="{0D108BD9-81ED-4DB2-BD59-A6C34878D82A}">
                    <a16:rowId xmlns:a16="http://schemas.microsoft.com/office/drawing/2014/main" xmlns="" val="2106786586"/>
                  </a:ext>
                </a:extLst>
              </a:tr>
              <a:tr h="1897096">
                <a:tc>
                  <a:txBody>
                    <a:bodyPr/>
                    <a:lstStyle/>
                    <a:p>
                      <a:pPr algn="l">
                        <a:buNone/>
                      </a:pPr>
                      <a:r>
                        <a:rPr lang="en-US"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rPr>
                        <a:t>6</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l">
                        <a:spcAft>
                          <a:spcPts val="1200"/>
                        </a:spcAft>
                        <a:buNone/>
                      </a:pPr>
                      <a:r>
                        <a:rPr lang="en-US" sz="1800" dirty="0">
                          <a:latin typeface="Times New Roman" panose="02020603050405020304" pitchFamily="18" charset="0"/>
                          <a:cs typeface="Times New Roman" panose="02020603050405020304" pitchFamily="18" charset="0"/>
                        </a:rPr>
                        <a:t>Malware and file classification</a:t>
                      </a:r>
                      <a:endParaRPr lang="en-US" sz="1800" dirty="0">
                        <a:effectLst/>
                        <a:latin typeface="Times New Roman" panose="02020603050405020304" pitchFamily="18" charset="0"/>
                        <a:cs typeface="Times New Roman" panose="02020603050405020304" pitchFamily="18" charset="0"/>
                      </a:endParaRPr>
                    </a:p>
                  </a:txBody>
                  <a:tcPr marL="18302" marR="18302" marT="16014" marB="16014"/>
                </a:tc>
                <a:tc>
                  <a:txBody>
                    <a:bodyPr/>
                    <a:lstStyle/>
                    <a:p>
                      <a:pPr marL="36000" algn="l">
                        <a:spcAft>
                          <a:spcPts val="1200"/>
                        </a:spcAft>
                        <a:buNone/>
                      </a:pPr>
                      <a:r>
                        <a:rPr lang="en-US" sz="1800" dirty="0">
                          <a:latin typeface="Times New Roman" panose="02020603050405020304" pitchFamily="18" charset="0"/>
                          <a:cs typeface="Times New Roman" panose="02020603050405020304" pitchFamily="18" charset="0"/>
                        </a:rPr>
                        <a:t>Static features, ML classifiers, file hashes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lgn="l">
                        <a:spcAft>
                          <a:spcPts val="1200"/>
                        </a:spcAft>
                        <a:buNone/>
                      </a:pPr>
                      <a:r>
                        <a:rPr lang="en-US" sz="1800" dirty="0">
                          <a:latin typeface="Times New Roman" panose="02020603050405020304" pitchFamily="18" charset="0"/>
                          <a:cs typeface="Times New Roman" panose="02020603050405020304" pitchFamily="18" charset="0"/>
                        </a:rPr>
                        <a:t>Known benign/malicious samples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lgn="l">
                        <a:spcAft>
                          <a:spcPts val="1200"/>
                        </a:spcAft>
                        <a:buNone/>
                      </a:pPr>
                      <a:r>
                        <a:rPr lang="en-US" sz="1800" dirty="0">
                          <a:latin typeface="Times New Roman" panose="02020603050405020304" pitchFamily="18" charset="0"/>
                          <a:cs typeface="Times New Roman" panose="02020603050405020304" pitchFamily="18" charset="0"/>
                        </a:rPr>
                        <a:t>Identify files needing closer examination</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lgn="l">
                        <a:spcAft>
                          <a:spcPts val="1200"/>
                        </a:spcAft>
                        <a:buNone/>
                      </a:pPr>
                      <a:r>
                        <a:rPr lang="en-US" sz="1800" dirty="0">
                          <a:latin typeface="Times New Roman" panose="02020603050405020304" pitchFamily="18" charset="0"/>
                          <a:cs typeface="Times New Roman" panose="02020603050405020304" pitchFamily="18" charset="0"/>
                        </a:rPr>
                        <a:t>New or obfuscated malware can evade detection.</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extLst>
                  <a:ext uri="{0D108BD9-81ED-4DB2-BD59-A6C34878D82A}">
                    <a16:rowId xmlns:a16="http://schemas.microsoft.com/office/drawing/2014/main" xmlns="" val="1149427142"/>
                  </a:ext>
                </a:extLst>
              </a:tr>
            </a:tbl>
          </a:graphicData>
        </a:graphic>
      </p:graphicFrame>
    </p:spTree>
    <p:extLst>
      <p:ext uri="{BB962C8B-B14F-4D97-AF65-F5344CB8AC3E}">
        <p14:creationId xmlns:p14="http://schemas.microsoft.com/office/powerpoint/2010/main" val="149851551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CE07CA4B-7A3E-85D0-1357-1C6E948BD9FE}"/>
              </a:ext>
            </a:extLst>
          </p:cNvPr>
          <p:cNvSpPr>
            <a:spLocks noGrp="1"/>
          </p:cNvSpPr>
          <p:nvPr>
            <p:ph type="sldNum" idx="12"/>
          </p:nvPr>
        </p:nvSpPr>
        <p:spPr>
          <a:xfrm>
            <a:off x="8409707" y="6328640"/>
            <a:ext cx="540329" cy="390815"/>
          </a:xfrm>
        </p:spPr>
        <p:style>
          <a:lnRef idx="2">
            <a:schemeClr val="accent1"/>
          </a:lnRef>
          <a:fillRef idx="1">
            <a:schemeClr val="lt1"/>
          </a:fillRef>
          <a:effectRef idx="0">
            <a:schemeClr val="accent1"/>
          </a:effectRef>
          <a:fontRef idx="minor">
            <a:schemeClr val="dk1"/>
          </a:fontRef>
        </p:style>
        <p:txBody>
          <a:bodyPr/>
          <a:lstStyle/>
          <a:p>
            <a:pPr marL="0" lvl="0" indent="0" algn="ctr" rtl="0">
              <a:spcBef>
                <a:spcPts val="0"/>
              </a:spcBef>
              <a:spcAft>
                <a:spcPts val="0"/>
              </a:spcAft>
              <a:buNone/>
            </a:pPr>
            <a:r>
              <a:rPr lang="en-US" dirty="0"/>
              <a:t>7</a:t>
            </a:r>
          </a:p>
        </p:txBody>
      </p:sp>
      <p:graphicFrame>
        <p:nvGraphicFramePr>
          <p:cNvPr id="3" name="Table 2">
            <a:extLst>
              <a:ext uri="{FF2B5EF4-FFF2-40B4-BE49-F238E27FC236}">
                <a16:creationId xmlns:a16="http://schemas.microsoft.com/office/drawing/2014/main" xmlns="" id="{91253747-23D5-8246-1D14-09B3539CDADE}"/>
              </a:ext>
            </a:extLst>
          </p:cNvPr>
          <p:cNvGraphicFramePr>
            <a:graphicFrameLocks noGrp="1"/>
          </p:cNvGraphicFramePr>
          <p:nvPr>
            <p:extLst>
              <p:ext uri="{D42A27DB-BD31-4B8C-83A1-F6EECF244321}">
                <p14:modId xmlns:p14="http://schemas.microsoft.com/office/powerpoint/2010/main" val="3302691906"/>
              </p:ext>
            </p:extLst>
          </p:nvPr>
        </p:nvGraphicFramePr>
        <p:xfrm>
          <a:off x="293037" y="324484"/>
          <a:ext cx="8393763" cy="6214416"/>
        </p:xfrm>
        <a:graphic>
          <a:graphicData uri="http://schemas.openxmlformats.org/drawingml/2006/table">
            <a:tbl>
              <a:tblPr firstRow="1" firstCol="1" bandRow="1">
                <a:tableStyleId>{BC89EF96-8CEA-46FF-86C4-4CE0E7609802}</a:tableStyleId>
              </a:tblPr>
              <a:tblGrid>
                <a:gridCol w="434351">
                  <a:extLst>
                    <a:ext uri="{9D8B030D-6E8A-4147-A177-3AD203B41FA5}">
                      <a16:colId xmlns:a16="http://schemas.microsoft.com/office/drawing/2014/main" xmlns="" val="1949719032"/>
                    </a:ext>
                  </a:extLst>
                </a:gridCol>
                <a:gridCol w="1472853">
                  <a:extLst>
                    <a:ext uri="{9D8B030D-6E8A-4147-A177-3AD203B41FA5}">
                      <a16:colId xmlns:a16="http://schemas.microsoft.com/office/drawing/2014/main" xmlns="" val="2929771628"/>
                    </a:ext>
                  </a:extLst>
                </a:gridCol>
                <a:gridCol w="1755642">
                  <a:extLst>
                    <a:ext uri="{9D8B030D-6E8A-4147-A177-3AD203B41FA5}">
                      <a16:colId xmlns:a16="http://schemas.microsoft.com/office/drawing/2014/main" xmlns="" val="135485548"/>
                    </a:ext>
                  </a:extLst>
                </a:gridCol>
                <a:gridCol w="1273699">
                  <a:extLst>
                    <a:ext uri="{9D8B030D-6E8A-4147-A177-3AD203B41FA5}">
                      <a16:colId xmlns:a16="http://schemas.microsoft.com/office/drawing/2014/main" xmlns="" val="1841913094"/>
                    </a:ext>
                  </a:extLst>
                </a:gridCol>
                <a:gridCol w="1666234">
                  <a:extLst>
                    <a:ext uri="{9D8B030D-6E8A-4147-A177-3AD203B41FA5}">
                      <a16:colId xmlns:a16="http://schemas.microsoft.com/office/drawing/2014/main" xmlns="" val="2869289634"/>
                    </a:ext>
                  </a:extLst>
                </a:gridCol>
                <a:gridCol w="1790984">
                  <a:extLst>
                    <a:ext uri="{9D8B030D-6E8A-4147-A177-3AD203B41FA5}">
                      <a16:colId xmlns:a16="http://schemas.microsoft.com/office/drawing/2014/main" xmlns="" val="783223308"/>
                    </a:ext>
                  </a:extLst>
                </a:gridCol>
              </a:tblGrid>
              <a:tr h="698768">
                <a:tc>
                  <a:txBody>
                    <a:bodyPr/>
                    <a:lstStyle/>
                    <a:p>
                      <a:pPr algn="ctr">
                        <a:buNone/>
                      </a:pPr>
                      <a:r>
                        <a:rPr lang="en-US" sz="1800" dirty="0">
                          <a:effectLst/>
                          <a:latin typeface="Times New Roman" panose="02020603050405020304" pitchFamily="18" charset="0"/>
                          <a:cs typeface="Times New Roman" panose="02020603050405020304" pitchFamily="18" charset="0"/>
                        </a:rPr>
                        <a:t>Sr. No.</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Approach Type</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Technologies Used</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a:effectLst/>
                          <a:latin typeface="Times New Roman" panose="02020603050405020304" pitchFamily="18" charset="0"/>
                          <a:cs typeface="Times New Roman" panose="02020603050405020304" pitchFamily="18" charset="0"/>
                        </a:rPr>
                        <a:t>Dataset</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a:effectLst/>
                          <a:latin typeface="Times New Roman" panose="02020603050405020304" pitchFamily="18" charset="0"/>
                          <a:cs typeface="Times New Roman" panose="02020603050405020304" pitchFamily="18" charset="0"/>
                        </a:rPr>
                        <a:t>Key Objective</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Limitations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extLst>
                  <a:ext uri="{0D108BD9-81ED-4DB2-BD59-A6C34878D82A}">
                    <a16:rowId xmlns:a16="http://schemas.microsoft.com/office/drawing/2014/main" xmlns="" val="3494960598"/>
                  </a:ext>
                </a:extLst>
              </a:tr>
              <a:tr h="1829289">
                <a:tc>
                  <a:txBody>
                    <a:bodyPr/>
                    <a:lstStyle/>
                    <a:p>
                      <a:pPr algn="ctr">
                        <a:buNone/>
                      </a:pPr>
                      <a:r>
                        <a:rPr lang="en-US" sz="1800" b="1" dirty="0">
                          <a:effectLst/>
                          <a:latin typeface="Times New Roman" panose="02020603050405020304" pitchFamily="18" charset="0"/>
                          <a:cs typeface="Times New Roman" panose="02020603050405020304" pitchFamily="18" charset="0"/>
                        </a:rPr>
                        <a:t>7</a:t>
                      </a:r>
                      <a:endParaRPr lang="en-IN" sz="1800" b="1"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l">
                        <a:buNone/>
                      </a:pPr>
                      <a:r>
                        <a:rPr lang="en-US" sz="1800" dirty="0">
                          <a:latin typeface="Times New Roman" panose="02020603050405020304" pitchFamily="18" charset="0"/>
                          <a:cs typeface="Times New Roman" panose="02020603050405020304" pitchFamily="18" charset="0"/>
                        </a:rPr>
                        <a:t>Network incident forensics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l">
                        <a:buNone/>
                      </a:pPr>
                      <a:r>
                        <a:rPr lang="en-US" sz="1800" dirty="0">
                          <a:latin typeface="Times New Roman" panose="02020603050405020304" pitchFamily="18" charset="0"/>
                          <a:cs typeface="Times New Roman" panose="02020603050405020304" pitchFamily="18" charset="0"/>
                        </a:rPr>
                        <a:t>Log analysis, anomaly detection, ML</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l">
                        <a:buNone/>
                      </a:pPr>
                      <a:r>
                        <a:rPr lang="en-US" sz="1800" dirty="0">
                          <a:latin typeface="Times New Roman" panose="02020603050405020304" pitchFamily="18" charset="0"/>
                          <a:cs typeface="Times New Roman" panose="02020603050405020304" pitchFamily="18" charset="0"/>
                        </a:rPr>
                        <a:t>Network-flow and security logs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l">
                        <a:buNone/>
                      </a:pPr>
                      <a:r>
                        <a:rPr lang="en-US" sz="1800" dirty="0">
                          <a:latin typeface="Times New Roman" panose="02020603050405020304" pitchFamily="18" charset="0"/>
                          <a:cs typeface="Times New Roman" panose="02020603050405020304" pitchFamily="18" charset="0"/>
                        </a:rPr>
                        <a:t>Find unusual traffic and correlate events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l">
                        <a:buNone/>
                      </a:pPr>
                      <a:r>
                        <a:rPr lang="en-US" sz="1800" dirty="0">
                          <a:latin typeface="Times New Roman" panose="02020603050405020304" pitchFamily="18" charset="0"/>
                          <a:cs typeface="Times New Roman" panose="02020603050405020304" pitchFamily="18" charset="0"/>
                        </a:rPr>
                        <a:t>Encrypted traffic and false alerts limit analysis.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extLst>
                  <a:ext uri="{0D108BD9-81ED-4DB2-BD59-A6C34878D82A}">
                    <a16:rowId xmlns:a16="http://schemas.microsoft.com/office/drawing/2014/main" xmlns="" val="3282046660"/>
                  </a:ext>
                </a:extLst>
              </a:tr>
              <a:tr h="1620456">
                <a:tc>
                  <a:txBody>
                    <a:bodyPr/>
                    <a:lstStyle/>
                    <a:p>
                      <a:pPr algn="ctr">
                        <a:buNone/>
                      </a:pPr>
                      <a:r>
                        <a:rPr lang="en-US" sz="1800" b="1" dirty="0">
                          <a:effectLst/>
                          <a:latin typeface="Times New Roman" panose="02020603050405020304" pitchFamily="18" charset="0"/>
                          <a:cs typeface="Times New Roman" panose="02020603050405020304" pitchFamily="18" charset="0"/>
                        </a:rPr>
                        <a:t>8</a:t>
                      </a:r>
                      <a:endParaRPr lang="en-IN" sz="1800" b="1"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l">
                        <a:buNone/>
                      </a:pPr>
                      <a:r>
                        <a:rPr lang="en-US" sz="1800" dirty="0">
                          <a:latin typeface="Times New Roman" panose="02020603050405020304" pitchFamily="18" charset="0"/>
                          <a:cs typeface="Times New Roman" panose="02020603050405020304" pitchFamily="18" charset="0"/>
                        </a:rPr>
                        <a:t>Evidence integrity and handling</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l">
                        <a:buNone/>
                      </a:pPr>
                      <a:r>
                        <a:rPr lang="en-US" sz="1800" dirty="0">
                          <a:latin typeface="Times New Roman" panose="02020603050405020304" pitchFamily="18" charset="0"/>
                          <a:cs typeface="Times New Roman" panose="02020603050405020304" pitchFamily="18" charset="0"/>
                        </a:rPr>
                        <a:t>SHA-256 hashing, audit logs, chain of custody</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l">
                        <a:buNone/>
                      </a:pPr>
                      <a:r>
                        <a:rPr lang="en-US" sz="1800" dirty="0">
                          <a:latin typeface="Times New Roman" panose="02020603050405020304" pitchFamily="18" charset="0"/>
                          <a:cs typeface="Times New Roman" panose="02020603050405020304" pitchFamily="18" charset="0"/>
                        </a:rPr>
                        <a:t>Forensic images and evidence records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l">
                        <a:buNone/>
                      </a:pPr>
                      <a:r>
                        <a:rPr lang="en-US" sz="1800" dirty="0">
                          <a:latin typeface="Times New Roman" panose="02020603050405020304" pitchFamily="18" charset="0"/>
                          <a:cs typeface="Times New Roman" panose="02020603050405020304" pitchFamily="18" charset="0"/>
                        </a:rPr>
                        <a:t>Check integrity and document evidence handling</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l">
                        <a:buNone/>
                      </a:pPr>
                      <a:r>
                        <a:rPr lang="en-US" sz="1800" dirty="0">
                          <a:latin typeface="Times New Roman" panose="02020603050405020304" pitchFamily="18" charset="0"/>
                          <a:cs typeface="Times New Roman" panose="02020603050405020304" pitchFamily="18" charset="0"/>
                        </a:rPr>
                        <a:t>AI does not replace established evidence procedures.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extLst>
                  <a:ext uri="{0D108BD9-81ED-4DB2-BD59-A6C34878D82A}">
                    <a16:rowId xmlns:a16="http://schemas.microsoft.com/office/drawing/2014/main" xmlns="" val="1542458700"/>
                  </a:ext>
                </a:extLst>
              </a:tr>
              <a:tr h="2065903">
                <a:tc>
                  <a:txBody>
                    <a:bodyPr/>
                    <a:lstStyle/>
                    <a:p>
                      <a:pPr algn="ctr">
                        <a:buNone/>
                      </a:pPr>
                      <a:r>
                        <a:rPr lang="en-US" sz="1800" b="1" dirty="0">
                          <a:effectLst/>
                          <a:latin typeface="Times New Roman" panose="02020603050405020304" pitchFamily="18" charset="0"/>
                          <a:cs typeface="Times New Roman" panose="02020603050405020304" pitchFamily="18" charset="0"/>
                        </a:rPr>
                        <a:t>9</a:t>
                      </a:r>
                      <a:endParaRPr lang="en-IN" sz="1800" b="1"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l">
                        <a:buNone/>
                      </a:pPr>
                      <a:r>
                        <a:rPr lang="en-US" sz="1800" dirty="0">
                          <a:latin typeface="Times New Roman" panose="02020603050405020304" pitchFamily="18" charset="0"/>
                          <a:cs typeface="Times New Roman" panose="02020603050405020304" pitchFamily="18" charset="0"/>
                        </a:rPr>
                        <a:t>Automated artifact extraction</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l">
                        <a:buNone/>
                      </a:pPr>
                      <a:r>
                        <a:rPr lang="en-US" sz="1800" dirty="0">
                          <a:latin typeface="Times New Roman" panose="02020603050405020304" pitchFamily="18" charset="0"/>
                          <a:cs typeface="Times New Roman" panose="02020603050405020304" pitchFamily="18" charset="0"/>
                        </a:rPr>
                        <a:t>Forensic parsers, Python, databases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l">
                        <a:buNone/>
                      </a:pPr>
                      <a:r>
                        <a:rPr lang="en-US" sz="1800" dirty="0">
                          <a:latin typeface="Times New Roman" panose="02020603050405020304" pitchFamily="18" charset="0"/>
                          <a:cs typeface="Times New Roman" panose="02020603050405020304" pitchFamily="18" charset="0"/>
                        </a:rPr>
                        <a:t>Disk/mobile forensic artifacts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l">
                        <a:buNone/>
                      </a:pPr>
                      <a:r>
                        <a:rPr lang="en-US" sz="1800" dirty="0">
                          <a:latin typeface="Times New Roman" panose="02020603050405020304" pitchFamily="18" charset="0"/>
                          <a:cs typeface="Times New Roman" panose="02020603050405020304" pitchFamily="18" charset="0"/>
                        </a:rPr>
                        <a:t>Extract structured records for review</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algn="l">
                        <a:buNone/>
                      </a:pPr>
                      <a:r>
                        <a:rPr lang="en-US" sz="1800" dirty="0">
                          <a:latin typeface="Times New Roman" panose="02020603050405020304" pitchFamily="18" charset="0"/>
                          <a:cs typeface="Times New Roman" panose="02020603050405020304" pitchFamily="18" charset="0"/>
                        </a:rPr>
                        <a:t>Tool support varies by device and file system.</a:t>
                      </a:r>
                    </a:p>
                  </a:txBody>
                  <a:tcPr anchor="ctr"/>
                </a:tc>
                <a:extLst>
                  <a:ext uri="{0D108BD9-81ED-4DB2-BD59-A6C34878D82A}">
                    <a16:rowId xmlns:a16="http://schemas.microsoft.com/office/drawing/2014/main" xmlns="" val="2131928690"/>
                  </a:ext>
                </a:extLst>
              </a:tr>
            </a:tbl>
          </a:graphicData>
        </a:graphic>
      </p:graphicFrame>
    </p:spTree>
    <p:extLst>
      <p:ext uri="{BB962C8B-B14F-4D97-AF65-F5344CB8AC3E}">
        <p14:creationId xmlns:p14="http://schemas.microsoft.com/office/powerpoint/2010/main" val="163192853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67C24D29-1F38-6109-97BB-D12BCE5762DD}"/>
              </a:ext>
            </a:extLst>
          </p:cNvPr>
          <p:cNvSpPr>
            <a:spLocks noGrp="1"/>
          </p:cNvSpPr>
          <p:nvPr>
            <p:ph type="sldNum" idx="12"/>
          </p:nvPr>
        </p:nvSpPr>
        <p:spPr>
          <a:xfrm>
            <a:off x="8188036" y="6137564"/>
            <a:ext cx="568037" cy="401782"/>
          </a:xfrm>
        </p:spPr>
        <p:style>
          <a:lnRef idx="2">
            <a:schemeClr val="accent1"/>
          </a:lnRef>
          <a:fillRef idx="1">
            <a:schemeClr val="lt1"/>
          </a:fillRef>
          <a:effectRef idx="0">
            <a:schemeClr val="accent1"/>
          </a:effectRef>
          <a:fontRef idx="minor">
            <a:schemeClr val="dk1"/>
          </a:fontRef>
        </p:style>
        <p:txBody>
          <a:bodyPr/>
          <a:lstStyle/>
          <a:p>
            <a:pPr marL="0" lvl="0" indent="0" algn="ctr" rtl="0">
              <a:spcBef>
                <a:spcPts val="0"/>
              </a:spcBef>
              <a:spcAft>
                <a:spcPts val="0"/>
              </a:spcAft>
              <a:buNone/>
            </a:pPr>
            <a:r>
              <a:rPr lang="en-US" dirty="0"/>
              <a:t>8</a:t>
            </a:r>
          </a:p>
        </p:txBody>
      </p:sp>
      <p:graphicFrame>
        <p:nvGraphicFramePr>
          <p:cNvPr id="3" name="Table 2">
            <a:extLst>
              <a:ext uri="{FF2B5EF4-FFF2-40B4-BE49-F238E27FC236}">
                <a16:creationId xmlns:a16="http://schemas.microsoft.com/office/drawing/2014/main" xmlns="" id="{7C3A6238-8E95-8C46-D303-AD4BEC31FFA4}"/>
              </a:ext>
            </a:extLst>
          </p:cNvPr>
          <p:cNvGraphicFramePr>
            <a:graphicFrameLocks noGrp="1"/>
          </p:cNvGraphicFramePr>
          <p:nvPr>
            <p:extLst>
              <p:ext uri="{D42A27DB-BD31-4B8C-83A1-F6EECF244321}">
                <p14:modId xmlns:p14="http://schemas.microsoft.com/office/powerpoint/2010/main" val="1513186721"/>
              </p:ext>
            </p:extLst>
          </p:nvPr>
        </p:nvGraphicFramePr>
        <p:xfrm>
          <a:off x="457200" y="412957"/>
          <a:ext cx="8229599" cy="4227870"/>
        </p:xfrm>
        <a:graphic>
          <a:graphicData uri="http://schemas.openxmlformats.org/drawingml/2006/table">
            <a:tbl>
              <a:tblPr firstRow="1" firstCol="1" bandRow="1">
                <a:tableStyleId>{BC89EF96-8CEA-46FF-86C4-4CE0E7609802}</a:tableStyleId>
              </a:tblPr>
              <a:tblGrid>
                <a:gridCol w="434051">
                  <a:extLst>
                    <a:ext uri="{9D8B030D-6E8A-4147-A177-3AD203B41FA5}">
                      <a16:colId xmlns:a16="http://schemas.microsoft.com/office/drawing/2014/main" xmlns="" val="1197853204"/>
                    </a:ext>
                  </a:extLst>
                </a:gridCol>
                <a:gridCol w="1391139">
                  <a:extLst>
                    <a:ext uri="{9D8B030D-6E8A-4147-A177-3AD203B41FA5}">
                      <a16:colId xmlns:a16="http://schemas.microsoft.com/office/drawing/2014/main" xmlns="" val="3640022315"/>
                    </a:ext>
                  </a:extLst>
                </a:gridCol>
                <a:gridCol w="1680145">
                  <a:extLst>
                    <a:ext uri="{9D8B030D-6E8A-4147-A177-3AD203B41FA5}">
                      <a16:colId xmlns:a16="http://schemas.microsoft.com/office/drawing/2014/main" xmlns="" val="1223381263"/>
                    </a:ext>
                  </a:extLst>
                </a:gridCol>
                <a:gridCol w="1218929">
                  <a:extLst>
                    <a:ext uri="{9D8B030D-6E8A-4147-A177-3AD203B41FA5}">
                      <a16:colId xmlns:a16="http://schemas.microsoft.com/office/drawing/2014/main" xmlns="" val="540161753"/>
                    </a:ext>
                  </a:extLst>
                </a:gridCol>
                <a:gridCol w="1594582">
                  <a:extLst>
                    <a:ext uri="{9D8B030D-6E8A-4147-A177-3AD203B41FA5}">
                      <a16:colId xmlns:a16="http://schemas.microsoft.com/office/drawing/2014/main" xmlns="" val="219317495"/>
                    </a:ext>
                  </a:extLst>
                </a:gridCol>
                <a:gridCol w="1910753">
                  <a:extLst>
                    <a:ext uri="{9D8B030D-6E8A-4147-A177-3AD203B41FA5}">
                      <a16:colId xmlns:a16="http://schemas.microsoft.com/office/drawing/2014/main" xmlns="" val="1508548044"/>
                    </a:ext>
                  </a:extLst>
                </a:gridCol>
              </a:tblGrid>
              <a:tr h="699452">
                <a:tc>
                  <a:txBody>
                    <a:bodyPr/>
                    <a:lstStyle/>
                    <a:p>
                      <a:pPr algn="ctr">
                        <a:buNone/>
                      </a:pPr>
                      <a:r>
                        <a:rPr lang="en-US" sz="1800" dirty="0">
                          <a:effectLst/>
                          <a:latin typeface="Times New Roman" panose="02020603050405020304" pitchFamily="18" charset="0"/>
                          <a:cs typeface="Times New Roman" panose="02020603050405020304" pitchFamily="18" charset="0"/>
                        </a:rPr>
                        <a:t>Sr. No.</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a:effectLst/>
                          <a:latin typeface="Times New Roman" panose="02020603050405020304" pitchFamily="18" charset="0"/>
                          <a:cs typeface="Times New Roman" panose="02020603050405020304" pitchFamily="18" charset="0"/>
                        </a:rPr>
                        <a:t>Approach Type</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Technologies Used</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Dataset</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a:effectLst/>
                          <a:latin typeface="Times New Roman" panose="02020603050405020304" pitchFamily="18" charset="0"/>
                          <a:cs typeface="Times New Roman" panose="02020603050405020304" pitchFamily="18" charset="0"/>
                        </a:rPr>
                        <a:t>Key Objective</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Limitations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extLst>
                  <a:ext uri="{0D108BD9-81ED-4DB2-BD59-A6C34878D82A}">
                    <a16:rowId xmlns:a16="http://schemas.microsoft.com/office/drawing/2014/main" xmlns="" val="3824495969"/>
                  </a:ext>
                </a:extLst>
              </a:tr>
              <a:tr h="1562414">
                <a:tc>
                  <a:txBody>
                    <a:bodyPr/>
                    <a:lstStyle/>
                    <a:p>
                      <a:pPr algn="ctr">
                        <a:buNone/>
                      </a:pPr>
                      <a:r>
                        <a:rPr lang="en-US" sz="1800" b="1" dirty="0">
                          <a:effectLst/>
                          <a:latin typeface="Times New Roman" panose="02020603050405020304" pitchFamily="18" charset="0"/>
                          <a:cs typeface="Times New Roman" panose="02020603050405020304" pitchFamily="18" charset="0"/>
                        </a:rPr>
                        <a:t>10</a:t>
                      </a:r>
                      <a:endParaRPr lang="en-IN" sz="1800" b="1"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l">
                        <a:buNone/>
                      </a:pPr>
                      <a:r>
                        <a:rPr lang="en-US" sz="1800" dirty="0">
                          <a:latin typeface="Times New Roman" panose="02020603050405020304" pitchFamily="18" charset="0"/>
                          <a:cs typeface="Times New Roman" panose="02020603050405020304" pitchFamily="18" charset="0"/>
                        </a:rPr>
                        <a:t>Forensic tool testing</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lgn="l">
                        <a:buNone/>
                      </a:pPr>
                      <a:r>
                        <a:rPr lang="en-US" sz="1800" dirty="0">
                          <a:latin typeface="Times New Roman" panose="02020603050405020304" pitchFamily="18" charset="0"/>
                          <a:cs typeface="Times New Roman" panose="02020603050405020304" pitchFamily="18" charset="0"/>
                        </a:rPr>
                        <a:t>Repeatable test sets, validation procedures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lgn="l">
                        <a:buNone/>
                      </a:pPr>
                      <a:r>
                        <a:rPr lang="en-US" sz="1800" dirty="0">
                          <a:latin typeface="Times New Roman" panose="02020603050405020304" pitchFamily="18" charset="0"/>
                          <a:cs typeface="Times New Roman" panose="02020603050405020304" pitchFamily="18" charset="0"/>
                        </a:rPr>
                        <a:t>Known/reference datasets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lgn="l">
                        <a:buNone/>
                      </a:pPr>
                      <a:r>
                        <a:rPr lang="en-US" sz="1800" dirty="0">
                          <a:latin typeface="Times New Roman" panose="02020603050405020304" pitchFamily="18" charset="0"/>
                          <a:cs typeface="Times New Roman" panose="02020603050405020304" pitchFamily="18" charset="0"/>
                        </a:rPr>
                        <a:t>Assess tool behavior and reproducibility</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lgn="l">
                        <a:buNone/>
                      </a:pPr>
                      <a:r>
                        <a:rPr lang="en-US" sz="1800" dirty="0">
                          <a:latin typeface="Times New Roman" panose="02020603050405020304" pitchFamily="18" charset="0"/>
                          <a:cs typeface="Times New Roman" panose="02020603050405020304" pitchFamily="18" charset="0"/>
                        </a:rPr>
                        <a:t>Testing one scenario does not prove universal reliability.</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extLst>
                  <a:ext uri="{0D108BD9-81ED-4DB2-BD59-A6C34878D82A}">
                    <a16:rowId xmlns:a16="http://schemas.microsoft.com/office/drawing/2014/main" xmlns="" val="2948431363"/>
                  </a:ext>
                </a:extLst>
              </a:tr>
              <a:tr h="1966004">
                <a:tc>
                  <a:txBody>
                    <a:bodyPr/>
                    <a:lstStyle/>
                    <a:p>
                      <a:pPr algn="ctr">
                        <a:buNone/>
                      </a:pPr>
                      <a:r>
                        <a:rPr lang="en-US" sz="1800" b="1" dirty="0">
                          <a:effectLst/>
                          <a:latin typeface="Times New Roman" panose="02020603050405020304" pitchFamily="18" charset="0"/>
                          <a:cs typeface="Times New Roman" panose="02020603050405020304" pitchFamily="18" charset="0"/>
                        </a:rPr>
                        <a:t>11</a:t>
                      </a:r>
                      <a:endParaRPr lang="en-IN" sz="1800" b="1"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l">
                        <a:buNone/>
                      </a:pPr>
                      <a:r>
                        <a:rPr lang="en-US" sz="1800" dirty="0">
                          <a:latin typeface="Times New Roman" panose="02020603050405020304" pitchFamily="18" charset="0"/>
                          <a:cs typeface="Times New Roman" panose="02020603050405020304" pitchFamily="18" charset="0"/>
                        </a:rPr>
                        <a:t>AI-supported reporting</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lgn="l">
                        <a:buNone/>
                      </a:pPr>
                      <a:r>
                        <a:rPr lang="en-US" sz="1800" dirty="0">
                          <a:latin typeface="Times New Roman" panose="02020603050405020304" pitchFamily="18" charset="0"/>
                          <a:cs typeface="Times New Roman" panose="02020603050405020304" pitchFamily="18" charset="0"/>
                        </a:rPr>
                        <a:t>Summarization, structured reports, analyst review</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lgn="l">
                        <a:buNone/>
                      </a:pPr>
                      <a:r>
                        <a:rPr lang="en-US" sz="1800" dirty="0">
                          <a:latin typeface="Times New Roman" panose="02020603050405020304" pitchFamily="18" charset="0"/>
                          <a:cs typeface="Times New Roman" panose="02020603050405020304" pitchFamily="18" charset="0"/>
                        </a:rPr>
                        <a:t>Verified investigation findings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lgn="l">
                        <a:buNone/>
                      </a:pPr>
                      <a:r>
                        <a:rPr lang="en-US" sz="1800" dirty="0">
                          <a:latin typeface="Times New Roman" panose="02020603050405020304" pitchFamily="18" charset="0"/>
                          <a:cs typeface="Times New Roman" panose="02020603050405020304" pitchFamily="18" charset="0"/>
                        </a:rPr>
                        <a:t>Make results easier to review and communicate</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lgn="l">
                        <a:buNone/>
                      </a:pPr>
                      <a:r>
                        <a:rPr lang="en-US" sz="1800" dirty="0">
                          <a:latin typeface="Times New Roman" panose="02020603050405020304" pitchFamily="18" charset="0"/>
                          <a:cs typeface="Times New Roman" panose="02020603050405020304" pitchFamily="18" charset="0"/>
                        </a:rPr>
                        <a:t>Generated text must be checked against source evidence.</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extLst>
                  <a:ext uri="{0D108BD9-81ED-4DB2-BD59-A6C34878D82A}">
                    <a16:rowId xmlns:a16="http://schemas.microsoft.com/office/drawing/2014/main" xmlns="" val="1618966919"/>
                  </a:ext>
                </a:extLst>
              </a:tr>
            </a:tbl>
          </a:graphicData>
        </a:graphic>
      </p:graphicFrame>
    </p:spTree>
    <p:extLst>
      <p:ext uri="{BB962C8B-B14F-4D97-AF65-F5344CB8AC3E}">
        <p14:creationId xmlns:p14="http://schemas.microsoft.com/office/powerpoint/2010/main" val="397950019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18"/>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sz="4000" dirty="0"/>
              <a:t>3. Information to seminar topic</a:t>
            </a:r>
            <a:endParaRPr sz="4000" dirty="0"/>
          </a:p>
        </p:txBody>
      </p:sp>
      <p:sp>
        <p:nvSpPr>
          <p:cNvPr id="539" name="Google Shape;539;p18"/>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algn="just"/>
            <a:r>
              <a:rPr lang="en-US" sz="2200" b="1" dirty="0"/>
              <a:t>Technology:</a:t>
            </a:r>
            <a:r>
              <a:rPr lang="en-US" sz="2200" dirty="0"/>
              <a:t> Artificial Intelligence (AI), Machine Learning (ML) and Digital Forensics</a:t>
            </a:r>
          </a:p>
          <a:p>
            <a:pPr algn="just"/>
            <a:r>
              <a:rPr lang="en-US" sz="2200" b="1" dirty="0"/>
              <a:t>Main Purpose:</a:t>
            </a:r>
            <a:r>
              <a:rPr lang="en-US" sz="2200" dirty="0"/>
              <a:t> To assist investigators in finding relevant digital evidence efficiently.</a:t>
            </a:r>
          </a:p>
          <a:p>
            <a:pPr algn="just"/>
            <a:r>
              <a:rPr lang="en-US" sz="2200" b="1" dirty="0"/>
              <a:t>Key Concept:</a:t>
            </a:r>
            <a:r>
              <a:rPr lang="en-US" sz="2200" dirty="0"/>
              <a:t> AI analyzes patterns in files, logs, messages and multimedia data.</a:t>
            </a:r>
          </a:p>
          <a:p>
            <a:pPr algn="just"/>
            <a:r>
              <a:rPr lang="en-US" sz="2200" b="1" dirty="0"/>
              <a:t>Approach:</a:t>
            </a:r>
            <a:r>
              <a:rPr lang="en-US" sz="2200" dirty="0"/>
              <a:t> Collect forensic images/logs safely, extract artifacts, analyze copies using rules and ML, then verify findings.</a:t>
            </a:r>
          </a:p>
          <a:p>
            <a:pPr algn="just"/>
            <a:r>
              <a:rPr lang="en-US" sz="2200" b="1" dirty="0"/>
              <a:t>Main Benefit:</a:t>
            </a:r>
            <a:r>
              <a:rPr lang="en-US" sz="2200" dirty="0"/>
              <a:t> Faster evidence triage and better prioritization of suspicious artifacts.</a:t>
            </a:r>
          </a:p>
          <a:p>
            <a:pPr algn="just"/>
            <a:r>
              <a:rPr lang="en-US" sz="2200" b="1" dirty="0"/>
              <a:t>Application:</a:t>
            </a:r>
            <a:r>
              <a:rPr lang="en-US" sz="2200" dirty="0"/>
              <a:t> Cybercrime investigations, incident response, mobile/device forensics and fraud analysis.</a:t>
            </a:r>
          </a:p>
          <a:p>
            <a:pPr marL="342900" lvl="0" indent="-139700" algn="l" rtl="0">
              <a:spcBef>
                <a:spcPts val="0"/>
              </a:spcBef>
              <a:spcAft>
                <a:spcPts val="0"/>
              </a:spcAft>
              <a:buClr>
                <a:schemeClr val="dk1"/>
              </a:buClr>
              <a:buSzPts val="3200"/>
              <a:buNone/>
            </a:pPr>
            <a:endParaRPr dirty="0"/>
          </a:p>
        </p:txBody>
      </p:sp>
      <p:sp>
        <p:nvSpPr>
          <p:cNvPr id="540" name="Google Shape;540;p18"/>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9</a:t>
            </a:fld>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19"/>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sz="4000" dirty="0"/>
              <a:t>4. Advantages / Disadvantages</a:t>
            </a:r>
            <a:endParaRPr sz="4000" dirty="0"/>
          </a:p>
        </p:txBody>
      </p:sp>
      <p:sp>
        <p:nvSpPr>
          <p:cNvPr id="546" name="Google Shape;546;p19"/>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fontScale="92500" lnSpcReduction="10000"/>
          </a:bodyPr>
          <a:lstStyle/>
          <a:p>
            <a:r>
              <a:rPr lang="en-US" sz="2400" b="1" dirty="0"/>
              <a:t>Advantages</a:t>
            </a:r>
            <a:endParaRPr lang="en-US" sz="2400" dirty="0"/>
          </a:p>
          <a:p>
            <a:pPr lvl="0"/>
            <a:r>
              <a:rPr lang="en-US" sz="2400" dirty="0"/>
              <a:t>Speeds up searching and sorting large volumes of digital evidence.</a:t>
            </a:r>
          </a:p>
          <a:p>
            <a:pPr lvl="0"/>
            <a:r>
              <a:rPr lang="en-US" sz="2400" dirty="0"/>
              <a:t>Helps identify unusual patterns, suspicious files and related artifacts.</a:t>
            </a:r>
          </a:p>
          <a:p>
            <a:pPr lvl="0"/>
            <a:r>
              <a:rPr lang="en-US" sz="2400" dirty="0"/>
              <a:t>Can support timeline reconstruction and evidence prioritization.</a:t>
            </a:r>
          </a:p>
          <a:p>
            <a:pPr lvl="0"/>
            <a:r>
              <a:rPr lang="en-US" sz="2400" dirty="0"/>
              <a:t>Reduces repetitive manual work for investigators.</a:t>
            </a:r>
          </a:p>
          <a:p>
            <a:pPr lvl="0"/>
            <a:r>
              <a:rPr lang="en-US" sz="2400" dirty="0"/>
              <a:t>Can assist analysis of text, images, logs and network events.</a:t>
            </a:r>
          </a:p>
          <a:p>
            <a:pPr marL="114300" lvl="0" indent="0">
              <a:buNone/>
            </a:pPr>
            <a:endParaRPr lang="en-US" sz="2400" dirty="0"/>
          </a:p>
          <a:p>
            <a:r>
              <a:rPr lang="en-US" sz="2400" b="1" dirty="0"/>
              <a:t>Disadvantages</a:t>
            </a:r>
            <a:endParaRPr lang="en-US" sz="2400" dirty="0"/>
          </a:p>
          <a:p>
            <a:pPr lvl="0"/>
            <a:r>
              <a:rPr lang="en-US" sz="2400" dirty="0"/>
              <a:t>AI may produce false positives or miss relevant evidence.</a:t>
            </a:r>
          </a:p>
          <a:p>
            <a:pPr lvl="0"/>
            <a:r>
              <a:rPr lang="en-US" sz="2400" dirty="0"/>
              <a:t>Results can be biased if training data is incomplete.</a:t>
            </a:r>
          </a:p>
          <a:p>
            <a:pPr lvl="0"/>
            <a:r>
              <a:rPr lang="en-US" sz="2400" dirty="0"/>
              <a:t>Some models are difficult to explain or reproduce.</a:t>
            </a:r>
          </a:p>
          <a:p>
            <a:pPr lvl="0"/>
            <a:r>
              <a:rPr lang="en-US" sz="2400" dirty="0"/>
              <a:t>Sensitive evidence requires strong privacy and access controls.</a:t>
            </a:r>
          </a:p>
          <a:p>
            <a:pPr lvl="0"/>
            <a:r>
              <a:rPr lang="en-US" sz="2400" dirty="0"/>
              <a:t>AI findings alone may not be sufficient for legal conclusions.</a:t>
            </a:r>
          </a:p>
          <a:p>
            <a:pPr marL="342900" lvl="0" indent="-139700" algn="l" rtl="0">
              <a:spcBef>
                <a:spcPts val="0"/>
              </a:spcBef>
              <a:spcAft>
                <a:spcPts val="0"/>
              </a:spcAft>
              <a:buClr>
                <a:schemeClr val="dk1"/>
              </a:buClr>
              <a:buSzPts val="3200"/>
              <a:buNone/>
            </a:pPr>
            <a:endParaRPr dirty="0"/>
          </a:p>
        </p:txBody>
      </p:sp>
      <p:sp>
        <p:nvSpPr>
          <p:cNvPr id="547" name="Google Shape;547;p19"/>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10</a:t>
            </a:fld>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20"/>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sz="4000" dirty="0"/>
              <a:t>5. Conclusion</a:t>
            </a:r>
            <a:endParaRPr sz="4000" dirty="0"/>
          </a:p>
        </p:txBody>
      </p:sp>
      <p:sp>
        <p:nvSpPr>
          <p:cNvPr id="553" name="Google Shape;553;p20"/>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114300" indent="0">
              <a:buNone/>
            </a:pPr>
            <a:r>
              <a:rPr lang="en-US" sz="2100" dirty="0"/>
              <a:t>AI helps digital forensic investigators analyze large amounts of digital evidence quickly and identify suspicious activities. It also supports pattern recognition, timeline reconstruction and incident response. However, evidence must be preserved properly, and AI results must be verified by experts. AI can reduce manual work and improve investigation efficiency. Therefore, AI supports investigators but cannot replace human judgment, forensic tools or legal standards.</a:t>
            </a:r>
          </a:p>
        </p:txBody>
      </p:sp>
      <p:sp>
        <p:nvSpPr>
          <p:cNvPr id="554" name="Google Shape;554;p20"/>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11</a:t>
            </a:fld>
            <a:endParaRPr/>
          </a:p>
        </p:txBody>
      </p:sp>
      <p:pic>
        <p:nvPicPr>
          <p:cNvPr id="4" name="Picture 3">
            <a:extLst>
              <a:ext uri="{FF2B5EF4-FFF2-40B4-BE49-F238E27FC236}">
                <a16:creationId xmlns:a16="http://schemas.microsoft.com/office/drawing/2014/main" xmlns="" id="{A3078582-7FF7-3A5E-9206-BDF348BABA4D}"/>
              </a:ext>
            </a:extLst>
          </p:cNvPr>
          <p:cNvPicPr>
            <a:picLocks noChangeAspect="1"/>
          </p:cNvPicPr>
          <p:nvPr/>
        </p:nvPicPr>
        <p:blipFill>
          <a:blip r:embed="rId3"/>
          <a:stretch>
            <a:fillRect/>
          </a:stretch>
        </p:blipFill>
        <p:spPr>
          <a:xfrm>
            <a:off x="737385" y="3598606"/>
            <a:ext cx="7393858" cy="2954594"/>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21"/>
          <p:cNvSpPr txBox="1">
            <a:spLocks noGrp="1"/>
          </p:cNvSpPr>
          <p:nvPr>
            <p:ph type="title"/>
          </p:nvPr>
        </p:nvSpPr>
        <p:spPr>
          <a:xfrm>
            <a:off x="457200" y="25371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sz="4000" dirty="0"/>
              <a:t>6. Project Initiation</a:t>
            </a:r>
            <a:endParaRPr sz="4000" dirty="0"/>
          </a:p>
        </p:txBody>
      </p:sp>
      <p:sp>
        <p:nvSpPr>
          <p:cNvPr id="560" name="Google Shape;560;p21"/>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r>
              <a:rPr lang="en-US" sz="2200" dirty="0"/>
              <a:t>The AI in Digital Forensics seminar was initiated to explore how intelligent techniques can support investigations involving computers, mobile devices and other digital sources.</a:t>
            </a:r>
          </a:p>
          <a:p>
            <a:r>
              <a:rPr lang="en-US" sz="2200" dirty="0"/>
              <a:t>The proposed project focuses on analyzing a controlled sample dataset, extracting useful artifacts, identifying suspicious patterns with AI/ML assistance and presenting findings in a simple report.</a:t>
            </a:r>
          </a:p>
          <a:p>
            <a:r>
              <a:rPr lang="en-US" sz="2200" dirty="0"/>
              <a:t>The design emphasizes evidence integrity, transparent results and human verification.</a:t>
            </a:r>
          </a:p>
          <a:p>
            <a:pPr marL="342900" lvl="0" indent="-139700" algn="l" rtl="0">
              <a:spcBef>
                <a:spcPts val="0"/>
              </a:spcBef>
              <a:spcAft>
                <a:spcPts val="0"/>
              </a:spcAft>
              <a:buClr>
                <a:schemeClr val="dk1"/>
              </a:buClr>
              <a:buSzPts val="3200"/>
              <a:buNone/>
            </a:pPr>
            <a:endParaRPr sz="2100" dirty="0"/>
          </a:p>
        </p:txBody>
      </p:sp>
      <p:sp>
        <p:nvSpPr>
          <p:cNvPr id="561" name="Google Shape;561;p21"/>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12</a:t>
            </a:fld>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22"/>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lvl="0">
              <a:buSzPct val="100000"/>
            </a:pPr>
            <a:r>
              <a:rPr lang="en-US" sz="4000" dirty="0"/>
              <a:t>6.1 Description of Problem Statement</a:t>
            </a:r>
            <a:endParaRPr sz="4000" dirty="0"/>
          </a:p>
        </p:txBody>
      </p:sp>
      <p:sp>
        <p:nvSpPr>
          <p:cNvPr id="567" name="Google Shape;567;p22"/>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indent="-139700">
              <a:spcBef>
                <a:spcPts val="0"/>
              </a:spcBef>
              <a:buSzPts val="3200"/>
              <a:buNone/>
            </a:pPr>
            <a:r>
              <a:rPr lang="en-US" sz="2100" dirty="0"/>
              <a:t>  Digital investigations generate large amounts of data from computers, mobile phones, networks, cloud accounts and multimedia files. Analyzing this data manually is time-consuming, complex and prone to human error. Important evidence may be missed, and it is difficult to identify suspicious activity or create a clear timeline. Therefore, there is a need for an AI-based system to automatically analyze and prioritize digital evidence to support investigators.</a:t>
            </a:r>
          </a:p>
          <a:p>
            <a:pPr marL="342900" lvl="0" indent="-139700" algn="l" rtl="0">
              <a:spcBef>
                <a:spcPts val="0"/>
              </a:spcBef>
              <a:spcAft>
                <a:spcPts val="0"/>
              </a:spcAft>
              <a:buClr>
                <a:schemeClr val="dk1"/>
              </a:buClr>
              <a:buSzPts val="3200"/>
              <a:buNone/>
            </a:pPr>
            <a:endParaRPr dirty="0"/>
          </a:p>
        </p:txBody>
      </p:sp>
      <p:sp>
        <p:nvSpPr>
          <p:cNvPr id="568" name="Google Shape;568;p22"/>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13</a:t>
            </a:fld>
            <a:endParaRPr/>
          </a:p>
        </p:txBody>
      </p:sp>
      <p:pic>
        <p:nvPicPr>
          <p:cNvPr id="3" name="Picture 2">
            <a:extLst>
              <a:ext uri="{FF2B5EF4-FFF2-40B4-BE49-F238E27FC236}">
                <a16:creationId xmlns:a16="http://schemas.microsoft.com/office/drawing/2014/main" xmlns="" id="{5088724F-7C9A-57EE-4C6B-21A9678037AA}"/>
              </a:ext>
            </a:extLst>
          </p:cNvPr>
          <p:cNvPicPr>
            <a:picLocks noChangeAspect="1"/>
          </p:cNvPicPr>
          <p:nvPr/>
        </p:nvPicPr>
        <p:blipFill>
          <a:blip r:embed="rId3"/>
          <a:stretch>
            <a:fillRect/>
          </a:stretch>
        </p:blipFill>
        <p:spPr>
          <a:xfrm>
            <a:off x="783572" y="3569109"/>
            <a:ext cx="7354528" cy="2880852"/>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23"/>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fontScale="90000"/>
          </a:bodyPr>
          <a:lstStyle/>
          <a:p>
            <a:pPr marL="0" lvl="0" indent="0" algn="l" rtl="0">
              <a:spcBef>
                <a:spcPts val="0"/>
              </a:spcBef>
              <a:spcAft>
                <a:spcPts val="0"/>
              </a:spcAft>
              <a:buClr>
                <a:srgbClr val="002060"/>
              </a:buClr>
              <a:buSzPct val="100000"/>
              <a:buFont typeface="Arial"/>
              <a:buNone/>
            </a:pPr>
            <a:endParaRPr sz="3600" dirty="0"/>
          </a:p>
          <a:p>
            <a:pPr marL="0" lvl="0" indent="0" rtl="0">
              <a:spcBef>
                <a:spcPts val="0"/>
              </a:spcBef>
              <a:spcAft>
                <a:spcPts val="0"/>
              </a:spcAft>
              <a:buClr>
                <a:srgbClr val="002060"/>
              </a:buClr>
              <a:buSzPct val="100000"/>
              <a:buFont typeface="Arial"/>
              <a:buNone/>
            </a:pPr>
            <a:r>
              <a:rPr lang="en-US" dirty="0"/>
              <a:t>6. 2 </a:t>
            </a:r>
            <a:r>
              <a:rPr lang="en-US" sz="4900" dirty="0"/>
              <a:t>Scope and objectives</a:t>
            </a:r>
            <a:endParaRPr sz="4900" dirty="0"/>
          </a:p>
          <a:p>
            <a:pPr marL="0" lvl="0" indent="0" algn="l" rtl="0">
              <a:spcBef>
                <a:spcPts val="0"/>
              </a:spcBef>
              <a:spcAft>
                <a:spcPts val="0"/>
              </a:spcAft>
              <a:buClr>
                <a:srgbClr val="002060"/>
              </a:buClr>
              <a:buSzPct val="100000"/>
              <a:buFont typeface="Arial"/>
              <a:buNone/>
            </a:pPr>
            <a:endParaRPr sz="3600" dirty="0"/>
          </a:p>
        </p:txBody>
      </p:sp>
      <p:sp>
        <p:nvSpPr>
          <p:cNvPr id="574" name="Google Shape;574;p23"/>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fontScale="47500" lnSpcReduction="20000"/>
          </a:bodyPr>
          <a:lstStyle/>
          <a:p>
            <a:pPr marL="114300" indent="0">
              <a:buNone/>
            </a:pPr>
            <a:r>
              <a:rPr lang="en-US" sz="4500" b="1" dirty="0"/>
              <a:t>Objectives</a:t>
            </a:r>
            <a:endParaRPr lang="en-US" sz="4500" dirty="0"/>
          </a:p>
          <a:p>
            <a:pPr lvl="0"/>
            <a:r>
              <a:rPr lang="en-US" sz="4500" dirty="0"/>
              <a:t>Understand the digital forensic evidence lifecycle.</a:t>
            </a:r>
          </a:p>
          <a:p>
            <a:pPr lvl="0"/>
            <a:r>
              <a:rPr lang="en-US" sz="4500" dirty="0"/>
              <a:t>Load a prepared sample dataset or forensic artifacts for analysis.</a:t>
            </a:r>
          </a:p>
          <a:p>
            <a:pPr lvl="0"/>
            <a:r>
              <a:rPr lang="en-US" sz="4500" dirty="0"/>
              <a:t>Use Python-based rules and ML/NLP techniques to categorize or prioritize artifacts.</a:t>
            </a:r>
          </a:p>
          <a:p>
            <a:pPr lvl="0"/>
            <a:r>
              <a:rPr lang="en-US" sz="4500" dirty="0"/>
              <a:t>Flag potentially suspicious patterns for investigator review.</a:t>
            </a:r>
          </a:p>
          <a:p>
            <a:pPr lvl="0"/>
            <a:r>
              <a:rPr lang="en-US" sz="4500" dirty="0"/>
              <a:t>Generate a report containing findings, timestamps and confidence/limitations.</a:t>
            </a:r>
          </a:p>
          <a:p>
            <a:pPr marL="114300" lvl="0" indent="0">
              <a:buNone/>
            </a:pPr>
            <a:endParaRPr lang="en-US" sz="5300" dirty="0"/>
          </a:p>
          <a:p>
            <a:pPr marL="114300" indent="0">
              <a:buNone/>
            </a:pPr>
            <a:r>
              <a:rPr lang="en-US" sz="4500" b="1" dirty="0"/>
              <a:t>Scope</a:t>
            </a:r>
            <a:endParaRPr lang="en-US" sz="4500" dirty="0"/>
          </a:p>
          <a:p>
            <a:pPr lvl="0"/>
            <a:r>
              <a:rPr lang="en-US" sz="4500" dirty="0"/>
              <a:t>Educational prototype using lawful, synthetic or publicly available sample data.</a:t>
            </a:r>
          </a:p>
          <a:p>
            <a:pPr lvl="0"/>
            <a:r>
              <a:rPr lang="en-US" sz="4500" dirty="0"/>
              <a:t>Focus on evidence triage and analysis—not autonomous accusations.</a:t>
            </a:r>
          </a:p>
          <a:p>
            <a:pPr lvl="0"/>
            <a:r>
              <a:rPr lang="en-US" sz="4500" dirty="0"/>
              <a:t>Possible tools: Python, pandas, scikit-learn, SQLite, Autopsy and hashing utilities.</a:t>
            </a:r>
          </a:p>
          <a:p>
            <a:pPr lvl="0"/>
            <a:r>
              <a:rPr lang="en-US" sz="4500" dirty="0"/>
              <a:t>Results require human verification; the prototype is not a certified forensic tool.</a:t>
            </a:r>
          </a:p>
          <a:p>
            <a:pPr marL="342900" lvl="0" indent="-139700" algn="l" rtl="0">
              <a:spcBef>
                <a:spcPts val="0"/>
              </a:spcBef>
              <a:spcAft>
                <a:spcPts val="0"/>
              </a:spcAft>
              <a:buClr>
                <a:schemeClr val="dk1"/>
              </a:buClr>
              <a:buSzPts val="3200"/>
              <a:buNone/>
            </a:pPr>
            <a:endParaRPr lang="en-US" dirty="0"/>
          </a:p>
        </p:txBody>
      </p:sp>
      <p:sp>
        <p:nvSpPr>
          <p:cNvPr id="575" name="Google Shape;575;p23"/>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14</a:t>
            </a:fld>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24"/>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rtl="0">
              <a:spcBef>
                <a:spcPts val="0"/>
              </a:spcBef>
              <a:spcAft>
                <a:spcPts val="0"/>
              </a:spcAft>
              <a:buClr>
                <a:srgbClr val="002060"/>
              </a:buClr>
              <a:buSzPts val="3600"/>
              <a:buFont typeface="Arial"/>
              <a:buNone/>
            </a:pPr>
            <a:r>
              <a:rPr lang="en-US" dirty="0"/>
              <a:t>6. 3 Stake holder</a:t>
            </a:r>
            <a:endParaRPr dirty="0"/>
          </a:p>
        </p:txBody>
      </p:sp>
      <p:sp>
        <p:nvSpPr>
          <p:cNvPr id="581" name="Google Shape;581;p24"/>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fontScale="92500"/>
          </a:bodyPr>
          <a:lstStyle/>
          <a:p>
            <a:pPr>
              <a:buFont typeface="Arial" panose="020B0604020202020204" pitchFamily="34" charset="0"/>
              <a:buChar char="•"/>
            </a:pPr>
            <a:r>
              <a:rPr lang="en-US" sz="2100" b="1" dirty="0"/>
              <a:t>Digital Forensic Investigator:</a:t>
            </a:r>
            <a:r>
              <a:rPr lang="en-US" sz="2100" dirty="0"/>
              <a:t> Defines the investigation and    validates findings.</a:t>
            </a:r>
          </a:p>
          <a:p>
            <a:pPr marL="114300" indent="0">
              <a:buNone/>
            </a:pPr>
            <a:endParaRPr lang="en-US" sz="2100" dirty="0"/>
          </a:p>
          <a:p>
            <a:pPr>
              <a:buFont typeface="Arial" panose="020B0604020202020204" pitchFamily="34" charset="0"/>
              <a:buChar char="•"/>
            </a:pPr>
            <a:r>
              <a:rPr lang="en-US" sz="2100" b="1" dirty="0"/>
              <a:t>Cybersecurity / Incident Response Team:</a:t>
            </a:r>
            <a:r>
              <a:rPr lang="en-US" sz="2100" dirty="0"/>
              <a:t> Uses findings to understand suspicious activity.</a:t>
            </a:r>
          </a:p>
          <a:p>
            <a:pPr marL="114300" indent="0">
              <a:buNone/>
            </a:pPr>
            <a:endParaRPr lang="en-US" sz="2100" dirty="0"/>
          </a:p>
          <a:p>
            <a:pPr>
              <a:buFont typeface="Arial" panose="020B0604020202020204" pitchFamily="34" charset="0"/>
              <a:buChar char="•"/>
            </a:pPr>
            <a:r>
              <a:rPr lang="en-US" sz="2100" b="1" dirty="0"/>
              <a:t>Law Enforcement and Legal Professionals:</a:t>
            </a:r>
            <a:r>
              <a:rPr lang="en-US" sz="2100" dirty="0"/>
              <a:t> May review evidence and reports under applicable procedures.</a:t>
            </a:r>
          </a:p>
          <a:p>
            <a:pPr marL="114300" indent="0">
              <a:buNone/>
            </a:pPr>
            <a:endParaRPr lang="en-US" sz="2100" dirty="0"/>
          </a:p>
          <a:p>
            <a:pPr>
              <a:buFont typeface="Arial" panose="020B0604020202020204" pitchFamily="34" charset="0"/>
              <a:buChar char="•"/>
            </a:pPr>
            <a:r>
              <a:rPr lang="en-US" sz="2100" b="1" dirty="0"/>
              <a:t>Organization / Evidence Owner:</a:t>
            </a:r>
            <a:r>
              <a:rPr lang="en-US" sz="2100" dirty="0"/>
              <a:t> Authorizes access and protects sensitive data.</a:t>
            </a:r>
          </a:p>
          <a:p>
            <a:pPr marL="114300" indent="0">
              <a:buNone/>
            </a:pPr>
            <a:endParaRPr lang="en-US" sz="2100" dirty="0"/>
          </a:p>
          <a:p>
            <a:pPr>
              <a:buFont typeface="Arial" panose="020B0604020202020204" pitchFamily="34" charset="0"/>
              <a:buChar char="•"/>
            </a:pPr>
            <a:r>
              <a:rPr lang="en-US" sz="2100" b="1" dirty="0"/>
              <a:t>Project Developers and Guide:</a:t>
            </a:r>
            <a:r>
              <a:rPr lang="en-US" sz="2100" dirty="0"/>
              <a:t> Build, test and document the prototype.</a:t>
            </a:r>
          </a:p>
          <a:p>
            <a:pPr marL="114300" indent="0">
              <a:buNone/>
            </a:pPr>
            <a:endParaRPr lang="en-US" sz="2100" dirty="0"/>
          </a:p>
          <a:p>
            <a:pPr>
              <a:buFont typeface="Arial" panose="020B0604020202020204" pitchFamily="34" charset="0"/>
              <a:buChar char="•"/>
            </a:pPr>
            <a:r>
              <a:rPr lang="en-US" sz="2100" b="1" dirty="0"/>
              <a:t>Researchers and Students:</a:t>
            </a:r>
            <a:r>
              <a:rPr lang="en-US" sz="2100" dirty="0"/>
              <a:t> Study AI methods, limitations and responsible evidence handling.</a:t>
            </a:r>
          </a:p>
          <a:p>
            <a:pPr marL="342900" lvl="0" indent="-139700" algn="l" rtl="0">
              <a:spcBef>
                <a:spcPts val="0"/>
              </a:spcBef>
              <a:spcAft>
                <a:spcPts val="0"/>
              </a:spcAft>
              <a:buClr>
                <a:schemeClr val="dk1"/>
              </a:buClr>
              <a:buSzPts val="3200"/>
              <a:buNone/>
            </a:pPr>
            <a:endParaRPr dirty="0"/>
          </a:p>
        </p:txBody>
      </p:sp>
      <p:sp>
        <p:nvSpPr>
          <p:cNvPr id="582" name="Google Shape;582;p24"/>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15</a:t>
            </a:fld>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25"/>
          <p:cNvSpPr txBox="1">
            <a:spLocks noGrp="1"/>
          </p:cNvSpPr>
          <p:nvPr>
            <p:ph type="title"/>
          </p:nvPr>
        </p:nvSpPr>
        <p:spPr>
          <a:xfrm>
            <a:off x="456178" y="251723"/>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rtl="0">
              <a:spcBef>
                <a:spcPts val="0"/>
              </a:spcBef>
              <a:spcAft>
                <a:spcPts val="0"/>
              </a:spcAft>
              <a:buClr>
                <a:srgbClr val="002060"/>
              </a:buClr>
              <a:buSzPts val="3200"/>
              <a:buFont typeface="Arial"/>
              <a:buNone/>
            </a:pPr>
            <a:r>
              <a:rPr lang="en-US" sz="4000" dirty="0"/>
              <a:t/>
            </a:r>
            <a:br>
              <a:rPr lang="en-US" sz="4000" dirty="0"/>
            </a:br>
            <a:r>
              <a:rPr lang="en-US" sz="4000" dirty="0"/>
              <a:t>6. 4 </a:t>
            </a:r>
            <a:r>
              <a:rPr lang="en-US" sz="4000" dirty="0" smtClean="0"/>
              <a:t>Seminar </a:t>
            </a:r>
            <a:r>
              <a:rPr lang="en-US" sz="4000" dirty="0"/>
              <a:t>e</a:t>
            </a:r>
            <a:r>
              <a:rPr lang="en-US" sz="4000" dirty="0" smtClean="0"/>
              <a:t>xsicussion  </a:t>
            </a:r>
            <a:r>
              <a:rPr lang="en-US" sz="4000" dirty="0"/>
              <a:t>plan</a:t>
            </a:r>
            <a:endParaRPr sz="4000" dirty="0"/>
          </a:p>
          <a:p>
            <a:pPr marL="0" lvl="0" indent="0" algn="ctr" rtl="0">
              <a:spcBef>
                <a:spcPts val="0"/>
              </a:spcBef>
              <a:spcAft>
                <a:spcPts val="0"/>
              </a:spcAft>
              <a:buClr>
                <a:srgbClr val="002060"/>
              </a:buClr>
              <a:buSzPts val="3200"/>
              <a:buFont typeface="Arial"/>
              <a:buNone/>
            </a:pPr>
            <a:endParaRPr sz="3200" dirty="0"/>
          </a:p>
        </p:txBody>
      </p:sp>
      <p:sp>
        <p:nvSpPr>
          <p:cNvPr id="588" name="Google Shape;588;p25"/>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lnSpcReduction="10000"/>
          </a:bodyPr>
          <a:lstStyle/>
          <a:p>
            <a:pPr>
              <a:buFont typeface="+mj-lt"/>
              <a:buAutoNum type="arabicPeriod"/>
            </a:pPr>
            <a:r>
              <a:rPr lang="en-US" sz="1800" b="1" dirty="0"/>
              <a:t>Current Scenario: </a:t>
            </a:r>
            <a:r>
              <a:rPr lang="en-US" sz="1800" dirty="0"/>
              <a:t>Digital evidence is collected from computers, mobiles,    networks and cloud services.</a:t>
            </a:r>
          </a:p>
          <a:p>
            <a:pPr marL="114300" indent="0">
              <a:buNone/>
            </a:pPr>
            <a:endParaRPr lang="en-US" sz="1800" dirty="0"/>
          </a:p>
          <a:p>
            <a:pPr>
              <a:buFont typeface="+mj-lt"/>
              <a:buAutoNum type="arabicPeriod"/>
            </a:pPr>
            <a:r>
              <a:rPr lang="en-US" sz="1800" b="1" dirty="0"/>
              <a:t>Investigation Challenges: </a:t>
            </a:r>
            <a:r>
              <a:rPr lang="en-US" sz="1800" dirty="0"/>
              <a:t>Large data, deleted files, different formats and limited        time.</a:t>
            </a:r>
          </a:p>
          <a:p>
            <a:pPr marL="114300" indent="0">
              <a:buNone/>
            </a:pPr>
            <a:endParaRPr lang="en-US" sz="1800" dirty="0"/>
          </a:p>
          <a:p>
            <a:pPr>
              <a:buFont typeface="+mj-lt"/>
              <a:buAutoNum type="arabicPeriod"/>
            </a:pPr>
            <a:r>
              <a:rPr lang="en-US" sz="1800" b="1" dirty="0"/>
              <a:t>Existing Approaches: </a:t>
            </a:r>
            <a:r>
              <a:rPr lang="en-US" sz="1800" dirty="0"/>
              <a:t>Forensic tools, keyword searches, file hashes and manual analysis.</a:t>
            </a:r>
          </a:p>
          <a:p>
            <a:pPr marL="114300" indent="0">
              <a:buNone/>
            </a:pPr>
            <a:endParaRPr lang="en-US" sz="1800" dirty="0"/>
          </a:p>
          <a:p>
            <a:pPr>
              <a:buFont typeface="+mj-lt"/>
              <a:buAutoNum type="arabicPeriod"/>
            </a:pPr>
            <a:r>
              <a:rPr lang="en-US" sz="1800" b="1" dirty="0"/>
              <a:t>Research Gap: </a:t>
            </a:r>
            <a:r>
              <a:rPr lang="en-US" sz="1800" dirty="0"/>
              <a:t>AI can help analyze evidence, but accuracy and reliability are important.</a:t>
            </a:r>
          </a:p>
          <a:p>
            <a:pPr marL="114300" indent="0">
              <a:buNone/>
            </a:pPr>
            <a:endParaRPr lang="en-US" sz="1800" dirty="0"/>
          </a:p>
          <a:p>
            <a:pPr>
              <a:buFont typeface="+mj-lt"/>
              <a:buAutoNum type="arabicPeriod"/>
            </a:pPr>
            <a:r>
              <a:rPr lang="en-US" sz="1800" b="1" dirty="0"/>
              <a:t>Proposed System: </a:t>
            </a:r>
            <a:r>
              <a:rPr lang="en-US" sz="1800" dirty="0"/>
              <a:t>A Python-based system to identify important evidence and   generate reports.</a:t>
            </a:r>
          </a:p>
          <a:p>
            <a:pPr marL="114300" indent="0">
              <a:buNone/>
            </a:pPr>
            <a:endParaRPr lang="en-US" sz="1800" dirty="0"/>
          </a:p>
          <a:p>
            <a:pPr>
              <a:buFont typeface="+mj-lt"/>
              <a:buAutoNum type="arabicPeriod"/>
            </a:pPr>
            <a:r>
              <a:rPr lang="en-US" sz="1800" b="1" dirty="0"/>
              <a:t>Evaluation: </a:t>
            </a:r>
            <a:r>
              <a:rPr lang="en-US" sz="1800" dirty="0"/>
              <a:t>Test the system using sample cases and check errors.</a:t>
            </a:r>
          </a:p>
          <a:p>
            <a:pPr marL="114300" indent="0">
              <a:buNone/>
            </a:pPr>
            <a:endParaRPr lang="en-US" sz="1800" dirty="0"/>
          </a:p>
          <a:p>
            <a:pPr>
              <a:buFont typeface="+mj-lt"/>
              <a:buAutoNum type="arabicPeriod"/>
            </a:pPr>
            <a:r>
              <a:rPr lang="en-US" sz="1800" b="1" dirty="0"/>
              <a:t>Future Work: </a:t>
            </a:r>
            <a:r>
              <a:rPr lang="en-US" sz="1800" dirty="0"/>
              <a:t>Add more evidence types and improve AI accuracy.</a:t>
            </a:r>
          </a:p>
        </p:txBody>
      </p:sp>
      <p:sp>
        <p:nvSpPr>
          <p:cNvPr id="589" name="Google Shape;589;p25"/>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16</a:t>
            </a:fld>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26"/>
          <p:cNvSpPr txBox="1">
            <a:spLocks noGrp="1"/>
          </p:cNvSpPr>
          <p:nvPr>
            <p:ph type="title"/>
          </p:nvPr>
        </p:nvSpPr>
        <p:spPr>
          <a:xfrm>
            <a:off x="457200" y="246929"/>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Clr>
                <a:srgbClr val="002060"/>
              </a:buClr>
              <a:buSzPts val="3200"/>
              <a:buFont typeface="Arial"/>
              <a:buNone/>
            </a:pPr>
            <a:r>
              <a:rPr lang="en-US" sz="4000" dirty="0"/>
              <a:t/>
            </a:r>
            <a:br>
              <a:rPr lang="en-US" sz="4000" dirty="0"/>
            </a:br>
            <a:r>
              <a:rPr lang="en-US" sz="4000" dirty="0"/>
              <a:t>6.5 Platform/ Equipment/ Resources</a:t>
            </a:r>
            <a:endParaRPr sz="4000" dirty="0"/>
          </a:p>
          <a:p>
            <a:pPr marL="0" lvl="0" indent="0" algn="ctr" rtl="0">
              <a:spcBef>
                <a:spcPts val="0"/>
              </a:spcBef>
              <a:spcAft>
                <a:spcPts val="0"/>
              </a:spcAft>
              <a:buClr>
                <a:srgbClr val="002060"/>
              </a:buClr>
              <a:buSzPts val="3200"/>
              <a:buFont typeface="Arial"/>
              <a:buNone/>
            </a:pPr>
            <a:endParaRPr sz="4000" dirty="0"/>
          </a:p>
        </p:txBody>
      </p:sp>
      <p:sp>
        <p:nvSpPr>
          <p:cNvPr id="595" name="Google Shape;595;p26"/>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lvl="0"/>
            <a:r>
              <a:rPr lang="en-US" sz="1800" b="1" dirty="0"/>
              <a:t>Hardware: </a:t>
            </a:r>
            <a:r>
              <a:rPr lang="en-US" sz="1800" dirty="0"/>
              <a:t>Computers, laptops, mobile devices and storage devices are required to collect and examine digital evidence.</a:t>
            </a:r>
          </a:p>
          <a:p>
            <a:pPr lvl="0"/>
            <a:r>
              <a:rPr lang="en-US" sz="1800" b="1" dirty="0"/>
              <a:t>Software Tools: </a:t>
            </a:r>
            <a:r>
              <a:rPr lang="en-US" sz="1800" dirty="0"/>
              <a:t>Digital forensic tools such as Autopsy, FTK and EnCase are used to analyze and recover digital evidence.</a:t>
            </a:r>
          </a:p>
          <a:p>
            <a:pPr lvl="0"/>
            <a:r>
              <a:rPr lang="en-US" sz="1800" b="1" dirty="0"/>
              <a:t>AI / ML Platforms: </a:t>
            </a:r>
            <a:r>
              <a:rPr lang="en-US" sz="1800" dirty="0"/>
              <a:t>Python, TensorFlow and Scikit-learn help in pattern recognition, data classification and suspicious activity detection.</a:t>
            </a:r>
          </a:p>
          <a:p>
            <a:pPr lvl="0"/>
            <a:r>
              <a:rPr lang="en-US" sz="1800" b="1" dirty="0"/>
              <a:t>Data Storage: </a:t>
            </a:r>
            <a:r>
              <a:rPr lang="en-US" sz="1800" dirty="0"/>
              <a:t>Hard disks, SSDs and secure cloud storage are used to preserve digital evidence safely.</a:t>
            </a:r>
          </a:p>
          <a:p>
            <a:pPr lvl="0"/>
            <a:r>
              <a:rPr lang="en-US" sz="1800" b="1" dirty="0"/>
              <a:t>Operating System: </a:t>
            </a:r>
            <a:r>
              <a:rPr lang="en-US" sz="1800" dirty="0"/>
              <a:t>Windows and Linux provide platforms for running forensic tools and analyzing digital data.</a:t>
            </a:r>
          </a:p>
          <a:p>
            <a:pPr lvl="0"/>
            <a:r>
              <a:rPr lang="en-US" sz="1800" b="1" dirty="0"/>
              <a:t>Network Resources:</a:t>
            </a:r>
            <a:r>
              <a:rPr lang="en-US" sz="1800" dirty="0"/>
              <a:t> Network monitoring tools help investigate network traffic and identify suspicious activities.</a:t>
            </a:r>
          </a:p>
          <a:p>
            <a:pPr lvl="0"/>
            <a:r>
              <a:rPr lang="en-US" sz="1800" b="1" dirty="0"/>
              <a:t>Security Resources:</a:t>
            </a:r>
            <a:r>
              <a:rPr lang="en-US" sz="1800" dirty="0"/>
              <a:t> Encryption, access control and hashing techniques help maintain evidence integrity and security.</a:t>
            </a:r>
          </a:p>
          <a:p>
            <a:pPr lvl="0"/>
            <a:r>
              <a:rPr lang="en-US" sz="1800" b="1" dirty="0"/>
              <a:t>Human Resources:</a:t>
            </a:r>
            <a:r>
              <a:rPr lang="en-US" sz="1800" dirty="0"/>
              <a:t> Digital forensic investigators and AI experts verify results and ensure accurate investigation.</a:t>
            </a:r>
          </a:p>
          <a:p>
            <a:pPr marL="342900" lvl="0" indent="-139700" algn="l" rtl="0">
              <a:spcBef>
                <a:spcPts val="0"/>
              </a:spcBef>
              <a:spcAft>
                <a:spcPts val="0"/>
              </a:spcAft>
              <a:buClr>
                <a:schemeClr val="dk1"/>
              </a:buClr>
              <a:buSzPts val="3200"/>
              <a:buNone/>
            </a:pPr>
            <a:endParaRPr sz="1800" dirty="0"/>
          </a:p>
        </p:txBody>
      </p:sp>
      <p:sp>
        <p:nvSpPr>
          <p:cNvPr id="596" name="Google Shape;596;p26"/>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17</a:t>
            </a:fld>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27"/>
          <p:cNvSpPr txBox="1">
            <a:spLocks noGrp="1"/>
          </p:cNvSpPr>
          <p:nvPr>
            <p:ph type="title"/>
          </p:nvPr>
        </p:nvSpPr>
        <p:spPr>
          <a:xfrm>
            <a:off x="457200" y="274638"/>
            <a:ext cx="8229600" cy="868500"/>
          </a:xfrm>
          <a:prstGeom prst="rect">
            <a:avLst/>
          </a:prstGeom>
          <a:solidFill>
            <a:schemeClr val="lt1"/>
          </a:solidFill>
          <a:ln w="28575"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sz="4000" dirty="0"/>
              <a:t>B</a:t>
            </a:r>
            <a:r>
              <a:rPr lang="en-US" dirty="0"/>
              <a:t>ibliography</a:t>
            </a:r>
            <a:endParaRPr dirty="0"/>
          </a:p>
        </p:txBody>
      </p:sp>
      <p:sp>
        <p:nvSpPr>
          <p:cNvPr id="602" name="Google Shape;602;p27"/>
          <p:cNvSpPr txBox="1">
            <a:spLocks noGrp="1"/>
          </p:cNvSpPr>
          <p:nvPr>
            <p:ph type="body" idx="1"/>
          </p:nvPr>
        </p:nvSpPr>
        <p:spPr>
          <a:xfrm>
            <a:off x="457200" y="1219200"/>
            <a:ext cx="8229600" cy="5334000"/>
          </a:xfrm>
          <a:prstGeom prst="rect">
            <a:avLst/>
          </a:prstGeom>
          <a:solidFill>
            <a:schemeClr val="lt1"/>
          </a:solidFill>
          <a:ln w="28575"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r>
              <a:rPr lang="en-US" sz="2200" b="1" dirty="0"/>
              <a:t>Books</a:t>
            </a:r>
            <a:endParaRPr lang="en-US" sz="2200" dirty="0"/>
          </a:p>
          <a:p>
            <a:pPr lvl="0"/>
            <a:r>
              <a:rPr lang="en-US" sz="1800" dirty="0"/>
              <a:t>Eoghan Casey, Digital Evidence and Computer Crime, 3rd edition, Academic Press, 2011.</a:t>
            </a:r>
          </a:p>
          <a:p>
            <a:pPr lvl="0"/>
            <a:r>
              <a:rPr lang="en-US" sz="1800" dirty="0"/>
              <a:t>Brian Carrier, File System Forensic Analysis, Addison-Wesley, 2005.</a:t>
            </a:r>
          </a:p>
          <a:p>
            <a:pPr lvl="0"/>
            <a:r>
              <a:rPr lang="en-US" sz="1800" dirty="0"/>
              <a:t>John Sammons, The Basics of Digital Forensics, 2nd Edition, Syngress, 2014.</a:t>
            </a:r>
          </a:p>
          <a:p>
            <a:pPr lvl="0"/>
            <a:r>
              <a:rPr lang="en-US" sz="1800" dirty="0"/>
              <a:t>Ali </a:t>
            </a:r>
            <a:r>
              <a:rPr lang="en-US" sz="1800" dirty="0" err="1"/>
              <a:t>Dehghantanha</a:t>
            </a:r>
            <a:r>
              <a:rPr lang="en-US" sz="1800" dirty="0"/>
              <a:t> et al., Artificial Intelligence in Digital Forensics: Research and Applications.</a:t>
            </a:r>
          </a:p>
          <a:p>
            <a:pPr lvl="0"/>
            <a:endParaRPr lang="en-US" sz="2200" dirty="0"/>
          </a:p>
          <a:p>
            <a:r>
              <a:rPr lang="en-US" sz="2200" b="1" dirty="0"/>
              <a:t>Websites</a:t>
            </a:r>
          </a:p>
          <a:p>
            <a:pPr lvl="0"/>
            <a:r>
              <a:rPr lang="en-US" sz="1800" dirty="0"/>
              <a:t>NIST Digital Forensics — nist.gov/</a:t>
            </a:r>
            <a:r>
              <a:rPr lang="en-US" sz="1800" dirty="0" err="1"/>
              <a:t>itl</a:t>
            </a:r>
            <a:r>
              <a:rPr lang="en-US" sz="1800" dirty="0"/>
              <a:t>/ai/digital-forensics</a:t>
            </a:r>
          </a:p>
          <a:p>
            <a:pPr lvl="0"/>
            <a:r>
              <a:rPr lang="en-US" sz="1800" dirty="0"/>
              <a:t>NIST Computer Forensic Tool Testing — nist.gov</a:t>
            </a:r>
          </a:p>
          <a:p>
            <a:pPr lvl="0"/>
            <a:r>
              <a:rPr lang="en-US" sz="1800" dirty="0"/>
              <a:t>Autopsy Digital Forensics Platform — autopsy.com</a:t>
            </a:r>
          </a:p>
          <a:p>
            <a:pPr lvl="0"/>
            <a:r>
              <a:rPr lang="en-US" sz="1800" dirty="0"/>
              <a:t>The Sleuth Kit — sleuthkit.org</a:t>
            </a:r>
          </a:p>
          <a:p>
            <a:pPr lvl="0"/>
            <a:r>
              <a:rPr lang="en-US" sz="1800" dirty="0"/>
              <a:t>Python Documentation — docs.python.org</a:t>
            </a:r>
          </a:p>
          <a:p>
            <a:pPr marL="342900" lvl="0" indent="-342900" algn="l" rtl="0">
              <a:spcBef>
                <a:spcPts val="700"/>
              </a:spcBef>
              <a:spcAft>
                <a:spcPts val="0"/>
              </a:spcAft>
              <a:buClr>
                <a:schemeClr val="dk1"/>
              </a:buClr>
              <a:buSzPts val="3500"/>
              <a:buChar char="•"/>
            </a:pPr>
            <a:endParaRPr sz="2400" dirty="0"/>
          </a:p>
          <a:p>
            <a:pPr marL="342900" lvl="0" indent="-139700" algn="l" rtl="0">
              <a:spcBef>
                <a:spcPts val="640"/>
              </a:spcBef>
              <a:spcAft>
                <a:spcPts val="0"/>
              </a:spcAft>
              <a:buClr>
                <a:schemeClr val="dk1"/>
              </a:buClr>
              <a:buSzPts val="3200"/>
              <a:buNone/>
            </a:pPr>
            <a:endParaRPr dirty="0"/>
          </a:p>
          <a:p>
            <a:pPr marL="0" lvl="0" indent="0" algn="l" rtl="0">
              <a:spcBef>
                <a:spcPts val="640"/>
              </a:spcBef>
              <a:spcAft>
                <a:spcPts val="0"/>
              </a:spcAft>
              <a:buClr>
                <a:schemeClr val="dk1"/>
              </a:buClr>
              <a:buSzPts val="3200"/>
              <a:buNone/>
            </a:pPr>
            <a:endParaRPr dirty="0"/>
          </a:p>
          <a:p>
            <a:pPr marL="0" lvl="0" indent="0" algn="l" rtl="0">
              <a:spcBef>
                <a:spcPts val="640"/>
              </a:spcBef>
              <a:spcAft>
                <a:spcPts val="0"/>
              </a:spcAft>
              <a:buClr>
                <a:schemeClr val="dk1"/>
              </a:buClr>
              <a:buSzPts val="3200"/>
              <a:buNone/>
            </a:pPr>
            <a:endParaRPr dirty="0"/>
          </a:p>
          <a:p>
            <a:pPr marL="0" lvl="0" indent="0" algn="l" rtl="0">
              <a:spcBef>
                <a:spcPts val="640"/>
              </a:spcBef>
              <a:spcAft>
                <a:spcPts val="0"/>
              </a:spcAft>
              <a:buClr>
                <a:schemeClr val="dk1"/>
              </a:buClr>
              <a:buSzPts val="3200"/>
              <a:buNone/>
            </a:pPr>
            <a:endParaRPr dirty="0"/>
          </a:p>
        </p:txBody>
      </p:sp>
      <p:sp>
        <p:nvSpPr>
          <p:cNvPr id="603" name="Google Shape;603;p27"/>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18</a:t>
            </a:fld>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28"/>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sz="4000" dirty="0"/>
              <a:t>References</a:t>
            </a:r>
            <a:endParaRPr sz="4000" dirty="0"/>
          </a:p>
        </p:txBody>
      </p:sp>
      <p:sp>
        <p:nvSpPr>
          <p:cNvPr id="609" name="Google Shape;609;p28"/>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fontScale="70000" lnSpcReduction="20000"/>
          </a:bodyPr>
          <a:lstStyle/>
          <a:p>
            <a:pPr>
              <a:lnSpc>
                <a:spcPct val="120000"/>
              </a:lnSpc>
            </a:pPr>
            <a:r>
              <a:rPr lang="en-US" sz="2900" b="1" dirty="0"/>
              <a:t>Research Papers</a:t>
            </a:r>
          </a:p>
          <a:p>
            <a:pPr lvl="0">
              <a:lnSpc>
                <a:spcPct val="120000"/>
              </a:lnSpc>
              <a:buFont typeface="+mj-lt"/>
              <a:buAutoNum type="arabicPeriod"/>
            </a:pPr>
            <a:r>
              <a:rPr lang="en-US" sz="2300" dirty="0"/>
              <a:t>Digital Forensics AI</a:t>
            </a:r>
            <a:r>
              <a:rPr lang="en-US" sz="2300" b="1" dirty="0"/>
              <a:t>: </a:t>
            </a:r>
            <a:r>
              <a:rPr lang="en-US" sz="2300" dirty="0"/>
              <a:t>Evaluating, Standardizing and Optimizing Digital Evidence   Mining Techniques </a:t>
            </a:r>
          </a:p>
          <a:p>
            <a:pPr lvl="0">
              <a:buFont typeface="+mj-lt"/>
              <a:buAutoNum type="arabicPeriod"/>
            </a:pPr>
            <a:endParaRPr lang="en-US" sz="2300" dirty="0"/>
          </a:p>
          <a:p>
            <a:pPr lvl="0">
              <a:buFont typeface="+mj-lt"/>
              <a:buAutoNum type="arabicPeriod"/>
            </a:pPr>
            <a:r>
              <a:rPr lang="en-US" sz="2300" dirty="0"/>
              <a:t>Digital Forensics and Strong AI: A Structured Literature Review</a:t>
            </a:r>
          </a:p>
          <a:p>
            <a:pPr lvl="0">
              <a:buFont typeface="+mj-lt"/>
              <a:buAutoNum type="arabicPeriod"/>
            </a:pPr>
            <a:endParaRPr lang="en-US" sz="2300" b="1" dirty="0"/>
          </a:p>
          <a:p>
            <a:pPr lvl="0">
              <a:buFont typeface="+mj-lt"/>
              <a:buAutoNum type="arabicPeriod"/>
            </a:pPr>
            <a:r>
              <a:rPr lang="en-US" sz="2300" dirty="0"/>
              <a:t>Artificial Intelligence in Mobile Forensics: A Survey of Current Status, a Use Case Analysis and AI Alignment Objectives </a:t>
            </a:r>
          </a:p>
          <a:p>
            <a:pPr lvl="0">
              <a:buFont typeface="+mj-lt"/>
              <a:buAutoNum type="arabicPeriod"/>
            </a:pPr>
            <a:endParaRPr lang="en-US" sz="2300" dirty="0"/>
          </a:p>
          <a:p>
            <a:pPr lvl="0">
              <a:buFont typeface="+mj-lt"/>
              <a:buAutoNum type="arabicPeriod"/>
            </a:pPr>
            <a:r>
              <a:rPr lang="en-US" sz="2300" dirty="0"/>
              <a:t>The Invisible Evidence: Digital Forensics as Key to Solving Crimes in the Digital Age</a:t>
            </a:r>
          </a:p>
          <a:p>
            <a:pPr lvl="0">
              <a:buFont typeface="+mj-lt"/>
              <a:buAutoNum type="arabicPeriod"/>
            </a:pPr>
            <a:endParaRPr lang="en-US" sz="2300" dirty="0"/>
          </a:p>
          <a:p>
            <a:pPr lvl="0">
              <a:buFont typeface="+mj-lt"/>
              <a:buAutoNum type="arabicPeriod"/>
            </a:pPr>
            <a:r>
              <a:rPr lang="en-US" sz="2300" dirty="0"/>
              <a:t>Machine-Learning Forensics: State of the Art in the Use of Machine-Learning</a:t>
            </a:r>
          </a:p>
          <a:p>
            <a:pPr lvl="0">
              <a:buFont typeface="+mj-lt"/>
              <a:buAutoNum type="arabicPeriod"/>
            </a:pPr>
            <a:endParaRPr lang="en-US" sz="2300" dirty="0"/>
          </a:p>
          <a:p>
            <a:pPr lvl="0">
              <a:buFont typeface="+mj-lt"/>
              <a:buAutoNum type="arabicPeriod"/>
            </a:pPr>
            <a:r>
              <a:rPr lang="en-US" sz="2300" dirty="0"/>
              <a:t>Techniques for Digital Forensic Investigations within Smart Environments</a:t>
            </a:r>
          </a:p>
          <a:p>
            <a:pPr lvl="0">
              <a:buFont typeface="+mj-lt"/>
              <a:buAutoNum type="arabicPeriod"/>
            </a:pPr>
            <a:endParaRPr lang="en-US" sz="2300" dirty="0"/>
          </a:p>
          <a:p>
            <a:pPr>
              <a:buFont typeface="+mj-lt"/>
              <a:buAutoNum type="arabicPeriod"/>
            </a:pPr>
            <a:r>
              <a:rPr lang="en-US" sz="2300" dirty="0"/>
              <a:t>Large Language Models in Digital Forensics: Capabilities, Challenges and Future Directions </a:t>
            </a:r>
          </a:p>
          <a:p>
            <a:pPr>
              <a:buFont typeface="+mj-lt"/>
              <a:buAutoNum type="arabicPeriod"/>
            </a:pPr>
            <a:endParaRPr lang="en-US" sz="2300" dirty="0"/>
          </a:p>
          <a:p>
            <a:pPr>
              <a:buFont typeface="+mj-lt"/>
              <a:buAutoNum type="arabicPeriod"/>
            </a:pPr>
            <a:r>
              <a:rPr lang="en-US" sz="2300" dirty="0"/>
              <a:t>AI-Enhanced Digital Forensics: A Research Vision for Trustworthy, Explainable, and </a:t>
            </a:r>
            <a:r>
              <a:rPr lang="en-US" sz="2300" dirty="0" err="1"/>
              <a:t>Humancentered</a:t>
            </a:r>
            <a:r>
              <a:rPr lang="en-US" sz="2300" dirty="0"/>
              <a:t> Forensic Intelligence</a:t>
            </a:r>
          </a:p>
          <a:p>
            <a:pPr marL="114300" lvl="0" indent="0">
              <a:buNone/>
            </a:pPr>
            <a:endParaRPr lang="en-US" sz="1800" dirty="0"/>
          </a:p>
          <a:p>
            <a:pPr marL="114300" lvl="0" indent="0">
              <a:buNone/>
            </a:pPr>
            <a:endParaRPr sz="1800" dirty="0"/>
          </a:p>
        </p:txBody>
      </p:sp>
      <p:sp>
        <p:nvSpPr>
          <p:cNvPr id="610" name="Google Shape;610;p28"/>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19</a:t>
            </a:fld>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615" name="Google Shape;615;p29"/>
          <p:cNvSpPr/>
          <p:nvPr/>
        </p:nvSpPr>
        <p:spPr>
          <a:xfrm>
            <a:off x="1447801" y="2810112"/>
            <a:ext cx="6248400" cy="1200300"/>
          </a:xfrm>
          <a:prstGeom prst="rect">
            <a:avLst/>
          </a:prstGeom>
          <a:noFill/>
          <a:ln w="2857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7200" b="1" i="0" u="none" strike="noStrike" cap="none" dirty="0">
                <a:solidFill>
                  <a:srgbClr val="262626"/>
                </a:solidFill>
                <a:latin typeface="Times New Roman"/>
                <a:ea typeface="Times New Roman"/>
                <a:cs typeface="Times New Roman"/>
                <a:sym typeface="Times New Roman"/>
              </a:rPr>
              <a:t>Thank you</a:t>
            </a:r>
            <a:endParaRPr dirty="0"/>
          </a:p>
        </p:txBody>
      </p:sp>
      <p:sp>
        <p:nvSpPr>
          <p:cNvPr id="616" name="Google Shape;616;p29"/>
          <p:cNvSpPr txBox="1">
            <a:spLocks noGrp="1"/>
          </p:cNvSpPr>
          <p:nvPr>
            <p:ph type="sldNum" idx="12"/>
          </p:nvPr>
        </p:nvSpPr>
        <p:spPr>
          <a:xfrm>
            <a:off x="8118763" y="6345382"/>
            <a:ext cx="651163" cy="346363"/>
          </a:xfrm>
          <a:prstGeom prst="rect">
            <a:avLst/>
          </a:prstGeom>
          <a:ln/>
        </p:spPr>
        <p:style>
          <a:lnRef idx="2">
            <a:schemeClr val="accent1"/>
          </a:lnRef>
          <a:fillRef idx="1">
            <a:schemeClr val="lt1"/>
          </a:fillRef>
          <a:effectRef idx="0">
            <a:schemeClr val="accent1"/>
          </a:effectRef>
          <a:fontRef idx="minor">
            <a:schemeClr val="dk1"/>
          </a:fontRef>
        </p:style>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20</a:t>
            </a:fld>
            <a:endParaRPr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255</TotalTime>
  <Words>1773</Words>
  <Application>Microsoft Office PowerPoint</Application>
  <PresentationFormat>On-screen Show (4:3)</PresentationFormat>
  <Paragraphs>267</Paragraphs>
  <Slides>20</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MS Mincho</vt:lpstr>
      <vt:lpstr>Times New Roman</vt:lpstr>
      <vt:lpstr>Office Theme</vt:lpstr>
      <vt:lpstr>PowerPoint Presentation</vt:lpstr>
      <vt:lpstr>Contents</vt:lpstr>
      <vt:lpstr>Abstract</vt:lpstr>
      <vt:lpstr>1. Introduction</vt:lpstr>
      <vt:lpstr>2. Literature Survey</vt:lpstr>
      <vt:lpstr>PowerPoint Presentation</vt:lpstr>
      <vt:lpstr>PowerPoint Presentation</vt:lpstr>
      <vt:lpstr>PowerPoint Presentation</vt:lpstr>
      <vt:lpstr>3. Information to seminar topic</vt:lpstr>
      <vt:lpstr>4. Advantages / Disadvantages</vt:lpstr>
      <vt:lpstr>5. Conclusion</vt:lpstr>
      <vt:lpstr>6. Project Initiation</vt:lpstr>
      <vt:lpstr>6.1 Description of Problem Statement</vt:lpstr>
      <vt:lpstr> 6. 2 Scope and objectives </vt:lpstr>
      <vt:lpstr>6. 3 Stake holder</vt:lpstr>
      <vt:lpstr> 6. 4 Seminar exsicussion  plan </vt:lpstr>
      <vt:lpstr> 6.5 Platform/ Equipment/ Resources </vt:lpstr>
      <vt:lpstr>Bibliography</vt:lpstr>
      <vt:lpstr>References</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Vedika Patil❤️</dc:creator>
  <cp:lastModifiedBy>Microsoft account</cp:lastModifiedBy>
  <cp:revision>20</cp:revision>
  <dcterms:modified xsi:type="dcterms:W3CDTF">2026-10-21T06:20:41Z</dcterms:modified>
</cp:coreProperties>
</file>