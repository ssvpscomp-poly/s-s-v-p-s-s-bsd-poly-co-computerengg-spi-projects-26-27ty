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75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8077A5B-8C0D-40D8-8557-44EC33DBB8F6}">
  <a:tblStyle styleId="{98077A5B-8C0D-40D8-8557-44EC33DBB8F6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2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0" name="Google Shape;420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1" name="Google Shape;421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3" name="Google Shape;423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4" name="Google Shape;424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5ae31baec559f25e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g5ae31baec559f25e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4" name="Google Shape;43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  <a:def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6" name="Google Shape;45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7" name="Google Shape;45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3" name="Google Shape;46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4" name="Google Shape;46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5" name="Google Shape;46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6" name="Google Shape;46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77" name="Google Shape;47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78" name="Google Shape;47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85" name="Google Shape;48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11"/>
          <p:cNvSpPr txBox="1">
            <a:spLocks noGrp="1"/>
          </p:cNvSpPr>
          <p:nvPr>
            <p:ph type="body" idx="1"/>
          </p:nvPr>
        </p:nvSpPr>
        <p:spPr>
          <a:xfrm rot="5400000">
            <a:off x="1981200" y="-457200"/>
            <a:ext cx="5181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1" name="Google Shape;49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2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2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7" name="Google Shape;49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7" name="Google Shape;427;p1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28" name="Google Shape;42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29" name="Google Shape;42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30" name="Google Shape;43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L1" Type="http://schemas.openxmlformats.org/officeDocument/2006/relationships/hyperlink" Target="https://docs.espressif.com/" TargetMode="External"/><Relationship Id="rIdL2" Type="http://schemas.openxmlformats.org/officeDocument/2006/relationships/hyperlink" Target="https://docs.arduino.cc/" TargetMode="External"/><Relationship Id="rIdL3" Type="http://schemas.openxmlformats.org/officeDocument/2006/relationships/hyperlink" Target="https://scikit-learn.org/" TargetMode="External"/><Relationship Id="rIdL4" Type="http://schemas.openxmlformats.org/officeDocument/2006/relationships/hyperlink" Target="https://flask.palletsprojects.com/" TargetMode="External"/><Relationship Id="rIdL5" Type="http://schemas.openxmlformats.org/officeDocument/2006/relationships/hyperlink" Target="https://urbansounddataset.weebly.com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4" name="Google Shape;504;p13"/>
          <p:cNvGraphicFramePr/>
          <p:nvPr>
            <p:extLst>
              <p:ext uri="{D42A27DB-BD31-4B8C-83A1-F6EECF244321}">
                <p14:modId xmlns:p14="http://schemas.microsoft.com/office/powerpoint/2010/main" val="2805135269"/>
              </p:ext>
            </p:extLst>
          </p:nvPr>
        </p:nvGraphicFramePr>
        <p:xfrm>
          <a:off x="228600" y="304800"/>
          <a:ext cx="8639525" cy="5765675"/>
        </p:xfrm>
        <a:graphic>
          <a:graphicData uri="http://schemas.openxmlformats.org/drawingml/2006/table">
            <a:tbl>
              <a:tblPr firstRow="1" bandRow="1">
                <a:noFill/>
                <a:tableStyleId>{98077A5B-8C0D-40D8-8557-44EC33DBB8F6}</a:tableStyleId>
              </a:tblPr>
              <a:tblGrid>
                <a:gridCol w="147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2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lt1"/>
                          </a:solidFill>
                        </a:rPr>
                        <a:t>S.S.V.P.S’s B. S. </a:t>
                      </a:r>
                      <a:r>
                        <a:rPr lang="en-US" sz="2800" u="none" strike="noStrike" cap="none" dirty="0" err="1">
                          <a:solidFill>
                            <a:schemeClr val="lt1"/>
                          </a:solidFill>
                        </a:rPr>
                        <a:t>Deore</a:t>
                      </a:r>
                      <a:r>
                        <a:rPr lang="en-US" sz="2800" u="none" strike="noStrike" cap="none" dirty="0">
                          <a:solidFill>
                            <a:schemeClr val="lt1"/>
                          </a:solidFill>
                        </a:rPr>
                        <a:t> Polytechnic, Dhule</a:t>
                      </a:r>
                      <a:endParaRPr sz="2800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lt1"/>
                          </a:solidFill>
                        </a:rPr>
                        <a:t>Department of Computer Engineering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0" i="1" u="none" strike="noStrike" cap="none" dirty="0">
                          <a:solidFill>
                            <a:schemeClr val="lt1"/>
                          </a:solidFill>
                        </a:rPr>
                        <a:t>Academic Year : </a:t>
                      </a:r>
                      <a:r>
                        <a:rPr lang="en-US" sz="3200" b="0" i="1" dirty="0"/>
                        <a:t>2026-2027</a:t>
                      </a:r>
                      <a:endParaRPr sz="3200" b="0" i="1" u="none" strike="noStrike" cap="none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22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SEMINAR AND PROJECT INITIATION COURSE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Times New Roman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0000"/>
                          </a:solidFill>
                        </a:rPr>
                        <a:t>Sem : CO 5 K</a:t>
                      </a:r>
                      <a:endParaRPr sz="21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SPI – 315003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Times New Roman"/>
                        <a:buNone/>
                      </a:pPr>
                      <a:r>
                        <a:rPr lang="en-US" sz="2100" b="1" u="none" strike="noStrike" cap="none" dirty="0">
                          <a:solidFill>
                            <a:srgbClr val="FF0000"/>
                          </a:solidFill>
                        </a:rPr>
                        <a:t>Date  : 17/10/2026</a:t>
                      </a:r>
                      <a:endParaRPr sz="2100" b="1" u="none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55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dk2"/>
                          </a:solidFill>
                        </a:rPr>
                        <a:t>Topic : AI-Powered Noise Pollution Detection and Control</a:t>
                      </a:r>
                      <a:endParaRPr sz="24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Roll No.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 dirty="0"/>
                        <a:t>Name of Student</a:t>
                      </a:r>
                      <a:endParaRPr sz="2400" b="1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77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/>
                        <a:t>Ankita Jitendra Pawar</a:t>
                      </a:r>
                      <a:endParaRPr sz="24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105</a:t>
                      </a:r>
                      <a:endParaRPr sz="24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/>
                        <a:t>Vaibhavi Suhas Varade</a:t>
                      </a:r>
                      <a:endParaRPr sz="2400" b="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82</a:t>
                      </a:r>
                      <a:endParaRPr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/>
                        <a:t>Saad Hasham Sayyad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116</a:t>
                      </a:r>
                      <a:endParaRPr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err="1"/>
                        <a:t>Ansari Zaid Baquir Husain</a:t>
                      </a:r>
                      <a:endParaRPr sz="24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05" name="Google Shape;505;p13" descr="ssvps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457200"/>
            <a:ext cx="1219200" cy="162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514350" lvl="0" indent="-4838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Certificate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Abstract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Introduction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Literature Review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Information to Seminar Topic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Advantages and Disadvantages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Conclusion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Project Initiation :</a:t>
            </a:r>
            <a:endParaRPr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6.1 Description of problem statement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6.2 Scope and objectives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6.3 Stakeholders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6.4 Seminar execution plan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6.5 Platform / Equipment / Resources identification</a:t>
            </a:r>
            <a:endParaRPr sz="2800"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Bibliography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References</a:t>
            </a:r>
            <a:endParaRPr dirty="0"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511" name="Google Shape;51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512" name="Google Shape;512;p14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Abstract</a:t>
            </a:r>
            <a:endParaRPr/>
          </a:p>
        </p:txBody>
      </p:sp>
      <p:sp>
        <p:nvSpPr>
          <p:cNvPr id="518" name="Google Shape;518;p1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384716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800" tIns="45700" rIns="82800" bIns="45700" anchor="t" anchorCtr="0">
            <a:normAutofit/>
          </a:bodyPr>
          <a:lstStyle/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72000" lvl="0" indent="-139700" algn="just">
              <a:spcBef>
                <a:spcPts val="0"/>
              </a:spcBef>
              <a:buSzPts val="3200"/>
              <a:buNone/>
            </a:pPr>
            <a:r>
              <a:rPr lang="en-US" sz="1800" b="0" dirty="0"/>
              <a:t>	Noise pollution harms health, but most campuses and cities check it only with occasional manual readings [3], [11]. This seminar reviews eleven papers on IoT- and AI-based noise monitoring [1]–[11]. They show that low-cost IoT nodes can classify noise sources with good accuracy using MFCC features and ML models [1], [2]. We propose a low-cost system using an ESP32 and MEMS microphone that measures noise, compares it with zone-wise limits, classifies the source with ML, and gives automatic alerts and local warnings [3], [13].</a:t>
            </a:r>
          </a:p>
        </p:txBody>
      </p:sp>
      <p:sp>
        <p:nvSpPr>
          <p:cNvPr id="519" name="Google Shape;519;p15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1. Introduction</a:t>
            </a:r>
            <a:endParaRPr/>
          </a:p>
        </p:txBody>
      </p:sp>
      <p:sp>
        <p:nvSpPr>
          <p:cNvPr id="525" name="Google Shape;525;p1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1600" b="0" dirty="0"/>
              <a:t>Noise is unwanted sound and harms human health [11], [12].</a:t>
            </a:r>
          </a:p>
          <a:p>
            <a:pPr algn="just">
              <a:spcBef>
                <a:spcPts val="0"/>
              </a:spcBef>
            </a:pPr>
            <a:r>
              <a:rPr lang="en-US" sz="1600" b="0" dirty="0"/>
              <a:t>It causes hearing damage, sleep loss and heart disease [11].</a:t>
            </a:r>
          </a:p>
          <a:p>
            <a:pPr algn="just">
              <a:spcBef>
                <a:spcPts val="0"/>
              </a:spcBef>
            </a:pPr>
            <a:r>
              <a:rPr lang="en-US" sz="1600" b="0" dirty="0"/>
              <a:t>Manual meter readings cover few places and times [3], [4].</a:t>
            </a:r>
          </a:p>
          <a:p>
            <a:pPr algn="just">
              <a:spcBef>
                <a:spcPts val="0"/>
              </a:spcBef>
            </a:pPr>
            <a:r>
              <a:rPr lang="en-US" sz="1600" b="0" dirty="0"/>
              <a:t>IoT microphones measure noise automatically [1], [3].</a:t>
            </a:r>
          </a:p>
          <a:p>
            <a:pPr algn="just">
              <a:spcBef>
                <a:spcPts val="0"/>
              </a:spcBef>
            </a:pPr>
            <a:r>
              <a:rPr lang="en-US" sz="1600" b="0" dirty="0"/>
              <a:t>AI/ML models recognise the noise source [1], [2].</a:t>
            </a:r>
          </a:p>
          <a:p>
            <a:pPr algn="just">
              <a:spcBef>
                <a:spcPts val="0"/>
              </a:spcBef>
            </a:pPr>
            <a:r>
              <a:rPr lang="en-US" sz="1600" b="0" dirty="0"/>
              <a:t>Together they enable automatic detection and control.</a:t>
            </a:r>
          </a:p>
        </p:txBody>
      </p:sp>
      <p:sp>
        <p:nvSpPr>
          <p:cNvPr id="526" name="Google Shape;526;p16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527" name="Picture 526" descr="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3947269"/>
            <a:ext cx="7863840" cy="1825534"/>
          </a:xfrm>
          <a:prstGeom prst="rect">
            <a:avLst/>
          </a:prstGeom>
        </p:spPr>
      </p:pic>
      <p:sp>
        <p:nvSpPr>
          <p:cNvPr id="528" name="TextBox 527"/>
          <p:cNvSpPr txBox="1"/>
          <p:nvPr/>
        </p:nvSpPr>
        <p:spPr>
          <a:xfrm>
            <a:off x="548640" y="5884751"/>
            <a:ext cx="80467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300" i="1">
                <a:latin typeface="Times New Roman"/>
              </a:rPr>
              <a:t>Fig 1: Sense – Think – Act working of the proposed system [1], [2], [3]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>
            <a:spLocks noGrp="1"/>
          </p:cNvSpPr>
          <p:nvPr>
            <p:ph type="title"/>
          </p:nvPr>
        </p:nvSpPr>
        <p:spPr>
          <a:xfrm>
            <a:off x="183872" y="274638"/>
            <a:ext cx="8502928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2. Literature Survey</a:t>
            </a:r>
            <a:endParaRPr/>
          </a:p>
        </p:txBody>
      </p:sp>
      <p:sp>
        <p:nvSpPr>
          <p:cNvPr id="532" name="Google Shape;532;p17"/>
          <p:cNvSpPr txBox="1">
            <a:spLocks noGrp="1"/>
          </p:cNvSpPr>
          <p:nvPr>
            <p:ph type="body" idx="1"/>
          </p:nvPr>
        </p:nvSpPr>
        <p:spPr>
          <a:xfrm>
            <a:off x="183872" y="1219200"/>
            <a:ext cx="8502928" cy="53641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 dirty="0"/>
              <a:t>              </a:t>
            </a:r>
            <a:endParaRPr dirty="0"/>
          </a:p>
        </p:txBody>
      </p:sp>
      <p:sp>
        <p:nvSpPr>
          <p:cNvPr id="533" name="Google Shape;533;p1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C7D25D-C2DD-14C4-3795-EFBE3BAD0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092921"/>
              </p:ext>
            </p:extLst>
          </p:nvPr>
        </p:nvGraphicFramePr>
        <p:xfrm>
          <a:off x="183872" y="1219200"/>
          <a:ext cx="8502929" cy="5371406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53437">
                  <a:extLst>
                    <a:ext uri="{9D8B030D-6E8A-4147-A177-3AD203B41FA5}">
                      <a16:colId xmlns:a16="http://schemas.microsoft.com/office/drawing/2014/main" val="3671614926"/>
                    </a:ext>
                  </a:extLst>
                </a:gridCol>
                <a:gridCol w="1432374">
                  <a:extLst>
                    <a:ext uri="{9D8B030D-6E8A-4147-A177-3AD203B41FA5}">
                      <a16:colId xmlns:a16="http://schemas.microsoft.com/office/drawing/2014/main" val="2900298569"/>
                    </a:ext>
                  </a:extLst>
                </a:gridCol>
                <a:gridCol w="1735948">
                  <a:extLst>
                    <a:ext uri="{9D8B030D-6E8A-4147-A177-3AD203B41FA5}">
                      <a16:colId xmlns:a16="http://schemas.microsoft.com/office/drawing/2014/main" val="3617710171"/>
                    </a:ext>
                  </a:extLst>
                </a:gridCol>
                <a:gridCol w="1259413">
                  <a:extLst>
                    <a:ext uri="{9D8B030D-6E8A-4147-A177-3AD203B41FA5}">
                      <a16:colId xmlns:a16="http://schemas.microsoft.com/office/drawing/2014/main" val="1925426286"/>
                    </a:ext>
                  </a:extLst>
                </a:gridCol>
                <a:gridCol w="1647543">
                  <a:extLst>
                    <a:ext uri="{9D8B030D-6E8A-4147-A177-3AD203B41FA5}">
                      <a16:colId xmlns:a16="http://schemas.microsoft.com/office/drawing/2014/main" val="1753319277"/>
                    </a:ext>
                  </a:extLst>
                </a:gridCol>
                <a:gridCol w="1974214">
                  <a:extLst>
                    <a:ext uri="{9D8B030D-6E8A-4147-A177-3AD203B41FA5}">
                      <a16:colId xmlns:a16="http://schemas.microsoft.com/office/drawing/2014/main" val="1530639041"/>
                    </a:ext>
                  </a:extLst>
                </a:gridCol>
              </a:tblGrid>
              <a:tr h="582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 Type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Objective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33224"/>
                  </a:ext>
                </a:extLst>
              </a:tr>
              <a:tr h="14101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TinyML noise source classification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Pi, YAMNet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657 audio clips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source identification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site, one week.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extLst>
                  <a:ext uri="{0D108BD9-81ED-4DB2-BD59-A6C34878D82A}">
                    <a16:rowId xmlns:a16="http://schemas.microsoft.com/office/drawing/2014/main" val="3645284830"/>
                  </a:ext>
                </a:extLst>
              </a:tr>
              <a:tr h="1685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noise identification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MFCC, SVM, KNN, Random Forest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Sound samples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classification (88–94%)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alerts or control.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extLst>
                  <a:ext uri="{0D108BD9-81ED-4DB2-BD59-A6C34878D82A}">
                    <a16:rowId xmlns:a16="http://schemas.microsoft.com/office/drawing/2014/main" val="402128726"/>
                  </a:ext>
                </a:extLst>
              </a:tr>
              <a:tr h="1685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noise classification platform</a:t>
                      </a: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STM32, MEMS mic, MLP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sound data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Cheap noise collection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 stage only.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extLst>
                  <a:ext uri="{0D108BD9-81ED-4DB2-BD59-A6C34878D82A}">
                    <a16:rowId xmlns:a16="http://schemas.microsoft.com/office/drawing/2014/main" val="1790904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272B4-E94B-5454-9802-F52071294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46364"/>
            <a:ext cx="8229600" cy="6206836"/>
          </a:xfrm>
        </p:spPr>
        <p:txBody>
          <a:bodyPr/>
          <a:lstStyle/>
          <a:p>
            <a:pPr marL="114300" indent="0">
              <a:buNone/>
            </a:pPr>
            <a:r>
              <a:rPr lang="en-GB" dirty="0"/>
              <a:t>                   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7E95C-F9D4-5682-C25C-9E845B3F76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7499E5-8CB4-DAE8-21FB-4BE7CB70F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116742"/>
              </p:ext>
            </p:extLst>
          </p:nvPr>
        </p:nvGraphicFramePr>
        <p:xfrm>
          <a:off x="457200" y="346365"/>
          <a:ext cx="8229601" cy="6009986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93032">
                  <a:extLst>
                    <a:ext uri="{9D8B030D-6E8A-4147-A177-3AD203B41FA5}">
                      <a16:colId xmlns:a16="http://schemas.microsoft.com/office/drawing/2014/main" val="1835422985"/>
                    </a:ext>
                  </a:extLst>
                </a:gridCol>
                <a:gridCol w="1432158">
                  <a:extLst>
                    <a:ext uri="{9D8B030D-6E8A-4147-A177-3AD203B41FA5}">
                      <a16:colId xmlns:a16="http://schemas.microsoft.com/office/drawing/2014/main" val="3080172688"/>
                    </a:ext>
                  </a:extLst>
                </a:gridCol>
                <a:gridCol w="1680145">
                  <a:extLst>
                    <a:ext uri="{9D8B030D-6E8A-4147-A177-3AD203B41FA5}">
                      <a16:colId xmlns:a16="http://schemas.microsoft.com/office/drawing/2014/main" val="643243970"/>
                    </a:ext>
                  </a:extLst>
                </a:gridCol>
                <a:gridCol w="1218929">
                  <a:extLst>
                    <a:ext uri="{9D8B030D-6E8A-4147-A177-3AD203B41FA5}">
                      <a16:colId xmlns:a16="http://schemas.microsoft.com/office/drawing/2014/main" val="430704381"/>
                    </a:ext>
                  </a:extLst>
                </a:gridCol>
                <a:gridCol w="1594583">
                  <a:extLst>
                    <a:ext uri="{9D8B030D-6E8A-4147-A177-3AD203B41FA5}">
                      <a16:colId xmlns:a16="http://schemas.microsoft.com/office/drawing/2014/main" val="2556017403"/>
                    </a:ext>
                  </a:extLst>
                </a:gridCol>
                <a:gridCol w="1910754">
                  <a:extLst>
                    <a:ext uri="{9D8B030D-6E8A-4147-A177-3AD203B41FA5}">
                      <a16:colId xmlns:a16="http://schemas.microsoft.com/office/drawing/2014/main" val="910270353"/>
                    </a:ext>
                  </a:extLst>
                </a:gridCol>
              </a:tblGrid>
              <a:tr h="6399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 Type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Objective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47184"/>
                  </a:ext>
                </a:extLst>
              </a:tr>
              <a:tr h="1614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  <a:endParaRPr lang="en-IN" sz="1800" b="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sensor networks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acoustic sensors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 (review)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Noise monitoring in smart cities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implementation.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extLst>
                  <a:ext uri="{0D108BD9-81ED-4DB2-BD59-A6C34878D82A}">
                    <a16:rowId xmlns:a16="http://schemas.microsoft.com/office/drawing/2014/main" val="3937688551"/>
                  </a:ext>
                </a:extLst>
              </a:tr>
              <a:tr h="2141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  <a:endParaRPr lang="en-IN" sz="1800" b="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urban sound classification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and DL classifiers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 (review)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Summarise methods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new system.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extLst>
                  <a:ext uri="{0D108BD9-81ED-4DB2-BD59-A6C34878D82A}">
                    <a16:rowId xmlns:a16="http://schemas.microsoft.com/office/drawing/2014/main" val="3042414057"/>
                  </a:ext>
                </a:extLst>
              </a:tr>
              <a:tr h="1614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  <a:endParaRPr lang="en-IN" sz="1800" b="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BSN-ESC for AIoT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neural network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Sound 8K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Sound classification on AIoT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alert or control.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extLst>
                  <a:ext uri="{0D108BD9-81ED-4DB2-BD59-A6C34878D82A}">
                    <a16:rowId xmlns:a16="http://schemas.microsoft.com/office/drawing/2014/main" val="2290539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878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4444E-40A1-3D3D-EB8D-55BB4B08F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60218"/>
            <a:ext cx="8229600" cy="6192982"/>
          </a:xfrm>
        </p:spPr>
        <p:txBody>
          <a:bodyPr/>
          <a:lstStyle/>
          <a:p>
            <a:pPr marL="114300" indent="0">
              <a:buNone/>
            </a:pPr>
            <a:r>
              <a:rPr lang="en-GB" dirty="0"/>
              <a:t>    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4B866-080A-1F9C-0A49-0D10F6EE19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ACAE3B-8C3E-AE68-D226-1A669FFA2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970161"/>
              </p:ext>
            </p:extLst>
          </p:nvPr>
        </p:nvGraphicFramePr>
        <p:xfrm>
          <a:off x="457199" y="360217"/>
          <a:ext cx="8229602" cy="613756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15673">
                  <a:extLst>
                    <a:ext uri="{9D8B030D-6E8A-4147-A177-3AD203B41FA5}">
                      <a16:colId xmlns:a16="http://schemas.microsoft.com/office/drawing/2014/main" val="503446673"/>
                    </a:ext>
                  </a:extLst>
                </a:gridCol>
                <a:gridCol w="1409518">
                  <a:extLst>
                    <a:ext uri="{9D8B030D-6E8A-4147-A177-3AD203B41FA5}">
                      <a16:colId xmlns:a16="http://schemas.microsoft.com/office/drawing/2014/main" val="4191217371"/>
                    </a:ext>
                  </a:extLst>
                </a:gridCol>
                <a:gridCol w="1680146">
                  <a:extLst>
                    <a:ext uri="{9D8B030D-6E8A-4147-A177-3AD203B41FA5}">
                      <a16:colId xmlns:a16="http://schemas.microsoft.com/office/drawing/2014/main" val="2710468633"/>
                    </a:ext>
                  </a:extLst>
                </a:gridCol>
                <a:gridCol w="1218929">
                  <a:extLst>
                    <a:ext uri="{9D8B030D-6E8A-4147-A177-3AD203B41FA5}">
                      <a16:colId xmlns:a16="http://schemas.microsoft.com/office/drawing/2014/main" val="3751161214"/>
                    </a:ext>
                  </a:extLst>
                </a:gridCol>
                <a:gridCol w="1594582">
                  <a:extLst>
                    <a:ext uri="{9D8B030D-6E8A-4147-A177-3AD203B41FA5}">
                      <a16:colId xmlns:a16="http://schemas.microsoft.com/office/drawing/2014/main" val="3693101631"/>
                    </a:ext>
                  </a:extLst>
                </a:gridCol>
                <a:gridCol w="1910754">
                  <a:extLst>
                    <a:ext uri="{9D8B030D-6E8A-4147-A177-3AD203B41FA5}">
                      <a16:colId xmlns:a16="http://schemas.microsoft.com/office/drawing/2014/main" val="2374033641"/>
                    </a:ext>
                  </a:extLst>
                </a:gridCol>
              </a:tblGrid>
              <a:tr h="6280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 Type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Objective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513301"/>
                  </a:ext>
                </a:extLst>
              </a:tr>
              <a:tr h="1926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  <a:endParaRPr lang="en-IN" sz="1800" b="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ESC-NAS for edge devices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architecture search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Sound 8K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accurate models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noise control.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extLst>
                  <a:ext uri="{0D108BD9-81ED-4DB2-BD59-A6C34878D82A}">
                    <a16:rowId xmlns:a16="http://schemas.microsoft.com/office/drawing/2014/main" val="1828343925"/>
                  </a:ext>
                </a:extLst>
              </a:tr>
              <a:tr h="16560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[8]</a:t>
                      </a:r>
                      <a:endParaRPr lang="en-IN" sz="1800" b="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sound dataset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Taxonomy, annotated clips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Sound 8K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 research dataset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only.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extLst>
                  <a:ext uri="{0D108BD9-81ED-4DB2-BD59-A6C34878D82A}">
                    <a16:rowId xmlns:a16="http://schemas.microsoft.com/office/drawing/2014/main" val="2006006099"/>
                  </a:ext>
                </a:extLst>
              </a:tr>
              <a:tr h="1926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[9]</a:t>
                      </a:r>
                      <a:endParaRPr lang="en-IN" sz="1800" b="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noise management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Sensors, big data, barriers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 (review)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approaches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implementation.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extLst>
                  <a:ext uri="{0D108BD9-81ED-4DB2-BD59-A6C34878D82A}">
                    <a16:rowId xmlns:a16="http://schemas.microsoft.com/office/drawing/2014/main" val="1109910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053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A4394-3B9F-951C-C864-F2E9D1290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87927"/>
            <a:ext cx="8229600" cy="6165273"/>
          </a:xfrm>
        </p:spPr>
        <p:txBody>
          <a:bodyPr/>
          <a:lstStyle/>
          <a:p>
            <a:pPr marL="114300" indent="0">
              <a:buNone/>
            </a:pPr>
            <a:r>
              <a:rPr lang="en-GB" dirty="0"/>
              <a:t>              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5BFBB-B42E-0A36-F1C5-1A33CFEB29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D3346C-B134-68BD-1C8D-125021426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502647"/>
              </p:ext>
            </p:extLst>
          </p:nvPr>
        </p:nvGraphicFramePr>
        <p:xfrm>
          <a:off x="457200" y="387926"/>
          <a:ext cx="8229599" cy="4626463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41158">
                  <a:extLst>
                    <a:ext uri="{9D8B030D-6E8A-4147-A177-3AD203B41FA5}">
                      <a16:colId xmlns:a16="http://schemas.microsoft.com/office/drawing/2014/main" val="3254615216"/>
                    </a:ext>
                  </a:extLst>
                </a:gridCol>
                <a:gridCol w="1384032">
                  <a:extLst>
                    <a:ext uri="{9D8B030D-6E8A-4147-A177-3AD203B41FA5}">
                      <a16:colId xmlns:a16="http://schemas.microsoft.com/office/drawing/2014/main" val="556449852"/>
                    </a:ext>
                  </a:extLst>
                </a:gridCol>
                <a:gridCol w="1680145">
                  <a:extLst>
                    <a:ext uri="{9D8B030D-6E8A-4147-A177-3AD203B41FA5}">
                      <a16:colId xmlns:a16="http://schemas.microsoft.com/office/drawing/2014/main" val="2774652637"/>
                    </a:ext>
                  </a:extLst>
                </a:gridCol>
                <a:gridCol w="1218929">
                  <a:extLst>
                    <a:ext uri="{9D8B030D-6E8A-4147-A177-3AD203B41FA5}">
                      <a16:colId xmlns:a16="http://schemas.microsoft.com/office/drawing/2014/main" val="470954700"/>
                    </a:ext>
                  </a:extLst>
                </a:gridCol>
                <a:gridCol w="1594582">
                  <a:extLst>
                    <a:ext uri="{9D8B030D-6E8A-4147-A177-3AD203B41FA5}">
                      <a16:colId xmlns:a16="http://schemas.microsoft.com/office/drawing/2014/main" val="3531857325"/>
                    </a:ext>
                  </a:extLst>
                </a:gridCol>
                <a:gridCol w="1910753">
                  <a:extLst>
                    <a:ext uri="{9D8B030D-6E8A-4147-A177-3AD203B41FA5}">
                      <a16:colId xmlns:a16="http://schemas.microsoft.com/office/drawing/2014/main" val="1242363683"/>
                    </a:ext>
                  </a:extLst>
                </a:gridCol>
              </a:tblGrid>
              <a:tr h="646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 Type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Objective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0590" marR="20590" marT="20590" marB="205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983439"/>
                  </a:ext>
                </a:extLst>
              </a:tr>
              <a:tr h="21402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[10]</a:t>
                      </a:r>
                      <a:endParaRPr lang="en-IN" sz="1800" b="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noise classification (book)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MATLAB, Python, ML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 noise types, Malaysia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and classify noise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its own data.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extLst>
                  <a:ext uri="{0D108BD9-81ED-4DB2-BD59-A6C34878D82A}">
                    <a16:rowId xmlns:a16="http://schemas.microsoft.com/office/drawing/2014/main" val="1441612514"/>
                  </a:ext>
                </a:extLst>
              </a:tr>
              <a:tr h="1839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[11]</a:t>
                      </a:r>
                      <a:endParaRPr lang="en-IN" sz="1800" b="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 anchor="ctr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 effects of noise</a:t>
                      </a:r>
                      <a:endParaRPr lang="en-IN" sz="180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Evidence review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 (review)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health impact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tc>
                  <a:txBody>
                    <a:bodyPr/>
                    <a:lstStyle/>
                    <a:p>
                      <a:pPr marL="36000" algn="just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monitoring system.</a:t>
                      </a:r>
                      <a:endParaRPr lang="en-IN" sz="1800" dirty="0">
                        <a:solidFill>
                          <a:srgbClr val="1E1E1E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302" marR="18302" marT="16014" marB="16014"/>
                </a:tc>
                <a:extLst>
                  <a:ext uri="{0D108BD9-81ED-4DB2-BD59-A6C34878D82A}">
                    <a16:rowId xmlns:a16="http://schemas.microsoft.com/office/drawing/2014/main" val="2857610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362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3. Information to seminar topic</a:t>
            </a:r>
            <a:endParaRPr/>
          </a:p>
        </p:txBody>
      </p:sp>
      <p:sp>
        <p:nvSpPr>
          <p:cNvPr id="539" name="Google Shape;5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03200" indent="0">
              <a:spcBef>
                <a:spcPts val="0"/>
              </a:spcBef>
              <a:buNone/>
            </a:pPr>
            <a:endParaRPr lang="en-US" sz="1900" dirty="0"/>
          </a:p>
          <a:p>
            <a:pPr marL="546100" algn="just">
              <a:spcBef>
                <a:spcPts val="0"/>
              </a:spcBef>
              <a:buSzPct val="100000"/>
            </a:pPr>
            <a:r>
              <a:rPr lang="en-US" sz="1900" b="1" dirty="0"/>
              <a:t>Technology : </a:t>
            </a:r>
            <a:r>
              <a:rPr lang="en-US" sz="1900" b="0" dirty="0"/>
              <a:t>Internet of Things (IoT) and Artificial Intelligence / Machine Learning [4]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900" dirty="0"/>
          </a:p>
          <a:p>
            <a:pPr marL="546100" algn="just">
              <a:spcBef>
                <a:spcPts val="0"/>
              </a:spcBef>
              <a:buSzPct val="100000"/>
            </a:pPr>
            <a:r>
              <a:rPr lang="en-US" sz="1900" b="1" dirty="0"/>
              <a:t>Main purpose : </a:t>
            </a:r>
            <a:r>
              <a:rPr lang="en-US" sz="1900" b="0" dirty="0"/>
              <a:t>To detect noise, find its source and warn automatically [1], [3]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900" dirty="0"/>
          </a:p>
          <a:p>
            <a:pPr marL="546100" algn="just">
              <a:spcBef>
                <a:spcPts val="0"/>
              </a:spcBef>
              <a:buSzPct val="100000"/>
            </a:pPr>
            <a:r>
              <a:rPr lang="en-US" sz="1900" b="1" dirty="0"/>
              <a:t>Key concept : </a:t>
            </a:r>
            <a:r>
              <a:rPr lang="en-US" sz="1900" b="0" dirty="0"/>
              <a:t>Microphone measures dB(A); ML classifies the sound using MFCC [2], [8]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900" dirty="0"/>
          </a:p>
          <a:p>
            <a:pPr marL="546100" algn="just">
              <a:spcBef>
                <a:spcPts val="0"/>
              </a:spcBef>
              <a:buSzPct val="100000"/>
            </a:pPr>
            <a:r>
              <a:rPr lang="en-US" sz="1900" b="1" dirty="0"/>
              <a:t>Approach : </a:t>
            </a:r>
            <a:r>
              <a:rPr lang="en-US" sz="1900" b="0" dirty="0"/>
              <a:t>ESP32 sends data to a server; limit rules and ML trigger alerts [2], [3]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900" dirty="0"/>
          </a:p>
          <a:p>
            <a:pPr marL="546100" algn="just">
              <a:spcBef>
                <a:spcPts val="0"/>
              </a:spcBef>
              <a:buSzPct val="100000"/>
            </a:pPr>
            <a:r>
              <a:rPr lang="en-US" sz="1900" b="1" dirty="0"/>
              <a:t>Main benefit : </a:t>
            </a:r>
            <a:r>
              <a:rPr lang="en-US" sz="1900" b="0" dirty="0"/>
              <a:t>Real-time noise monitoring without manual readings [1], [3]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900" dirty="0"/>
          </a:p>
          <a:p>
            <a:pPr marL="546100" algn="just">
              <a:spcBef>
                <a:spcPts val="0"/>
              </a:spcBef>
              <a:buSzPct val="100000"/>
            </a:pPr>
            <a:r>
              <a:rPr lang="en-US" sz="1900" b="1" dirty="0"/>
              <a:t>Application : </a:t>
            </a:r>
            <a:r>
              <a:rPr lang="en-US" sz="1900" b="0" dirty="0"/>
              <a:t>Campuses, hospitals, silence zones and cities [1], [9]</a:t>
            </a:r>
          </a:p>
        </p:txBody>
      </p:sp>
      <p:sp>
        <p:nvSpPr>
          <p:cNvPr id="540" name="Google Shape;540;p1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4. Advantages / Disadvantages</a:t>
            </a:r>
            <a:endParaRPr/>
          </a:p>
        </p:txBody>
      </p:sp>
      <p:sp>
        <p:nvSpPr>
          <p:cNvPr id="546" name="Google Shape;546;p1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spcBef>
                <a:spcPts val="0"/>
              </a:spcBef>
              <a:buNone/>
            </a:pPr>
            <a:r>
              <a:rPr lang="en-US" sz="2100" b="1" dirty="0"/>
              <a:t>Advantages</a:t>
            </a:r>
          </a:p>
          <a:p>
            <a:pPr algn="just">
              <a:spcBef>
                <a:spcPts val="0"/>
              </a:spcBef>
            </a:pPr>
            <a:r>
              <a:rPr lang="en-US" sz="2000" b="0" dirty="0"/>
              <a:t>Real-time noise measurement [1], [3].</a:t>
            </a:r>
          </a:p>
          <a:p>
            <a:pPr algn="just">
              <a:spcBef>
                <a:spcPts val="0"/>
              </a:spcBef>
            </a:pPr>
            <a:r>
              <a:rPr lang="en-US" sz="2000" b="0" dirty="0"/>
              <a:t>Identifies the noise source [1], [2].</a:t>
            </a:r>
          </a:p>
          <a:p>
            <a:pPr algn="just">
              <a:spcBef>
                <a:spcPts val="0"/>
              </a:spcBef>
            </a:pPr>
            <a:r>
              <a:rPr lang="en-US" sz="2000" b="0" dirty="0"/>
              <a:t>Supports targeted noise control [9].</a:t>
            </a:r>
          </a:p>
          <a:p>
            <a:pPr algn="just">
              <a:spcBef>
                <a:spcPts val="0"/>
              </a:spcBef>
            </a:pPr>
            <a:r>
              <a:rPr lang="en-US" sz="2000" b="0" dirty="0"/>
              <a:t>Automatic alerts on limit crossing [3].</a:t>
            </a:r>
          </a:p>
          <a:p>
            <a:pPr algn="just">
              <a:spcBef>
                <a:spcPts val="0"/>
              </a:spcBef>
            </a:pPr>
            <a:r>
              <a:rPr lang="en-US" sz="2000" b="0" dirty="0"/>
              <a:t>Low-cost hardware [2], [3].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2000" dirty="0"/>
          </a:p>
          <a:p>
            <a:pPr marL="114300" indent="0">
              <a:spcBef>
                <a:spcPts val="0"/>
              </a:spcBef>
              <a:buNone/>
            </a:pPr>
            <a:r>
              <a:rPr lang="en-US" sz="2100" b="1" dirty="0"/>
              <a:t>Disadvantages</a:t>
            </a:r>
          </a:p>
          <a:p>
            <a:pPr algn="just">
              <a:spcBef>
                <a:spcPts val="0"/>
              </a:spcBef>
            </a:pPr>
            <a:r>
              <a:rPr lang="en-US" sz="2000" b="0" dirty="0"/>
              <a:t>Microphones are not certified meters [1].</a:t>
            </a:r>
          </a:p>
          <a:p>
            <a:pPr algn="just">
              <a:spcBef>
                <a:spcPts val="0"/>
              </a:spcBef>
            </a:pPr>
            <a:r>
              <a:rPr lang="en-US" sz="2000" b="0" dirty="0"/>
              <a:t>Overlapping sounds reduce accuracy [1].</a:t>
            </a:r>
          </a:p>
          <a:p>
            <a:pPr algn="just">
              <a:spcBef>
                <a:spcPts val="0"/>
              </a:spcBef>
            </a:pPr>
            <a:r>
              <a:rPr lang="en-US" sz="2000" b="0" dirty="0"/>
              <a:t>Needs labelled sound data [8].</a:t>
            </a:r>
          </a:p>
          <a:p>
            <a:pPr algn="just">
              <a:spcBef>
                <a:spcPts val="0"/>
              </a:spcBef>
            </a:pPr>
            <a:r>
              <a:rPr lang="en-US" sz="2000" b="0" dirty="0"/>
              <a:t>Depends on power and Wi-Fi [1].</a:t>
            </a:r>
          </a:p>
          <a:p>
            <a:pPr algn="just">
              <a:spcBef>
                <a:spcPts val="0"/>
              </a:spcBef>
            </a:pPr>
            <a:r>
              <a:rPr lang="en-US" sz="2000" b="0" dirty="0"/>
              <a:t>Audio recording raises privacy concerns [1].</a:t>
            </a:r>
          </a:p>
        </p:txBody>
      </p:sp>
      <p:sp>
        <p:nvSpPr>
          <p:cNvPr id="547" name="Google Shape;547;p19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5. Conclusion</a:t>
            </a:r>
            <a:endParaRPr/>
          </a:p>
        </p:txBody>
      </p:sp>
      <p:sp>
        <p:nvSpPr>
          <p:cNvPr id="553" name="Google Shape;553;p2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72000" lvl="0" indent="-139700" algn="just">
              <a:spcBef>
                <a:spcPts val="0"/>
              </a:spcBef>
              <a:buSzPts val="3200"/>
              <a:buNone/>
            </a:pPr>
            <a:r>
              <a:rPr lang="en-US" sz="1800" b="0" dirty="0"/>
              <a:t>	IoT and AI together turn noise monitoring from occasional manual measurement into an automatic, source-aware process. Low-cost nodes classify noise sources with 88–94% accuracy [2], and on-device TinyML reached 0.92–1.00 precision and recall in a city pilot [1]. A low-cost system that adds a simple limit-based decision step with alerts is practical and useful [3], [9].</a:t>
            </a:r>
          </a:p>
        </p:txBody>
      </p:sp>
      <p:sp>
        <p:nvSpPr>
          <p:cNvPr id="554" name="Google Shape;554;p20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555" name="Picture 554" descr="con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80" y="3762229"/>
            <a:ext cx="7200000" cy="1480373"/>
          </a:xfrm>
          <a:prstGeom prst="rect">
            <a:avLst/>
          </a:prstGeom>
        </p:spPr>
      </p:pic>
      <p:sp>
        <p:nvSpPr>
          <p:cNvPr id="556" name="TextBox 555"/>
          <p:cNvSpPr txBox="1"/>
          <p:nvPr/>
        </p:nvSpPr>
        <p:spPr>
          <a:xfrm>
            <a:off x="548640" y="5458592"/>
            <a:ext cx="80467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300" i="1">
                <a:latin typeface="Times New Roman"/>
              </a:rPr>
              <a:t>Fig 2: Proposed decision logic – measure, compare, classify, act [1], [2], [3]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dirty="0"/>
              <a:t>6. Project Initiation</a:t>
            </a:r>
            <a:endParaRPr dirty="0"/>
          </a:p>
        </p:txBody>
      </p:sp>
      <p:sp>
        <p:nvSpPr>
          <p:cNvPr id="560" name="Google Shape;560;p2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72000" lvl="0" indent="-139700" algn="just">
              <a:spcBef>
                <a:spcPts val="0"/>
              </a:spcBef>
              <a:buSzPts val="3200"/>
              <a:buNone/>
            </a:pPr>
            <a:r>
              <a:rPr lang="en-US" sz="1800" b="0" dirty="0"/>
              <a:t>	This project was initiated to solve the problem of unmonitored noise in campuses, hospital zones and residential areas, where limit violations go unnoticed [3], [11].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72000" lvl="0" indent="-139700" algn="just">
              <a:spcBef>
                <a:spcPts val="0"/>
              </a:spcBef>
              <a:buSzPts val="3200"/>
              <a:buNone/>
            </a:pPr>
            <a:r>
              <a:rPr lang="en-US" sz="1800" b="0" dirty="0"/>
              <a:t>	The project aims to build a low-cost system that measures noise with an ESP32 and MEMS microphone, compares it with zone limits, classifies the source using ML, and gives alerts on a dashboard and a local warning [1], [2], [3].</a:t>
            </a:r>
          </a:p>
        </p:txBody>
      </p:sp>
      <p:sp>
        <p:nvSpPr>
          <p:cNvPr id="561" name="Google Shape;561;p21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2"/>
          <p:cNvSpPr txBox="1">
            <a:spLocks noGrp="1"/>
          </p:cNvSpPr>
          <p:nvPr>
            <p:ph type="title"/>
          </p:nvPr>
        </p:nvSpPr>
        <p:spPr>
          <a:xfrm>
            <a:off x="456178" y="304800"/>
            <a:ext cx="8229600" cy="104502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r>
              <a:rPr lang="en-US" sz="3200" dirty="0"/>
              <a:t>6.1 Description of Problem Statement</a:t>
            </a:r>
          </a:p>
        </p:txBody>
      </p:sp>
      <p:sp>
        <p:nvSpPr>
          <p:cNvPr id="567" name="Google Shape;567;p22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502919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0" dirty="0"/>
              <a:t>Noise is rarely measured continuously [3], [4].</a:t>
            </a:r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0" dirty="0"/>
              <a:t>Violations and noise sources go unnoticed [11], [13].</a:t>
            </a:r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0" dirty="0"/>
              <a:t>A low-cost auto-detect and warn system is needed [1], [3].</a:t>
            </a:r>
          </a:p>
        </p:txBody>
      </p:sp>
      <p:sp>
        <p:nvSpPr>
          <p:cNvPr id="568" name="Google Shape;568;p22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569" name="Picture 568" descr="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313" y="3474111"/>
            <a:ext cx="6800000" cy="2253201"/>
          </a:xfrm>
          <a:prstGeom prst="rect">
            <a:avLst/>
          </a:prstGeom>
        </p:spPr>
      </p:pic>
      <p:sp>
        <p:nvSpPr>
          <p:cNvPr id="570" name="TextBox 569"/>
          <p:cNvSpPr txBox="1"/>
          <p:nvPr/>
        </p:nvSpPr>
        <p:spPr>
          <a:xfrm>
            <a:off x="548640" y="6050036"/>
            <a:ext cx="80467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300" i="1">
                <a:latin typeface="Times New Roman"/>
              </a:rPr>
              <a:t>Fig 3: Problems of manual monitoring and the proposed fixes [3], [11]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r>
              <a:rPr lang="en-US" sz="3200" dirty="0"/>
              <a:t>6.2 Scope and Objectives</a:t>
            </a:r>
          </a:p>
        </p:txBody>
      </p:sp>
      <p:sp>
        <p:nvSpPr>
          <p:cNvPr id="574" name="Google Shape;574;p2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just">
              <a:spcBef>
                <a:spcPts val="0"/>
              </a:spcBef>
              <a:buSzPts val="3200"/>
              <a:buNone/>
            </a:pPr>
            <a:r>
              <a:rPr lang="en-US" sz="1800" b="1" dirty="0"/>
              <a:t>Objectives</a:t>
            </a:r>
          </a:p>
          <a:p>
            <a:pPr marL="488950" indent="-285750" algn="just">
              <a:spcBef>
                <a:spcPts val="0"/>
              </a:spcBef>
              <a:buSzPct val="100000"/>
            </a:pPr>
            <a:r>
              <a:rPr lang="en-US" sz="1800" b="0" dirty="0"/>
              <a:t>Measure sound level continuously [1].</a:t>
            </a:r>
          </a:p>
          <a:p>
            <a:pPr marL="488950" indent="-285750" algn="just">
              <a:spcBef>
                <a:spcPts val="0"/>
              </a:spcBef>
              <a:buSzPct val="100000"/>
            </a:pPr>
            <a:r>
              <a:rPr lang="en-US" sz="1800" b="0" dirty="0"/>
              <a:t>Send data from ESP32 to server [3].</a:t>
            </a:r>
          </a:p>
          <a:p>
            <a:pPr marL="488950" indent="-285750" algn="just">
              <a:spcBef>
                <a:spcPts val="0"/>
              </a:spcBef>
              <a:buSzPct val="100000"/>
            </a:pPr>
            <a:r>
              <a:rPr lang="en-US" sz="1800" b="0" dirty="0"/>
              <a:t>Classify noise source using ML [2], [6].</a:t>
            </a:r>
          </a:p>
          <a:p>
            <a:pPr marL="488950" indent="-285750" algn="just">
              <a:spcBef>
                <a:spcPts val="0"/>
              </a:spcBef>
              <a:buSzPct val="100000"/>
            </a:pPr>
            <a:r>
              <a:rPr lang="en-US" sz="1800" b="0" dirty="0"/>
              <a:t>Store readings and events in a database [10].</a:t>
            </a:r>
          </a:p>
          <a:p>
            <a:pPr marL="488950" indent="-285750" algn="just">
              <a:spcBef>
                <a:spcPts val="0"/>
              </a:spcBef>
              <a:buSzPct val="100000"/>
            </a:pPr>
            <a:r>
              <a:rPr lang="en-US" sz="1800" b="0" dirty="0"/>
              <a:t>Alert and warn (buzzer/LED) above zone limit [9], [13].</a:t>
            </a:r>
          </a:p>
          <a:p>
            <a:pPr marL="488950" indent="-285750" algn="just">
              <a:spcBef>
                <a:spcPts val="0"/>
              </a:spcBef>
              <a:buSzPct val="100000"/>
            </a:pPr>
            <a:r>
              <a:rPr lang="en-US" sz="1800" b="0" dirty="0"/>
              <a:t>Show live levels on a web dashboard [10].</a:t>
            </a:r>
          </a:p>
          <a:p>
            <a:pPr marL="203200" indent="0" algn="just">
              <a:spcBef>
                <a:spcPts val="0"/>
              </a:spcBef>
              <a:buNone/>
            </a:pPr>
            <a:endParaRPr lang="en-US" sz="1800" dirty="0"/>
          </a:p>
          <a:p>
            <a:pPr marL="342900" lvl="0" indent="-139700" algn="just">
              <a:spcBef>
                <a:spcPts val="0"/>
              </a:spcBef>
              <a:buSzPts val="3200"/>
              <a:buNone/>
            </a:pPr>
            <a:r>
              <a:rPr lang="en-US" sz="1800" b="1" dirty="0"/>
              <a:t>Scope</a:t>
            </a:r>
          </a:p>
          <a:p>
            <a:pPr marL="488950" indent="-285750" algn="just">
              <a:spcBef>
                <a:spcPts val="0"/>
              </a:spcBef>
              <a:buSzPct val="100000"/>
            </a:pPr>
            <a:r>
              <a:rPr lang="en-US" sz="1800" b="0" dirty="0"/>
              <a:t>Prototype for a campus or hospital zone [1].</a:t>
            </a:r>
          </a:p>
          <a:p>
            <a:pPr marL="488950" indent="-285750" algn="just">
              <a:spcBef>
                <a:spcPts val="0"/>
              </a:spcBef>
              <a:buSzPct val="100000"/>
            </a:pPr>
            <a:r>
              <a:rPr lang="en-US" sz="1800" b="0" dirty="0"/>
              <a:t>Uses ESP32, MEMS mic, Flask, MySQL [3], [10].</a:t>
            </a:r>
          </a:p>
          <a:p>
            <a:pPr marL="488950" indent="-285750" algn="just">
              <a:spcBef>
                <a:spcPts val="0"/>
              </a:spcBef>
              <a:buSzPct val="100000"/>
            </a:pPr>
            <a:r>
              <a:rPr lang="en-US" sz="1800" b="0" dirty="0"/>
              <a:t>Tested on a few sound classes [8].</a:t>
            </a:r>
          </a:p>
          <a:p>
            <a:pPr marL="488950" indent="-285750" algn="just">
              <a:spcBef>
                <a:spcPts val="0"/>
              </a:spcBef>
              <a:buSzPct val="100000"/>
            </a:pPr>
            <a:r>
              <a:rPr lang="en-US" sz="1800" b="0" dirty="0"/>
              <a:t>Zone limits: e.g. residential 55 dB day, 45 dB night [13].</a:t>
            </a:r>
          </a:p>
        </p:txBody>
      </p:sp>
      <p:sp>
        <p:nvSpPr>
          <p:cNvPr id="575" name="Google Shape;575;p23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n-US" sz="3200" dirty="0"/>
              <a:t>6.3 Stakeholders</a:t>
            </a:r>
          </a:p>
        </p:txBody>
      </p:sp>
      <p:sp>
        <p:nvSpPr>
          <p:cNvPr id="581" name="Google Shape;581;p2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1" dirty="0"/>
              <a:t>Campus Authorities: </a:t>
            </a:r>
            <a:r>
              <a:rPr lang="en-US" sz="1800" b="0" dirty="0"/>
              <a:t>Monitor noise and receive alerts [1].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1" dirty="0"/>
              <a:t>Students and Staff: </a:t>
            </a:r>
            <a:r>
              <a:rPr lang="en-US" sz="1800" b="0" dirty="0"/>
              <a:t>Get quieter classrooms and hostels [11].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1" dirty="0"/>
              <a:t>Hospitals / Residents: </a:t>
            </a:r>
            <a:r>
              <a:rPr lang="en-US" sz="1800" b="0" dirty="0"/>
              <a:t>Need quiet zones for health [11], [12].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1" dirty="0"/>
              <a:t>Pollution Control Board: </a:t>
            </a:r>
            <a:r>
              <a:rPr lang="en-US" sz="1800" b="0" dirty="0"/>
              <a:t>Uses data to enforce limits [13].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1" dirty="0"/>
              <a:t>Urban Planners: </a:t>
            </a:r>
            <a:r>
              <a:rPr lang="en-US" sz="1800" b="0" dirty="0"/>
              <a:t>Use noise data for planning [9].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1" dirty="0"/>
              <a:t>Developers and Project Guide: </a:t>
            </a:r>
            <a:r>
              <a:rPr lang="en-US" sz="1800" b="0" dirty="0"/>
              <a:t>Build, test and evaluate the system.</a:t>
            </a:r>
          </a:p>
        </p:txBody>
      </p:sp>
      <p:sp>
        <p:nvSpPr>
          <p:cNvPr id="582" name="Google Shape;582;p24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lang="en-US" sz="3200" dirty="0"/>
              <a:t>6.4 Seminar Execution Plan</a:t>
            </a:r>
          </a:p>
        </p:txBody>
      </p:sp>
      <p:sp>
        <p:nvSpPr>
          <p:cNvPr id="588" name="Google Shape;588;p2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3429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US" sz="1800" b="1" u="sng" dirty="0"/>
              <a:t>Current Scenario:</a:t>
            </a:r>
            <a:r>
              <a:rPr lang="en-US" sz="1800" b="0" dirty="0"/>
              <a:t> How is noise monitored today? [3], [4]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457200" indent="-3429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US" sz="1800" b="1" u="sng" dirty="0"/>
              <a:t>Noise Challenges:</a:t>
            </a:r>
            <a:r>
              <a:rPr lang="en-US" sz="1800" b="0" dirty="0"/>
              <a:t> Traffic, horns and machinery harm health [11], [12].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457200" indent="-3429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US" sz="1800" b="1" u="sng" dirty="0"/>
              <a:t>Existing Approaches:</a:t>
            </a:r>
            <a:r>
              <a:rPr lang="en-US" sz="1800" b="0" dirty="0"/>
              <a:t> Meters, sensors and ML used separately [2], [4].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457200" indent="-3429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US" sz="1800" b="1" u="sng" dirty="0"/>
              <a:t>Research Gap:</a:t>
            </a:r>
            <a:r>
              <a:rPr lang="en-US" sz="1800" b="0" dirty="0"/>
              <a:t> Systems classify noise but rarely act on it [2], [3], [6].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457200" indent="-3429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US" sz="1800" b="1" u="sng" dirty="0"/>
              <a:t>Proposed System:</a:t>
            </a:r>
            <a:r>
              <a:rPr lang="en-US" sz="1800" b="0" dirty="0"/>
              <a:t> ESP32 + mic with limit rules, ML and alerts [1], [2], [3].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457200" indent="-3429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US" sz="1800" b="1" u="sng" dirty="0"/>
              <a:t>Future Impact:</a:t>
            </a:r>
            <a:r>
              <a:rPr lang="en-US" sz="1800" b="0" dirty="0"/>
              <a:t> Quieter areas and better health [11], [12].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457200" indent="-342900" algn="just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US" sz="1800" b="1" u="sng" dirty="0"/>
              <a:t>Future Work:</a:t>
            </a:r>
            <a:r>
              <a:rPr lang="en-US" sz="1800" b="0" dirty="0"/>
              <a:t> TinyML, mobile noise map, active control [1], [9].</a:t>
            </a:r>
          </a:p>
        </p:txBody>
      </p:sp>
      <p:sp>
        <p:nvSpPr>
          <p:cNvPr id="589" name="Google Shape;589;p25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lang="en-US" sz="3200" dirty="0"/>
              <a:t>6.5 Platform / Equipment / Resources</a:t>
            </a:r>
          </a:p>
        </p:txBody>
      </p:sp>
      <p:sp>
        <p:nvSpPr>
          <p:cNvPr id="595" name="Google Shape;595;p2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US" sz="1800" b="1" dirty="0"/>
              <a:t>Hardware Requirements:</a:t>
            </a:r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0" dirty="0"/>
              <a:t>ESP32 development board [3]</a:t>
            </a:r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0" dirty="0"/>
              <a:t>MEMS microphone (I2S) [1], [3]</a:t>
            </a:r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0" dirty="0"/>
              <a:t>Buzzer / LED for local warning</a:t>
            </a:r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0" dirty="0"/>
              <a:t>Laptop / PC (8 GB RAM or more) and Wi-Fi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US" sz="1800" b="1" dirty="0"/>
              <a:t>Software Requirements:</a:t>
            </a:r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0" dirty="0"/>
              <a:t>Operating system: Windows / Linux</a:t>
            </a:r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0" dirty="0"/>
              <a:t>Arduino IDE for ESP32 (C/C++)</a:t>
            </a:r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0" dirty="0"/>
              <a:t>Python with Flask, scikit-learn, librosa [2]</a:t>
            </a:r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0" dirty="0"/>
              <a:t>MySQL; HTML, CSS, JavaScript dashboard [10]</a:t>
            </a:r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0" dirty="0"/>
              <a:t>Visual Studio Code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US" sz="1800" b="1" dirty="0"/>
              <a:t>Other Resources:</a:t>
            </a:r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0" dirty="0"/>
              <a:t>Research papers and Urban Sound 8K dataset [1]–[11]</a:t>
            </a:r>
          </a:p>
          <a:p>
            <a:pPr marL="488950" indent="-285750">
              <a:spcBef>
                <a:spcPts val="0"/>
              </a:spcBef>
              <a:buSzPct val="100000"/>
            </a:pPr>
            <a:r>
              <a:rPr lang="en-US" sz="1800" b="0" dirty="0"/>
              <a:t>Internet connection for server and alerts</a:t>
            </a:r>
          </a:p>
        </p:txBody>
      </p:sp>
      <p:sp>
        <p:nvSpPr>
          <p:cNvPr id="596" name="Google Shape;596;p26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Bibliography</a:t>
            </a:r>
            <a:endParaRPr/>
          </a:p>
        </p:txBody>
      </p:sp>
      <p:sp>
        <p:nvSpPr>
          <p:cNvPr id="602" name="Google Shape;602;p2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100" b="1" dirty="0"/>
              <a:t>Books</a:t>
            </a:r>
          </a:p>
          <a:p>
            <a:pPr algn="just">
              <a:spcBef>
                <a:spcPts val="0"/>
              </a:spcBef>
            </a:pPr>
            <a:r>
              <a:rPr lang="en-US" sz="1800" b="0" dirty="0"/>
              <a:t>Internet of Things: A Hands-On Approach — Arshdeep Bahga and Vijay Madisetti.</a:t>
            </a:r>
          </a:p>
          <a:p>
            <a:pPr algn="just">
              <a:spcBef>
                <a:spcPts val="0"/>
              </a:spcBef>
            </a:pPr>
            <a:r>
              <a:rPr lang="en-US" sz="1800" b="0" dirty="0"/>
              <a:t>Hands-On Machine Learning with Scikit-Learn, Keras and TensorFlow — Aurélien Géron.</a:t>
            </a:r>
          </a:p>
          <a:p>
            <a:pPr algn="just">
              <a:spcBef>
                <a:spcPts val="0"/>
              </a:spcBef>
            </a:pPr>
            <a:r>
              <a:rPr lang="en-US" sz="1800" b="0" dirty="0"/>
              <a:t>Fundamentals of Acoustics — Kinsler, Frey, Coppens and Sanders.</a:t>
            </a:r>
          </a:p>
          <a:p>
            <a:pPr algn="just">
              <a:spcBef>
                <a:spcPts val="0"/>
              </a:spcBef>
            </a:pPr>
            <a:r>
              <a:rPr lang="en-US" sz="1800" b="0" dirty="0"/>
              <a:t>Engineering Noise Control — David A. Bies and Colin H. Hansen.</a:t>
            </a:r>
          </a:p>
          <a:p>
            <a:pPr marL="203200" indent="0">
              <a:spcBef>
                <a:spcPts val="0"/>
              </a:spcBef>
              <a:buNone/>
            </a:pPr>
            <a:endParaRPr lang="en-US" sz="1800" dirty="0"/>
          </a:p>
          <a:p>
            <a:r>
              <a:rPr lang="en-US" sz="2100" b="1" dirty="0"/>
              <a:t>Websites</a:t>
            </a:r>
          </a:p>
          <a:p>
            <a:pPr algn="just">
              <a:spcBef>
                <a:spcPts val="0"/>
              </a:spcBef>
            </a:pPr>
            <a:r>
              <a:rPr lang="en-US" sz="1800" b="0" dirty="0"/>
              <a:t>Espressif ESP32 Documentation — </a:t>
            </a:r>
            <a:r>
              <a:rPr lang="en-US" sz="1800" b="0" dirty="0">
                <a:hlinkClick r:id="rIdL1"/>
              </a:rPr>
              <a:t>docs.espressif.com</a:t>
            </a:r>
          </a:p>
          <a:p>
            <a:pPr algn="just">
              <a:spcBef>
                <a:spcPts val="0"/>
              </a:spcBef>
            </a:pPr>
            <a:r>
              <a:rPr lang="en-US" sz="1800" b="0" dirty="0"/>
              <a:t>Arduino Documentation — </a:t>
            </a:r>
            <a:r>
              <a:rPr lang="en-US" sz="1800" b="0" dirty="0">
                <a:hlinkClick r:id="rIdL2"/>
              </a:rPr>
              <a:t>docs.arduino.cc</a:t>
            </a:r>
          </a:p>
          <a:p>
            <a:pPr algn="just">
              <a:spcBef>
                <a:spcPts val="0"/>
              </a:spcBef>
            </a:pPr>
            <a:r>
              <a:rPr lang="en-US" sz="1800" b="0" dirty="0"/>
              <a:t>scikit-learn Documentation — </a:t>
            </a:r>
            <a:r>
              <a:rPr lang="en-US" sz="1800" b="0" dirty="0">
                <a:hlinkClick r:id="rIdL3"/>
              </a:rPr>
              <a:t>scikit-learn.org</a:t>
            </a:r>
          </a:p>
          <a:p>
            <a:pPr algn="just">
              <a:spcBef>
                <a:spcPts val="0"/>
              </a:spcBef>
            </a:pPr>
            <a:r>
              <a:rPr lang="en-US" sz="1800" b="0" dirty="0"/>
              <a:t>Flask Documentation — </a:t>
            </a:r>
            <a:r>
              <a:rPr lang="en-US" sz="1800" b="0" dirty="0">
                <a:hlinkClick r:id="rIdL4"/>
              </a:rPr>
              <a:t>flask.palletsprojects.com</a:t>
            </a:r>
          </a:p>
          <a:p>
            <a:pPr algn="just">
              <a:spcBef>
                <a:spcPts val="0"/>
              </a:spcBef>
            </a:pPr>
            <a:r>
              <a:rPr lang="en-US" sz="1800" b="0" dirty="0"/>
              <a:t>UrbanSound8K Dataset — </a:t>
            </a:r>
            <a:r>
              <a:rPr lang="en-US" sz="1800" b="0" dirty="0">
                <a:hlinkClick r:id="rIdL5"/>
              </a:rPr>
              <a:t>urbansounddataset.weebly.com</a:t>
            </a:r>
          </a:p>
        </p:txBody>
      </p:sp>
      <p:sp>
        <p:nvSpPr>
          <p:cNvPr id="603" name="Google Shape;603;p2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609" name="Google Shape;609;p2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638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spcBef>
                <a:spcPts val="0"/>
              </a:spcBef>
              <a:buNone/>
            </a:pPr>
            <a:r>
              <a:rPr lang="en-US" sz="1600" b="1" dirty="0"/>
              <a:t>Research Papers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[1] Remolina Soto et al. (2025), Urban Noise Classification Using TinyML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[2] Alsouda, Pllana &amp; Kurti (2019), IoT-Based Urban Noise Identification Using ML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[3] Baucas &amp; Spachos (2024), Edge-Based Urban Noise Classification Platform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[4] Alías &amp; Alsina-Pagès (2019), Wireless Acoustic Sensor Networks for Noise Monitoring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[5] Nogueira et al. (2022), Sound Classification of Urban Environments: A Review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[6] Peng et al. (2023), BSN-ESC for AIoT Applications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[7] Ranmal et al. (2024), ESC-NAS for the Edge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[8] Salamon, Jacoby &amp; Bello (2014), A Dataset and Taxonomy for Urban Sound Research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[9] Asdrubali &amp; D'Alessandro (2018), Noise Management in Smart Cities: A Review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[10] Albaji (2024), ML for Environmental Noise Classification in Smart Cities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[11] Basner et al. (2014), Auditory and Non-Auditory Effects of Noise on Health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1600" b="1" dirty="0"/>
              <a:t>Other Sources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[12] WHO Europe (2011), Burden of Disease from Environmental Noise</a:t>
            </a:r>
          </a:p>
          <a:p>
            <a:pPr marL="0" indent="0" algn="just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0" dirty="0"/>
              <a:t>[13] MoEF&amp;CC, India (2000), Noise Pollution (Regulation and Control) Rules</a:t>
            </a:r>
          </a:p>
        </p:txBody>
      </p:sp>
      <p:sp>
        <p:nvSpPr>
          <p:cNvPr id="610" name="Google Shape;610;p2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9"/>
          <p:cNvSpPr/>
          <p:nvPr/>
        </p:nvSpPr>
        <p:spPr>
          <a:xfrm>
            <a:off x="1447801" y="2810112"/>
            <a:ext cx="6248400" cy="12003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616" name="Google Shape;61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2239</Words>
  <Application>Microsoft Office PowerPoint</Application>
  <PresentationFormat>On-screen Show (4:3)</PresentationFormat>
  <Paragraphs>288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Contents</vt:lpstr>
      <vt:lpstr>Abstract</vt:lpstr>
      <vt:lpstr>1. Introduction</vt:lpstr>
      <vt:lpstr>2. Literature Survey</vt:lpstr>
      <vt:lpstr>PowerPoint Presentation</vt:lpstr>
      <vt:lpstr>PowerPoint Presentation</vt:lpstr>
      <vt:lpstr>PowerPoint Presentation</vt:lpstr>
      <vt:lpstr>3. Information to seminar topic</vt:lpstr>
      <vt:lpstr>4. Advantages / Disadvantages</vt:lpstr>
      <vt:lpstr>5. Conclusion</vt:lpstr>
      <vt:lpstr>6. Project Initiation</vt:lpstr>
      <vt:lpstr>6.1 Description of Problem Statement</vt:lpstr>
      <vt:lpstr>6.2 Scope and Objectives</vt:lpstr>
      <vt:lpstr>6.3 Stakeholders</vt:lpstr>
      <vt:lpstr>6.4 Seminar Execution Plan</vt:lpstr>
      <vt:lpstr>6.5 Platform / Equipment / Resources</vt:lpstr>
      <vt:lpstr>Bibliography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Suher Shaikh</cp:lastModifiedBy>
  <cp:revision>7</cp:revision>
  <dcterms:modified xsi:type="dcterms:W3CDTF">2026-10-18T03:33:40Z</dcterms:modified>
</cp:coreProperties>
</file>