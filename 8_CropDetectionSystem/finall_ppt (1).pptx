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6" r:id="rId7"/>
    <p:sldId id="277" r:id="rId8"/>
    <p:sldId id="278"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9753600" cy="7315200"/>
  <p:notesSz cx="6858000" cy="9144000"/>
  <p:embeddedFontLst>
    <p:embeddedFont>
      <p:font typeface="Arial Bold" panose="020B0704020202020204" pitchFamily="34" charset="0"/>
      <p:bold r:id="rId25"/>
    </p:embeddedFont>
    <p:embeddedFont>
      <p:font typeface="Arial Italics" panose="020B0604020202020204" charset="0"/>
      <p:regular r:id="rId26"/>
    </p:embeddedFont>
    <p:embeddedFont>
      <p:font typeface="Arimo" panose="020B0604020202020204" charset="0"/>
      <p:regular r:id="rId27"/>
    </p:embeddedFont>
    <p:embeddedFont>
      <p:font typeface="Arimo Bold" panose="020B0604020202020204" charset="0"/>
      <p:regular r:id="rId28"/>
    </p:embeddedFont>
    <p:embeddedFont>
      <p:font typeface="Times New Roman Bold" panose="02020803070505020304" pitchFamily="18" charset="0"/>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22" autoAdjust="0"/>
  </p:normalViewPr>
  <p:slideViewPr>
    <p:cSldViewPr>
      <p:cViewPr varScale="1">
        <p:scale>
          <a:sx n="85" d="100"/>
          <a:sy n="85" d="100"/>
        </p:scale>
        <p:origin x="1243"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706" y="-63498"/>
            <a:ext cx="9445971" cy="7442197"/>
          </a:xfrm>
          <a:custGeom>
            <a:avLst/>
            <a:gdLst/>
            <a:ahLst/>
            <a:cxnLst/>
            <a:rect l="l" t="t" r="r" b="b"/>
            <a:pathLst>
              <a:path w="9445971" h="7442197">
                <a:moveTo>
                  <a:pt x="0" y="0"/>
                </a:moveTo>
                <a:lnTo>
                  <a:pt x="9445972" y="0"/>
                </a:lnTo>
                <a:lnTo>
                  <a:pt x="9445972" y="7442196"/>
                </a:lnTo>
                <a:lnTo>
                  <a:pt x="0" y="744219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grpSp>
        <p:nvGrpSpPr>
          <p:cNvPr id="3" name="Group 3"/>
          <p:cNvGrpSpPr/>
          <p:nvPr/>
        </p:nvGrpSpPr>
        <p:grpSpPr>
          <a:xfrm>
            <a:off x="525818" y="0"/>
            <a:ext cx="1300448" cy="1684315"/>
            <a:chOff x="0" y="0"/>
            <a:chExt cx="1733931" cy="2245754"/>
          </a:xfrm>
        </p:grpSpPr>
        <p:sp>
          <p:nvSpPr>
            <p:cNvPr id="4" name="Freeform 4" descr="ssvpslogo.png"/>
            <p:cNvSpPr/>
            <p:nvPr/>
          </p:nvSpPr>
          <p:spPr>
            <a:xfrm>
              <a:off x="0" y="0"/>
              <a:ext cx="1733931" cy="2245741"/>
            </a:xfrm>
            <a:custGeom>
              <a:avLst/>
              <a:gdLst/>
              <a:ahLst/>
              <a:cxnLst/>
              <a:rect l="l" t="t" r="r" b="b"/>
              <a:pathLst>
                <a:path w="1733931" h="2245741">
                  <a:moveTo>
                    <a:pt x="0" y="0"/>
                  </a:moveTo>
                  <a:lnTo>
                    <a:pt x="1733931" y="0"/>
                  </a:lnTo>
                  <a:lnTo>
                    <a:pt x="1733931" y="2245741"/>
                  </a:lnTo>
                  <a:lnTo>
                    <a:pt x="0" y="2245741"/>
                  </a:lnTo>
                  <a:lnTo>
                    <a:pt x="0" y="0"/>
                  </a:lnTo>
                  <a:close/>
                </a:path>
              </a:pathLst>
            </a:custGeom>
            <a:blipFill>
              <a:blip r:embed="rId3"/>
              <a:stretch>
                <a:fillRect t="-1526" r="-7033" b="-1623"/>
              </a:stretch>
            </a:blipFill>
          </p:spPr>
          <p:txBody>
            <a:bodyPr/>
            <a:lstStyle/>
            <a:p>
              <a:endParaRPr lang="en-IN"/>
            </a:p>
          </p:txBody>
        </p:sp>
      </p:grpSp>
      <p:sp>
        <p:nvSpPr>
          <p:cNvPr id="5" name="TextBox 5"/>
          <p:cNvSpPr txBox="1"/>
          <p:nvPr/>
        </p:nvSpPr>
        <p:spPr>
          <a:xfrm>
            <a:off x="2438638" y="166002"/>
            <a:ext cx="6999542" cy="469030"/>
          </a:xfrm>
          <a:prstGeom prst="rect">
            <a:avLst/>
          </a:prstGeom>
        </p:spPr>
        <p:txBody>
          <a:bodyPr lIns="0" tIns="0" rIns="0" bIns="0" rtlCol="0" anchor="t">
            <a:spAutoFit/>
          </a:bodyPr>
          <a:lstStyle/>
          <a:p>
            <a:pPr algn="l">
              <a:lnSpc>
                <a:spcPts val="3761"/>
              </a:lnSpc>
            </a:pPr>
            <a:r>
              <a:rPr lang="en-US" sz="2686" b="1">
                <a:solidFill>
                  <a:srgbClr val="FFFFFF"/>
                </a:solidFill>
                <a:latin typeface="Arial Bold"/>
                <a:ea typeface="Arial Bold"/>
                <a:cs typeface="Arial Bold"/>
                <a:sym typeface="Arial Bold"/>
              </a:rPr>
              <a:t>S.S.V.P.S’s B. S. Deore Polytechnic, Dhule</a:t>
            </a:r>
          </a:p>
        </p:txBody>
      </p:sp>
      <p:sp>
        <p:nvSpPr>
          <p:cNvPr id="6" name="TextBox 6"/>
          <p:cNvSpPr txBox="1"/>
          <p:nvPr/>
        </p:nvSpPr>
        <p:spPr>
          <a:xfrm>
            <a:off x="4541349" y="571852"/>
            <a:ext cx="112043" cy="542477"/>
          </a:xfrm>
          <a:prstGeom prst="rect">
            <a:avLst/>
          </a:prstGeom>
        </p:spPr>
        <p:txBody>
          <a:bodyPr lIns="0" tIns="0" rIns="0" bIns="0" rtlCol="0" anchor="t">
            <a:spAutoFit/>
          </a:bodyPr>
          <a:lstStyle/>
          <a:p>
            <a:pPr algn="l">
              <a:lnSpc>
                <a:spcPts val="4358"/>
              </a:lnSpc>
            </a:pPr>
            <a:r>
              <a:rPr lang="en-US" sz="3113" b="1">
                <a:solidFill>
                  <a:srgbClr val="FFFFFF"/>
                </a:solidFill>
                <a:latin typeface="Arial Bold"/>
                <a:ea typeface="Arial Bold"/>
                <a:cs typeface="Arial Bold"/>
                <a:sym typeface="Arial Bold"/>
              </a:rPr>
              <a:t> </a:t>
            </a:r>
          </a:p>
        </p:txBody>
      </p:sp>
      <p:sp>
        <p:nvSpPr>
          <p:cNvPr id="7" name="TextBox 7"/>
          <p:cNvSpPr txBox="1"/>
          <p:nvPr/>
        </p:nvSpPr>
        <p:spPr>
          <a:xfrm>
            <a:off x="2344884" y="571852"/>
            <a:ext cx="7190794" cy="542477"/>
          </a:xfrm>
          <a:prstGeom prst="rect">
            <a:avLst/>
          </a:prstGeom>
        </p:spPr>
        <p:txBody>
          <a:bodyPr lIns="0" tIns="0" rIns="0" bIns="0" rtlCol="0" anchor="t">
            <a:spAutoFit/>
          </a:bodyPr>
          <a:lstStyle/>
          <a:p>
            <a:pPr algn="l">
              <a:lnSpc>
                <a:spcPts val="4358"/>
              </a:lnSpc>
            </a:pPr>
            <a:r>
              <a:rPr lang="en-US" sz="3113" b="1">
                <a:solidFill>
                  <a:srgbClr val="FFFFFF"/>
                </a:solidFill>
                <a:latin typeface="Arial Bold"/>
                <a:ea typeface="Arial Bold"/>
                <a:cs typeface="Arial Bold"/>
                <a:sym typeface="Arial Bold"/>
              </a:rPr>
              <a:t>Department of Computer Engineering</a:t>
            </a:r>
          </a:p>
        </p:txBody>
      </p:sp>
      <p:sp>
        <p:nvSpPr>
          <p:cNvPr id="8" name="TextBox 8"/>
          <p:cNvSpPr txBox="1"/>
          <p:nvPr/>
        </p:nvSpPr>
        <p:spPr>
          <a:xfrm>
            <a:off x="5155130" y="1018108"/>
            <a:ext cx="112043" cy="542477"/>
          </a:xfrm>
          <a:prstGeom prst="rect">
            <a:avLst/>
          </a:prstGeom>
        </p:spPr>
        <p:txBody>
          <a:bodyPr lIns="0" tIns="0" rIns="0" bIns="0" rtlCol="0" anchor="t">
            <a:spAutoFit/>
          </a:bodyPr>
          <a:lstStyle/>
          <a:p>
            <a:pPr algn="l">
              <a:lnSpc>
                <a:spcPts val="4358"/>
              </a:lnSpc>
            </a:pPr>
            <a:r>
              <a:rPr lang="en-US" sz="3113" i="1">
                <a:solidFill>
                  <a:srgbClr val="FFFFFF"/>
                </a:solidFill>
                <a:latin typeface="Arial Italics"/>
                <a:ea typeface="Arial Italics"/>
                <a:cs typeface="Arial Italics"/>
                <a:sym typeface="Arial Italics"/>
              </a:rPr>
              <a:t> </a:t>
            </a:r>
          </a:p>
        </p:txBody>
      </p:sp>
      <p:sp>
        <p:nvSpPr>
          <p:cNvPr id="9" name="TextBox 9"/>
          <p:cNvSpPr txBox="1"/>
          <p:nvPr/>
        </p:nvSpPr>
        <p:spPr>
          <a:xfrm>
            <a:off x="3419570" y="1018108"/>
            <a:ext cx="4790956" cy="514051"/>
          </a:xfrm>
          <a:prstGeom prst="rect">
            <a:avLst/>
          </a:prstGeom>
        </p:spPr>
        <p:txBody>
          <a:bodyPr lIns="0" tIns="0" rIns="0" bIns="0" rtlCol="0" anchor="t">
            <a:spAutoFit/>
          </a:bodyPr>
          <a:lstStyle/>
          <a:p>
            <a:pPr algn="l">
              <a:lnSpc>
                <a:spcPts val="4358"/>
              </a:lnSpc>
            </a:pPr>
            <a:r>
              <a:rPr lang="en-US" sz="3113">
                <a:solidFill>
                  <a:srgbClr val="FFFFFF"/>
                </a:solidFill>
                <a:latin typeface="Arial"/>
                <a:ea typeface="Arial"/>
                <a:cs typeface="Arial"/>
                <a:sym typeface="Arial"/>
              </a:rPr>
              <a:t>AcademicYear</a:t>
            </a:r>
            <a:r>
              <a:rPr lang="en-US" sz="3113" dirty="0">
                <a:solidFill>
                  <a:srgbClr val="FFFFFF"/>
                </a:solidFill>
                <a:latin typeface="Arial"/>
                <a:ea typeface="Arial"/>
                <a:cs typeface="Arial"/>
                <a:sym typeface="Arial"/>
              </a:rPr>
              <a:t> : </a:t>
            </a:r>
            <a:r>
              <a:rPr lang="en-US" sz="3113" dirty="0">
                <a:solidFill>
                  <a:schemeClr val="bg1"/>
                </a:solidFill>
                <a:latin typeface="Arial"/>
                <a:ea typeface="Arial"/>
                <a:cs typeface="Arial"/>
                <a:sym typeface="Arial"/>
              </a:rPr>
              <a:t>2026-2027</a:t>
            </a:r>
          </a:p>
        </p:txBody>
      </p:sp>
      <p:sp>
        <p:nvSpPr>
          <p:cNvPr id="10" name="TextBox 10"/>
          <p:cNvSpPr txBox="1"/>
          <p:nvPr/>
        </p:nvSpPr>
        <p:spPr>
          <a:xfrm>
            <a:off x="599408" y="1827848"/>
            <a:ext cx="8725672" cy="522561"/>
          </a:xfrm>
          <a:prstGeom prst="rect">
            <a:avLst/>
          </a:prstGeom>
        </p:spPr>
        <p:txBody>
          <a:bodyPr lIns="0" tIns="0" rIns="0" bIns="0" rtlCol="0" anchor="t">
            <a:spAutoFit/>
          </a:bodyPr>
          <a:lstStyle/>
          <a:p>
            <a:pPr algn="l">
              <a:lnSpc>
                <a:spcPts val="4181"/>
              </a:lnSpc>
            </a:pPr>
            <a:r>
              <a:rPr lang="en-US" sz="2986" b="1">
                <a:solidFill>
                  <a:srgbClr val="002060"/>
                </a:solidFill>
                <a:latin typeface="Times New Roman Bold"/>
                <a:ea typeface="Times New Roman Bold"/>
                <a:cs typeface="Times New Roman Bold"/>
                <a:sym typeface="Times New Roman Bold"/>
              </a:rPr>
              <a:t>SEMINAR AND PROJECT INITIATION COURSE</a:t>
            </a:r>
          </a:p>
        </p:txBody>
      </p:sp>
      <p:sp>
        <p:nvSpPr>
          <p:cNvPr id="11" name="TextBox 11"/>
          <p:cNvSpPr txBox="1"/>
          <p:nvPr/>
        </p:nvSpPr>
        <p:spPr>
          <a:xfrm>
            <a:off x="321393" y="2670572"/>
            <a:ext cx="1451981" cy="347634"/>
          </a:xfrm>
          <a:prstGeom prst="rect">
            <a:avLst/>
          </a:prstGeom>
        </p:spPr>
        <p:txBody>
          <a:bodyPr lIns="0" tIns="0" rIns="0" bIns="0" rtlCol="0" anchor="t">
            <a:spAutoFit/>
          </a:bodyPr>
          <a:lstStyle/>
          <a:p>
            <a:pPr algn="l">
              <a:lnSpc>
                <a:spcPts val="2715"/>
              </a:lnSpc>
            </a:pPr>
            <a:r>
              <a:rPr lang="en-US" sz="1939" b="1">
                <a:solidFill>
                  <a:srgbClr val="FF0000"/>
                </a:solidFill>
                <a:latin typeface="Arial Bold"/>
                <a:ea typeface="Arial Bold"/>
                <a:cs typeface="Arial Bold"/>
                <a:sym typeface="Arial Bold"/>
              </a:rPr>
              <a:t>Sem :CO 5K</a:t>
            </a:r>
          </a:p>
        </p:txBody>
      </p:sp>
      <p:sp>
        <p:nvSpPr>
          <p:cNvPr id="12" name="TextBox 12"/>
          <p:cNvSpPr txBox="1"/>
          <p:nvPr/>
        </p:nvSpPr>
        <p:spPr>
          <a:xfrm>
            <a:off x="3812143" y="2605411"/>
            <a:ext cx="1842116" cy="449256"/>
          </a:xfrm>
          <a:prstGeom prst="rect">
            <a:avLst/>
          </a:prstGeom>
        </p:spPr>
        <p:txBody>
          <a:bodyPr lIns="0" tIns="0" rIns="0" bIns="0" rtlCol="0" anchor="t">
            <a:spAutoFit/>
          </a:bodyPr>
          <a:lstStyle/>
          <a:p>
            <a:pPr algn="l">
              <a:lnSpc>
                <a:spcPts val="3583"/>
              </a:lnSpc>
            </a:pPr>
            <a:r>
              <a:rPr lang="en-US" sz="2559" b="1">
                <a:solidFill>
                  <a:srgbClr val="002060"/>
                </a:solidFill>
                <a:latin typeface="Times New Roman Bold"/>
                <a:ea typeface="Times New Roman Bold"/>
                <a:cs typeface="Times New Roman Bold"/>
                <a:sym typeface="Times New Roman Bold"/>
              </a:rPr>
              <a:t>SPI – 315003</a:t>
            </a:r>
          </a:p>
        </p:txBody>
      </p:sp>
      <p:sp>
        <p:nvSpPr>
          <p:cNvPr id="13" name="TextBox 13"/>
          <p:cNvSpPr txBox="1"/>
          <p:nvPr/>
        </p:nvSpPr>
        <p:spPr>
          <a:xfrm>
            <a:off x="6968252" y="2660218"/>
            <a:ext cx="2408444" cy="363497"/>
          </a:xfrm>
          <a:prstGeom prst="rect">
            <a:avLst/>
          </a:prstGeom>
        </p:spPr>
        <p:txBody>
          <a:bodyPr wrap="square" lIns="0" tIns="0" rIns="0" bIns="0" rtlCol="0" anchor="t">
            <a:spAutoFit/>
          </a:bodyPr>
          <a:lstStyle/>
          <a:p>
            <a:pPr algn="l">
              <a:lnSpc>
                <a:spcPts val="3135"/>
              </a:lnSpc>
            </a:pPr>
            <a:r>
              <a:rPr lang="en-US" sz="2239" b="1" dirty="0">
                <a:solidFill>
                  <a:srgbClr val="FF0000"/>
                </a:solidFill>
                <a:latin typeface="Arial Bold"/>
                <a:ea typeface="Arial Bold"/>
                <a:cs typeface="Arial Bold"/>
                <a:sym typeface="Arial Bold"/>
              </a:rPr>
              <a:t>Date : </a:t>
            </a:r>
            <a:r>
              <a:rPr lang="en-US" sz="2239" b="1" dirty="0">
                <a:latin typeface="Arial Bold"/>
                <a:ea typeface="Arial Bold"/>
                <a:cs typeface="Arial Bold"/>
                <a:sym typeface="Arial Bold"/>
              </a:rPr>
              <a:t>17-10-2026</a:t>
            </a:r>
          </a:p>
        </p:txBody>
      </p:sp>
      <p:sp>
        <p:nvSpPr>
          <p:cNvPr id="14" name="TextBox 14"/>
          <p:cNvSpPr txBox="1"/>
          <p:nvPr/>
        </p:nvSpPr>
        <p:spPr>
          <a:xfrm>
            <a:off x="321393" y="3352733"/>
            <a:ext cx="4900460" cy="440522"/>
          </a:xfrm>
          <a:prstGeom prst="rect">
            <a:avLst/>
          </a:prstGeom>
        </p:spPr>
        <p:txBody>
          <a:bodyPr lIns="0" tIns="0" rIns="0" bIns="0" rtlCol="0" anchor="t">
            <a:spAutoFit/>
          </a:bodyPr>
          <a:lstStyle/>
          <a:p>
            <a:pPr algn="l">
              <a:lnSpc>
                <a:spcPts val="3583"/>
              </a:lnSpc>
            </a:pPr>
            <a:r>
              <a:rPr lang="en-US" sz="2559" b="1">
                <a:solidFill>
                  <a:srgbClr val="1F497D"/>
                </a:solidFill>
                <a:latin typeface="Arial Bold"/>
                <a:ea typeface="Arial Bold"/>
                <a:cs typeface="Arial Bold"/>
                <a:sym typeface="Arial Bold"/>
              </a:rPr>
              <a:t>Topic : Crop Disease Detection</a:t>
            </a:r>
          </a:p>
        </p:txBody>
      </p:sp>
      <p:sp>
        <p:nvSpPr>
          <p:cNvPr id="15" name="TextBox 15"/>
          <p:cNvSpPr txBox="1"/>
          <p:nvPr/>
        </p:nvSpPr>
        <p:spPr>
          <a:xfrm>
            <a:off x="599408" y="3960724"/>
            <a:ext cx="1628742" cy="573862"/>
          </a:xfrm>
          <a:prstGeom prst="rect">
            <a:avLst/>
          </a:prstGeom>
        </p:spPr>
        <p:txBody>
          <a:bodyPr lIns="0" tIns="0" rIns="0" bIns="0" rtlCol="0" anchor="t">
            <a:spAutoFit/>
          </a:bodyPr>
          <a:lstStyle/>
          <a:p>
            <a:pPr algn="ctr">
              <a:lnSpc>
                <a:spcPts val="4660"/>
              </a:lnSpc>
            </a:pPr>
            <a:r>
              <a:rPr lang="en-US" sz="3329" b="1">
                <a:solidFill>
                  <a:srgbClr val="000000"/>
                </a:solidFill>
                <a:latin typeface="Arial Bold"/>
                <a:ea typeface="Arial Bold"/>
                <a:cs typeface="Arial Bold"/>
                <a:sym typeface="Arial Bold"/>
              </a:rPr>
              <a:t>Roll No.</a:t>
            </a:r>
          </a:p>
        </p:txBody>
      </p:sp>
      <p:sp>
        <p:nvSpPr>
          <p:cNvPr id="16" name="TextBox 16"/>
          <p:cNvSpPr txBox="1"/>
          <p:nvPr/>
        </p:nvSpPr>
        <p:spPr>
          <a:xfrm>
            <a:off x="1083097" y="5363261"/>
            <a:ext cx="259223" cy="326622"/>
          </a:xfrm>
          <a:prstGeom prst="rect">
            <a:avLst/>
          </a:prstGeom>
        </p:spPr>
        <p:txBody>
          <a:bodyPr lIns="0" tIns="0" rIns="0" bIns="0" rtlCol="0" anchor="t">
            <a:spAutoFit/>
          </a:bodyPr>
          <a:lstStyle/>
          <a:p>
            <a:pPr algn="l">
              <a:lnSpc>
                <a:spcPts val="2518"/>
              </a:lnSpc>
            </a:pPr>
            <a:r>
              <a:rPr lang="en-US" sz="1799">
                <a:solidFill>
                  <a:srgbClr val="000000"/>
                </a:solidFill>
                <a:latin typeface="Arimo"/>
                <a:ea typeface="Arimo"/>
                <a:cs typeface="Arimo"/>
                <a:sym typeface="Arimo"/>
              </a:rPr>
              <a:t>26</a:t>
            </a:r>
          </a:p>
        </p:txBody>
      </p:sp>
      <p:sp>
        <p:nvSpPr>
          <p:cNvPr id="17" name="TextBox 17"/>
          <p:cNvSpPr txBox="1"/>
          <p:nvPr/>
        </p:nvSpPr>
        <p:spPr>
          <a:xfrm>
            <a:off x="1083097" y="5955468"/>
            <a:ext cx="259223" cy="326622"/>
          </a:xfrm>
          <a:prstGeom prst="rect">
            <a:avLst/>
          </a:prstGeom>
        </p:spPr>
        <p:txBody>
          <a:bodyPr lIns="0" tIns="0" rIns="0" bIns="0" rtlCol="0" anchor="t">
            <a:spAutoFit/>
          </a:bodyPr>
          <a:lstStyle/>
          <a:p>
            <a:pPr algn="l">
              <a:lnSpc>
                <a:spcPts val="2518"/>
              </a:lnSpc>
            </a:pPr>
            <a:r>
              <a:rPr lang="en-US" sz="1799">
                <a:solidFill>
                  <a:srgbClr val="000000"/>
                </a:solidFill>
                <a:latin typeface="Arimo"/>
                <a:ea typeface="Arimo"/>
                <a:cs typeface="Arimo"/>
                <a:sym typeface="Arimo"/>
              </a:rPr>
              <a:t>50</a:t>
            </a:r>
          </a:p>
        </p:txBody>
      </p:sp>
      <p:sp>
        <p:nvSpPr>
          <p:cNvPr id="18" name="TextBox 18"/>
          <p:cNvSpPr txBox="1"/>
          <p:nvPr/>
        </p:nvSpPr>
        <p:spPr>
          <a:xfrm>
            <a:off x="1083097" y="6517443"/>
            <a:ext cx="259223" cy="326622"/>
          </a:xfrm>
          <a:prstGeom prst="rect">
            <a:avLst/>
          </a:prstGeom>
        </p:spPr>
        <p:txBody>
          <a:bodyPr lIns="0" tIns="0" rIns="0" bIns="0" rtlCol="0" anchor="t">
            <a:spAutoFit/>
          </a:bodyPr>
          <a:lstStyle/>
          <a:p>
            <a:pPr algn="l">
              <a:lnSpc>
                <a:spcPts val="2518"/>
              </a:lnSpc>
            </a:pPr>
            <a:r>
              <a:rPr lang="en-US" sz="1799">
                <a:solidFill>
                  <a:srgbClr val="000000"/>
                </a:solidFill>
                <a:latin typeface="Arimo"/>
                <a:ea typeface="Arimo"/>
                <a:cs typeface="Arimo"/>
                <a:sym typeface="Arimo"/>
              </a:rPr>
              <a:t>55</a:t>
            </a:r>
          </a:p>
        </p:txBody>
      </p:sp>
      <p:sp>
        <p:nvSpPr>
          <p:cNvPr id="19" name="TextBox 19"/>
          <p:cNvSpPr txBox="1"/>
          <p:nvPr/>
        </p:nvSpPr>
        <p:spPr>
          <a:xfrm>
            <a:off x="2657685" y="5363261"/>
            <a:ext cx="2823467" cy="326622"/>
          </a:xfrm>
          <a:prstGeom prst="rect">
            <a:avLst/>
          </a:prstGeom>
        </p:spPr>
        <p:txBody>
          <a:bodyPr lIns="0" tIns="0" rIns="0" bIns="0" rtlCol="0" anchor="t">
            <a:spAutoFit/>
          </a:bodyPr>
          <a:lstStyle/>
          <a:p>
            <a:pPr algn="l">
              <a:lnSpc>
                <a:spcPts val="2518"/>
              </a:lnSpc>
            </a:pPr>
            <a:r>
              <a:rPr lang="en-US" sz="1799">
                <a:solidFill>
                  <a:srgbClr val="000000"/>
                </a:solidFill>
                <a:latin typeface="Arimo"/>
                <a:ea typeface="Arimo"/>
                <a:cs typeface="Arimo"/>
                <a:sym typeface="Arimo"/>
              </a:rPr>
              <a:t>Shrushti Dipaksingh Girase</a:t>
            </a:r>
          </a:p>
        </p:txBody>
      </p:sp>
      <p:sp>
        <p:nvSpPr>
          <p:cNvPr id="20" name="TextBox 20"/>
          <p:cNvSpPr txBox="1"/>
          <p:nvPr/>
        </p:nvSpPr>
        <p:spPr>
          <a:xfrm>
            <a:off x="2657685" y="5955468"/>
            <a:ext cx="3109055" cy="326622"/>
          </a:xfrm>
          <a:prstGeom prst="rect">
            <a:avLst/>
          </a:prstGeom>
        </p:spPr>
        <p:txBody>
          <a:bodyPr lIns="0" tIns="0" rIns="0" bIns="0" rtlCol="0" anchor="t">
            <a:spAutoFit/>
          </a:bodyPr>
          <a:lstStyle/>
          <a:p>
            <a:pPr algn="l">
              <a:lnSpc>
                <a:spcPts val="2518"/>
              </a:lnSpc>
            </a:pPr>
            <a:r>
              <a:rPr lang="en-US" sz="1799">
                <a:solidFill>
                  <a:srgbClr val="000000"/>
                </a:solidFill>
                <a:latin typeface="Arimo"/>
                <a:ea typeface="Arimo"/>
                <a:cs typeface="Arimo"/>
                <a:sym typeface="Arimo"/>
              </a:rPr>
              <a:t>Pathan Zoha Khan Ferozkhan</a:t>
            </a:r>
          </a:p>
        </p:txBody>
      </p:sp>
      <p:sp>
        <p:nvSpPr>
          <p:cNvPr id="21" name="TextBox 21"/>
          <p:cNvSpPr txBox="1"/>
          <p:nvPr/>
        </p:nvSpPr>
        <p:spPr>
          <a:xfrm>
            <a:off x="2657685" y="6517443"/>
            <a:ext cx="2136791" cy="326622"/>
          </a:xfrm>
          <a:prstGeom prst="rect">
            <a:avLst/>
          </a:prstGeom>
        </p:spPr>
        <p:txBody>
          <a:bodyPr lIns="0" tIns="0" rIns="0" bIns="0" rtlCol="0" anchor="t">
            <a:spAutoFit/>
          </a:bodyPr>
          <a:lstStyle/>
          <a:p>
            <a:pPr algn="l">
              <a:lnSpc>
                <a:spcPts val="2518"/>
              </a:lnSpc>
            </a:pPr>
            <a:r>
              <a:rPr lang="en-US" sz="1799">
                <a:solidFill>
                  <a:srgbClr val="000000"/>
                </a:solidFill>
                <a:latin typeface="Arimo"/>
                <a:ea typeface="Arimo"/>
                <a:cs typeface="Arimo"/>
                <a:sym typeface="Arimo"/>
              </a:rPr>
              <a:t>Hiteshri Gorakh Patil</a:t>
            </a:r>
          </a:p>
        </p:txBody>
      </p:sp>
      <p:sp>
        <p:nvSpPr>
          <p:cNvPr id="22" name="TextBox 22"/>
          <p:cNvSpPr txBox="1"/>
          <p:nvPr/>
        </p:nvSpPr>
        <p:spPr>
          <a:xfrm>
            <a:off x="1149129" y="4696511"/>
            <a:ext cx="127159" cy="325774"/>
          </a:xfrm>
          <a:prstGeom prst="rect">
            <a:avLst/>
          </a:prstGeom>
        </p:spPr>
        <p:txBody>
          <a:bodyPr lIns="0" tIns="0" rIns="0" bIns="0" rtlCol="0" anchor="t">
            <a:spAutoFit/>
          </a:bodyPr>
          <a:lstStyle/>
          <a:p>
            <a:pPr algn="ctr">
              <a:lnSpc>
                <a:spcPts val="2518"/>
              </a:lnSpc>
              <a:spcBef>
                <a:spcPct val="0"/>
              </a:spcBef>
            </a:pPr>
            <a:r>
              <a:rPr lang="en-US" sz="1799">
                <a:solidFill>
                  <a:srgbClr val="000000"/>
                </a:solidFill>
                <a:latin typeface="Arimo"/>
                <a:ea typeface="Arimo"/>
                <a:cs typeface="Arimo"/>
                <a:sym typeface="Arimo"/>
              </a:rPr>
              <a:t>8</a:t>
            </a:r>
          </a:p>
        </p:txBody>
      </p:sp>
      <p:sp>
        <p:nvSpPr>
          <p:cNvPr id="23" name="TextBox 23"/>
          <p:cNvSpPr txBox="1"/>
          <p:nvPr/>
        </p:nvSpPr>
        <p:spPr>
          <a:xfrm>
            <a:off x="2592110" y="3942111"/>
            <a:ext cx="4376142" cy="592475"/>
          </a:xfrm>
          <a:prstGeom prst="rect">
            <a:avLst/>
          </a:prstGeom>
        </p:spPr>
        <p:txBody>
          <a:bodyPr lIns="0" tIns="0" rIns="0" bIns="0" rtlCol="0" anchor="t">
            <a:spAutoFit/>
          </a:bodyPr>
          <a:lstStyle/>
          <a:p>
            <a:pPr algn="ctr">
              <a:lnSpc>
                <a:spcPts val="4618"/>
              </a:lnSpc>
              <a:spcBef>
                <a:spcPct val="0"/>
              </a:spcBef>
            </a:pPr>
            <a:r>
              <a:rPr lang="en-US" sz="3299" b="1">
                <a:solidFill>
                  <a:srgbClr val="000000"/>
                </a:solidFill>
                <a:latin typeface="Arimo Bold"/>
                <a:ea typeface="Arimo Bold"/>
                <a:cs typeface="Arimo Bold"/>
                <a:sym typeface="Arimo Bold"/>
              </a:rPr>
              <a:t>Name Of The Student </a:t>
            </a:r>
          </a:p>
        </p:txBody>
      </p:sp>
      <p:sp>
        <p:nvSpPr>
          <p:cNvPr id="24" name="TextBox 24"/>
          <p:cNvSpPr txBox="1"/>
          <p:nvPr/>
        </p:nvSpPr>
        <p:spPr>
          <a:xfrm>
            <a:off x="2662066" y="4725086"/>
            <a:ext cx="1991325" cy="325774"/>
          </a:xfrm>
          <a:prstGeom prst="rect">
            <a:avLst/>
          </a:prstGeom>
        </p:spPr>
        <p:txBody>
          <a:bodyPr lIns="0" tIns="0" rIns="0" bIns="0" rtlCol="0" anchor="t">
            <a:spAutoFit/>
          </a:bodyPr>
          <a:lstStyle/>
          <a:p>
            <a:pPr algn="ctr">
              <a:lnSpc>
                <a:spcPts val="2518"/>
              </a:lnSpc>
              <a:spcBef>
                <a:spcPct val="0"/>
              </a:spcBef>
            </a:pPr>
            <a:r>
              <a:rPr lang="en-US" sz="1799">
                <a:solidFill>
                  <a:srgbClr val="000000"/>
                </a:solidFill>
                <a:latin typeface="Arimo"/>
                <a:ea typeface="Arimo"/>
                <a:cs typeface="Arimo"/>
                <a:sym typeface="Arimo"/>
              </a:rPr>
              <a:t>Ansari Sana Salim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TextBox 3"/>
          <p:cNvSpPr txBox="1"/>
          <p:nvPr/>
        </p:nvSpPr>
        <p:spPr>
          <a:xfrm>
            <a:off x="3707904" y="270817"/>
            <a:ext cx="2540496" cy="749821"/>
          </a:xfrm>
          <a:prstGeom prst="rect">
            <a:avLst/>
          </a:prstGeom>
        </p:spPr>
        <p:txBody>
          <a:bodyPr wrap="square" lIns="0" tIns="0" rIns="0" bIns="0" rtlCol="0" anchor="t">
            <a:spAutoFit/>
          </a:bodyPr>
          <a:lstStyle/>
          <a:p>
            <a:pPr algn="ctr">
              <a:lnSpc>
                <a:spcPts val="6438"/>
              </a:lnSpc>
              <a:spcBef>
                <a:spcPct val="0"/>
              </a:spcBef>
            </a:pPr>
            <a:r>
              <a:rPr lang="en-US" sz="4599" dirty="0">
                <a:solidFill>
                  <a:srgbClr val="1F497D"/>
                </a:solidFill>
                <a:latin typeface="Arimo"/>
                <a:ea typeface="Arimo"/>
                <a:cs typeface="Arimo"/>
                <a:sym typeface="Arimo"/>
              </a:rPr>
              <a:t>Contents</a:t>
            </a:r>
          </a:p>
        </p:txBody>
      </p:sp>
      <p:sp>
        <p:nvSpPr>
          <p:cNvPr id="4" name="TextBox 4"/>
          <p:cNvSpPr txBox="1"/>
          <p:nvPr/>
        </p:nvSpPr>
        <p:spPr>
          <a:xfrm>
            <a:off x="731520" y="1704197"/>
            <a:ext cx="5447348" cy="4726324"/>
          </a:xfrm>
          <a:prstGeom prst="rect">
            <a:avLst/>
          </a:prstGeom>
        </p:spPr>
        <p:txBody>
          <a:bodyPr lIns="0" tIns="0" rIns="0" bIns="0" rtlCol="0" anchor="t">
            <a:spAutoFit/>
          </a:bodyPr>
          <a:lstStyle/>
          <a:p>
            <a:pPr algn="l">
              <a:lnSpc>
                <a:spcPts val="2518"/>
              </a:lnSpc>
              <a:spcBef>
                <a:spcPct val="0"/>
              </a:spcBef>
            </a:pPr>
            <a:r>
              <a:rPr lang="en-US" sz="1799">
                <a:solidFill>
                  <a:srgbClr val="000000"/>
                </a:solidFill>
                <a:latin typeface="Arimo"/>
                <a:ea typeface="Arimo"/>
                <a:cs typeface="Arimo"/>
                <a:sym typeface="Arimo"/>
              </a:rPr>
              <a:t>1. Introduction</a:t>
            </a:r>
          </a:p>
          <a:p>
            <a:pPr algn="l">
              <a:lnSpc>
                <a:spcPts val="2518"/>
              </a:lnSpc>
              <a:spcBef>
                <a:spcPct val="0"/>
              </a:spcBef>
            </a:pPr>
            <a:r>
              <a:rPr lang="en-US" sz="1799">
                <a:solidFill>
                  <a:srgbClr val="000000"/>
                </a:solidFill>
                <a:latin typeface="Arimo"/>
                <a:ea typeface="Arimo"/>
                <a:cs typeface="Arimo"/>
                <a:sym typeface="Arimo"/>
              </a:rPr>
              <a:t>2.Literature Review </a:t>
            </a:r>
          </a:p>
          <a:p>
            <a:pPr algn="l">
              <a:lnSpc>
                <a:spcPts val="2518"/>
              </a:lnSpc>
              <a:spcBef>
                <a:spcPct val="0"/>
              </a:spcBef>
            </a:pPr>
            <a:r>
              <a:rPr lang="en-US" sz="1799">
                <a:solidFill>
                  <a:srgbClr val="000000"/>
                </a:solidFill>
                <a:latin typeface="Arimo"/>
                <a:ea typeface="Arimo"/>
                <a:cs typeface="Arimo"/>
                <a:sym typeface="Arimo"/>
              </a:rPr>
              <a:t>3.Information to Seminar topic </a:t>
            </a:r>
          </a:p>
          <a:p>
            <a:pPr algn="l">
              <a:lnSpc>
                <a:spcPts val="2518"/>
              </a:lnSpc>
              <a:spcBef>
                <a:spcPct val="0"/>
              </a:spcBef>
            </a:pPr>
            <a:r>
              <a:rPr lang="en-US" sz="1799">
                <a:solidFill>
                  <a:srgbClr val="000000"/>
                </a:solidFill>
                <a:latin typeface="Arimo"/>
                <a:ea typeface="Arimo"/>
                <a:cs typeface="Arimo"/>
                <a:sym typeface="Arimo"/>
              </a:rPr>
              <a:t>4.Advantages and Disadvantages </a:t>
            </a:r>
          </a:p>
          <a:p>
            <a:pPr algn="l">
              <a:lnSpc>
                <a:spcPts val="2518"/>
              </a:lnSpc>
              <a:spcBef>
                <a:spcPct val="0"/>
              </a:spcBef>
            </a:pPr>
            <a:r>
              <a:rPr lang="en-US" sz="1799">
                <a:solidFill>
                  <a:srgbClr val="000000"/>
                </a:solidFill>
                <a:latin typeface="Arimo"/>
                <a:ea typeface="Arimo"/>
                <a:cs typeface="Arimo"/>
                <a:sym typeface="Arimo"/>
              </a:rPr>
              <a:t>5. Conclusion</a:t>
            </a:r>
          </a:p>
          <a:p>
            <a:pPr algn="l">
              <a:lnSpc>
                <a:spcPts val="2518"/>
              </a:lnSpc>
              <a:spcBef>
                <a:spcPct val="0"/>
              </a:spcBef>
            </a:pPr>
            <a:r>
              <a:rPr lang="en-US" sz="1799">
                <a:solidFill>
                  <a:srgbClr val="000000"/>
                </a:solidFill>
                <a:latin typeface="Arimo"/>
                <a:ea typeface="Arimo"/>
                <a:cs typeface="Arimo"/>
                <a:sym typeface="Arimo"/>
              </a:rPr>
              <a:t>6.Project Initiation : </a:t>
            </a:r>
          </a:p>
          <a:p>
            <a:pPr algn="l">
              <a:lnSpc>
                <a:spcPts val="2518"/>
              </a:lnSpc>
              <a:spcBef>
                <a:spcPct val="0"/>
              </a:spcBef>
            </a:pPr>
            <a:r>
              <a:rPr lang="en-US" sz="1799">
                <a:solidFill>
                  <a:srgbClr val="000000"/>
                </a:solidFill>
                <a:latin typeface="Arimo"/>
                <a:ea typeface="Arimo"/>
                <a:cs typeface="Arimo"/>
                <a:sym typeface="Arimo"/>
              </a:rPr>
              <a:t>      6. 1 Description of problem statement.</a:t>
            </a:r>
          </a:p>
          <a:p>
            <a:pPr algn="l">
              <a:lnSpc>
                <a:spcPts val="2518"/>
              </a:lnSpc>
              <a:spcBef>
                <a:spcPct val="0"/>
              </a:spcBef>
            </a:pPr>
            <a:r>
              <a:rPr lang="en-US" sz="1799">
                <a:solidFill>
                  <a:srgbClr val="000000"/>
                </a:solidFill>
                <a:latin typeface="Arimo"/>
                <a:ea typeface="Arimo"/>
                <a:cs typeface="Arimo"/>
                <a:sym typeface="Arimo"/>
              </a:rPr>
              <a:t>      6. 2 Scope and objectives.</a:t>
            </a:r>
          </a:p>
          <a:p>
            <a:pPr algn="l">
              <a:lnSpc>
                <a:spcPts val="2518"/>
              </a:lnSpc>
              <a:spcBef>
                <a:spcPct val="0"/>
              </a:spcBef>
            </a:pPr>
            <a:r>
              <a:rPr lang="en-US" sz="1799">
                <a:solidFill>
                  <a:srgbClr val="000000"/>
                </a:solidFill>
                <a:latin typeface="Arimo"/>
                <a:ea typeface="Arimo"/>
                <a:cs typeface="Arimo"/>
                <a:sym typeface="Arimo"/>
              </a:rPr>
              <a:t>      6. 3 Stake holder</a:t>
            </a:r>
          </a:p>
          <a:p>
            <a:pPr algn="l">
              <a:lnSpc>
                <a:spcPts val="2518"/>
              </a:lnSpc>
              <a:spcBef>
                <a:spcPct val="0"/>
              </a:spcBef>
            </a:pPr>
            <a:r>
              <a:rPr lang="en-US" sz="1799">
                <a:solidFill>
                  <a:srgbClr val="000000"/>
                </a:solidFill>
                <a:latin typeface="Arimo"/>
                <a:ea typeface="Arimo"/>
                <a:cs typeface="Arimo"/>
                <a:sym typeface="Arimo"/>
              </a:rPr>
              <a:t>      6. 4 seminar exsicussion plan</a:t>
            </a:r>
          </a:p>
          <a:p>
            <a:pPr algn="l">
              <a:lnSpc>
                <a:spcPts val="2518"/>
              </a:lnSpc>
              <a:spcBef>
                <a:spcPct val="0"/>
              </a:spcBef>
            </a:pPr>
            <a:r>
              <a:rPr lang="en-US" sz="1799">
                <a:solidFill>
                  <a:srgbClr val="000000"/>
                </a:solidFill>
                <a:latin typeface="Arimo"/>
                <a:ea typeface="Arimo"/>
                <a:cs typeface="Arimo"/>
                <a:sym typeface="Arimo"/>
              </a:rPr>
              <a:t>      6.5 Platform/ Equipment/ Resources identification.</a:t>
            </a:r>
          </a:p>
          <a:p>
            <a:pPr algn="l">
              <a:lnSpc>
                <a:spcPts val="2518"/>
              </a:lnSpc>
              <a:spcBef>
                <a:spcPct val="0"/>
              </a:spcBef>
            </a:pPr>
            <a:r>
              <a:rPr lang="en-US" sz="1799">
                <a:solidFill>
                  <a:srgbClr val="000000"/>
                </a:solidFill>
                <a:latin typeface="Arimo"/>
                <a:ea typeface="Arimo"/>
                <a:cs typeface="Arimo"/>
                <a:sym typeface="Arimo"/>
              </a:rPr>
              <a:t>7. Bibliography</a:t>
            </a:r>
          </a:p>
          <a:p>
            <a:pPr algn="l">
              <a:lnSpc>
                <a:spcPts val="2518"/>
              </a:lnSpc>
              <a:spcBef>
                <a:spcPct val="0"/>
              </a:spcBef>
            </a:pPr>
            <a:r>
              <a:rPr lang="en-US" sz="1799">
                <a:solidFill>
                  <a:srgbClr val="000000"/>
                </a:solidFill>
                <a:latin typeface="Arimo"/>
                <a:ea typeface="Arimo"/>
                <a:cs typeface="Arimo"/>
                <a:sym typeface="Arimo"/>
              </a:rPr>
              <a:t>8. References</a:t>
            </a:r>
          </a:p>
          <a:p>
            <a:pPr algn="l">
              <a:lnSpc>
                <a:spcPts val="2518"/>
              </a:lnSpc>
              <a:spcBef>
                <a:spcPct val="0"/>
              </a:spcBef>
            </a:pPr>
            <a:endParaRPr lang="en-US" sz="1799">
              <a:solidFill>
                <a:srgbClr val="000000"/>
              </a:solidFill>
              <a:latin typeface="Arimo"/>
              <a:ea typeface="Arimo"/>
              <a:cs typeface="Arimo"/>
              <a:sym typeface="Arimo"/>
            </a:endParaRPr>
          </a:p>
          <a:p>
            <a:pPr algn="l">
              <a:lnSpc>
                <a:spcPts val="2518"/>
              </a:lnSpc>
              <a:spcBef>
                <a:spcPct val="0"/>
              </a:spcBef>
            </a:pPr>
            <a:r>
              <a:rPr lang="en-US" sz="1799">
                <a:solidFill>
                  <a:srgbClr val="000000"/>
                </a:solidFill>
                <a:latin typeface="Arimo"/>
                <a:ea typeface="Arimo"/>
                <a:cs typeface="Arimo"/>
                <a:sym typeface="Arimo"/>
              </a:rPr>
              <a:t> </a:t>
            </a:r>
          </a:p>
        </p:txBody>
      </p:sp>
      <p:sp>
        <p:nvSpPr>
          <p:cNvPr id="5" name="TextBox 5"/>
          <p:cNvSpPr txBox="1"/>
          <p:nvPr/>
        </p:nvSpPr>
        <p:spPr>
          <a:xfrm>
            <a:off x="566885" y="1435573"/>
            <a:ext cx="3244922" cy="325774"/>
          </a:xfrm>
          <a:prstGeom prst="rect">
            <a:avLst/>
          </a:prstGeom>
        </p:spPr>
        <p:txBody>
          <a:bodyPr lIns="0" tIns="0" rIns="0" bIns="0" rtlCol="0" anchor="t">
            <a:spAutoFit/>
          </a:bodyPr>
          <a:lstStyle/>
          <a:p>
            <a:pPr marL="388458" lvl="1" indent="-194229" algn="l">
              <a:lnSpc>
                <a:spcPts val="2518"/>
              </a:lnSpc>
              <a:spcBef>
                <a:spcPct val="0"/>
              </a:spcBef>
              <a:buFont typeface="Arial"/>
              <a:buChar char="•"/>
            </a:pPr>
            <a:r>
              <a:rPr lang="en-US" sz="1799">
                <a:solidFill>
                  <a:srgbClr val="000000"/>
                </a:solidFill>
                <a:latin typeface="Arimo"/>
                <a:ea typeface="Arimo"/>
                <a:cs typeface="Arimo"/>
                <a:sym typeface="Arimo"/>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TextBox 3"/>
          <p:cNvSpPr txBox="1"/>
          <p:nvPr/>
        </p:nvSpPr>
        <p:spPr>
          <a:xfrm>
            <a:off x="3867264" y="343433"/>
            <a:ext cx="2059153" cy="815683"/>
          </a:xfrm>
          <a:prstGeom prst="rect">
            <a:avLst/>
          </a:prstGeom>
        </p:spPr>
        <p:txBody>
          <a:bodyPr lIns="0" tIns="0" rIns="0" bIns="0" rtlCol="0" anchor="t">
            <a:spAutoFit/>
          </a:bodyPr>
          <a:lstStyle/>
          <a:p>
            <a:pPr algn="l">
              <a:lnSpc>
                <a:spcPts val="6569"/>
              </a:lnSpc>
            </a:pPr>
            <a:r>
              <a:rPr lang="en-US" sz="4692">
                <a:solidFill>
                  <a:srgbClr val="002060"/>
                </a:solidFill>
                <a:latin typeface="Times New Roman"/>
                <a:ea typeface="Times New Roman"/>
                <a:cs typeface="Times New Roman"/>
                <a:sym typeface="Times New Roman"/>
              </a:rPr>
              <a:t>Abstract</a:t>
            </a:r>
          </a:p>
        </p:txBody>
      </p:sp>
      <p:sp>
        <p:nvSpPr>
          <p:cNvPr id="4" name="TextBox 4"/>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5" name="TextBox 5"/>
          <p:cNvSpPr txBox="1"/>
          <p:nvPr/>
        </p:nvSpPr>
        <p:spPr>
          <a:xfrm>
            <a:off x="644338" y="1763154"/>
            <a:ext cx="8480574" cy="1736195"/>
          </a:xfrm>
          <a:prstGeom prst="rect">
            <a:avLst/>
          </a:prstGeom>
        </p:spPr>
        <p:txBody>
          <a:bodyPr lIns="0" tIns="0" rIns="0" bIns="0" rtlCol="0" anchor="t">
            <a:spAutoFit/>
          </a:bodyPr>
          <a:lstStyle/>
          <a:p>
            <a:pPr algn="just">
              <a:lnSpc>
                <a:spcPts val="2250"/>
              </a:lnSpc>
            </a:pPr>
            <a:r>
              <a:rPr lang="en-US" sz="1893" spc="37" dirty="0">
                <a:solidFill>
                  <a:srgbClr val="000000"/>
                </a:solidFill>
                <a:latin typeface="Times New Roman"/>
                <a:ea typeface="Times New Roman"/>
                <a:cs typeface="Times New Roman"/>
                <a:sym typeface="Times New Roman"/>
              </a:rPr>
              <a:t>Crop Disease Detection is a technology-based system that identifies plant diseases using crop leaf images. It uses image processing and deep learning techniques, such as Convolutional Neural Networks (CNN), to classify leaves as healthy or diseased. The system aims to provide fast and easy disease detection, helping farmers take timely preventive measures, reduce crop losses, and improve agricultural productivity.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2286000" y="382348"/>
            <a:ext cx="4208605" cy="775405"/>
          </a:xfrm>
          <a:prstGeom prst="rect">
            <a:avLst/>
          </a:prstGeom>
        </p:spPr>
        <p:txBody>
          <a:bodyPr wrap="square" lIns="0" tIns="0" rIns="0" bIns="0" rtlCol="0" anchor="t">
            <a:spAutoFit/>
          </a:bodyPr>
          <a:lstStyle/>
          <a:p>
            <a:pPr algn="ctr">
              <a:lnSpc>
                <a:spcPts val="6551"/>
              </a:lnSpc>
              <a:spcBef>
                <a:spcPct val="0"/>
              </a:spcBef>
            </a:pPr>
            <a:r>
              <a:rPr lang="en-US" sz="4679" dirty="0">
                <a:solidFill>
                  <a:srgbClr val="1F497D"/>
                </a:solidFill>
                <a:latin typeface="Times New Roman"/>
                <a:ea typeface="Times New Roman"/>
                <a:cs typeface="Times New Roman"/>
                <a:sym typeface="Times New Roman"/>
              </a:rPr>
              <a:t>1. Introduction</a:t>
            </a:r>
          </a:p>
        </p:txBody>
      </p:sp>
      <p:sp>
        <p:nvSpPr>
          <p:cNvPr id="4" name="TextBox 4"/>
          <p:cNvSpPr txBox="1"/>
          <p:nvPr/>
        </p:nvSpPr>
        <p:spPr>
          <a:xfrm>
            <a:off x="731520" y="1441675"/>
            <a:ext cx="8152686" cy="2676072"/>
          </a:xfrm>
          <a:prstGeom prst="rect">
            <a:avLst/>
          </a:prstGeom>
        </p:spPr>
        <p:txBody>
          <a:bodyPr lIns="0" tIns="0" rIns="0" bIns="0" rtlCol="0" anchor="t">
            <a:spAutoFit/>
          </a:bodyPr>
          <a:lstStyle/>
          <a:p>
            <a:pPr algn="just">
              <a:lnSpc>
                <a:spcPts val="2649"/>
              </a:lnSpc>
              <a:spcBef>
                <a:spcPct val="0"/>
              </a:spcBef>
            </a:pPr>
            <a:r>
              <a:rPr lang="en-US" sz="1892" dirty="0">
                <a:solidFill>
                  <a:srgbClr val="000000"/>
                </a:solidFill>
                <a:latin typeface="Times New Roman"/>
                <a:ea typeface="Times New Roman"/>
                <a:cs typeface="Times New Roman"/>
                <a:sym typeface="Times New Roman"/>
              </a:rPr>
              <a:t>Agriculture is an important part of our lives, but crop diseases can reduce crop</a:t>
            </a:r>
          </a:p>
          <a:p>
            <a:pPr algn="just">
              <a:lnSpc>
                <a:spcPts val="2649"/>
              </a:lnSpc>
              <a:spcBef>
                <a:spcPct val="0"/>
              </a:spcBef>
            </a:pPr>
            <a:r>
              <a:rPr lang="en-US" sz="1892" dirty="0">
                <a:solidFill>
                  <a:srgbClr val="000000"/>
                </a:solidFill>
                <a:latin typeface="Times New Roman"/>
                <a:ea typeface="Times New Roman"/>
                <a:cs typeface="Times New Roman"/>
                <a:sym typeface="Times New Roman"/>
              </a:rPr>
              <a:t>quality and production. Traditional methods of disease detection require manual inspection and expert knowledge, which can be time-consuming.</a:t>
            </a:r>
          </a:p>
          <a:p>
            <a:pPr algn="just">
              <a:lnSpc>
                <a:spcPts val="2649"/>
              </a:lnSpc>
              <a:spcBef>
                <a:spcPct val="0"/>
              </a:spcBef>
            </a:pPr>
            <a:r>
              <a:rPr lang="en-US" sz="1892" dirty="0">
                <a:solidFill>
                  <a:srgbClr val="000000"/>
                </a:solidFill>
                <a:latin typeface="Times New Roman"/>
                <a:ea typeface="Times New Roman"/>
                <a:cs typeface="Times New Roman"/>
                <a:sym typeface="Times New Roman"/>
              </a:rPr>
              <a:t>Our project, Crop Disease Detection, uses image processing and deep learning techniques to identify diseases from crop leaf images. It aims to detect diseases at an early stage, help farmers take timely action, reduce crop losses, and improve agricultural productivity through modern technology.</a:t>
            </a:r>
          </a:p>
          <a:p>
            <a:pPr algn="just">
              <a:lnSpc>
                <a:spcPts val="2649"/>
              </a:lnSpc>
              <a:spcBef>
                <a:spcPct val="0"/>
              </a:spcBef>
            </a:pPr>
            <a:endParaRPr lang="en-US" sz="1892" dirty="0">
              <a:solidFill>
                <a:srgbClr val="000000"/>
              </a:solidFill>
              <a:latin typeface="Times New Roman"/>
              <a:ea typeface="Times New Roman"/>
              <a:cs typeface="Times New Roman"/>
              <a:sym typeface="Times New Roman"/>
            </a:endParaRPr>
          </a:p>
        </p:txBody>
      </p:sp>
      <p:grpSp>
        <p:nvGrpSpPr>
          <p:cNvPr id="5" name="Group 5"/>
          <p:cNvGrpSpPr/>
          <p:nvPr/>
        </p:nvGrpSpPr>
        <p:grpSpPr>
          <a:xfrm>
            <a:off x="2813850" y="3923891"/>
            <a:ext cx="4417442" cy="2907288"/>
            <a:chOff x="0" y="0"/>
            <a:chExt cx="6942988" cy="4569447"/>
          </a:xfrm>
        </p:grpSpPr>
        <p:sp>
          <p:nvSpPr>
            <p:cNvPr id="6" name="Freeform 6"/>
            <p:cNvSpPr/>
            <p:nvPr/>
          </p:nvSpPr>
          <p:spPr>
            <a:xfrm>
              <a:off x="0" y="0"/>
              <a:ext cx="6942963" cy="4569460"/>
            </a:xfrm>
            <a:custGeom>
              <a:avLst/>
              <a:gdLst/>
              <a:ahLst/>
              <a:cxnLst/>
              <a:rect l="l" t="t" r="r" b="b"/>
              <a:pathLst>
                <a:path w="6942963" h="4569460">
                  <a:moveTo>
                    <a:pt x="0" y="0"/>
                  </a:moveTo>
                  <a:lnTo>
                    <a:pt x="6942963" y="0"/>
                  </a:lnTo>
                  <a:lnTo>
                    <a:pt x="6942963" y="4569460"/>
                  </a:lnTo>
                  <a:lnTo>
                    <a:pt x="0" y="4569460"/>
                  </a:lnTo>
                  <a:lnTo>
                    <a:pt x="0" y="0"/>
                  </a:lnTo>
                  <a:close/>
                </a:path>
              </a:pathLst>
            </a:custGeom>
            <a:blipFill>
              <a:blip r:embed="rId3"/>
              <a:stretch>
                <a:fillRect t="-1289" b="-1210"/>
              </a:stretch>
            </a:blipFill>
          </p:spPr>
          <p:txBody>
            <a:bodyPr/>
            <a:lstStyle/>
            <a:p>
              <a:endParaRPr lang="en-IN"/>
            </a:p>
          </p:txBody>
        </p:sp>
      </p:grpSp>
      <p:sp>
        <p:nvSpPr>
          <p:cNvPr id="7" name="Freeform 7"/>
          <p:cNvSpPr/>
          <p:nvPr/>
        </p:nvSpPr>
        <p:spPr>
          <a:xfrm>
            <a:off x="2813850" y="3923899"/>
            <a:ext cx="4417385" cy="2908783"/>
          </a:xfrm>
          <a:custGeom>
            <a:avLst/>
            <a:gdLst/>
            <a:ahLst/>
            <a:cxnLst/>
            <a:rect l="l" t="t" r="r" b="b"/>
            <a:pathLst>
              <a:path w="4417385" h="2908783">
                <a:moveTo>
                  <a:pt x="0" y="0"/>
                </a:moveTo>
                <a:lnTo>
                  <a:pt x="4417385" y="0"/>
                </a:lnTo>
                <a:lnTo>
                  <a:pt x="4417385" y="2908783"/>
                </a:lnTo>
                <a:lnTo>
                  <a:pt x="0" y="29087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TextBox 3"/>
          <p:cNvSpPr txBox="1"/>
          <p:nvPr/>
        </p:nvSpPr>
        <p:spPr>
          <a:xfrm>
            <a:off x="2133600" y="262311"/>
            <a:ext cx="5347670" cy="775405"/>
          </a:xfrm>
          <a:prstGeom prst="rect">
            <a:avLst/>
          </a:prstGeom>
        </p:spPr>
        <p:txBody>
          <a:bodyPr wrap="square" lIns="0" tIns="0" rIns="0" bIns="0" rtlCol="0" anchor="t">
            <a:spAutoFit/>
          </a:bodyPr>
          <a:lstStyle/>
          <a:p>
            <a:pPr algn="ctr">
              <a:lnSpc>
                <a:spcPts val="6551"/>
              </a:lnSpc>
              <a:spcBef>
                <a:spcPct val="0"/>
              </a:spcBef>
            </a:pPr>
            <a:r>
              <a:rPr lang="en-US" sz="4679" dirty="0">
                <a:solidFill>
                  <a:srgbClr val="1F497D"/>
                </a:solidFill>
                <a:latin typeface="Times New Roman"/>
                <a:ea typeface="Times New Roman"/>
                <a:cs typeface="Times New Roman"/>
                <a:sym typeface="Times New Roman"/>
              </a:rPr>
              <a:t>2.Literatutre Survey</a:t>
            </a:r>
          </a:p>
        </p:txBody>
      </p:sp>
      <p:graphicFrame>
        <p:nvGraphicFramePr>
          <p:cNvPr id="4" name="Table 3">
            <a:extLst>
              <a:ext uri="{FF2B5EF4-FFF2-40B4-BE49-F238E27FC236}">
                <a16:creationId xmlns:a16="http://schemas.microsoft.com/office/drawing/2014/main" id="{82576CC0-3916-F603-DF1D-A849444BDF76}"/>
              </a:ext>
            </a:extLst>
          </p:cNvPr>
          <p:cNvGraphicFramePr>
            <a:graphicFrameLocks noGrp="1"/>
          </p:cNvGraphicFramePr>
          <p:nvPr>
            <p:extLst>
              <p:ext uri="{D42A27DB-BD31-4B8C-83A1-F6EECF244321}">
                <p14:modId xmlns:p14="http://schemas.microsoft.com/office/powerpoint/2010/main" val="2289208418"/>
              </p:ext>
            </p:extLst>
          </p:nvPr>
        </p:nvGraphicFramePr>
        <p:xfrm>
          <a:off x="410632" y="1295400"/>
          <a:ext cx="8932336" cy="5757489"/>
        </p:xfrm>
        <a:graphic>
          <a:graphicData uri="http://schemas.openxmlformats.org/drawingml/2006/table">
            <a:tbl>
              <a:tblPr firstRow="1" bandRow="1">
                <a:tableStyleId>{5C22544A-7EE6-4342-B048-85BDC9FD1C3A}</a:tableStyleId>
              </a:tblPr>
              <a:tblGrid>
                <a:gridCol w="963292">
                  <a:extLst>
                    <a:ext uri="{9D8B030D-6E8A-4147-A177-3AD203B41FA5}">
                      <a16:colId xmlns:a16="http://schemas.microsoft.com/office/drawing/2014/main" val="3127551156"/>
                    </a:ext>
                  </a:extLst>
                </a:gridCol>
                <a:gridCol w="1839010">
                  <a:extLst>
                    <a:ext uri="{9D8B030D-6E8A-4147-A177-3AD203B41FA5}">
                      <a16:colId xmlns:a16="http://schemas.microsoft.com/office/drawing/2014/main" val="3485774207"/>
                    </a:ext>
                  </a:extLst>
                </a:gridCol>
                <a:gridCol w="1663868">
                  <a:extLst>
                    <a:ext uri="{9D8B030D-6E8A-4147-A177-3AD203B41FA5}">
                      <a16:colId xmlns:a16="http://schemas.microsoft.com/office/drawing/2014/main" val="114779393"/>
                    </a:ext>
                  </a:extLst>
                </a:gridCol>
                <a:gridCol w="1488722">
                  <a:extLst>
                    <a:ext uri="{9D8B030D-6E8A-4147-A177-3AD203B41FA5}">
                      <a16:colId xmlns:a16="http://schemas.microsoft.com/office/drawing/2014/main" val="711634299"/>
                    </a:ext>
                  </a:extLst>
                </a:gridCol>
                <a:gridCol w="1488722">
                  <a:extLst>
                    <a:ext uri="{9D8B030D-6E8A-4147-A177-3AD203B41FA5}">
                      <a16:colId xmlns:a16="http://schemas.microsoft.com/office/drawing/2014/main" val="1681290522"/>
                    </a:ext>
                  </a:extLst>
                </a:gridCol>
                <a:gridCol w="1488722">
                  <a:extLst>
                    <a:ext uri="{9D8B030D-6E8A-4147-A177-3AD203B41FA5}">
                      <a16:colId xmlns:a16="http://schemas.microsoft.com/office/drawing/2014/main" val="749934560"/>
                    </a:ext>
                  </a:extLst>
                </a:gridCol>
              </a:tblGrid>
              <a:tr h="916857">
                <a:tc>
                  <a:txBody>
                    <a:bodyPr/>
                    <a:lstStyle/>
                    <a:p>
                      <a:pPr algn="l"/>
                      <a:r>
                        <a:rPr lang="en-IN" sz="1600" dirty="0">
                          <a:latin typeface="Times New Roman" panose="02020603050405020304" pitchFamily="18" charset="0"/>
                          <a:cs typeface="Times New Roman" panose="02020603050405020304" pitchFamily="18" charset="0"/>
                        </a:rPr>
                        <a:t>   Sr.</a:t>
                      </a:r>
                    </a:p>
                    <a:p>
                      <a:pPr algn="l"/>
                      <a:r>
                        <a:rPr lang="en-IN" sz="1600" dirty="0">
                          <a:latin typeface="Times New Roman" panose="02020603050405020304" pitchFamily="18" charset="0"/>
                          <a:cs typeface="Times New Roman" panose="02020603050405020304" pitchFamily="18" charset="0"/>
                        </a:rPr>
                        <a:t>   No</a:t>
                      </a:r>
                    </a:p>
                  </a:txBody>
                  <a:tcPr/>
                </a:tc>
                <a:tc>
                  <a:txBody>
                    <a:bodyPr/>
                    <a:lstStyle/>
                    <a:p>
                      <a:pPr algn="ctr"/>
                      <a:r>
                        <a:rPr lang="en-IN" sz="1600" dirty="0">
                          <a:latin typeface="Times New Roman" panose="02020603050405020304" pitchFamily="18" charset="0"/>
                          <a:cs typeface="Times New Roman" panose="02020603050405020304" pitchFamily="18" charset="0"/>
                        </a:rPr>
                        <a:t> Approach Types</a:t>
                      </a:r>
                    </a:p>
                  </a:txBody>
                  <a:tcPr/>
                </a:tc>
                <a:tc>
                  <a:txBody>
                    <a:bodyPr/>
                    <a:lstStyle/>
                    <a:p>
                      <a:pPr algn="ctr"/>
                      <a:r>
                        <a:rPr lang="en-IN" sz="16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600" dirty="0">
                          <a:latin typeface="Times New Roman" panose="02020603050405020304" pitchFamily="18" charset="0"/>
                          <a:cs typeface="Times New Roman" panose="02020603050405020304" pitchFamily="18" charset="0"/>
                        </a:rPr>
                        <a:t>Dataset</a:t>
                      </a:r>
                    </a:p>
                  </a:txBody>
                  <a:tcPr/>
                </a:tc>
                <a:tc>
                  <a:txBody>
                    <a:bodyPr/>
                    <a:lstStyle/>
                    <a:p>
                      <a:pPr algn="ctr"/>
                      <a:r>
                        <a:rPr lang="en-IN" sz="1600" dirty="0">
                          <a:latin typeface="Times New Roman" panose="02020603050405020304" pitchFamily="18" charset="0"/>
                          <a:cs typeface="Times New Roman" panose="02020603050405020304" pitchFamily="18" charset="0"/>
                        </a:rPr>
                        <a:t>Key Objectives</a:t>
                      </a:r>
                    </a:p>
                  </a:txBody>
                  <a:tcPr/>
                </a:tc>
                <a:tc>
                  <a:txBody>
                    <a:bodyPr/>
                    <a:lstStyle/>
                    <a:p>
                      <a:pPr algn="ctr"/>
                      <a:r>
                        <a:rPr lang="en-IN" sz="16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1562363978"/>
                  </a:ext>
                </a:extLst>
              </a:tr>
              <a:tr h="1613544">
                <a:tc>
                  <a:txBody>
                    <a:bodyPr/>
                    <a:lstStyle/>
                    <a:p>
                      <a:r>
                        <a:rPr lang="en-IN" sz="16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Deep Learning</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CNN, AlexNet, GoogLeNet</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PlantVillage – 54,306 images</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Detect and classify plant diseases automatically.</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Controlled images; poor generalization to field conditions.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1129927513"/>
                  </a:ext>
                </a:extLst>
              </a:tr>
              <a:tr h="1613544">
                <a:tc>
                  <a:txBody>
                    <a:bodyPr/>
                    <a:lstStyle/>
                    <a:p>
                      <a:r>
                        <a:rPr lang="en-IN" sz="16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Deep Learning</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Deep CNN, ECOC classifier</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PlantVillage – tomato leaf images</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Identify and classify tomato leaf diseases.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Limited to selected tomato diseases; field testing is limited.</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219009303"/>
                  </a:ext>
                </a:extLst>
              </a:tr>
              <a:tr h="1613544">
                <a:tc>
                  <a:txBody>
                    <a:bodyPr/>
                    <a:lstStyle/>
                    <a:p>
                      <a:r>
                        <a:rPr lang="en-IN" sz="16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Image Segmentation + DL</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CNN, image segmentation</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Segmented plant leaf images</a:t>
                      </a:r>
                      <a:endParaRPr lang="en-US" sz="1600" dirty="0">
                        <a:latin typeface="Times New Roman" panose="02020603050405020304" pitchFamily="18" charset="0"/>
                        <a:ea typeface="Arial"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Improve disease classification by removing unnecessary background information.</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Segmentation errors may affect classification accuracy.</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10341037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3F8E0-22E4-A569-86E0-93A5E942BC1D}"/>
              </a:ext>
            </a:extLst>
          </p:cNvPr>
          <p:cNvSpPr>
            <a:spLocks noGrp="1"/>
          </p:cNvSpPr>
          <p:nvPr>
            <p:ph type="title"/>
          </p:nvPr>
        </p:nvSpPr>
        <p:spPr>
          <a:xfrm>
            <a:off x="762000" y="127000"/>
            <a:ext cx="8229600" cy="762000"/>
          </a:xfrm>
          <a:ln w="28575">
            <a:solidFill>
              <a:schemeClr val="accent1"/>
            </a:solidFill>
          </a:ln>
        </p:spPr>
        <p:txBody>
          <a:bodyPr>
            <a:normAutofit fontScale="90000"/>
          </a:bodyPr>
          <a:lstStyle/>
          <a:p>
            <a:br>
              <a:rPr lang="en-US" dirty="0">
                <a:solidFill>
                  <a:srgbClr val="1F497D"/>
                </a:solidFill>
                <a:latin typeface="Times New Roman"/>
                <a:ea typeface="Times New Roman"/>
                <a:cs typeface="Times New Roman"/>
                <a:sym typeface="Times New Roman"/>
              </a:rPr>
            </a:br>
            <a:endParaRPr lang="en-IN" dirty="0"/>
          </a:p>
        </p:txBody>
      </p:sp>
      <p:graphicFrame>
        <p:nvGraphicFramePr>
          <p:cNvPr id="5" name="Content Placeholder 4">
            <a:extLst>
              <a:ext uri="{FF2B5EF4-FFF2-40B4-BE49-F238E27FC236}">
                <a16:creationId xmlns:a16="http://schemas.microsoft.com/office/drawing/2014/main" id="{109D5DC2-6835-8D27-BD7D-20CD410398B4}"/>
              </a:ext>
            </a:extLst>
          </p:cNvPr>
          <p:cNvGraphicFramePr>
            <a:graphicFrameLocks noGrp="1"/>
          </p:cNvGraphicFramePr>
          <p:nvPr>
            <p:ph idx="1"/>
            <p:extLst>
              <p:ext uri="{D42A27DB-BD31-4B8C-83A1-F6EECF244321}">
                <p14:modId xmlns:p14="http://schemas.microsoft.com/office/powerpoint/2010/main" val="2233982709"/>
              </p:ext>
            </p:extLst>
          </p:nvPr>
        </p:nvGraphicFramePr>
        <p:xfrm>
          <a:off x="762000" y="1066800"/>
          <a:ext cx="8229600" cy="5902156"/>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1756006348"/>
                    </a:ext>
                  </a:extLst>
                </a:gridCol>
                <a:gridCol w="1752600">
                  <a:extLst>
                    <a:ext uri="{9D8B030D-6E8A-4147-A177-3AD203B41FA5}">
                      <a16:colId xmlns:a16="http://schemas.microsoft.com/office/drawing/2014/main" val="903648204"/>
                    </a:ext>
                  </a:extLst>
                </a:gridCol>
                <a:gridCol w="1371600">
                  <a:extLst>
                    <a:ext uri="{9D8B030D-6E8A-4147-A177-3AD203B41FA5}">
                      <a16:colId xmlns:a16="http://schemas.microsoft.com/office/drawing/2014/main" val="1702431656"/>
                    </a:ext>
                  </a:extLst>
                </a:gridCol>
                <a:gridCol w="1371600">
                  <a:extLst>
                    <a:ext uri="{9D8B030D-6E8A-4147-A177-3AD203B41FA5}">
                      <a16:colId xmlns:a16="http://schemas.microsoft.com/office/drawing/2014/main" val="3198504100"/>
                    </a:ext>
                  </a:extLst>
                </a:gridCol>
                <a:gridCol w="1371600">
                  <a:extLst>
                    <a:ext uri="{9D8B030D-6E8A-4147-A177-3AD203B41FA5}">
                      <a16:colId xmlns:a16="http://schemas.microsoft.com/office/drawing/2014/main" val="1581379383"/>
                    </a:ext>
                  </a:extLst>
                </a:gridCol>
                <a:gridCol w="1371600">
                  <a:extLst>
                    <a:ext uri="{9D8B030D-6E8A-4147-A177-3AD203B41FA5}">
                      <a16:colId xmlns:a16="http://schemas.microsoft.com/office/drawing/2014/main" val="1495274803"/>
                    </a:ext>
                  </a:extLst>
                </a:gridCol>
              </a:tblGrid>
              <a:tr h="1501072">
                <a:tc>
                  <a:txBody>
                    <a:bodyPr/>
                    <a:lstStyle/>
                    <a:p>
                      <a:pPr marL="0" indent="0" algn="ctr">
                        <a:buNone/>
                      </a:pPr>
                      <a:r>
                        <a:rPr lang="en-US" sz="1800" b="1" dirty="0">
                          <a:solidFill>
                            <a:srgbClr val="FFFFFF"/>
                          </a:solidFill>
                          <a:latin typeface="Times New Roman" panose="02020603050405020304" pitchFamily="18" charset="0"/>
                          <a:ea typeface="Arial" pitchFamily="34" charset="-122"/>
                          <a:cs typeface="Times New Roman" panose="02020603050405020304" pitchFamily="18" charset="0"/>
                        </a:rPr>
                        <a:t>Sr. No.</a:t>
                      </a:r>
                      <a:endParaRPr lang="en-US" sz="18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800" b="1" dirty="0">
                          <a:solidFill>
                            <a:srgbClr val="FFFFFF"/>
                          </a:solidFill>
                          <a:latin typeface="Times New Roman" panose="02020603050405020304" pitchFamily="18" charset="0"/>
                          <a:ea typeface="Arial" pitchFamily="34" charset="-122"/>
                          <a:cs typeface="Times New Roman" panose="02020603050405020304" pitchFamily="18" charset="0"/>
                        </a:rPr>
                        <a:t>Approach Type</a:t>
                      </a:r>
                      <a:endParaRPr lang="en-US" sz="18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800" b="1" dirty="0">
                          <a:solidFill>
                            <a:srgbClr val="FFFFFF"/>
                          </a:solidFill>
                          <a:latin typeface="Times New Roman" panose="02020603050405020304" pitchFamily="18" charset="0"/>
                          <a:ea typeface="Arial" pitchFamily="34" charset="-122"/>
                          <a:cs typeface="Times New Roman" panose="02020603050405020304" pitchFamily="18" charset="0"/>
                        </a:rPr>
                        <a:t>Technology Used</a:t>
                      </a:r>
                      <a:endParaRPr lang="en-US" sz="18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800" b="1" dirty="0">
                          <a:solidFill>
                            <a:srgbClr val="FFFFFF"/>
                          </a:solidFill>
                          <a:latin typeface="Times New Roman" panose="02020603050405020304" pitchFamily="18" charset="0"/>
                          <a:ea typeface="Arial" pitchFamily="34" charset="-122"/>
                          <a:cs typeface="Times New Roman" panose="02020603050405020304" pitchFamily="18" charset="0"/>
                        </a:rPr>
                        <a:t>Dataset</a:t>
                      </a:r>
                      <a:endParaRPr lang="en-US" sz="18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800" b="1" dirty="0">
                          <a:solidFill>
                            <a:srgbClr val="FFFFFF"/>
                          </a:solidFill>
                          <a:latin typeface="Times New Roman" panose="02020603050405020304" pitchFamily="18" charset="0"/>
                          <a:ea typeface="Arial" pitchFamily="34" charset="-122"/>
                          <a:cs typeface="Times New Roman" panose="02020603050405020304" pitchFamily="18" charset="0"/>
                        </a:rPr>
                        <a:t>Key Objective</a:t>
                      </a:r>
                      <a:endParaRPr lang="en-US" sz="18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800" b="1" dirty="0">
                          <a:solidFill>
                            <a:srgbClr val="FFFFFF"/>
                          </a:solidFill>
                          <a:latin typeface="Times New Roman" panose="02020603050405020304" pitchFamily="18" charset="0"/>
                          <a:ea typeface="Arial" pitchFamily="34" charset="-122"/>
                          <a:cs typeface="Times New Roman" panose="02020603050405020304" pitchFamily="18" charset="0"/>
                        </a:rPr>
                        <a:t>Limitations</a:t>
                      </a:r>
                      <a:endParaRPr lang="en-US" sz="18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extLst>
                  <a:ext uri="{0D108BD9-81ED-4DB2-BD59-A6C34878D82A}">
                    <a16:rowId xmlns:a16="http://schemas.microsoft.com/office/drawing/2014/main" val="1769806219"/>
                  </a:ext>
                </a:extLst>
              </a:tr>
              <a:tr h="1636138">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4</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Image Processing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Segmentation, feature extraction, classification</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Plant leaf images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Identify diseased portions of leaves and classify plant diseases.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Performance depends on image quality and selected features.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2644530943"/>
                  </a:ext>
                </a:extLst>
              </a:tr>
              <a:tr h="1382473">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5</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Hybrid Deep Learning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Convolutional Autoencoder (CAE), CNN</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PlantVillage peach leaf images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Build a compact model to detect bacterial spot disease.</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Limited crop and disease coverage.</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1717132303"/>
                  </a:ext>
                </a:extLst>
              </a:tr>
              <a:tr h="1382473">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6</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Object Detection</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Improved YOLOv4</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Apple disease images from orchard-like conditions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Detect and locate disease spots in real time.</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Requires annotated images and computational resources.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3196906957"/>
                  </a:ext>
                </a:extLst>
              </a:tr>
            </a:tbl>
          </a:graphicData>
        </a:graphic>
      </p:graphicFrame>
      <p:sp>
        <p:nvSpPr>
          <p:cNvPr id="11" name="TextBox 10">
            <a:extLst>
              <a:ext uri="{FF2B5EF4-FFF2-40B4-BE49-F238E27FC236}">
                <a16:creationId xmlns:a16="http://schemas.microsoft.com/office/drawing/2014/main" id="{E037C55F-4A36-5506-F812-50A0FC72606B}"/>
              </a:ext>
            </a:extLst>
          </p:cNvPr>
          <p:cNvSpPr txBox="1"/>
          <p:nvPr/>
        </p:nvSpPr>
        <p:spPr>
          <a:xfrm>
            <a:off x="2362200" y="127000"/>
            <a:ext cx="4727576" cy="1046440"/>
          </a:xfrm>
          <a:prstGeom prst="rect">
            <a:avLst/>
          </a:prstGeom>
          <a:noFill/>
        </p:spPr>
        <p:txBody>
          <a:bodyPr wrap="none" rtlCol="0">
            <a:spAutoFit/>
          </a:bodyPr>
          <a:lstStyle/>
          <a:p>
            <a:r>
              <a:rPr lang="en-US" sz="4400" dirty="0">
                <a:solidFill>
                  <a:srgbClr val="1F497D"/>
                </a:solidFill>
                <a:latin typeface="Times New Roman"/>
                <a:ea typeface="Times New Roman"/>
                <a:cs typeface="Times New Roman"/>
                <a:sym typeface="Times New Roman"/>
              </a:rPr>
              <a:t>2.Literatutre Survey</a:t>
            </a:r>
          </a:p>
          <a:p>
            <a:endParaRPr lang="en-IN" dirty="0"/>
          </a:p>
        </p:txBody>
      </p:sp>
    </p:spTree>
    <p:extLst>
      <p:ext uri="{BB962C8B-B14F-4D97-AF65-F5344CB8AC3E}">
        <p14:creationId xmlns:p14="http://schemas.microsoft.com/office/powerpoint/2010/main" val="3676678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2598C-BC9D-A9AB-8D8D-BE1B9768F673}"/>
              </a:ext>
            </a:extLst>
          </p:cNvPr>
          <p:cNvSpPr>
            <a:spLocks noGrp="1"/>
          </p:cNvSpPr>
          <p:nvPr>
            <p:ph type="title"/>
          </p:nvPr>
        </p:nvSpPr>
        <p:spPr>
          <a:xfrm>
            <a:off x="685800" y="228600"/>
            <a:ext cx="8305799" cy="838200"/>
          </a:xfrm>
          <a:ln w="28575">
            <a:solidFill>
              <a:schemeClr val="accent1"/>
            </a:solidFill>
          </a:ln>
        </p:spPr>
        <p:txBody>
          <a:bodyPr>
            <a:normAutofit fontScale="90000"/>
          </a:bodyPr>
          <a:lstStyle/>
          <a:p>
            <a:br>
              <a:rPr lang="en-US" dirty="0">
                <a:solidFill>
                  <a:srgbClr val="1F497D"/>
                </a:solidFill>
                <a:latin typeface="Times New Roman"/>
                <a:ea typeface="Times New Roman"/>
                <a:cs typeface="Times New Roman"/>
                <a:sym typeface="Times New Roman"/>
              </a:rPr>
            </a:br>
            <a:r>
              <a:rPr lang="en-US" dirty="0">
                <a:solidFill>
                  <a:srgbClr val="1F497D"/>
                </a:solidFill>
                <a:latin typeface="Times New Roman"/>
                <a:ea typeface="Times New Roman"/>
                <a:cs typeface="Times New Roman"/>
                <a:sym typeface="Times New Roman"/>
              </a:rPr>
              <a:t>2.Literatutre Survey</a:t>
            </a:r>
            <a:br>
              <a:rPr lang="en-US" dirty="0">
                <a:solidFill>
                  <a:srgbClr val="1F497D"/>
                </a:solidFill>
                <a:latin typeface="Times New Roman"/>
                <a:ea typeface="Times New Roman"/>
                <a:cs typeface="Times New Roman"/>
                <a:sym typeface="Times New Roman"/>
              </a:rPr>
            </a:br>
            <a:endParaRPr lang="en-IN" dirty="0">
              <a:ln>
                <a:solidFill>
                  <a:schemeClr val="tx1"/>
                </a:solidFill>
              </a:ln>
              <a:solidFill>
                <a:schemeClr val="accent1"/>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AF9E2366-E096-63F6-2B2F-66FA9C87B1A1}"/>
              </a:ext>
            </a:extLst>
          </p:cNvPr>
          <p:cNvGraphicFramePr>
            <a:graphicFrameLocks noGrp="1"/>
          </p:cNvGraphicFramePr>
          <p:nvPr>
            <p:ph idx="1"/>
            <p:extLst>
              <p:ext uri="{D42A27DB-BD31-4B8C-83A1-F6EECF244321}">
                <p14:modId xmlns:p14="http://schemas.microsoft.com/office/powerpoint/2010/main" val="3878987030"/>
              </p:ext>
            </p:extLst>
          </p:nvPr>
        </p:nvGraphicFramePr>
        <p:xfrm>
          <a:off x="685800" y="1219200"/>
          <a:ext cx="8381999" cy="5744718"/>
        </p:xfrm>
        <a:graphic>
          <a:graphicData uri="http://schemas.openxmlformats.org/drawingml/2006/table">
            <a:tbl>
              <a:tblPr firstRow="1" bandRow="1">
                <a:tableStyleId>{5C22544A-7EE6-4342-B048-85BDC9FD1C3A}</a:tableStyleId>
              </a:tblPr>
              <a:tblGrid>
                <a:gridCol w="853722">
                  <a:extLst>
                    <a:ext uri="{9D8B030D-6E8A-4147-A177-3AD203B41FA5}">
                      <a16:colId xmlns:a16="http://schemas.microsoft.com/office/drawing/2014/main" val="1101557496"/>
                    </a:ext>
                  </a:extLst>
                </a:gridCol>
                <a:gridCol w="1940277">
                  <a:extLst>
                    <a:ext uri="{9D8B030D-6E8A-4147-A177-3AD203B41FA5}">
                      <a16:colId xmlns:a16="http://schemas.microsoft.com/office/drawing/2014/main" val="398090388"/>
                    </a:ext>
                  </a:extLst>
                </a:gridCol>
                <a:gridCol w="1397000">
                  <a:extLst>
                    <a:ext uri="{9D8B030D-6E8A-4147-A177-3AD203B41FA5}">
                      <a16:colId xmlns:a16="http://schemas.microsoft.com/office/drawing/2014/main" val="1551891025"/>
                    </a:ext>
                  </a:extLst>
                </a:gridCol>
                <a:gridCol w="1397000">
                  <a:extLst>
                    <a:ext uri="{9D8B030D-6E8A-4147-A177-3AD203B41FA5}">
                      <a16:colId xmlns:a16="http://schemas.microsoft.com/office/drawing/2014/main" val="2170334814"/>
                    </a:ext>
                  </a:extLst>
                </a:gridCol>
                <a:gridCol w="1397000">
                  <a:extLst>
                    <a:ext uri="{9D8B030D-6E8A-4147-A177-3AD203B41FA5}">
                      <a16:colId xmlns:a16="http://schemas.microsoft.com/office/drawing/2014/main" val="947428124"/>
                    </a:ext>
                  </a:extLst>
                </a:gridCol>
                <a:gridCol w="1397000">
                  <a:extLst>
                    <a:ext uri="{9D8B030D-6E8A-4147-A177-3AD203B41FA5}">
                      <a16:colId xmlns:a16="http://schemas.microsoft.com/office/drawing/2014/main" val="2073980907"/>
                    </a:ext>
                  </a:extLst>
                </a:gridCol>
              </a:tblGrid>
              <a:tr h="1390650">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Sr. No.</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Approach Type</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Technology Used</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Dataset</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Key Objective</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Limitations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extLst>
                  <a:ext uri="{0D108BD9-81ED-4DB2-BD59-A6C34878D82A}">
                    <a16:rowId xmlns:a16="http://schemas.microsoft.com/office/drawing/2014/main" val="3376102676"/>
                  </a:ext>
                </a:extLst>
              </a:tr>
              <a:tr h="1390650">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7</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Transfer Learning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DenseNet-121, ResNet-50, VGG-16, Inception V4</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PlantVillage – 54,305 images, 38 classes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Compare pretrained models for multiple crop disease classes.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Controlled dataset may not represent real field conditions.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3558934155"/>
                  </a:ext>
                </a:extLst>
              </a:tr>
              <a:tr h="1390650">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8</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Literature Review</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CNN, DCNN, transfer learning, data augmentation</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PlantVillage, Kaggle, and other research datasets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Review CNN-based plant leaf disease detection techniques.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Dataset diversity and real-world validation remain challenging.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1125217036"/>
                  </a:ext>
                </a:extLst>
              </a:tr>
              <a:tr h="1390650">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9</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CNN-Based Classification</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Custom 5-layer CNN, VGG-16, VGG-19, Xception, ResNet</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Rice leaf images – 1,600 images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Detect and classify rice leaf diseases for early diagnosis.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just">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Relatively small dataset may limit generalization.</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537511227"/>
                  </a:ext>
                </a:extLst>
              </a:tr>
            </a:tbl>
          </a:graphicData>
        </a:graphic>
      </p:graphicFrame>
    </p:spTree>
    <p:extLst>
      <p:ext uri="{BB962C8B-B14F-4D97-AF65-F5344CB8AC3E}">
        <p14:creationId xmlns:p14="http://schemas.microsoft.com/office/powerpoint/2010/main" val="1135141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F552-F599-039E-AB03-0012E2E33BD7}"/>
              </a:ext>
            </a:extLst>
          </p:cNvPr>
          <p:cNvSpPr>
            <a:spLocks noGrp="1"/>
          </p:cNvSpPr>
          <p:nvPr>
            <p:ph type="title"/>
          </p:nvPr>
        </p:nvSpPr>
        <p:spPr>
          <a:xfrm>
            <a:off x="736600" y="228600"/>
            <a:ext cx="8229600" cy="868362"/>
          </a:xfrm>
          <a:ln w="28575">
            <a:solidFill>
              <a:schemeClr val="accent1"/>
            </a:solidFill>
          </a:ln>
        </p:spPr>
        <p:txBody>
          <a:bodyPr>
            <a:normAutofit fontScale="90000"/>
          </a:bodyPr>
          <a:lstStyle/>
          <a:p>
            <a:br>
              <a:rPr lang="en-US" dirty="0">
                <a:solidFill>
                  <a:srgbClr val="1F497D"/>
                </a:solidFill>
                <a:latin typeface="Times New Roman"/>
                <a:ea typeface="Times New Roman"/>
                <a:cs typeface="Times New Roman"/>
                <a:sym typeface="Times New Roman"/>
              </a:rPr>
            </a:br>
            <a:r>
              <a:rPr lang="en-US" dirty="0">
                <a:solidFill>
                  <a:srgbClr val="1F497D"/>
                </a:solidFill>
                <a:latin typeface="Times New Roman"/>
                <a:ea typeface="Times New Roman"/>
                <a:cs typeface="Times New Roman"/>
                <a:sym typeface="Times New Roman"/>
              </a:rPr>
              <a:t>2.Literatutre Survey</a:t>
            </a:r>
            <a:br>
              <a:rPr lang="en-US" dirty="0">
                <a:solidFill>
                  <a:srgbClr val="1F497D"/>
                </a:solidFill>
                <a:latin typeface="Times New Roman"/>
                <a:ea typeface="Times New Roman"/>
                <a:cs typeface="Times New Roman"/>
                <a:sym typeface="Times New Roman"/>
              </a:rPr>
            </a:br>
            <a:endParaRPr lang="en-IN" dirty="0"/>
          </a:p>
        </p:txBody>
      </p:sp>
      <p:graphicFrame>
        <p:nvGraphicFramePr>
          <p:cNvPr id="4" name="Content Placeholder 3">
            <a:extLst>
              <a:ext uri="{FF2B5EF4-FFF2-40B4-BE49-F238E27FC236}">
                <a16:creationId xmlns:a16="http://schemas.microsoft.com/office/drawing/2014/main" id="{57DAF302-B8D8-2C38-2E74-093D4648A330}"/>
              </a:ext>
            </a:extLst>
          </p:cNvPr>
          <p:cNvGraphicFramePr>
            <a:graphicFrameLocks noGrp="1"/>
          </p:cNvGraphicFramePr>
          <p:nvPr>
            <p:ph idx="1"/>
            <p:extLst>
              <p:ext uri="{D42A27DB-BD31-4B8C-83A1-F6EECF244321}">
                <p14:modId xmlns:p14="http://schemas.microsoft.com/office/powerpoint/2010/main" val="96333322"/>
              </p:ext>
            </p:extLst>
          </p:nvPr>
        </p:nvGraphicFramePr>
        <p:xfrm>
          <a:off x="762000" y="1219200"/>
          <a:ext cx="8229600" cy="5931124"/>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000589174"/>
                    </a:ext>
                  </a:extLst>
                </a:gridCol>
                <a:gridCol w="1600200">
                  <a:extLst>
                    <a:ext uri="{9D8B030D-6E8A-4147-A177-3AD203B41FA5}">
                      <a16:colId xmlns:a16="http://schemas.microsoft.com/office/drawing/2014/main" val="3084093323"/>
                    </a:ext>
                  </a:extLst>
                </a:gridCol>
                <a:gridCol w="1524000">
                  <a:extLst>
                    <a:ext uri="{9D8B030D-6E8A-4147-A177-3AD203B41FA5}">
                      <a16:colId xmlns:a16="http://schemas.microsoft.com/office/drawing/2014/main" val="2883728540"/>
                    </a:ext>
                  </a:extLst>
                </a:gridCol>
                <a:gridCol w="1371600">
                  <a:extLst>
                    <a:ext uri="{9D8B030D-6E8A-4147-A177-3AD203B41FA5}">
                      <a16:colId xmlns:a16="http://schemas.microsoft.com/office/drawing/2014/main" val="452740507"/>
                    </a:ext>
                  </a:extLst>
                </a:gridCol>
                <a:gridCol w="1371600">
                  <a:extLst>
                    <a:ext uri="{9D8B030D-6E8A-4147-A177-3AD203B41FA5}">
                      <a16:colId xmlns:a16="http://schemas.microsoft.com/office/drawing/2014/main" val="1554348855"/>
                    </a:ext>
                  </a:extLst>
                </a:gridCol>
                <a:gridCol w="1371600">
                  <a:extLst>
                    <a:ext uri="{9D8B030D-6E8A-4147-A177-3AD203B41FA5}">
                      <a16:colId xmlns:a16="http://schemas.microsoft.com/office/drawing/2014/main" val="260265903"/>
                    </a:ext>
                  </a:extLst>
                </a:gridCol>
              </a:tblGrid>
              <a:tr h="904399">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Sr. No.</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Approach Type</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Technology Used</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Dataset</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Key Objective</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tc>
                  <a:txBody>
                    <a:bodyP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Limitations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nchor="ctr"/>
                </a:tc>
                <a:extLst>
                  <a:ext uri="{0D108BD9-81ED-4DB2-BD59-A6C34878D82A}">
                    <a16:rowId xmlns:a16="http://schemas.microsoft.com/office/drawing/2014/main" val="2411262010"/>
                  </a:ext>
                </a:extLst>
              </a:tr>
              <a:tr h="1593237">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10</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Deep Learning + Explainable AI</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Grad-CAM, Grad-CAM++, LIME, Captum</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Rice leaf dataset – 7,420 images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Classify rice diseases and explain predictions visually.</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Insufficient disease samples and limited generalization testing.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3785801427"/>
                  </a:ext>
                </a:extLst>
              </a:tr>
              <a:tr h="1593237">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11</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Hyperspectral Image Analysis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VNIR/SWIR imaging, machine learning, image processing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Capsicum plants infected with Tomato Spotted Wilt Virus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Detect infection using spectral information from plant leaves.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Requires specialized imaging equipment and processing.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1701823992"/>
                  </a:ext>
                </a:extLst>
              </a:tr>
              <a:tr h="1840251">
                <a:tc>
                  <a:txBody>
                    <a:bodyPr/>
                    <a:lstStyle/>
                    <a:p>
                      <a:pPr marL="0" indent="0" algn="ctr">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12</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Transfer Learning / Deep Learning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Pretrained CNN models and ensemble learning</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Rice leaf disease images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Improve rice disease classification by comparing and combining pretrained models.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tc>
                  <a:txBody>
                    <a:bodyPr/>
                    <a:lstStyle/>
                    <a:p>
                      <a:pPr marL="0" indent="0" algn="l">
                        <a:buNone/>
                      </a:pPr>
                      <a:r>
                        <a:rPr lang="en-US" sz="1600" dirty="0">
                          <a:solidFill>
                            <a:srgbClr val="000000"/>
                          </a:solidFill>
                          <a:latin typeface="Times New Roman" panose="02020603050405020304" pitchFamily="18" charset="0"/>
                          <a:ea typeface="Arial" pitchFamily="34" charset="-122"/>
                          <a:cs typeface="Times New Roman" panose="02020603050405020304" pitchFamily="18" charset="0"/>
                        </a:rPr>
                        <a:t>Performance depends on dataset size, image diversity, and computational resources.</a:t>
                      </a:r>
                      <a:endParaRPr lang="en-US" sz="1600" dirty="0">
                        <a:latin typeface="Times New Roman" panose="02020603050405020304" pitchFamily="18" charset="0"/>
                        <a:ea typeface="Arial" charset="0"/>
                        <a:cs typeface="Times New Roman" panose="02020603050405020304" pitchFamily="18" charset="0"/>
                      </a:endParaRPr>
                    </a:p>
                  </a:txBody>
                  <a:tcPr marL="54864" marR="54864" marT="54864" marB="54864"/>
                </a:tc>
                <a:extLst>
                  <a:ext uri="{0D108BD9-81ED-4DB2-BD59-A6C34878D82A}">
                    <a16:rowId xmlns:a16="http://schemas.microsoft.com/office/drawing/2014/main" val="3476500769"/>
                  </a:ext>
                </a:extLst>
              </a:tr>
            </a:tbl>
          </a:graphicData>
        </a:graphic>
      </p:graphicFrame>
    </p:spTree>
    <p:extLst>
      <p:ext uri="{BB962C8B-B14F-4D97-AF65-F5344CB8AC3E}">
        <p14:creationId xmlns:p14="http://schemas.microsoft.com/office/powerpoint/2010/main" val="102097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96002" y="191272"/>
            <a:ext cx="9238517" cy="7055329"/>
          </a:xfrm>
          <a:custGeom>
            <a:avLst/>
            <a:gdLst/>
            <a:ahLst/>
            <a:cxnLst/>
            <a:rect l="l" t="t" r="r" b="b"/>
            <a:pathLst>
              <a:path w="9238517" h="7055329">
                <a:moveTo>
                  <a:pt x="0" y="0"/>
                </a:moveTo>
                <a:lnTo>
                  <a:pt x="9238516" y="0"/>
                </a:lnTo>
                <a:lnTo>
                  <a:pt x="9238516" y="7055329"/>
                </a:lnTo>
                <a:lnTo>
                  <a:pt x="0" y="70553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898541" y="318811"/>
            <a:ext cx="7927657" cy="823779"/>
          </a:xfrm>
          <a:prstGeom prst="rect">
            <a:avLst/>
          </a:prstGeom>
        </p:spPr>
        <p:txBody>
          <a:bodyPr lIns="0" tIns="0" rIns="0" bIns="0" rtlCol="0" anchor="t">
            <a:spAutoFit/>
          </a:bodyPr>
          <a:lstStyle/>
          <a:p>
            <a:pPr algn="l">
              <a:lnSpc>
                <a:spcPts val="6569"/>
              </a:lnSpc>
            </a:pPr>
            <a:r>
              <a:rPr lang="en-US" sz="4692">
                <a:solidFill>
                  <a:srgbClr val="002060"/>
                </a:solidFill>
                <a:latin typeface="Times New Roman"/>
                <a:ea typeface="Times New Roman"/>
                <a:cs typeface="Times New Roman"/>
                <a:sym typeface="Times New Roman"/>
              </a:rPr>
              <a:t>3. Information To Seminar Topic</a:t>
            </a:r>
          </a:p>
        </p:txBody>
      </p:sp>
      <p:sp>
        <p:nvSpPr>
          <p:cNvPr id="4" name="TextBox 4"/>
          <p:cNvSpPr txBox="1"/>
          <p:nvPr/>
        </p:nvSpPr>
        <p:spPr>
          <a:xfrm>
            <a:off x="6247200" y="1536135"/>
            <a:ext cx="61303" cy="340081"/>
          </a:xfrm>
          <a:prstGeom prst="rect">
            <a:avLst/>
          </a:prstGeom>
        </p:spPr>
        <p:txBody>
          <a:bodyPr lIns="0" tIns="0" rIns="0" bIns="0" rtlCol="0" anchor="t">
            <a:spAutoFit/>
          </a:bodyPr>
          <a:lstStyle/>
          <a:p>
            <a:pPr algn="l">
              <a:lnSpc>
                <a:spcPts val="2650"/>
              </a:lnSpc>
            </a:pPr>
            <a:r>
              <a:rPr lang="en-US" sz="1893">
                <a:solidFill>
                  <a:srgbClr val="000000"/>
                </a:solidFill>
                <a:latin typeface="Times New Roman"/>
                <a:ea typeface="Times New Roman"/>
                <a:cs typeface="Times New Roman"/>
                <a:sym typeface="Times New Roman"/>
              </a:rPr>
              <a:t> </a:t>
            </a:r>
          </a:p>
        </p:txBody>
      </p:sp>
      <p:sp>
        <p:nvSpPr>
          <p:cNvPr id="5" name="TextBox 5"/>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6" name="TextBox 6"/>
          <p:cNvSpPr txBox="1"/>
          <p:nvPr/>
        </p:nvSpPr>
        <p:spPr>
          <a:xfrm>
            <a:off x="731520" y="1536135"/>
            <a:ext cx="8456276" cy="340081"/>
          </a:xfrm>
          <a:prstGeom prst="rect">
            <a:avLst/>
          </a:prstGeom>
        </p:spPr>
        <p:txBody>
          <a:bodyPr lIns="0" tIns="0" rIns="0" bIns="0" rtlCol="0" anchor="t">
            <a:spAutoFit/>
          </a:bodyPr>
          <a:lstStyle/>
          <a:p>
            <a:pPr algn="l">
              <a:lnSpc>
                <a:spcPts val="2650"/>
              </a:lnSpc>
            </a:pPr>
            <a:r>
              <a:rPr lang="en-US" sz="1893">
                <a:solidFill>
                  <a:srgbClr val="000000"/>
                </a:solidFill>
                <a:latin typeface="Times New Roman"/>
                <a:ea typeface="Times New Roman"/>
                <a:cs typeface="Times New Roman"/>
                <a:sym typeface="Times New Roman"/>
              </a:rPr>
              <a:t>Crop Disease Detection is a technology-based approachusedto identifydiseasesin</a:t>
            </a:r>
          </a:p>
        </p:txBody>
      </p:sp>
      <p:sp>
        <p:nvSpPr>
          <p:cNvPr id="7" name="TextBox 7"/>
          <p:cNvSpPr txBox="1"/>
          <p:nvPr/>
        </p:nvSpPr>
        <p:spPr>
          <a:xfrm>
            <a:off x="731520" y="1859985"/>
            <a:ext cx="8456247" cy="2587981"/>
          </a:xfrm>
          <a:prstGeom prst="rect">
            <a:avLst/>
          </a:prstGeom>
        </p:spPr>
        <p:txBody>
          <a:bodyPr lIns="0" tIns="0" rIns="0" bIns="0" rtlCol="0" anchor="t">
            <a:spAutoFit/>
          </a:bodyPr>
          <a:lstStyle/>
          <a:p>
            <a:pPr algn="just">
              <a:lnSpc>
                <a:spcPts val="2250"/>
              </a:lnSpc>
            </a:pPr>
            <a:r>
              <a:rPr lang="en-US" sz="1893" spc="47">
                <a:solidFill>
                  <a:srgbClr val="000000"/>
                </a:solidFill>
                <a:latin typeface="Times New Roman"/>
                <a:ea typeface="Times New Roman"/>
                <a:cs typeface="Times New Roman"/>
                <a:sym typeface="Times New Roman"/>
              </a:rPr>
              <a:t>plants by analysing images of their leaves. Crop diseases can affect plant growth, reduce crop quality, and cause agricultural losses.</a:t>
            </a:r>
          </a:p>
          <a:p>
            <a:pPr algn="just">
              <a:lnSpc>
                <a:spcPts val="2250"/>
              </a:lnSpc>
            </a:pPr>
            <a:r>
              <a:rPr lang="en-US" sz="1893" spc="47">
                <a:solidFill>
                  <a:srgbClr val="000000"/>
                </a:solidFill>
                <a:latin typeface="Times New Roman"/>
                <a:ea typeface="Times New Roman"/>
                <a:cs typeface="Times New Roman"/>
                <a:sym typeface="Times New Roman"/>
              </a:rPr>
              <a:t>This system uses image processing, machine learning, and deep learning techniques such as Convolutional Neural Networks (CNN) to classify crop leaves as healthy or diseased. It can help farmers identify possible diseases early and take suitable preventive measures.</a:t>
            </a:r>
          </a:p>
          <a:p>
            <a:pPr algn="just">
              <a:lnSpc>
                <a:spcPts val="2250"/>
              </a:lnSpc>
            </a:pPr>
            <a:r>
              <a:rPr lang="en-US" sz="1893" spc="47">
                <a:solidFill>
                  <a:srgbClr val="000000"/>
                </a:solidFill>
                <a:latin typeface="Times New Roman"/>
                <a:ea typeface="Times New Roman"/>
                <a:cs typeface="Times New Roman"/>
                <a:sym typeface="Times New Roman"/>
              </a:rPr>
              <a:t>The main aim of this project is to make disease detection faster, easier, and more efficient. In the future, this technology can be improved to support more crops and disease types through web and mobile applications.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8931916" cy="1080497"/>
          </a:xfrm>
          <a:custGeom>
            <a:avLst/>
            <a:gdLst/>
            <a:ahLst/>
            <a:cxnLst/>
            <a:rect l="l" t="t" r="r" b="b"/>
            <a:pathLst>
              <a:path w="8931916" h="1080497">
                <a:moveTo>
                  <a:pt x="0" y="0"/>
                </a:moveTo>
                <a:lnTo>
                  <a:pt x="8931917" y="0"/>
                </a:lnTo>
                <a:lnTo>
                  <a:pt x="8931917" y="1080497"/>
                </a:lnTo>
                <a:lnTo>
                  <a:pt x="0" y="10804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410632" y="1350065"/>
            <a:ext cx="9218305" cy="5896526"/>
          </a:xfrm>
          <a:custGeom>
            <a:avLst/>
            <a:gdLst/>
            <a:ahLst/>
            <a:cxnLst/>
            <a:rect l="l" t="t" r="r" b="b"/>
            <a:pathLst>
              <a:path w="9218305" h="5896526">
                <a:moveTo>
                  <a:pt x="0" y="0"/>
                </a:moveTo>
                <a:lnTo>
                  <a:pt x="9218305" y="0"/>
                </a:lnTo>
                <a:lnTo>
                  <a:pt x="9218305" y="5896526"/>
                </a:lnTo>
                <a:lnTo>
                  <a:pt x="0" y="58965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410632" y="215894"/>
            <a:ext cx="8932326" cy="1080497"/>
            <a:chOff x="0" y="0"/>
            <a:chExt cx="8932329" cy="1080491"/>
          </a:xfrm>
        </p:grpSpPr>
        <p:sp>
          <p:nvSpPr>
            <p:cNvPr id="5" name="Freeform 5"/>
            <p:cNvSpPr/>
            <p:nvPr/>
          </p:nvSpPr>
          <p:spPr>
            <a:xfrm>
              <a:off x="63500" y="63500"/>
              <a:ext cx="8805291" cy="953513"/>
            </a:xfrm>
            <a:custGeom>
              <a:avLst/>
              <a:gdLst/>
              <a:ahLst/>
              <a:cxnLst/>
              <a:rect l="l" t="t" r="r" b="b"/>
              <a:pathLst>
                <a:path w="8805291" h="953513">
                  <a:moveTo>
                    <a:pt x="0" y="953513"/>
                  </a:moveTo>
                  <a:lnTo>
                    <a:pt x="8805291" y="953513"/>
                  </a:lnTo>
                  <a:lnTo>
                    <a:pt x="8805291" y="0"/>
                  </a:lnTo>
                  <a:lnTo>
                    <a:pt x="0" y="0"/>
                  </a:lnTo>
                  <a:close/>
                </a:path>
              </a:pathLst>
            </a:custGeom>
            <a:solidFill>
              <a:srgbClr val="000000">
                <a:alpha val="0"/>
              </a:srgbClr>
            </a:solidFill>
          </p:spPr>
          <p:txBody>
            <a:bodyPr/>
            <a:lstStyle/>
            <a:p>
              <a:endParaRPr lang="en-IN"/>
            </a:p>
          </p:txBody>
        </p:sp>
        <p:sp>
          <p:nvSpPr>
            <p:cNvPr id="6" name="Freeform 6"/>
            <p:cNvSpPr/>
            <p:nvPr/>
          </p:nvSpPr>
          <p:spPr>
            <a:xfrm>
              <a:off x="63500" y="63500"/>
              <a:ext cx="8805291" cy="953513"/>
            </a:xfrm>
            <a:custGeom>
              <a:avLst/>
              <a:gdLst/>
              <a:ahLst/>
              <a:cxnLst/>
              <a:rect l="l" t="t" r="r" b="b"/>
              <a:pathLst>
                <a:path w="8805291" h="953513">
                  <a:moveTo>
                    <a:pt x="0" y="953513"/>
                  </a:moveTo>
                  <a:lnTo>
                    <a:pt x="8805291" y="953513"/>
                  </a:lnTo>
                  <a:lnTo>
                    <a:pt x="8805291" y="0"/>
                  </a:lnTo>
                  <a:lnTo>
                    <a:pt x="0" y="0"/>
                  </a:lnTo>
                  <a:close/>
                </a:path>
              </a:pathLst>
            </a:custGeom>
            <a:solidFill>
              <a:srgbClr val="000000">
                <a:alpha val="0"/>
              </a:srgbClr>
            </a:solidFill>
          </p:spPr>
          <p:txBody>
            <a:bodyPr/>
            <a:lstStyle/>
            <a:p>
              <a:endParaRPr lang="en-IN"/>
            </a:p>
          </p:txBody>
        </p:sp>
      </p:grpSp>
      <p:sp>
        <p:nvSpPr>
          <p:cNvPr id="7" name="TextBox 7"/>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8" name="TextBox 8"/>
          <p:cNvSpPr txBox="1"/>
          <p:nvPr/>
        </p:nvSpPr>
        <p:spPr>
          <a:xfrm>
            <a:off x="618411" y="1520248"/>
            <a:ext cx="8516359" cy="5499010"/>
          </a:xfrm>
          <a:prstGeom prst="rect">
            <a:avLst/>
          </a:prstGeom>
        </p:spPr>
        <p:txBody>
          <a:bodyPr lIns="0" tIns="0" rIns="0" bIns="0" rtlCol="0" anchor="t">
            <a:spAutoFit/>
          </a:bodyPr>
          <a:lstStyle/>
          <a:p>
            <a:pPr algn="l">
              <a:lnSpc>
                <a:spcPts val="2454"/>
              </a:lnSpc>
            </a:pPr>
            <a:r>
              <a:rPr lang="en-US" sz="1753" b="1">
                <a:solidFill>
                  <a:srgbClr val="000000"/>
                </a:solidFill>
                <a:latin typeface="Times New Roman Bold"/>
                <a:ea typeface="Times New Roman Bold"/>
                <a:cs typeface="Times New Roman Bold"/>
                <a:sym typeface="Times New Roman Bold"/>
              </a:rPr>
              <a:t>1. Technology Used:</a:t>
            </a:r>
            <a:r>
              <a:rPr lang="en-US" sz="1753">
                <a:solidFill>
                  <a:srgbClr val="000000"/>
                </a:solidFill>
                <a:latin typeface="Times New Roman"/>
                <a:ea typeface="Times New Roman"/>
                <a:cs typeface="Times New Roman"/>
                <a:sym typeface="Times New Roman"/>
              </a:rPr>
              <a:t>Artificial Intelligence (AI), Machine Learning (ML), Convolutional Neural Networks (CNN), Python, OpenCV, and TensorFlow are used to analyze crop leaf images and identify possible diseases.</a:t>
            </a:r>
          </a:p>
          <a:p>
            <a:pPr algn="l">
              <a:lnSpc>
                <a:spcPts val="2454"/>
              </a:lnSpc>
            </a:pPr>
            <a:r>
              <a:rPr lang="en-US" sz="1753" b="1">
                <a:solidFill>
                  <a:srgbClr val="000000"/>
                </a:solidFill>
                <a:latin typeface="Times New Roman Bold"/>
                <a:ea typeface="Times New Roman Bold"/>
                <a:cs typeface="Times New Roman Bold"/>
                <a:sym typeface="Times New Roman Bold"/>
              </a:rPr>
              <a:t>2. Approach:</a:t>
            </a:r>
            <a:r>
              <a:rPr lang="en-US" sz="1753">
                <a:solidFill>
                  <a:srgbClr val="000000"/>
                </a:solidFill>
                <a:latin typeface="Times New Roman"/>
                <a:ea typeface="Times New Roman"/>
                <a:cs typeface="Times New Roman"/>
                <a:sym typeface="Times New Roman"/>
              </a:rPr>
              <a:t>The system collects or accepts crop leaf images, preprocesses them, and analyzes them using a trained CNN model. The model predicts whether the crop is healthy or affected by a particular disease and displays the result.</a:t>
            </a:r>
          </a:p>
          <a:p>
            <a:pPr algn="l">
              <a:lnSpc>
                <a:spcPts val="2454"/>
              </a:lnSpc>
            </a:pPr>
            <a:r>
              <a:rPr lang="en-US" sz="1753" b="1">
                <a:solidFill>
                  <a:srgbClr val="000000"/>
                </a:solidFill>
                <a:latin typeface="Times New Roman Bold"/>
                <a:ea typeface="Times New Roman Bold"/>
                <a:cs typeface="Times New Roman Bold"/>
                <a:sym typeface="Times New Roman Bold"/>
              </a:rPr>
              <a:t>3. Main Purpose:</a:t>
            </a:r>
            <a:r>
              <a:rPr lang="en-US" sz="1753">
                <a:solidFill>
                  <a:srgbClr val="000000"/>
                </a:solidFill>
                <a:latin typeface="Times New Roman"/>
                <a:ea typeface="Times New Roman"/>
                <a:cs typeface="Times New Roman"/>
                <a:sym typeface="Times New Roman"/>
              </a:rPr>
              <a:t>The main purpose is to detect crop diseases at an early stage using image processing and AI techniques, helping farmers make better decisions about crop health.</a:t>
            </a:r>
          </a:p>
          <a:p>
            <a:pPr algn="l">
              <a:lnSpc>
                <a:spcPts val="2454"/>
              </a:lnSpc>
            </a:pPr>
            <a:r>
              <a:rPr lang="en-US" sz="1753" b="1">
                <a:solidFill>
                  <a:srgbClr val="000000"/>
                </a:solidFill>
                <a:latin typeface="Times New Roman Bold"/>
                <a:ea typeface="Times New Roman Bold"/>
                <a:cs typeface="Times New Roman Bold"/>
                <a:sym typeface="Times New Roman Bold"/>
              </a:rPr>
              <a:t>4. Key Concepts:</a:t>
            </a:r>
            <a:r>
              <a:rPr lang="en-US" sz="1753">
                <a:solidFill>
                  <a:srgbClr val="000000"/>
                </a:solidFill>
                <a:latin typeface="Times New Roman"/>
                <a:ea typeface="Times New Roman"/>
                <a:cs typeface="Times New Roman"/>
                <a:sym typeface="Times New Roman"/>
              </a:rPr>
              <a:t>The key concepts include image preprocessing, feature extraction, deep learning, image classification, model training, and performance evaluation.</a:t>
            </a:r>
          </a:p>
          <a:p>
            <a:pPr algn="l">
              <a:lnSpc>
                <a:spcPts val="2454"/>
              </a:lnSpc>
            </a:pPr>
            <a:r>
              <a:rPr lang="en-US" sz="1753" b="1">
                <a:solidFill>
                  <a:srgbClr val="000000"/>
                </a:solidFill>
                <a:latin typeface="Times New Roman Bold"/>
                <a:ea typeface="Times New Roman Bold"/>
                <a:cs typeface="Times New Roman Bold"/>
                <a:sym typeface="Times New Roman Bold"/>
              </a:rPr>
              <a:t>5. Benefits:</a:t>
            </a:r>
            <a:r>
              <a:rPr lang="en-US" sz="1753">
                <a:solidFill>
                  <a:srgbClr val="000000"/>
                </a:solidFill>
                <a:latin typeface="Times New Roman"/>
                <a:ea typeface="Times New Roman"/>
                <a:cs typeface="Times New Roman"/>
                <a:sym typeface="Times New Roman"/>
              </a:rPr>
              <a:t>It supports early disease identification, saves time, reduces manual effort, and helps farmers manage crop health more effectively. It can also provide preliminary disease information quickly.</a:t>
            </a:r>
          </a:p>
          <a:p>
            <a:pPr algn="l">
              <a:lnSpc>
                <a:spcPts val="2454"/>
              </a:lnSpc>
            </a:pPr>
            <a:r>
              <a:rPr lang="en-US" sz="1753" b="1">
                <a:solidFill>
                  <a:srgbClr val="000000"/>
                </a:solidFill>
                <a:latin typeface="Times New Roman Bold"/>
                <a:ea typeface="Times New Roman Bold"/>
                <a:cs typeface="Times New Roman Bold"/>
                <a:sym typeface="Times New Roman Bold"/>
              </a:rPr>
              <a:t>6. Applications:</a:t>
            </a:r>
            <a:r>
              <a:rPr lang="en-US" sz="1753">
                <a:solidFill>
                  <a:srgbClr val="000000"/>
                </a:solidFill>
                <a:latin typeface="Times New Roman"/>
                <a:ea typeface="Times New Roman"/>
                <a:cs typeface="Times New Roman"/>
                <a:sym typeface="Times New Roman"/>
              </a:rPr>
              <a:t>Crop Disease Detection can be used in smart farming, greenhouses, plant nurseries, agricultural research, farmer advisory systems, and mobile-based agricultural applications.</a:t>
            </a:r>
          </a:p>
          <a:p>
            <a:pPr algn="ctr">
              <a:lnSpc>
                <a:spcPts val="2454"/>
              </a:lnSpc>
            </a:pPr>
            <a:endParaRPr lang="en-US" sz="1753">
              <a:solidFill>
                <a:srgbClr val="000000"/>
              </a:solidFill>
              <a:latin typeface="Times New Roman"/>
              <a:ea typeface="Times New Roman"/>
              <a:cs typeface="Times New Roman"/>
              <a:sym typeface="Times New Roman"/>
            </a:endParaRPr>
          </a:p>
          <a:p>
            <a:pPr algn="ctr">
              <a:lnSpc>
                <a:spcPts val="2454"/>
              </a:lnSpc>
              <a:spcBef>
                <a:spcPct val="0"/>
              </a:spcBef>
            </a:pPr>
            <a:endParaRPr lang="en-US" sz="1753">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1202950" y="343433"/>
            <a:ext cx="7494565" cy="815683"/>
          </a:xfrm>
          <a:prstGeom prst="rect">
            <a:avLst/>
          </a:prstGeom>
        </p:spPr>
        <p:txBody>
          <a:bodyPr lIns="0" tIns="0" rIns="0" bIns="0" rtlCol="0" anchor="t">
            <a:spAutoFit/>
          </a:bodyPr>
          <a:lstStyle/>
          <a:p>
            <a:pPr algn="l">
              <a:lnSpc>
                <a:spcPts val="6569"/>
              </a:lnSpc>
            </a:pPr>
            <a:r>
              <a:rPr lang="en-US" sz="4692">
                <a:solidFill>
                  <a:srgbClr val="002060"/>
                </a:solidFill>
                <a:latin typeface="Times New Roman"/>
                <a:ea typeface="Times New Roman"/>
                <a:cs typeface="Times New Roman"/>
                <a:sym typeface="Times New Roman"/>
              </a:rPr>
              <a:t>4. Advantages / Disadvantages</a:t>
            </a:r>
          </a:p>
        </p:txBody>
      </p:sp>
      <p:sp>
        <p:nvSpPr>
          <p:cNvPr id="4" name="TextBox 4"/>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5" name="TextBox 5"/>
          <p:cNvSpPr txBox="1"/>
          <p:nvPr/>
        </p:nvSpPr>
        <p:spPr>
          <a:xfrm>
            <a:off x="731520" y="1450343"/>
            <a:ext cx="1630680" cy="341825"/>
          </a:xfrm>
          <a:prstGeom prst="rect">
            <a:avLst/>
          </a:prstGeom>
        </p:spPr>
        <p:txBody>
          <a:bodyPr wrap="square" lIns="0" tIns="0" rIns="0" bIns="0" rtlCol="0" anchor="t">
            <a:spAutoFit/>
          </a:bodyPr>
          <a:lstStyle/>
          <a:p>
            <a:pPr algn="l">
              <a:lnSpc>
                <a:spcPts val="2930"/>
              </a:lnSpc>
            </a:pPr>
            <a:r>
              <a:rPr lang="en-US" sz="2092" b="1" dirty="0">
                <a:solidFill>
                  <a:srgbClr val="000000"/>
                </a:solidFill>
                <a:latin typeface="Times New Roman Bold"/>
                <a:ea typeface="Times New Roman Bold"/>
                <a:cs typeface="Times New Roman Bold"/>
                <a:sym typeface="Times New Roman Bold"/>
              </a:rPr>
              <a:t>Advantages:</a:t>
            </a:r>
          </a:p>
        </p:txBody>
      </p:sp>
      <p:sp>
        <p:nvSpPr>
          <p:cNvPr id="6" name="TextBox 6"/>
          <p:cNvSpPr txBox="1"/>
          <p:nvPr/>
        </p:nvSpPr>
        <p:spPr>
          <a:xfrm>
            <a:off x="1140200" y="2059943"/>
            <a:ext cx="3805218" cy="1444981"/>
          </a:xfrm>
          <a:prstGeom prst="rect">
            <a:avLst/>
          </a:prstGeom>
        </p:spPr>
        <p:txBody>
          <a:bodyPr lIns="0" tIns="0" rIns="0" bIns="0" rtlCol="0" anchor="t">
            <a:spAutoFit/>
          </a:bodyPr>
          <a:lstStyle/>
          <a:p>
            <a:pPr algn="l">
              <a:lnSpc>
                <a:spcPts val="2250"/>
              </a:lnSpc>
            </a:pPr>
            <a:r>
              <a:rPr lang="en-US" sz="1893" dirty="0">
                <a:solidFill>
                  <a:srgbClr val="000000"/>
                </a:solidFill>
                <a:latin typeface="Times New Roman"/>
                <a:ea typeface="Times New Roman"/>
                <a:cs typeface="Times New Roman"/>
                <a:sym typeface="Times New Roman"/>
              </a:rPr>
              <a:t>Detects crop diseases at an early stage. Saves time and manual effort.</a:t>
            </a:r>
          </a:p>
          <a:p>
            <a:pPr algn="l">
              <a:lnSpc>
                <a:spcPts val="2250"/>
              </a:lnSpc>
            </a:pPr>
            <a:r>
              <a:rPr lang="en-US" sz="1893" dirty="0">
                <a:solidFill>
                  <a:srgbClr val="000000"/>
                </a:solidFill>
                <a:latin typeface="Times New Roman"/>
                <a:ea typeface="Times New Roman"/>
                <a:cs typeface="Times New Roman"/>
                <a:sym typeface="Times New Roman"/>
              </a:rPr>
              <a:t>Helps reduce crop losses.</a:t>
            </a:r>
          </a:p>
          <a:p>
            <a:pPr algn="l">
              <a:lnSpc>
                <a:spcPts val="2250"/>
              </a:lnSpc>
            </a:pPr>
            <a:r>
              <a:rPr lang="en-US" sz="1893" dirty="0">
                <a:solidFill>
                  <a:srgbClr val="000000"/>
                </a:solidFill>
                <a:latin typeface="Times New Roman"/>
                <a:ea typeface="Times New Roman"/>
                <a:cs typeface="Times New Roman"/>
                <a:sym typeface="Times New Roman"/>
              </a:rPr>
              <a:t>Provides fast disease identification. Supports smart and modern farming.</a:t>
            </a:r>
          </a:p>
        </p:txBody>
      </p:sp>
      <p:sp>
        <p:nvSpPr>
          <p:cNvPr id="7" name="TextBox 7"/>
          <p:cNvSpPr txBox="1"/>
          <p:nvPr/>
        </p:nvSpPr>
        <p:spPr>
          <a:xfrm>
            <a:off x="731520" y="4022093"/>
            <a:ext cx="1859280" cy="341825"/>
          </a:xfrm>
          <a:prstGeom prst="rect">
            <a:avLst/>
          </a:prstGeom>
        </p:spPr>
        <p:txBody>
          <a:bodyPr wrap="square" lIns="0" tIns="0" rIns="0" bIns="0" rtlCol="0" anchor="t">
            <a:spAutoFit/>
          </a:bodyPr>
          <a:lstStyle/>
          <a:p>
            <a:pPr algn="l">
              <a:lnSpc>
                <a:spcPts val="2930"/>
              </a:lnSpc>
            </a:pPr>
            <a:r>
              <a:rPr lang="en-US" sz="2092" b="1" dirty="0">
                <a:solidFill>
                  <a:srgbClr val="000000"/>
                </a:solidFill>
                <a:latin typeface="Times New Roman Bold"/>
                <a:ea typeface="Times New Roman Bold"/>
                <a:cs typeface="Times New Roman Bold"/>
                <a:sym typeface="Times New Roman Bold"/>
              </a:rPr>
              <a:t>Disadvantages:</a:t>
            </a:r>
          </a:p>
        </p:txBody>
      </p:sp>
      <p:sp>
        <p:nvSpPr>
          <p:cNvPr id="8" name="TextBox 8"/>
          <p:cNvSpPr txBox="1"/>
          <p:nvPr/>
        </p:nvSpPr>
        <p:spPr>
          <a:xfrm>
            <a:off x="1140200" y="4631693"/>
            <a:ext cx="4874819" cy="1444981"/>
          </a:xfrm>
          <a:prstGeom prst="rect">
            <a:avLst/>
          </a:prstGeom>
        </p:spPr>
        <p:txBody>
          <a:bodyPr lIns="0" tIns="0" rIns="0" bIns="0" rtlCol="0" anchor="t">
            <a:spAutoFit/>
          </a:bodyPr>
          <a:lstStyle/>
          <a:p>
            <a:pPr algn="l">
              <a:lnSpc>
                <a:spcPts val="2250"/>
              </a:lnSpc>
            </a:pPr>
            <a:r>
              <a:rPr lang="en-US" sz="1893">
                <a:solidFill>
                  <a:srgbClr val="000000"/>
                </a:solidFill>
                <a:latin typeface="Times New Roman"/>
                <a:ea typeface="Times New Roman"/>
                <a:cs typeface="Times New Roman"/>
                <a:sym typeface="Times New Roman"/>
              </a:rPr>
              <a:t>Requires a good-quality image dataset.</a:t>
            </a:r>
          </a:p>
          <a:p>
            <a:pPr algn="l">
              <a:lnSpc>
                <a:spcPts val="2250"/>
              </a:lnSpc>
            </a:pPr>
            <a:r>
              <a:rPr lang="en-US" sz="1893">
                <a:solidFill>
                  <a:srgbClr val="000000"/>
                </a:solidFill>
                <a:latin typeface="Times New Roman"/>
                <a:ea typeface="Times New Roman"/>
                <a:cs typeface="Times New Roman"/>
                <a:sym typeface="Times New Roman"/>
              </a:rPr>
              <a:t>Poor images may give incorrect results.</a:t>
            </a:r>
          </a:p>
          <a:p>
            <a:pPr algn="l">
              <a:lnSpc>
                <a:spcPts val="2250"/>
              </a:lnSpc>
            </a:pPr>
            <a:r>
              <a:rPr lang="en-US" sz="1893">
                <a:solidFill>
                  <a:srgbClr val="000000"/>
                </a:solidFill>
                <a:latin typeface="Times New Roman"/>
                <a:ea typeface="Times New Roman"/>
                <a:cs typeface="Times New Roman"/>
                <a:sym typeface="Times New Roman"/>
              </a:rPr>
              <a:t>May detect only trained disease types.</a:t>
            </a:r>
          </a:p>
          <a:p>
            <a:pPr algn="l">
              <a:lnSpc>
                <a:spcPts val="2250"/>
              </a:lnSpc>
            </a:pPr>
            <a:r>
              <a:rPr lang="en-US" sz="1893">
                <a:solidFill>
                  <a:srgbClr val="000000"/>
                </a:solidFill>
                <a:latin typeface="Times New Roman"/>
                <a:ea typeface="Times New Roman"/>
                <a:cs typeface="Times New Roman"/>
                <a:sym typeface="Times New Roman"/>
              </a:rPr>
              <a:t>Requires computing resources for model training. Accuracy depends on the quality of the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191272"/>
            <a:ext cx="8932326" cy="1080497"/>
          </a:xfrm>
          <a:custGeom>
            <a:avLst/>
            <a:gdLst/>
            <a:ahLst/>
            <a:cxnLst/>
            <a:rect l="l" t="t" r="r" b="b"/>
            <a:pathLst>
              <a:path w="8932326" h="1080497">
                <a:moveTo>
                  <a:pt x="0" y="0"/>
                </a:moveTo>
                <a:lnTo>
                  <a:pt x="8932326" y="0"/>
                </a:lnTo>
                <a:lnTo>
                  <a:pt x="8932326" y="1080496"/>
                </a:lnTo>
                <a:lnTo>
                  <a:pt x="0" y="108049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396002" y="191272"/>
            <a:ext cx="9238517" cy="7055329"/>
          </a:xfrm>
          <a:custGeom>
            <a:avLst/>
            <a:gdLst/>
            <a:ahLst/>
            <a:cxnLst/>
            <a:rect l="l" t="t" r="r" b="b"/>
            <a:pathLst>
              <a:path w="9238517" h="7055329">
                <a:moveTo>
                  <a:pt x="0" y="0"/>
                </a:moveTo>
                <a:lnTo>
                  <a:pt x="9238516" y="0"/>
                </a:lnTo>
                <a:lnTo>
                  <a:pt x="9238516" y="7055329"/>
                </a:lnTo>
                <a:lnTo>
                  <a:pt x="0" y="705532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2971799" y="262480"/>
            <a:ext cx="3418921" cy="775853"/>
          </a:xfrm>
          <a:prstGeom prst="rect">
            <a:avLst/>
          </a:prstGeom>
        </p:spPr>
        <p:txBody>
          <a:bodyPr wrap="square" lIns="0" tIns="0" rIns="0" bIns="0" rtlCol="0" anchor="t">
            <a:spAutoFit/>
          </a:bodyPr>
          <a:lstStyle/>
          <a:p>
            <a:pPr algn="r">
              <a:lnSpc>
                <a:spcPts val="6569"/>
              </a:lnSpc>
              <a:spcBef>
                <a:spcPct val="0"/>
              </a:spcBef>
            </a:pPr>
            <a:r>
              <a:rPr lang="en-US" sz="4692" dirty="0">
                <a:solidFill>
                  <a:srgbClr val="1F497D"/>
                </a:solidFill>
                <a:latin typeface="Times New Roman"/>
                <a:ea typeface="Times New Roman"/>
                <a:cs typeface="Times New Roman"/>
                <a:sym typeface="Times New Roman"/>
              </a:rPr>
              <a:t>5. Conclusion</a:t>
            </a:r>
          </a:p>
        </p:txBody>
      </p:sp>
      <p:sp>
        <p:nvSpPr>
          <p:cNvPr id="5" name="TextBox 5"/>
          <p:cNvSpPr txBox="1"/>
          <p:nvPr/>
        </p:nvSpPr>
        <p:spPr>
          <a:xfrm>
            <a:off x="660728" y="1373168"/>
            <a:ext cx="8361352" cy="2009322"/>
          </a:xfrm>
          <a:prstGeom prst="rect">
            <a:avLst/>
          </a:prstGeom>
        </p:spPr>
        <p:txBody>
          <a:bodyPr lIns="0" tIns="0" rIns="0" bIns="0" rtlCol="0" anchor="t">
            <a:spAutoFit/>
          </a:bodyPr>
          <a:lstStyle/>
          <a:p>
            <a:pPr algn="just">
              <a:lnSpc>
                <a:spcPts val="2649"/>
              </a:lnSpc>
              <a:spcBef>
                <a:spcPct val="0"/>
              </a:spcBef>
            </a:pPr>
            <a:r>
              <a:rPr lang="en-US" sz="1892">
                <a:solidFill>
                  <a:srgbClr val="000000"/>
                </a:solidFill>
                <a:latin typeface="Times New Roman"/>
                <a:ea typeface="Times New Roman"/>
                <a:cs typeface="Times New Roman"/>
                <a:sym typeface="Times New Roman"/>
              </a:rPr>
              <a:t>Crop Disease Detection is a useful application of modern technology in agriculture. By using image processing, Machine Learning, and Deep Learning, the system can help identify possible crop diseases from leaf images. Early detection allows farmers to take timely action and manage crops more effectively. Although challenges such as image quality and model accuracy remain, this technology has the potential to reduce crop losses and improve agricultural productivity.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191272"/>
            <a:ext cx="8932326" cy="1080497"/>
          </a:xfrm>
          <a:custGeom>
            <a:avLst/>
            <a:gdLst/>
            <a:ahLst/>
            <a:cxnLst/>
            <a:rect l="l" t="t" r="r" b="b"/>
            <a:pathLst>
              <a:path w="8932326" h="1080497">
                <a:moveTo>
                  <a:pt x="0" y="0"/>
                </a:moveTo>
                <a:lnTo>
                  <a:pt x="8932326" y="0"/>
                </a:lnTo>
                <a:lnTo>
                  <a:pt x="8932326" y="1080496"/>
                </a:lnTo>
                <a:lnTo>
                  <a:pt x="0" y="108049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396002" y="191272"/>
            <a:ext cx="9238517" cy="7055329"/>
          </a:xfrm>
          <a:custGeom>
            <a:avLst/>
            <a:gdLst/>
            <a:ahLst/>
            <a:cxnLst/>
            <a:rect l="l" t="t" r="r" b="b"/>
            <a:pathLst>
              <a:path w="9238517" h="7055329">
                <a:moveTo>
                  <a:pt x="0" y="0"/>
                </a:moveTo>
                <a:lnTo>
                  <a:pt x="9238516" y="0"/>
                </a:lnTo>
                <a:lnTo>
                  <a:pt x="9238516" y="7055329"/>
                </a:lnTo>
                <a:lnTo>
                  <a:pt x="0" y="705532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2209800" y="262480"/>
            <a:ext cx="4975915" cy="775853"/>
          </a:xfrm>
          <a:prstGeom prst="rect">
            <a:avLst/>
          </a:prstGeom>
        </p:spPr>
        <p:txBody>
          <a:bodyPr wrap="square" lIns="0" tIns="0" rIns="0" bIns="0" rtlCol="0" anchor="t">
            <a:spAutoFit/>
          </a:bodyPr>
          <a:lstStyle/>
          <a:p>
            <a:pPr algn="r">
              <a:lnSpc>
                <a:spcPts val="6569"/>
              </a:lnSpc>
              <a:spcBef>
                <a:spcPct val="0"/>
              </a:spcBef>
            </a:pPr>
            <a:r>
              <a:rPr lang="en-US" sz="4692" dirty="0">
                <a:solidFill>
                  <a:srgbClr val="1F497D"/>
                </a:solidFill>
                <a:latin typeface="Times New Roman"/>
                <a:ea typeface="Times New Roman"/>
                <a:cs typeface="Times New Roman"/>
                <a:sym typeface="Times New Roman"/>
              </a:rPr>
              <a:t>6. Project Initiation</a:t>
            </a:r>
          </a:p>
        </p:txBody>
      </p:sp>
      <p:sp>
        <p:nvSpPr>
          <p:cNvPr id="5" name="TextBox 5"/>
          <p:cNvSpPr txBox="1"/>
          <p:nvPr/>
        </p:nvSpPr>
        <p:spPr>
          <a:xfrm>
            <a:off x="615293" y="1586943"/>
            <a:ext cx="8406787" cy="4996737"/>
          </a:xfrm>
          <a:prstGeom prst="rect">
            <a:avLst/>
          </a:prstGeom>
        </p:spPr>
        <p:txBody>
          <a:bodyPr lIns="0" tIns="0" rIns="0" bIns="0" rtlCol="0" anchor="t">
            <a:spAutoFit/>
          </a:bodyPr>
          <a:lstStyle/>
          <a:p>
            <a:pPr marL="399307" lvl="1" indent="-199654" algn="l">
              <a:lnSpc>
                <a:spcPts val="2175"/>
              </a:lnSpc>
              <a:buFont typeface="Arial"/>
              <a:buChar char="•"/>
            </a:pPr>
            <a:r>
              <a:rPr lang="en-US" sz="1849">
                <a:solidFill>
                  <a:srgbClr val="000000"/>
                </a:solidFill>
                <a:latin typeface="Times New Roman"/>
                <a:ea typeface="Times New Roman"/>
                <a:cs typeface="Times New Roman"/>
                <a:sym typeface="Times New Roman"/>
              </a:rPr>
              <a:t>The project initiation phase focuses on identifying the problem and planning the proposed Crop Disease Detection System.</a:t>
            </a:r>
          </a:p>
          <a:p>
            <a:pPr algn="l">
              <a:lnSpc>
                <a:spcPts val="2175"/>
              </a:lnSpc>
            </a:pPr>
            <a:r>
              <a:rPr lang="en-US" sz="1849">
                <a:solidFill>
                  <a:srgbClr val="000000"/>
                </a:solidFill>
                <a:latin typeface="Times New Roman"/>
                <a:ea typeface="Times New Roman"/>
                <a:cs typeface="Times New Roman"/>
                <a:sym typeface="Times New Roman"/>
              </a:rPr>
              <a:t>      </a:t>
            </a:r>
          </a:p>
          <a:p>
            <a:pPr algn="l">
              <a:lnSpc>
                <a:spcPts val="2175"/>
              </a:lnSpc>
            </a:pPr>
            <a:r>
              <a:rPr lang="en-US" sz="1849">
                <a:solidFill>
                  <a:srgbClr val="000000"/>
                </a:solidFill>
                <a:latin typeface="Times New Roman"/>
                <a:ea typeface="Times New Roman"/>
                <a:cs typeface="Times New Roman"/>
                <a:sym typeface="Times New Roman"/>
              </a:rPr>
              <a:t>      </a:t>
            </a:r>
            <a:r>
              <a:rPr lang="en-US" sz="1849" b="1">
                <a:solidFill>
                  <a:srgbClr val="000000"/>
                </a:solidFill>
                <a:latin typeface="Times New Roman Bold"/>
                <a:ea typeface="Times New Roman Bold"/>
                <a:cs typeface="Times New Roman Bold"/>
                <a:sym typeface="Times New Roman Bold"/>
              </a:rPr>
              <a:t>1.Problem Identification:</a:t>
            </a:r>
            <a:r>
              <a:rPr lang="en-US" sz="1849">
                <a:solidFill>
                  <a:srgbClr val="000000"/>
                </a:solidFill>
                <a:latin typeface="Times New Roman"/>
                <a:ea typeface="Times New Roman"/>
                <a:cs typeface="Times New Roman"/>
                <a:sym typeface="Times New Roman"/>
              </a:rPr>
              <a:t> Identified the need for early detection of crop diseases to </a:t>
            </a:r>
          </a:p>
          <a:p>
            <a:pPr algn="l">
              <a:lnSpc>
                <a:spcPts val="2175"/>
              </a:lnSpc>
            </a:pPr>
            <a:r>
              <a:rPr lang="en-US" sz="1849">
                <a:solidFill>
                  <a:srgbClr val="000000"/>
                </a:solidFill>
                <a:latin typeface="Times New Roman"/>
                <a:ea typeface="Times New Roman"/>
                <a:cs typeface="Times New Roman"/>
                <a:sym typeface="Times New Roman"/>
              </a:rPr>
              <a:t>        reduce crop losses.            </a:t>
            </a:r>
          </a:p>
          <a:p>
            <a:pPr algn="l">
              <a:lnSpc>
                <a:spcPts val="2175"/>
              </a:lnSpc>
            </a:pPr>
            <a:r>
              <a:rPr lang="en-US" sz="1849" spc="27">
                <a:solidFill>
                  <a:srgbClr val="000000"/>
                </a:solidFill>
                <a:latin typeface="Times New Roman"/>
                <a:ea typeface="Times New Roman"/>
                <a:cs typeface="Times New Roman"/>
                <a:sym typeface="Times New Roman"/>
              </a:rPr>
              <a:t>     </a:t>
            </a:r>
            <a:r>
              <a:rPr lang="en-US" sz="1849" b="1" spc="27">
                <a:solidFill>
                  <a:srgbClr val="000000"/>
                </a:solidFill>
                <a:latin typeface="Times New Roman Bold"/>
                <a:ea typeface="Times New Roman Bold"/>
                <a:cs typeface="Times New Roman Bold"/>
                <a:sym typeface="Times New Roman Bold"/>
              </a:rPr>
              <a:t>2.Project Objectives:</a:t>
            </a:r>
            <a:r>
              <a:rPr lang="en-US" sz="1849" spc="27">
                <a:solidFill>
                  <a:srgbClr val="000000"/>
                </a:solidFill>
                <a:latin typeface="Times New Roman"/>
                <a:ea typeface="Times New Roman"/>
                <a:cs typeface="Times New Roman"/>
                <a:sym typeface="Times New Roman"/>
              </a:rPr>
              <a:t> Aim to detect and classify crop diseases using images of </a:t>
            </a:r>
          </a:p>
          <a:p>
            <a:pPr algn="l">
              <a:lnSpc>
                <a:spcPts val="2175"/>
              </a:lnSpc>
            </a:pPr>
            <a:r>
              <a:rPr lang="en-US" sz="1849" spc="27">
                <a:solidFill>
                  <a:srgbClr val="000000"/>
                </a:solidFill>
                <a:latin typeface="Times New Roman"/>
                <a:ea typeface="Times New Roman"/>
                <a:cs typeface="Times New Roman"/>
                <a:sym typeface="Times New Roman"/>
              </a:rPr>
              <a:t>       plant leaves.</a:t>
            </a:r>
          </a:p>
          <a:p>
            <a:pPr algn="l">
              <a:lnSpc>
                <a:spcPts val="2175"/>
              </a:lnSpc>
            </a:pPr>
            <a:r>
              <a:rPr lang="en-US" sz="1849" spc="27">
                <a:solidFill>
                  <a:srgbClr val="000000"/>
                </a:solidFill>
                <a:latin typeface="Times New Roman"/>
                <a:ea typeface="Times New Roman"/>
                <a:cs typeface="Times New Roman"/>
                <a:sym typeface="Times New Roman"/>
              </a:rPr>
              <a:t>     </a:t>
            </a:r>
            <a:r>
              <a:rPr lang="en-US" sz="1849" b="1" spc="27">
                <a:solidFill>
                  <a:srgbClr val="000000"/>
                </a:solidFill>
                <a:latin typeface="Times New Roman Bold"/>
                <a:ea typeface="Times New Roman Bold"/>
                <a:cs typeface="Times New Roman Bold"/>
                <a:sym typeface="Times New Roman Bold"/>
              </a:rPr>
              <a:t>3.Literature Review:</a:t>
            </a:r>
            <a:r>
              <a:rPr lang="en-US" sz="1849" spc="27">
                <a:solidFill>
                  <a:srgbClr val="000000"/>
                </a:solidFill>
                <a:latin typeface="Times New Roman"/>
                <a:ea typeface="Times New Roman"/>
                <a:cs typeface="Times New Roman"/>
                <a:sym typeface="Times New Roman"/>
              </a:rPr>
              <a:t> Studied existing research papers on AI-based crop disease </a:t>
            </a:r>
          </a:p>
          <a:p>
            <a:pPr algn="l">
              <a:lnSpc>
                <a:spcPts val="2175"/>
              </a:lnSpc>
            </a:pPr>
            <a:r>
              <a:rPr lang="en-US" sz="1849" spc="27">
                <a:solidFill>
                  <a:srgbClr val="000000"/>
                </a:solidFill>
                <a:latin typeface="Times New Roman"/>
                <a:ea typeface="Times New Roman"/>
                <a:cs typeface="Times New Roman"/>
                <a:sym typeface="Times New Roman"/>
              </a:rPr>
              <a:t>       detection.</a:t>
            </a:r>
          </a:p>
          <a:p>
            <a:pPr algn="l">
              <a:lnSpc>
                <a:spcPts val="2175"/>
              </a:lnSpc>
            </a:pPr>
            <a:r>
              <a:rPr lang="en-US" sz="1849" spc="27">
                <a:solidFill>
                  <a:srgbClr val="000000"/>
                </a:solidFill>
                <a:latin typeface="Times New Roman"/>
                <a:ea typeface="Times New Roman"/>
                <a:cs typeface="Times New Roman"/>
                <a:sym typeface="Times New Roman"/>
              </a:rPr>
              <a:t>     </a:t>
            </a:r>
            <a:r>
              <a:rPr lang="en-US" sz="1849" b="1" spc="27">
                <a:solidFill>
                  <a:srgbClr val="000000"/>
                </a:solidFill>
                <a:latin typeface="Times New Roman Bold"/>
                <a:ea typeface="Times New Roman Bold"/>
                <a:cs typeface="Times New Roman Bold"/>
                <a:sym typeface="Times New Roman Bold"/>
              </a:rPr>
              <a:t>4.Research Gap: </a:t>
            </a:r>
            <a:r>
              <a:rPr lang="en-US" sz="1849" spc="27">
                <a:solidFill>
                  <a:srgbClr val="000000"/>
                </a:solidFill>
                <a:latin typeface="Times New Roman"/>
                <a:ea typeface="Times New Roman"/>
                <a:cs typeface="Times New Roman"/>
                <a:sym typeface="Times New Roman"/>
              </a:rPr>
              <a:t>Examined the limitations of existing approaches, such as </a:t>
            </a:r>
          </a:p>
          <a:p>
            <a:pPr algn="l">
              <a:lnSpc>
                <a:spcPts val="2175"/>
              </a:lnSpc>
            </a:pPr>
            <a:r>
              <a:rPr lang="en-US" sz="1849" spc="27">
                <a:solidFill>
                  <a:srgbClr val="000000"/>
                </a:solidFill>
                <a:latin typeface="Times New Roman"/>
                <a:ea typeface="Times New Roman"/>
                <a:cs typeface="Times New Roman"/>
                <a:sym typeface="Times New Roman"/>
              </a:rPr>
              <a:t>        performance under real-field conditions and dependence on internet </a:t>
            </a:r>
          </a:p>
          <a:p>
            <a:pPr algn="l">
              <a:lnSpc>
                <a:spcPts val="2175"/>
              </a:lnSpc>
            </a:pPr>
            <a:r>
              <a:rPr lang="en-US" sz="1849" spc="27">
                <a:solidFill>
                  <a:srgbClr val="000000"/>
                </a:solidFill>
                <a:latin typeface="Times New Roman"/>
                <a:ea typeface="Times New Roman"/>
                <a:cs typeface="Times New Roman"/>
                <a:sym typeface="Times New Roman"/>
              </a:rPr>
              <a:t>        connectivity. </a:t>
            </a:r>
          </a:p>
          <a:p>
            <a:pPr algn="l">
              <a:lnSpc>
                <a:spcPts val="2175"/>
              </a:lnSpc>
            </a:pPr>
            <a:r>
              <a:rPr lang="en-US" sz="1849" spc="27">
                <a:solidFill>
                  <a:srgbClr val="000000"/>
                </a:solidFill>
                <a:latin typeface="Times New Roman"/>
                <a:ea typeface="Times New Roman"/>
                <a:cs typeface="Times New Roman"/>
                <a:sym typeface="Times New Roman"/>
              </a:rPr>
              <a:t>     </a:t>
            </a:r>
            <a:r>
              <a:rPr lang="en-US" sz="1849" b="1" spc="27">
                <a:solidFill>
                  <a:srgbClr val="000000"/>
                </a:solidFill>
                <a:latin typeface="Times New Roman Bold"/>
                <a:ea typeface="Times New Roman Bold"/>
                <a:cs typeface="Times New Roman Bold"/>
                <a:sym typeface="Times New Roman Bold"/>
              </a:rPr>
              <a:t>5.Technology Selection:</a:t>
            </a:r>
            <a:r>
              <a:rPr lang="en-US" sz="1849" spc="27">
                <a:solidFill>
                  <a:srgbClr val="000000"/>
                </a:solidFill>
                <a:latin typeface="Times New Roman"/>
                <a:ea typeface="Times New Roman"/>
                <a:cs typeface="Times New Roman"/>
                <a:sym typeface="Times New Roman"/>
              </a:rPr>
              <a:t> Considered Artificial Intelligence, Deep Learning, and </a:t>
            </a:r>
          </a:p>
          <a:p>
            <a:pPr algn="l">
              <a:lnSpc>
                <a:spcPts val="2175"/>
              </a:lnSpc>
            </a:pPr>
            <a:r>
              <a:rPr lang="en-US" sz="1849" spc="27">
                <a:solidFill>
                  <a:srgbClr val="000000"/>
                </a:solidFill>
                <a:latin typeface="Times New Roman"/>
                <a:ea typeface="Times New Roman"/>
                <a:cs typeface="Times New Roman"/>
                <a:sym typeface="Times New Roman"/>
              </a:rPr>
              <a:t>        Image Processing for disease detection.</a:t>
            </a:r>
          </a:p>
          <a:p>
            <a:pPr algn="l">
              <a:lnSpc>
                <a:spcPts val="2175"/>
              </a:lnSpc>
            </a:pPr>
            <a:r>
              <a:rPr lang="en-US" sz="1849" spc="27">
                <a:solidFill>
                  <a:srgbClr val="000000"/>
                </a:solidFill>
                <a:latin typeface="Times New Roman"/>
                <a:ea typeface="Times New Roman"/>
                <a:cs typeface="Times New Roman"/>
                <a:sym typeface="Times New Roman"/>
              </a:rPr>
              <a:t>     </a:t>
            </a:r>
            <a:r>
              <a:rPr lang="en-US" sz="1849" b="1" spc="27">
                <a:solidFill>
                  <a:srgbClr val="000000"/>
                </a:solidFill>
                <a:latin typeface="Times New Roman Bold"/>
                <a:ea typeface="Times New Roman Bold"/>
                <a:cs typeface="Times New Roman Bold"/>
                <a:sym typeface="Times New Roman Bold"/>
              </a:rPr>
              <a:t>6.Feasibility Study:</a:t>
            </a:r>
            <a:r>
              <a:rPr lang="en-US" sz="1849" spc="27">
                <a:solidFill>
                  <a:srgbClr val="000000"/>
                </a:solidFill>
                <a:latin typeface="Times New Roman"/>
                <a:ea typeface="Times New Roman"/>
                <a:cs typeface="Times New Roman"/>
                <a:sym typeface="Times New Roman"/>
              </a:rPr>
              <a:t> Evaluated the technical requirements, available resources, </a:t>
            </a:r>
          </a:p>
          <a:p>
            <a:pPr algn="l">
              <a:lnSpc>
                <a:spcPts val="2175"/>
              </a:lnSpc>
            </a:pPr>
            <a:r>
              <a:rPr lang="en-US" sz="1849" spc="27">
                <a:solidFill>
                  <a:srgbClr val="000000"/>
                </a:solidFill>
                <a:latin typeface="Times New Roman"/>
                <a:ea typeface="Times New Roman"/>
                <a:cs typeface="Times New Roman"/>
                <a:sym typeface="Times New Roman"/>
              </a:rPr>
              <a:t>        and feasibility of the proposed system.</a:t>
            </a:r>
          </a:p>
          <a:p>
            <a:pPr algn="l">
              <a:lnSpc>
                <a:spcPts val="2175"/>
              </a:lnSpc>
            </a:pPr>
            <a:r>
              <a:rPr lang="en-US" sz="1849" spc="27">
                <a:solidFill>
                  <a:srgbClr val="000000"/>
                </a:solidFill>
                <a:latin typeface="Times New Roman"/>
                <a:ea typeface="Times New Roman"/>
                <a:cs typeface="Times New Roman"/>
                <a:sym typeface="Times New Roman"/>
              </a:rPr>
              <a:t>     </a:t>
            </a:r>
            <a:r>
              <a:rPr lang="en-US" sz="1849" b="1" spc="27">
                <a:solidFill>
                  <a:srgbClr val="000000"/>
                </a:solidFill>
                <a:latin typeface="Times New Roman Bold"/>
                <a:ea typeface="Times New Roman Bold"/>
                <a:cs typeface="Times New Roman Bold"/>
                <a:sym typeface="Times New Roman Bold"/>
              </a:rPr>
              <a:t>7.Project Scope: </a:t>
            </a:r>
            <a:r>
              <a:rPr lang="en-US" sz="1849" spc="27">
                <a:solidFill>
                  <a:srgbClr val="000000"/>
                </a:solidFill>
                <a:latin typeface="Times New Roman"/>
                <a:ea typeface="Times New Roman"/>
                <a:cs typeface="Times New Roman"/>
                <a:sym typeface="Times New Roman"/>
              </a:rPr>
              <a:t>Defined the basic functions and expected outcomes of the </a:t>
            </a:r>
          </a:p>
          <a:p>
            <a:pPr algn="l">
              <a:lnSpc>
                <a:spcPts val="2175"/>
              </a:lnSpc>
            </a:pPr>
            <a:r>
              <a:rPr lang="en-US" sz="1849" spc="27">
                <a:solidFill>
                  <a:srgbClr val="000000"/>
                </a:solidFill>
                <a:latin typeface="Times New Roman"/>
                <a:ea typeface="Times New Roman"/>
                <a:cs typeface="Times New Roman"/>
                <a:sym typeface="Times New Roman"/>
              </a:rPr>
              <a:t>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7542" y="129935"/>
            <a:ext cx="9238517" cy="7055329"/>
          </a:xfrm>
          <a:custGeom>
            <a:avLst/>
            <a:gdLst/>
            <a:ahLst/>
            <a:cxnLst/>
            <a:rect l="l" t="t" r="r" b="b"/>
            <a:pathLst>
              <a:path w="9238517" h="7055329">
                <a:moveTo>
                  <a:pt x="0" y="0"/>
                </a:moveTo>
                <a:lnTo>
                  <a:pt x="9238516" y="0"/>
                </a:lnTo>
                <a:lnTo>
                  <a:pt x="9238516" y="7055330"/>
                </a:lnTo>
                <a:lnTo>
                  <a:pt x="0" y="70553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542741" y="1482340"/>
            <a:ext cx="8479339" cy="2009661"/>
          </a:xfrm>
          <a:prstGeom prst="rect">
            <a:avLst/>
          </a:prstGeom>
        </p:spPr>
        <p:txBody>
          <a:bodyPr lIns="0" tIns="0" rIns="0" bIns="0" rtlCol="0" anchor="t">
            <a:spAutoFit/>
          </a:bodyPr>
          <a:lstStyle/>
          <a:p>
            <a:pPr algn="just">
              <a:lnSpc>
                <a:spcPts val="2631"/>
              </a:lnSpc>
              <a:spcBef>
                <a:spcPct val="0"/>
              </a:spcBef>
            </a:pPr>
            <a:r>
              <a:rPr lang="en-US" sz="1879">
                <a:solidFill>
                  <a:srgbClr val="000000"/>
                </a:solidFill>
                <a:latin typeface="Times New Roman"/>
                <a:ea typeface="Times New Roman"/>
                <a:cs typeface="Times New Roman"/>
                <a:sym typeface="Times New Roman"/>
              </a:rPr>
              <a:t>Crop Disease Detection Using Deep Learning is an AI-based project designed to identify plant diseases from leaf images. It uses deep learning techniques, such as Convolutional Neural Networks (CNN), to classify crop leaves and detect possible diseases. This system can help farmers identify diseases early and take appropriate action. The main aim of the project is to support smart agriculture, reduce crop losses, and improve crop health.</a:t>
            </a:r>
          </a:p>
        </p:txBody>
      </p:sp>
      <p:sp>
        <p:nvSpPr>
          <p:cNvPr id="4" name="TextBox 4"/>
          <p:cNvSpPr txBox="1"/>
          <p:nvPr/>
        </p:nvSpPr>
        <p:spPr>
          <a:xfrm>
            <a:off x="542741" y="296280"/>
            <a:ext cx="8479339" cy="765705"/>
          </a:xfrm>
          <a:prstGeom prst="rect">
            <a:avLst/>
          </a:prstGeom>
        </p:spPr>
        <p:txBody>
          <a:bodyPr lIns="0" tIns="0" rIns="0" bIns="0" rtlCol="0" anchor="t">
            <a:spAutoFit/>
          </a:bodyPr>
          <a:lstStyle/>
          <a:p>
            <a:pPr algn="l">
              <a:lnSpc>
                <a:spcPts val="6095"/>
              </a:lnSpc>
            </a:pPr>
            <a:r>
              <a:rPr lang="en-US" sz="4354">
                <a:solidFill>
                  <a:srgbClr val="1F497D"/>
                </a:solidFill>
                <a:latin typeface="Times New Roman"/>
                <a:ea typeface="Times New Roman"/>
                <a:cs typeface="Times New Roman"/>
                <a:sym typeface="Times New Roman"/>
              </a:rPr>
              <a:t>6.1 Description of Problem Statement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348934" y="3790737"/>
            <a:ext cx="5170008" cy="2908129"/>
          </a:xfrm>
          <a:custGeom>
            <a:avLst/>
            <a:gdLst/>
            <a:ahLst/>
            <a:cxnLst/>
            <a:rect l="l" t="t" r="r" b="b"/>
            <a:pathLst>
              <a:path w="5170008" h="2908129">
                <a:moveTo>
                  <a:pt x="0" y="0"/>
                </a:moveTo>
                <a:lnTo>
                  <a:pt x="5170008" y="0"/>
                </a:lnTo>
                <a:lnTo>
                  <a:pt x="5170008" y="2908129"/>
                </a:lnTo>
                <a:lnTo>
                  <a:pt x="0" y="2908129"/>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593527" y="262311"/>
            <a:ext cx="6188988" cy="824118"/>
          </a:xfrm>
          <a:prstGeom prst="rect">
            <a:avLst/>
          </a:prstGeom>
        </p:spPr>
        <p:txBody>
          <a:bodyPr lIns="0" tIns="0" rIns="0" bIns="0" rtlCol="0" anchor="t">
            <a:spAutoFit/>
          </a:bodyPr>
          <a:lstStyle/>
          <a:p>
            <a:pPr algn="ctr">
              <a:lnSpc>
                <a:spcPts val="6551"/>
              </a:lnSpc>
              <a:spcBef>
                <a:spcPct val="0"/>
              </a:spcBef>
            </a:pPr>
            <a:r>
              <a:rPr lang="en-US" sz="4679">
                <a:solidFill>
                  <a:srgbClr val="1F497D"/>
                </a:solidFill>
                <a:latin typeface="Times New Roman"/>
                <a:ea typeface="Times New Roman"/>
                <a:cs typeface="Times New Roman"/>
                <a:sym typeface="Times New Roman"/>
              </a:rPr>
              <a:t>6.2 Scope and Objectives.</a:t>
            </a:r>
          </a:p>
        </p:txBody>
      </p:sp>
      <p:sp>
        <p:nvSpPr>
          <p:cNvPr id="5" name="TextBox 5"/>
          <p:cNvSpPr txBox="1"/>
          <p:nvPr/>
        </p:nvSpPr>
        <p:spPr>
          <a:xfrm>
            <a:off x="592665" y="1503097"/>
            <a:ext cx="7876080" cy="2154503"/>
          </a:xfrm>
          <a:prstGeom prst="rect">
            <a:avLst/>
          </a:prstGeom>
        </p:spPr>
        <p:txBody>
          <a:bodyPr lIns="0" tIns="0" rIns="0" bIns="0" rtlCol="0" anchor="t">
            <a:spAutoFit/>
          </a:bodyPr>
          <a:lstStyle/>
          <a:p>
            <a:pPr marL="393802" lvl="1" indent="-196901" algn="l">
              <a:lnSpc>
                <a:spcPts val="2174"/>
              </a:lnSpc>
              <a:buFont typeface="Arial"/>
              <a:buChar char="•"/>
            </a:pPr>
            <a:r>
              <a:rPr lang="en-US" sz="1824">
                <a:solidFill>
                  <a:srgbClr val="000000"/>
                </a:solidFill>
                <a:latin typeface="Times New Roman"/>
                <a:ea typeface="Times New Roman"/>
                <a:cs typeface="Times New Roman"/>
                <a:sym typeface="Times New Roman"/>
              </a:rPr>
              <a:t>Detect crop diseases using plant leaf images.</a:t>
            </a:r>
          </a:p>
          <a:p>
            <a:pPr marL="393802" lvl="1" indent="-196901" algn="l">
              <a:lnSpc>
                <a:spcPts val="2174"/>
              </a:lnSpc>
              <a:buFont typeface="Arial"/>
              <a:buChar char="•"/>
            </a:pPr>
            <a:r>
              <a:rPr lang="en-US" sz="1824">
                <a:solidFill>
                  <a:srgbClr val="000000"/>
                </a:solidFill>
                <a:latin typeface="Times New Roman"/>
                <a:ea typeface="Times New Roman"/>
                <a:cs typeface="Times New Roman"/>
                <a:sym typeface="Times New Roman"/>
              </a:rPr>
              <a:t>Identify healthy and diseased leaves.</a:t>
            </a:r>
          </a:p>
          <a:p>
            <a:pPr marL="393802" lvl="1" indent="-196901" algn="l">
              <a:lnSpc>
                <a:spcPts val="2174"/>
              </a:lnSpc>
              <a:buFont typeface="Arial"/>
              <a:buChar char="•"/>
            </a:pPr>
            <a:r>
              <a:rPr lang="en-US" sz="1824">
                <a:solidFill>
                  <a:srgbClr val="000000"/>
                </a:solidFill>
                <a:latin typeface="Times New Roman"/>
                <a:ea typeface="Times New Roman"/>
                <a:cs typeface="Times New Roman"/>
                <a:sym typeface="Times New Roman"/>
              </a:rPr>
              <a:t>Support early detection of crop diseases.</a:t>
            </a:r>
          </a:p>
          <a:p>
            <a:pPr marL="393802" lvl="1" indent="-196901" algn="l">
              <a:lnSpc>
                <a:spcPts val="2174"/>
              </a:lnSpc>
              <a:buFont typeface="Arial"/>
              <a:buChar char="•"/>
            </a:pPr>
            <a:r>
              <a:rPr lang="en-US" sz="1824">
                <a:solidFill>
                  <a:srgbClr val="000000"/>
                </a:solidFill>
                <a:latin typeface="Times New Roman"/>
                <a:ea typeface="Times New Roman"/>
                <a:cs typeface="Times New Roman"/>
                <a:sym typeface="Times New Roman"/>
              </a:rPr>
              <a:t>Use AI and Machine Learning for disease classification.</a:t>
            </a:r>
          </a:p>
          <a:p>
            <a:pPr marL="393802" lvl="1" indent="-196901" algn="l">
              <a:lnSpc>
                <a:spcPts val="2174"/>
              </a:lnSpc>
              <a:buFont typeface="Arial"/>
              <a:buChar char="•"/>
            </a:pPr>
            <a:r>
              <a:rPr lang="en-US" sz="1824">
                <a:solidFill>
                  <a:srgbClr val="000000"/>
                </a:solidFill>
                <a:latin typeface="Times New Roman"/>
                <a:ea typeface="Times New Roman"/>
                <a:cs typeface="Times New Roman"/>
                <a:sym typeface="Times New Roman"/>
              </a:rPr>
              <a:t>Reduce the time and effort required for disease identification.</a:t>
            </a:r>
          </a:p>
          <a:p>
            <a:pPr marL="393802" lvl="1" indent="-196901" algn="l">
              <a:lnSpc>
                <a:spcPts val="2174"/>
              </a:lnSpc>
              <a:buFont typeface="Arial"/>
              <a:buChar char="•"/>
            </a:pPr>
            <a:r>
              <a:rPr lang="en-US" sz="1824">
                <a:solidFill>
                  <a:srgbClr val="000000"/>
                </a:solidFill>
                <a:latin typeface="Times New Roman"/>
                <a:ea typeface="Times New Roman"/>
                <a:cs typeface="Times New Roman"/>
                <a:sym typeface="Times New Roman"/>
              </a:rPr>
              <a:t>Help farmers take timely preventive measures and reduce crop losses.</a:t>
            </a:r>
          </a:p>
          <a:p>
            <a:pPr marL="393802" lvl="1" indent="-196901" algn="l">
              <a:lnSpc>
                <a:spcPts val="2174"/>
              </a:lnSpc>
              <a:buFont typeface="Arial"/>
              <a:buChar char="•"/>
            </a:pPr>
            <a:r>
              <a:rPr lang="en-US" sz="1824">
                <a:solidFill>
                  <a:srgbClr val="000000"/>
                </a:solidFill>
                <a:latin typeface="Times New Roman"/>
                <a:ea typeface="Times New Roman"/>
                <a:cs typeface="Times New Roman"/>
                <a:sym typeface="Times New Roman"/>
              </a:rPr>
              <a:t>Improve crop monitoring and agricultural productivity through modern technology.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2745819" y="275971"/>
            <a:ext cx="4114919" cy="806324"/>
          </a:xfrm>
          <a:prstGeom prst="rect">
            <a:avLst/>
          </a:prstGeom>
        </p:spPr>
        <p:txBody>
          <a:bodyPr lIns="0" tIns="0" rIns="0" bIns="0" rtlCol="0" anchor="t">
            <a:spAutoFit/>
          </a:bodyPr>
          <a:lstStyle/>
          <a:p>
            <a:pPr algn="just">
              <a:lnSpc>
                <a:spcPts val="6481"/>
              </a:lnSpc>
            </a:pPr>
            <a:r>
              <a:rPr lang="en-US" sz="4629">
                <a:solidFill>
                  <a:srgbClr val="002060"/>
                </a:solidFill>
                <a:latin typeface="Times New Roman"/>
                <a:ea typeface="Times New Roman"/>
                <a:cs typeface="Times New Roman"/>
                <a:sym typeface="Times New Roman"/>
              </a:rPr>
              <a:t> 6.3 Stake Holder</a:t>
            </a:r>
          </a:p>
        </p:txBody>
      </p:sp>
      <p:sp>
        <p:nvSpPr>
          <p:cNvPr id="4" name="TextBox 4"/>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5" name="TextBox 5"/>
          <p:cNvSpPr txBox="1"/>
          <p:nvPr/>
        </p:nvSpPr>
        <p:spPr>
          <a:xfrm>
            <a:off x="993858" y="1601000"/>
            <a:ext cx="2481710" cy="1396565"/>
          </a:xfrm>
          <a:prstGeom prst="rect">
            <a:avLst/>
          </a:prstGeom>
        </p:spPr>
        <p:txBody>
          <a:bodyPr lIns="0" tIns="0" rIns="0" bIns="0" rtlCol="0" anchor="t">
            <a:spAutoFit/>
          </a:bodyPr>
          <a:lstStyle/>
          <a:p>
            <a:pPr algn="l">
              <a:lnSpc>
                <a:spcPts val="2174"/>
              </a:lnSpc>
            </a:pPr>
            <a:r>
              <a:rPr lang="en-US" sz="1824">
                <a:solidFill>
                  <a:srgbClr val="000000"/>
                </a:solidFill>
                <a:latin typeface="Times New Roman"/>
                <a:ea typeface="Times New Roman"/>
                <a:cs typeface="Times New Roman"/>
                <a:sym typeface="Times New Roman"/>
              </a:rPr>
              <a:t>Farmers</a:t>
            </a:r>
          </a:p>
          <a:p>
            <a:pPr algn="l">
              <a:lnSpc>
                <a:spcPts val="2174"/>
              </a:lnSpc>
            </a:pPr>
            <a:r>
              <a:rPr lang="en-US" sz="1824">
                <a:solidFill>
                  <a:srgbClr val="000000"/>
                </a:solidFill>
                <a:latin typeface="Times New Roman"/>
                <a:ea typeface="Times New Roman"/>
                <a:cs typeface="Times New Roman"/>
                <a:sym typeface="Times New Roman"/>
              </a:rPr>
              <a:t>Agricultural experts Researchers</a:t>
            </a:r>
          </a:p>
          <a:p>
            <a:pPr algn="l">
              <a:lnSpc>
                <a:spcPts val="2174"/>
              </a:lnSpc>
            </a:pPr>
            <a:r>
              <a:rPr lang="en-US" sz="1824">
                <a:solidFill>
                  <a:srgbClr val="000000"/>
                </a:solidFill>
                <a:latin typeface="Times New Roman"/>
                <a:ea typeface="Times New Roman"/>
                <a:cs typeface="Times New Roman"/>
                <a:sym typeface="Times New Roman"/>
              </a:rPr>
              <a:t>Students and developers Agricultural organizations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633" y="205092"/>
            <a:ext cx="9068343" cy="953224"/>
          </a:xfrm>
          <a:custGeom>
            <a:avLst/>
            <a:gdLst/>
            <a:ahLst/>
            <a:cxnLst/>
            <a:rect l="l" t="t" r="r" b="b"/>
            <a:pathLst>
              <a:path w="9068343" h="953224">
                <a:moveTo>
                  <a:pt x="0" y="0"/>
                </a:moveTo>
                <a:lnTo>
                  <a:pt x="9068343" y="0"/>
                </a:lnTo>
                <a:lnTo>
                  <a:pt x="9068343" y="953224"/>
                </a:lnTo>
                <a:lnTo>
                  <a:pt x="0" y="953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410632" y="1223429"/>
            <a:ext cx="9223877" cy="6023162"/>
          </a:xfrm>
          <a:custGeom>
            <a:avLst/>
            <a:gdLst/>
            <a:ahLst/>
            <a:cxnLst/>
            <a:rect l="l" t="t" r="r" b="b"/>
            <a:pathLst>
              <a:path w="9223877" h="6023162">
                <a:moveTo>
                  <a:pt x="0" y="0"/>
                </a:moveTo>
                <a:lnTo>
                  <a:pt x="9223877" y="0"/>
                </a:lnTo>
                <a:lnTo>
                  <a:pt x="9223877" y="6023162"/>
                </a:lnTo>
                <a:lnTo>
                  <a:pt x="0" y="60231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351781" y="217004"/>
            <a:ext cx="6902172" cy="815101"/>
          </a:xfrm>
          <a:prstGeom prst="rect">
            <a:avLst/>
          </a:prstGeom>
        </p:spPr>
        <p:txBody>
          <a:bodyPr lIns="0" tIns="0" rIns="0" bIns="0" rtlCol="0" anchor="t">
            <a:spAutoFit/>
          </a:bodyPr>
          <a:lstStyle/>
          <a:p>
            <a:pPr algn="l">
              <a:lnSpc>
                <a:spcPts val="6523"/>
              </a:lnSpc>
            </a:pPr>
            <a:r>
              <a:rPr lang="en-US" sz="4659">
                <a:solidFill>
                  <a:srgbClr val="002060"/>
                </a:solidFill>
                <a:latin typeface="Times New Roman"/>
                <a:ea typeface="Times New Roman"/>
                <a:cs typeface="Times New Roman"/>
                <a:sym typeface="Times New Roman"/>
              </a:rPr>
              <a:t>6.4 Seminar exsicussion plan</a:t>
            </a:r>
          </a:p>
        </p:txBody>
      </p:sp>
      <p:sp>
        <p:nvSpPr>
          <p:cNvPr id="5" name="TextBox 5"/>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6" name="TextBox 6"/>
          <p:cNvSpPr txBox="1"/>
          <p:nvPr/>
        </p:nvSpPr>
        <p:spPr>
          <a:xfrm>
            <a:off x="1001563" y="1518637"/>
            <a:ext cx="4696920" cy="1671114"/>
          </a:xfrm>
          <a:prstGeom prst="rect">
            <a:avLst/>
          </a:prstGeom>
        </p:spPr>
        <p:txBody>
          <a:bodyPr lIns="0" tIns="0" rIns="0" bIns="0" rtlCol="0" anchor="t">
            <a:spAutoFit/>
          </a:bodyPr>
          <a:lstStyle/>
          <a:p>
            <a:pPr algn="l">
              <a:lnSpc>
                <a:spcPts val="2175"/>
              </a:lnSpc>
            </a:pPr>
            <a:r>
              <a:rPr lang="en-US" sz="1812">
                <a:solidFill>
                  <a:srgbClr val="000000"/>
                </a:solidFill>
                <a:latin typeface="Times New Roman"/>
                <a:ea typeface="Times New Roman"/>
                <a:cs typeface="Times New Roman"/>
                <a:sym typeface="Times New Roman"/>
              </a:rPr>
              <a:t>Study existing crop disease detection methods. Collect information and relevant datasets. Understand image processing and ML techniques. Design the system workflow.</a:t>
            </a:r>
          </a:p>
          <a:p>
            <a:pPr algn="l">
              <a:lnSpc>
                <a:spcPts val="2175"/>
              </a:lnSpc>
            </a:pPr>
            <a:r>
              <a:rPr lang="en-US" sz="1812">
                <a:solidFill>
                  <a:srgbClr val="000000"/>
                </a:solidFill>
                <a:latin typeface="Times New Roman"/>
                <a:ea typeface="Times New Roman"/>
                <a:cs typeface="Times New Roman"/>
                <a:sym typeface="Times New Roman"/>
              </a:rPr>
              <a:t>Test the model and evaluate its performance. Prepare the final report and presentation.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632" y="215894"/>
            <a:ext cx="9223877" cy="7030698"/>
          </a:xfrm>
          <a:custGeom>
            <a:avLst/>
            <a:gdLst/>
            <a:ahLst/>
            <a:cxnLst/>
            <a:rect l="l" t="t" r="r" b="b"/>
            <a:pathLst>
              <a:path w="9223877" h="7030698">
                <a:moveTo>
                  <a:pt x="0" y="0"/>
                </a:moveTo>
                <a:lnTo>
                  <a:pt x="9223877" y="0"/>
                </a:lnTo>
                <a:lnTo>
                  <a:pt x="9223877" y="7030697"/>
                </a:lnTo>
                <a:lnTo>
                  <a:pt x="0" y="70306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567272" y="285330"/>
            <a:ext cx="8628790" cy="816274"/>
          </a:xfrm>
          <a:prstGeom prst="rect">
            <a:avLst/>
          </a:prstGeom>
        </p:spPr>
        <p:txBody>
          <a:bodyPr lIns="0" tIns="0" rIns="0" bIns="0" rtlCol="0" anchor="t">
            <a:spAutoFit/>
          </a:bodyPr>
          <a:lstStyle/>
          <a:p>
            <a:pPr algn="l">
              <a:lnSpc>
                <a:spcPts val="6458"/>
              </a:lnSpc>
            </a:pPr>
            <a:r>
              <a:rPr lang="en-US" sz="4613">
                <a:solidFill>
                  <a:srgbClr val="1F497D"/>
                </a:solidFill>
                <a:latin typeface="Times New Roman"/>
                <a:ea typeface="Times New Roman"/>
                <a:cs typeface="Times New Roman"/>
                <a:sym typeface="Times New Roman"/>
              </a:rPr>
              <a:t>6.5 Platform/ Equipment/ Resources</a:t>
            </a:r>
          </a:p>
        </p:txBody>
      </p:sp>
      <p:sp>
        <p:nvSpPr>
          <p:cNvPr id="4" name="TextBox 4"/>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5" name="TextBox 5"/>
          <p:cNvSpPr txBox="1"/>
          <p:nvPr/>
        </p:nvSpPr>
        <p:spPr>
          <a:xfrm>
            <a:off x="1184853" y="1669180"/>
            <a:ext cx="1347283" cy="371018"/>
          </a:xfrm>
          <a:prstGeom prst="rect">
            <a:avLst/>
          </a:prstGeom>
        </p:spPr>
        <p:txBody>
          <a:bodyPr lIns="0" tIns="0" rIns="0" bIns="0" rtlCol="0" anchor="t">
            <a:spAutoFit/>
          </a:bodyPr>
          <a:lstStyle/>
          <a:p>
            <a:pPr algn="l">
              <a:lnSpc>
                <a:spcPts val="2940"/>
              </a:lnSpc>
            </a:pPr>
            <a:r>
              <a:rPr lang="en-US" sz="2100" b="1">
                <a:solidFill>
                  <a:srgbClr val="000000"/>
                </a:solidFill>
                <a:latin typeface="Times New Roman Bold"/>
                <a:ea typeface="Times New Roman Bold"/>
                <a:cs typeface="Times New Roman Bold"/>
                <a:sym typeface="Times New Roman Bold"/>
              </a:rPr>
              <a:t>Hardware: </a:t>
            </a:r>
          </a:p>
        </p:txBody>
      </p:sp>
      <p:sp>
        <p:nvSpPr>
          <p:cNvPr id="6" name="TextBox 6"/>
          <p:cNvSpPr txBox="1"/>
          <p:nvPr/>
        </p:nvSpPr>
        <p:spPr>
          <a:xfrm>
            <a:off x="1184853" y="2031130"/>
            <a:ext cx="1246603" cy="637718"/>
          </a:xfrm>
          <a:prstGeom prst="rect">
            <a:avLst/>
          </a:prstGeom>
        </p:spPr>
        <p:txBody>
          <a:bodyPr lIns="0" tIns="0" rIns="0" bIns="0" rtlCol="0" anchor="t">
            <a:spAutoFit/>
          </a:bodyPr>
          <a:lstStyle/>
          <a:p>
            <a:pPr algn="l">
              <a:lnSpc>
                <a:spcPts val="2475"/>
              </a:lnSpc>
            </a:pPr>
            <a:r>
              <a:rPr lang="en-US" sz="2100" b="1">
                <a:solidFill>
                  <a:srgbClr val="000000"/>
                </a:solidFill>
                <a:latin typeface="Times New Roman Bold"/>
                <a:ea typeface="Times New Roman Bold"/>
                <a:cs typeface="Times New Roman Bold"/>
                <a:sym typeface="Times New Roman Bold"/>
              </a:rPr>
              <a:t>Software: Libraries: </a:t>
            </a:r>
          </a:p>
        </p:txBody>
      </p:sp>
      <p:sp>
        <p:nvSpPr>
          <p:cNvPr id="7" name="TextBox 7"/>
          <p:cNvSpPr txBox="1"/>
          <p:nvPr/>
        </p:nvSpPr>
        <p:spPr>
          <a:xfrm>
            <a:off x="1184853" y="2612155"/>
            <a:ext cx="1034872" cy="371018"/>
          </a:xfrm>
          <a:prstGeom prst="rect">
            <a:avLst/>
          </a:prstGeom>
        </p:spPr>
        <p:txBody>
          <a:bodyPr lIns="0" tIns="0" rIns="0" bIns="0" rtlCol="0" anchor="t">
            <a:spAutoFit/>
          </a:bodyPr>
          <a:lstStyle/>
          <a:p>
            <a:pPr algn="l">
              <a:lnSpc>
                <a:spcPts val="2940"/>
              </a:lnSpc>
            </a:pPr>
            <a:r>
              <a:rPr lang="en-US" sz="2100" b="1">
                <a:solidFill>
                  <a:srgbClr val="000000"/>
                </a:solidFill>
                <a:latin typeface="Times New Roman Bold"/>
                <a:ea typeface="Times New Roman Bold"/>
                <a:cs typeface="Times New Roman Bold"/>
                <a:sym typeface="Times New Roman Bold"/>
              </a:rPr>
              <a:t>Dataset: </a:t>
            </a:r>
          </a:p>
        </p:txBody>
      </p:sp>
      <p:sp>
        <p:nvSpPr>
          <p:cNvPr id="8" name="TextBox 8"/>
          <p:cNvSpPr txBox="1"/>
          <p:nvPr/>
        </p:nvSpPr>
        <p:spPr>
          <a:xfrm>
            <a:off x="2505847" y="1663579"/>
            <a:ext cx="4751642" cy="376618"/>
          </a:xfrm>
          <a:prstGeom prst="rect">
            <a:avLst/>
          </a:prstGeom>
        </p:spPr>
        <p:txBody>
          <a:bodyPr lIns="0" tIns="0" rIns="0" bIns="0" rtlCol="0" anchor="t">
            <a:spAutoFit/>
          </a:bodyPr>
          <a:lstStyle/>
          <a:p>
            <a:pPr algn="l">
              <a:lnSpc>
                <a:spcPts val="2940"/>
              </a:lnSpc>
            </a:pPr>
            <a:r>
              <a:rPr lang="en-US" sz="2100">
                <a:solidFill>
                  <a:srgbClr val="000000"/>
                </a:solidFill>
                <a:latin typeface="Times New Roman"/>
                <a:ea typeface="Times New Roman"/>
                <a:cs typeface="Times New Roman"/>
                <a:sym typeface="Times New Roman"/>
              </a:rPr>
              <a:t>Computer or laptop, camera or smartphone</a:t>
            </a:r>
            <a:r>
              <a:rPr lang="en-US" sz="2100" b="1">
                <a:solidFill>
                  <a:srgbClr val="000000"/>
                </a:solidFill>
                <a:latin typeface="Times New Roman Bold"/>
                <a:ea typeface="Times New Roman Bold"/>
                <a:cs typeface="Times New Roman Bold"/>
                <a:sym typeface="Times New Roman Bold"/>
              </a:rPr>
              <a:t>.</a:t>
            </a:r>
          </a:p>
        </p:txBody>
      </p:sp>
      <p:sp>
        <p:nvSpPr>
          <p:cNvPr id="9" name="TextBox 9"/>
          <p:cNvSpPr txBox="1"/>
          <p:nvPr/>
        </p:nvSpPr>
        <p:spPr>
          <a:xfrm>
            <a:off x="2357618" y="1977904"/>
            <a:ext cx="4797923" cy="371018"/>
          </a:xfrm>
          <a:prstGeom prst="rect">
            <a:avLst/>
          </a:prstGeom>
        </p:spPr>
        <p:txBody>
          <a:bodyPr lIns="0" tIns="0" rIns="0" bIns="0" rtlCol="0" anchor="t">
            <a:spAutoFit/>
          </a:bodyPr>
          <a:lstStyle/>
          <a:p>
            <a:pPr algn="l">
              <a:lnSpc>
                <a:spcPts val="2940"/>
              </a:lnSpc>
            </a:pPr>
            <a:r>
              <a:rPr lang="en-US" sz="2100">
                <a:solidFill>
                  <a:srgbClr val="000000"/>
                </a:solidFill>
                <a:latin typeface="Times New Roman"/>
                <a:ea typeface="Times New Roman"/>
                <a:cs typeface="Times New Roman"/>
                <a:sym typeface="Times New Roman"/>
              </a:rPr>
              <a:t>Python, Jupyter Notebook or Google Colab.</a:t>
            </a:r>
          </a:p>
        </p:txBody>
      </p:sp>
      <p:sp>
        <p:nvSpPr>
          <p:cNvPr id="10" name="TextBox 10"/>
          <p:cNvSpPr txBox="1"/>
          <p:nvPr/>
        </p:nvSpPr>
        <p:spPr>
          <a:xfrm>
            <a:off x="2407025" y="2292229"/>
            <a:ext cx="4373661" cy="371018"/>
          </a:xfrm>
          <a:prstGeom prst="rect">
            <a:avLst/>
          </a:prstGeom>
        </p:spPr>
        <p:txBody>
          <a:bodyPr lIns="0" tIns="0" rIns="0" bIns="0" rtlCol="0" anchor="t">
            <a:spAutoFit/>
          </a:bodyPr>
          <a:lstStyle/>
          <a:p>
            <a:pPr algn="l">
              <a:lnSpc>
                <a:spcPts val="2940"/>
              </a:lnSpc>
            </a:pPr>
            <a:r>
              <a:rPr lang="en-US" sz="2100">
                <a:solidFill>
                  <a:srgbClr val="000000"/>
                </a:solidFill>
                <a:latin typeface="Times New Roman"/>
                <a:ea typeface="Times New Roman"/>
                <a:cs typeface="Times New Roman"/>
                <a:sym typeface="Times New Roman"/>
              </a:rPr>
              <a:t>OpenCV, TensorFlow or Keras, NumPy.</a:t>
            </a:r>
          </a:p>
        </p:txBody>
      </p:sp>
      <p:sp>
        <p:nvSpPr>
          <p:cNvPr id="11" name="TextBox 11"/>
          <p:cNvSpPr txBox="1"/>
          <p:nvPr/>
        </p:nvSpPr>
        <p:spPr>
          <a:xfrm>
            <a:off x="2199561" y="2606554"/>
            <a:ext cx="5203565" cy="376618"/>
          </a:xfrm>
          <a:prstGeom prst="rect">
            <a:avLst/>
          </a:prstGeom>
        </p:spPr>
        <p:txBody>
          <a:bodyPr lIns="0" tIns="0" rIns="0" bIns="0" rtlCol="0" anchor="t">
            <a:spAutoFit/>
          </a:bodyPr>
          <a:lstStyle/>
          <a:p>
            <a:pPr algn="l">
              <a:lnSpc>
                <a:spcPts val="2940"/>
              </a:lnSpc>
            </a:pPr>
            <a:r>
              <a:rPr lang="en-US" sz="2100" dirty="0">
                <a:solidFill>
                  <a:srgbClr val="000000"/>
                </a:solidFill>
                <a:latin typeface="Times New Roman"/>
                <a:ea typeface="Times New Roman"/>
                <a:cs typeface="Times New Roman"/>
                <a:sym typeface="Times New Roman"/>
              </a:rPr>
              <a:t>PlantVillage or other suitable crop leaf datasets</a:t>
            </a:r>
            <a:r>
              <a:rPr lang="en-US" sz="2100" b="1" dirty="0">
                <a:solidFill>
                  <a:srgbClr val="000000"/>
                </a:solidFill>
                <a:latin typeface="Times New Roman Bold"/>
                <a:ea typeface="Times New Roman Bold"/>
                <a:cs typeface="Times New Roman Bold"/>
                <a:sym typeface="Times New Roman Bold"/>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7542" y="129935"/>
            <a:ext cx="9238517" cy="7055329"/>
          </a:xfrm>
          <a:custGeom>
            <a:avLst/>
            <a:gdLst/>
            <a:ahLst/>
            <a:cxnLst/>
            <a:rect l="l" t="t" r="r" b="b"/>
            <a:pathLst>
              <a:path w="9238517" h="7055329">
                <a:moveTo>
                  <a:pt x="0" y="0"/>
                </a:moveTo>
                <a:lnTo>
                  <a:pt x="9238516" y="0"/>
                </a:lnTo>
                <a:lnTo>
                  <a:pt x="9238516" y="7055330"/>
                </a:lnTo>
                <a:lnTo>
                  <a:pt x="0" y="70553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2912755" y="262311"/>
            <a:ext cx="3581995" cy="824118"/>
          </a:xfrm>
          <a:prstGeom prst="rect">
            <a:avLst/>
          </a:prstGeom>
        </p:spPr>
        <p:txBody>
          <a:bodyPr lIns="0" tIns="0" rIns="0" bIns="0" rtlCol="0" anchor="t">
            <a:spAutoFit/>
          </a:bodyPr>
          <a:lstStyle/>
          <a:p>
            <a:pPr algn="ctr">
              <a:lnSpc>
                <a:spcPts val="6551"/>
              </a:lnSpc>
              <a:spcBef>
                <a:spcPct val="0"/>
              </a:spcBef>
            </a:pPr>
            <a:r>
              <a:rPr lang="en-US" sz="4679">
                <a:solidFill>
                  <a:srgbClr val="1F497D"/>
                </a:solidFill>
                <a:latin typeface="Times New Roman"/>
                <a:ea typeface="Times New Roman"/>
                <a:cs typeface="Times New Roman"/>
                <a:sym typeface="Times New Roman"/>
              </a:rPr>
              <a:t>7.Bibliography</a:t>
            </a:r>
          </a:p>
        </p:txBody>
      </p:sp>
      <p:sp>
        <p:nvSpPr>
          <p:cNvPr id="4" name="TextBox 4"/>
          <p:cNvSpPr txBox="1"/>
          <p:nvPr/>
        </p:nvSpPr>
        <p:spPr>
          <a:xfrm>
            <a:off x="538280" y="1396790"/>
            <a:ext cx="1302901" cy="415811"/>
          </a:xfrm>
          <a:prstGeom prst="rect">
            <a:avLst/>
          </a:prstGeom>
        </p:spPr>
        <p:txBody>
          <a:bodyPr lIns="0" tIns="0" rIns="0" bIns="0" rtlCol="0" anchor="t">
            <a:spAutoFit/>
          </a:bodyPr>
          <a:lstStyle/>
          <a:p>
            <a:pPr marL="513728" lvl="1" indent="-256864" algn="l">
              <a:lnSpc>
                <a:spcPts val="3331"/>
              </a:lnSpc>
              <a:spcBef>
                <a:spcPct val="0"/>
              </a:spcBef>
              <a:buFont typeface="Arial"/>
              <a:buChar char="•"/>
            </a:pPr>
            <a:r>
              <a:rPr lang="en-US" sz="2379" b="1">
                <a:solidFill>
                  <a:srgbClr val="000000"/>
                </a:solidFill>
                <a:latin typeface="Times New Roman Bold"/>
                <a:ea typeface="Times New Roman Bold"/>
                <a:cs typeface="Times New Roman Bold"/>
                <a:sym typeface="Times New Roman Bold"/>
              </a:rPr>
              <a:t>Books</a:t>
            </a:r>
          </a:p>
        </p:txBody>
      </p:sp>
      <p:sp>
        <p:nvSpPr>
          <p:cNvPr id="5" name="TextBox 5"/>
          <p:cNvSpPr txBox="1"/>
          <p:nvPr/>
        </p:nvSpPr>
        <p:spPr>
          <a:xfrm>
            <a:off x="942825" y="1895550"/>
            <a:ext cx="7295079" cy="676161"/>
          </a:xfrm>
          <a:prstGeom prst="rect">
            <a:avLst/>
          </a:prstGeom>
        </p:spPr>
        <p:txBody>
          <a:bodyPr lIns="0" tIns="0" rIns="0" bIns="0" rtlCol="0" anchor="t">
            <a:spAutoFit/>
          </a:bodyPr>
          <a:lstStyle/>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 Digital Image Processing – Rafael C. Gonzalez and Richard E. Woods. </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DeepLearning – Ian Goodfellow, Yoshua Bengio, and Aaron Courville.</a:t>
            </a:r>
          </a:p>
        </p:txBody>
      </p:sp>
      <p:sp>
        <p:nvSpPr>
          <p:cNvPr id="6" name="TextBox 6"/>
          <p:cNvSpPr txBox="1"/>
          <p:nvPr/>
        </p:nvSpPr>
        <p:spPr>
          <a:xfrm>
            <a:off x="538280" y="3091085"/>
            <a:ext cx="1655088" cy="415811"/>
          </a:xfrm>
          <a:prstGeom prst="rect">
            <a:avLst/>
          </a:prstGeom>
        </p:spPr>
        <p:txBody>
          <a:bodyPr lIns="0" tIns="0" rIns="0" bIns="0" rtlCol="0" anchor="t">
            <a:spAutoFit/>
          </a:bodyPr>
          <a:lstStyle/>
          <a:p>
            <a:pPr marL="513728" lvl="1" indent="-256864" algn="l">
              <a:lnSpc>
                <a:spcPts val="3331"/>
              </a:lnSpc>
              <a:spcBef>
                <a:spcPct val="0"/>
              </a:spcBef>
              <a:buFont typeface="Arial"/>
              <a:buChar char="•"/>
            </a:pPr>
            <a:r>
              <a:rPr lang="en-US" sz="2379" b="1">
                <a:solidFill>
                  <a:srgbClr val="000000"/>
                </a:solidFill>
                <a:latin typeface="Times New Roman Bold"/>
                <a:ea typeface="Times New Roman Bold"/>
                <a:cs typeface="Times New Roman Bold"/>
                <a:sym typeface="Times New Roman Bold"/>
              </a:rPr>
              <a:t>Websites</a:t>
            </a:r>
          </a:p>
        </p:txBody>
      </p:sp>
      <p:sp>
        <p:nvSpPr>
          <p:cNvPr id="7" name="TextBox 7"/>
          <p:cNvSpPr txBox="1"/>
          <p:nvPr/>
        </p:nvSpPr>
        <p:spPr>
          <a:xfrm>
            <a:off x="985219" y="3725111"/>
            <a:ext cx="7215388" cy="1400175"/>
          </a:xfrm>
          <a:prstGeom prst="rect">
            <a:avLst/>
          </a:prstGeom>
        </p:spPr>
        <p:txBody>
          <a:bodyPr lIns="0" tIns="0" rIns="0" bIns="0" rtlCol="0" anchor="t">
            <a:spAutoFit/>
          </a:bodyPr>
          <a:lstStyle/>
          <a:p>
            <a:pPr marL="391373" lvl="1" indent="-195686" algn="l">
              <a:lnSpc>
                <a:spcPts val="2175"/>
              </a:lnSpc>
              <a:buFont typeface="Arial"/>
              <a:buChar char="•"/>
            </a:pPr>
            <a:r>
              <a:rPr lang="en-US" sz="1812" dirty="0">
                <a:solidFill>
                  <a:srgbClr val="000000"/>
                </a:solidFill>
                <a:latin typeface="Times New Roman"/>
                <a:ea typeface="Times New Roman"/>
                <a:cs typeface="Times New Roman"/>
                <a:sym typeface="Times New Roman"/>
              </a:rPr>
              <a:t>PlantVillage: https://plantvillage.psu.edu/</a:t>
            </a:r>
          </a:p>
          <a:p>
            <a:pPr marL="391373" lvl="1" indent="-195686" algn="l">
              <a:lnSpc>
                <a:spcPts val="2175"/>
              </a:lnSpc>
              <a:buFont typeface="Arial"/>
              <a:buChar char="•"/>
            </a:pPr>
            <a:r>
              <a:rPr lang="en-US" sz="1812" dirty="0">
                <a:solidFill>
                  <a:srgbClr val="000000"/>
                </a:solidFill>
                <a:latin typeface="Times New Roman"/>
                <a:ea typeface="Times New Roman"/>
                <a:cs typeface="Times New Roman"/>
                <a:sym typeface="Times New Roman"/>
              </a:rPr>
              <a:t>TensorFlow: https://www.tensorflow.org/</a:t>
            </a:r>
          </a:p>
          <a:p>
            <a:pPr marL="391373" lvl="1" indent="-195686" algn="l">
              <a:lnSpc>
                <a:spcPts val="2175"/>
              </a:lnSpc>
              <a:buFont typeface="Arial"/>
              <a:buChar char="•"/>
            </a:pPr>
            <a:r>
              <a:rPr lang="en-US" sz="1812" dirty="0">
                <a:solidFill>
                  <a:srgbClr val="000000"/>
                </a:solidFill>
                <a:latin typeface="Times New Roman"/>
                <a:ea typeface="Times New Roman"/>
                <a:cs typeface="Times New Roman"/>
                <a:sym typeface="Times New Roman"/>
              </a:rPr>
              <a:t>OpenCV: https://opencv.org/</a:t>
            </a:r>
          </a:p>
          <a:p>
            <a:pPr marL="391373" lvl="1" indent="-195686" algn="l">
              <a:lnSpc>
                <a:spcPts val="2175"/>
              </a:lnSpc>
              <a:buFont typeface="Arial"/>
              <a:buChar char="•"/>
            </a:pPr>
            <a:r>
              <a:rPr lang="en-US" sz="1812" dirty="0">
                <a:solidFill>
                  <a:srgbClr val="000000"/>
                </a:solidFill>
                <a:latin typeface="Times New Roman"/>
                <a:ea typeface="Times New Roman"/>
                <a:cs typeface="Times New Roman"/>
                <a:sym typeface="Times New Roman"/>
              </a:rPr>
              <a:t>Frontiers in Plant Science: https://www.frontiersin.org/journals/plant-science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4227" y="215894"/>
            <a:ext cx="8932326" cy="1080497"/>
          </a:xfrm>
          <a:custGeom>
            <a:avLst/>
            <a:gdLst/>
            <a:ahLst/>
            <a:cxnLst/>
            <a:rect l="l" t="t" r="r" b="b"/>
            <a:pathLst>
              <a:path w="8932326" h="1080497">
                <a:moveTo>
                  <a:pt x="0" y="0"/>
                </a:moveTo>
                <a:lnTo>
                  <a:pt x="8932326" y="0"/>
                </a:lnTo>
                <a:lnTo>
                  <a:pt x="8932326" y="1080497"/>
                </a:lnTo>
                <a:lnTo>
                  <a:pt x="0" y="10804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291265" y="1296391"/>
            <a:ext cx="9223877" cy="5946543"/>
          </a:xfrm>
          <a:custGeom>
            <a:avLst/>
            <a:gdLst/>
            <a:ahLst/>
            <a:cxnLst/>
            <a:rect l="l" t="t" r="r" b="b"/>
            <a:pathLst>
              <a:path w="9223877" h="5946543">
                <a:moveTo>
                  <a:pt x="0" y="0"/>
                </a:moveTo>
                <a:lnTo>
                  <a:pt x="9223877" y="0"/>
                </a:lnTo>
                <a:lnTo>
                  <a:pt x="9223877" y="5946543"/>
                </a:lnTo>
                <a:lnTo>
                  <a:pt x="0" y="59465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TextBox 4"/>
          <p:cNvSpPr txBox="1"/>
          <p:nvPr/>
        </p:nvSpPr>
        <p:spPr>
          <a:xfrm>
            <a:off x="2895600" y="301161"/>
            <a:ext cx="3351443" cy="775853"/>
          </a:xfrm>
          <a:prstGeom prst="rect">
            <a:avLst/>
          </a:prstGeom>
        </p:spPr>
        <p:txBody>
          <a:bodyPr wrap="square" lIns="0" tIns="0" rIns="0" bIns="0" rtlCol="0" anchor="t">
            <a:spAutoFit/>
          </a:bodyPr>
          <a:lstStyle/>
          <a:p>
            <a:pPr algn="r">
              <a:lnSpc>
                <a:spcPts val="6569"/>
              </a:lnSpc>
            </a:pPr>
            <a:r>
              <a:rPr lang="en-US" sz="4692" dirty="0">
                <a:solidFill>
                  <a:srgbClr val="002060"/>
                </a:solidFill>
                <a:latin typeface="Times New Roman"/>
                <a:ea typeface="Times New Roman"/>
                <a:cs typeface="Times New Roman"/>
                <a:sym typeface="Times New Roman"/>
              </a:rPr>
              <a:t>8.References</a:t>
            </a:r>
          </a:p>
        </p:txBody>
      </p:sp>
      <p:sp>
        <p:nvSpPr>
          <p:cNvPr id="5" name="TextBox 5"/>
          <p:cNvSpPr txBox="1"/>
          <p:nvPr/>
        </p:nvSpPr>
        <p:spPr>
          <a:xfrm>
            <a:off x="3152966" y="1560109"/>
            <a:ext cx="58703" cy="328089"/>
          </a:xfrm>
          <a:prstGeom prst="rect">
            <a:avLst/>
          </a:prstGeom>
        </p:spPr>
        <p:txBody>
          <a:bodyPr lIns="0" tIns="0" rIns="0" bIns="0" rtlCol="0" anchor="t">
            <a:spAutoFit/>
          </a:bodyPr>
          <a:lstStyle/>
          <a:p>
            <a:pPr algn="l">
              <a:lnSpc>
                <a:spcPts val="2537"/>
              </a:lnSpc>
            </a:pPr>
            <a:r>
              <a:rPr lang="en-US" sz="1812">
                <a:solidFill>
                  <a:srgbClr val="000000"/>
                </a:solidFill>
                <a:latin typeface="Times New Roman"/>
                <a:ea typeface="Times New Roman"/>
                <a:cs typeface="Times New Roman"/>
                <a:sym typeface="Times New Roman"/>
              </a:rPr>
              <a:t> </a:t>
            </a:r>
          </a:p>
        </p:txBody>
      </p:sp>
      <p:sp>
        <p:nvSpPr>
          <p:cNvPr id="6" name="TextBox 6"/>
          <p:cNvSpPr txBox="1"/>
          <p:nvPr/>
        </p:nvSpPr>
        <p:spPr>
          <a:xfrm>
            <a:off x="9169975" y="6849866"/>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
        <p:nvSpPr>
          <p:cNvPr id="7" name="TextBox 7"/>
          <p:cNvSpPr txBox="1"/>
          <p:nvPr/>
        </p:nvSpPr>
        <p:spPr>
          <a:xfrm>
            <a:off x="455617" y="3018126"/>
            <a:ext cx="8243313" cy="676161"/>
          </a:xfrm>
          <a:prstGeom prst="rect">
            <a:avLst/>
          </a:prstGeom>
        </p:spPr>
        <p:txBody>
          <a:bodyPr lIns="0" tIns="0" rIns="0" bIns="0" rtlCol="0" anchor="t">
            <a:spAutoFit/>
          </a:bodyPr>
          <a:lstStyle/>
          <a:p>
            <a:pPr marL="405781" lvl="1" indent="-202890" algn="just">
              <a:lnSpc>
                <a:spcPts val="2631"/>
              </a:lnSpc>
              <a:spcBef>
                <a:spcPct val="0"/>
              </a:spcBef>
              <a:buFont typeface="Arial"/>
              <a:buChar char="•"/>
            </a:pPr>
            <a:r>
              <a:rPr lang="en-US" sz="1879" dirty="0">
                <a:solidFill>
                  <a:srgbClr val="000000"/>
                </a:solidFill>
                <a:latin typeface="Times New Roman"/>
                <a:ea typeface="Times New Roman"/>
                <a:cs typeface="Times New Roman"/>
                <a:sym typeface="Times New Roman"/>
              </a:rPr>
              <a:t>Altieri, M.A. Agroecology: The Science of Sustainable Agriculture; CRC Press: Boca Raton, FL, USA, 2018.</a:t>
            </a:r>
          </a:p>
        </p:txBody>
      </p:sp>
      <p:sp>
        <p:nvSpPr>
          <p:cNvPr id="8" name="TextBox 8"/>
          <p:cNvSpPr txBox="1"/>
          <p:nvPr/>
        </p:nvSpPr>
        <p:spPr>
          <a:xfrm>
            <a:off x="460697" y="3687156"/>
            <a:ext cx="8309117" cy="676161"/>
          </a:xfrm>
          <a:prstGeom prst="rect">
            <a:avLst/>
          </a:prstGeom>
        </p:spPr>
        <p:txBody>
          <a:bodyPr lIns="0" tIns="0" rIns="0" bIns="0" rtlCol="0" anchor="t">
            <a:spAutoFit/>
          </a:bodyPr>
          <a:lstStyle/>
          <a:p>
            <a:pPr marL="405781" lvl="1" indent="-202890" algn="just">
              <a:lnSpc>
                <a:spcPts val="2631"/>
              </a:lnSpc>
              <a:spcBef>
                <a:spcPct val="0"/>
              </a:spcBef>
              <a:buFont typeface="Arial"/>
              <a:buChar char="•"/>
            </a:pPr>
            <a:r>
              <a:rPr lang="en-US" sz="1879" dirty="0" err="1">
                <a:solidFill>
                  <a:srgbClr val="000000"/>
                </a:solidFill>
                <a:latin typeface="Times New Roman"/>
                <a:ea typeface="Times New Roman"/>
                <a:cs typeface="Times New Roman"/>
                <a:sym typeface="Times New Roman"/>
              </a:rPr>
              <a:t>Gebbers</a:t>
            </a:r>
            <a:r>
              <a:rPr lang="en-US" sz="1879" dirty="0">
                <a:solidFill>
                  <a:srgbClr val="000000"/>
                </a:solidFill>
                <a:latin typeface="Times New Roman"/>
                <a:ea typeface="Times New Roman"/>
                <a:cs typeface="Times New Roman"/>
                <a:sym typeface="Times New Roman"/>
              </a:rPr>
              <a:t>, R.; Adamchuk, V.I. Precision agriculture and food security. Science 2010, 327, 828–831. [</a:t>
            </a:r>
            <a:r>
              <a:rPr lang="en-US" sz="1879" dirty="0" err="1">
                <a:solidFill>
                  <a:srgbClr val="000000"/>
                </a:solidFill>
                <a:latin typeface="Times New Roman"/>
                <a:ea typeface="Times New Roman"/>
                <a:cs typeface="Times New Roman"/>
                <a:sym typeface="Times New Roman"/>
              </a:rPr>
              <a:t>CrossRef</a:t>
            </a:r>
            <a:r>
              <a:rPr lang="en-US" sz="1879" dirty="0">
                <a:solidFill>
                  <a:srgbClr val="000000"/>
                </a:solidFill>
                <a:latin typeface="Times New Roman"/>
                <a:ea typeface="Times New Roman"/>
                <a:cs typeface="Times New Roman"/>
                <a:sym typeface="Times New Roman"/>
              </a:rPr>
              <a:t>] [PubMed]</a:t>
            </a:r>
          </a:p>
        </p:txBody>
      </p:sp>
      <p:sp>
        <p:nvSpPr>
          <p:cNvPr id="9" name="TextBox 9"/>
          <p:cNvSpPr txBox="1"/>
          <p:nvPr/>
        </p:nvSpPr>
        <p:spPr>
          <a:xfrm>
            <a:off x="464535" y="5443814"/>
            <a:ext cx="8064634" cy="657606"/>
          </a:xfrm>
          <a:prstGeom prst="rect">
            <a:avLst/>
          </a:prstGeom>
        </p:spPr>
        <p:txBody>
          <a:bodyPr lIns="0" tIns="0" rIns="0" bIns="0" rtlCol="0" anchor="t">
            <a:spAutoFit/>
          </a:bodyPr>
          <a:lstStyle/>
          <a:p>
            <a:pPr marL="401574" lvl="1" indent="-200787" algn="just">
              <a:lnSpc>
                <a:spcPts val="2604"/>
              </a:lnSpc>
              <a:spcBef>
                <a:spcPct val="0"/>
              </a:spcBef>
              <a:buFont typeface="Arial"/>
              <a:buChar char="•"/>
            </a:pPr>
            <a:r>
              <a:rPr lang="en-US" sz="1860" dirty="0">
                <a:solidFill>
                  <a:srgbClr val="000000"/>
                </a:solidFill>
                <a:latin typeface="Times New Roman"/>
                <a:ea typeface="Times New Roman"/>
                <a:cs typeface="Times New Roman"/>
                <a:sym typeface="Times New Roman"/>
              </a:rPr>
              <a:t>Carvalho, F.P. Agriculture, pesticides, food security and food safety. Environ. Sci. Policy 2006, 9, 685–692. [</a:t>
            </a:r>
            <a:r>
              <a:rPr lang="en-US" sz="1860" dirty="0" err="1">
                <a:solidFill>
                  <a:srgbClr val="000000"/>
                </a:solidFill>
                <a:latin typeface="Times New Roman"/>
                <a:ea typeface="Times New Roman"/>
                <a:cs typeface="Times New Roman"/>
                <a:sym typeface="Times New Roman"/>
              </a:rPr>
              <a:t>CrossRef</a:t>
            </a:r>
            <a:r>
              <a:rPr lang="en-US" sz="1860" dirty="0">
                <a:solidFill>
                  <a:srgbClr val="000000"/>
                </a:solidFill>
                <a:latin typeface="Times New Roman"/>
                <a:ea typeface="Times New Roman"/>
                <a:cs typeface="Times New Roman"/>
                <a:sym typeface="Times New Roman"/>
              </a:rPr>
              <a:t>]</a:t>
            </a:r>
          </a:p>
        </p:txBody>
      </p:sp>
      <p:sp>
        <p:nvSpPr>
          <p:cNvPr id="10" name="TextBox 10"/>
          <p:cNvSpPr txBox="1"/>
          <p:nvPr/>
        </p:nvSpPr>
        <p:spPr>
          <a:xfrm>
            <a:off x="464535" y="4417263"/>
            <a:ext cx="8002495" cy="676161"/>
          </a:xfrm>
          <a:prstGeom prst="rect">
            <a:avLst/>
          </a:prstGeom>
        </p:spPr>
        <p:txBody>
          <a:bodyPr lIns="0" tIns="0" rIns="0" bIns="0" rtlCol="0" anchor="t">
            <a:spAutoFit/>
          </a:bodyPr>
          <a:lstStyle/>
          <a:p>
            <a:pPr marL="405781" lvl="1" indent="-202890" algn="l">
              <a:lnSpc>
                <a:spcPts val="2631"/>
              </a:lnSpc>
              <a:spcBef>
                <a:spcPct val="0"/>
              </a:spcBef>
              <a:buFont typeface="Arial"/>
              <a:buChar char="•"/>
            </a:pPr>
            <a:r>
              <a:rPr lang="en-US" sz="1879" dirty="0">
                <a:solidFill>
                  <a:srgbClr val="000000"/>
                </a:solidFill>
                <a:latin typeface="Times New Roman"/>
                <a:ea typeface="Times New Roman"/>
                <a:cs typeface="Times New Roman"/>
                <a:sym typeface="Times New Roman"/>
              </a:rPr>
              <a:t>Tai AP, Martin MV, Heald CL (2014) Threat to future global food security from climate change and ozone air pollution. Nature Climate Change 4(9):817–821.</a:t>
            </a:r>
          </a:p>
        </p:txBody>
      </p:sp>
      <p:sp>
        <p:nvSpPr>
          <p:cNvPr id="11" name="TextBox 11"/>
          <p:cNvSpPr txBox="1"/>
          <p:nvPr/>
        </p:nvSpPr>
        <p:spPr>
          <a:xfrm>
            <a:off x="454375" y="6168841"/>
            <a:ext cx="8103164" cy="640080"/>
          </a:xfrm>
          <a:prstGeom prst="rect">
            <a:avLst/>
          </a:prstGeom>
        </p:spPr>
        <p:txBody>
          <a:bodyPr lIns="0" tIns="0" rIns="0" bIns="0" rtlCol="0" anchor="t">
            <a:spAutoFit/>
          </a:bodyPr>
          <a:lstStyle/>
          <a:p>
            <a:pPr marL="388620" lvl="1" indent="-194310" algn="l">
              <a:lnSpc>
                <a:spcPts val="2520"/>
              </a:lnSpc>
              <a:spcBef>
                <a:spcPct val="0"/>
              </a:spcBef>
              <a:buFont typeface="Arial"/>
              <a:buChar char="•"/>
            </a:pPr>
            <a:r>
              <a:rPr lang="en-US" sz="1800" dirty="0">
                <a:solidFill>
                  <a:srgbClr val="000000"/>
                </a:solidFill>
                <a:latin typeface="Times New Roman"/>
                <a:ea typeface="Times New Roman"/>
                <a:cs typeface="Times New Roman"/>
                <a:sym typeface="Times New Roman"/>
              </a:rPr>
              <a:t>McCulloch, W.S.; Pitts, W. A logical calculus of the ideas immanent in nervous activity. Bull. Math. </a:t>
            </a:r>
            <a:r>
              <a:rPr lang="en-US" sz="1800" dirty="0" err="1">
                <a:solidFill>
                  <a:srgbClr val="000000"/>
                </a:solidFill>
                <a:latin typeface="Times New Roman"/>
                <a:ea typeface="Times New Roman"/>
                <a:cs typeface="Times New Roman"/>
                <a:sym typeface="Times New Roman"/>
              </a:rPr>
              <a:t>Biophys</a:t>
            </a:r>
            <a:r>
              <a:rPr lang="en-US" sz="1800" dirty="0">
                <a:solidFill>
                  <a:srgbClr val="000000"/>
                </a:solidFill>
                <a:latin typeface="Times New Roman"/>
                <a:ea typeface="Times New Roman"/>
                <a:cs typeface="Times New Roman"/>
                <a:sym typeface="Times New Roman"/>
              </a:rPr>
              <a:t>. 1943, 5, 115–133. [</a:t>
            </a:r>
            <a:r>
              <a:rPr lang="en-US" sz="1800" dirty="0" err="1">
                <a:solidFill>
                  <a:srgbClr val="000000"/>
                </a:solidFill>
                <a:latin typeface="Times New Roman"/>
                <a:ea typeface="Times New Roman"/>
                <a:cs typeface="Times New Roman"/>
                <a:sym typeface="Times New Roman"/>
              </a:rPr>
              <a:t>CrossRef</a:t>
            </a:r>
            <a:r>
              <a:rPr lang="en-US" sz="1800" dirty="0">
                <a:solidFill>
                  <a:srgbClr val="000000"/>
                </a:solidFill>
                <a:latin typeface="Times New Roman"/>
                <a:ea typeface="Times New Roman"/>
                <a:cs typeface="Times New Roman"/>
                <a:sym typeface="Times New Roman"/>
              </a:rPr>
              <a:t>]</a:t>
            </a:r>
          </a:p>
        </p:txBody>
      </p:sp>
      <p:sp>
        <p:nvSpPr>
          <p:cNvPr id="12" name="TextBox 12"/>
          <p:cNvSpPr txBox="1"/>
          <p:nvPr/>
        </p:nvSpPr>
        <p:spPr>
          <a:xfrm>
            <a:off x="663534" y="1560109"/>
            <a:ext cx="7063494" cy="342786"/>
          </a:xfrm>
          <a:prstGeom prst="rect">
            <a:avLst/>
          </a:prstGeom>
        </p:spPr>
        <p:txBody>
          <a:bodyPr lIns="0" tIns="0" rIns="0" bIns="0" rtlCol="0" anchor="t">
            <a:spAutoFit/>
          </a:bodyPr>
          <a:lstStyle/>
          <a:p>
            <a:pPr algn="ctr">
              <a:lnSpc>
                <a:spcPts val="2631"/>
              </a:lnSpc>
              <a:spcBef>
                <a:spcPct val="0"/>
              </a:spcBef>
            </a:pPr>
            <a:r>
              <a:rPr lang="en-US" sz="1879" dirty="0">
                <a:solidFill>
                  <a:srgbClr val="000000"/>
                </a:solidFill>
                <a:latin typeface="Times New Roman"/>
                <a:ea typeface="Times New Roman"/>
                <a:cs typeface="Times New Roman"/>
                <a:sym typeface="Times New Roman"/>
              </a:rPr>
              <a:t>TO-BE-Filled (2016) Pollinators vital to our food supply under threat.</a:t>
            </a:r>
          </a:p>
        </p:txBody>
      </p:sp>
      <p:sp>
        <p:nvSpPr>
          <p:cNvPr id="13" name="TextBox 13"/>
          <p:cNvSpPr txBox="1"/>
          <p:nvPr/>
        </p:nvSpPr>
        <p:spPr>
          <a:xfrm>
            <a:off x="609600" y="1845357"/>
            <a:ext cx="6593920" cy="306559"/>
          </a:xfrm>
          <a:prstGeom prst="rect">
            <a:avLst/>
          </a:prstGeom>
        </p:spPr>
        <p:txBody>
          <a:bodyPr wrap="square" lIns="0" tIns="0" rIns="0" bIns="0" rtlCol="0" anchor="t">
            <a:spAutoFit/>
          </a:bodyPr>
          <a:lstStyle/>
          <a:p>
            <a:pPr algn="ctr">
              <a:lnSpc>
                <a:spcPts val="2631"/>
              </a:lnSpc>
              <a:spcBef>
                <a:spcPct val="0"/>
              </a:spcBef>
            </a:pPr>
            <a:r>
              <a:rPr lang="en-US" sz="1879" dirty="0">
                <a:solidFill>
                  <a:srgbClr val="000000"/>
                </a:solidFill>
                <a:latin typeface="Times New Roman"/>
                <a:ea typeface="Times New Roman"/>
                <a:cs typeface="Times New Roman"/>
                <a:sym typeface="Times New Roman"/>
              </a:rPr>
              <a:t>UNEP(2013) Smallholders, food security, and the environment</a:t>
            </a:r>
          </a:p>
        </p:txBody>
      </p:sp>
      <p:sp>
        <p:nvSpPr>
          <p:cNvPr id="14" name="TextBox 14"/>
          <p:cNvSpPr txBox="1"/>
          <p:nvPr/>
        </p:nvSpPr>
        <p:spPr>
          <a:xfrm>
            <a:off x="762000" y="2376888"/>
            <a:ext cx="6593920" cy="306559"/>
          </a:xfrm>
          <a:prstGeom prst="rect">
            <a:avLst/>
          </a:prstGeom>
        </p:spPr>
        <p:txBody>
          <a:bodyPr wrap="square" lIns="0" tIns="0" rIns="0" bIns="0" rtlCol="0" anchor="t">
            <a:spAutoFit/>
          </a:bodyPr>
          <a:lstStyle/>
          <a:p>
            <a:pPr algn="ctr">
              <a:lnSpc>
                <a:spcPts val="2631"/>
              </a:lnSpc>
              <a:spcBef>
                <a:spcPct val="0"/>
              </a:spcBef>
            </a:pPr>
            <a:r>
              <a:rPr lang="en-US" sz="1879" dirty="0">
                <a:solidFill>
                  <a:srgbClr val="000000"/>
                </a:solidFill>
                <a:latin typeface="Times New Roman"/>
                <a:ea typeface="Times New Roman"/>
                <a:cs typeface="Times New Roman"/>
                <a:sym typeface="Times New Roman"/>
              </a:rPr>
              <a:t> Sanchez PA, Swaminathan MS (2005) Cutting world hunger in half</a:t>
            </a:r>
          </a:p>
        </p:txBody>
      </p:sp>
      <p:sp>
        <p:nvSpPr>
          <p:cNvPr id="15" name="TextBox 15"/>
          <p:cNvSpPr txBox="1"/>
          <p:nvPr/>
        </p:nvSpPr>
        <p:spPr>
          <a:xfrm>
            <a:off x="683627" y="2662298"/>
            <a:ext cx="8386346" cy="306559"/>
          </a:xfrm>
          <a:prstGeom prst="rect">
            <a:avLst/>
          </a:prstGeom>
        </p:spPr>
        <p:txBody>
          <a:bodyPr wrap="square" lIns="0" tIns="0" rIns="0" bIns="0" rtlCol="0" anchor="t">
            <a:spAutoFit/>
          </a:bodyPr>
          <a:lstStyle/>
          <a:p>
            <a:pPr algn="ctr">
              <a:lnSpc>
                <a:spcPts val="2631"/>
              </a:lnSpc>
              <a:spcBef>
                <a:spcPct val="0"/>
              </a:spcBef>
            </a:pPr>
            <a:r>
              <a:rPr lang="en-US" sz="1879" dirty="0">
                <a:solidFill>
                  <a:srgbClr val="000000"/>
                </a:solidFill>
                <a:latin typeface="Times New Roman"/>
                <a:ea typeface="Times New Roman"/>
                <a:cs typeface="Times New Roman"/>
                <a:sym typeface="Times New Roman"/>
              </a:rPr>
              <a:t>Lin M, Chen Q, Yan S (2013) Network in network. </a:t>
            </a:r>
            <a:r>
              <a:rPr lang="en-US" sz="1879" dirty="0" err="1">
                <a:solidFill>
                  <a:srgbClr val="000000"/>
                </a:solidFill>
                <a:latin typeface="Times New Roman"/>
                <a:ea typeface="Times New Roman"/>
                <a:cs typeface="Times New Roman"/>
                <a:sym typeface="Times New Roman"/>
              </a:rPr>
              <a:t>arXiv</a:t>
            </a:r>
            <a:r>
              <a:rPr lang="en-US" sz="1879" dirty="0">
                <a:solidFill>
                  <a:srgbClr val="000000"/>
                </a:solidFill>
                <a:latin typeface="Times New Roman"/>
                <a:ea typeface="Times New Roman"/>
                <a:cs typeface="Times New Roman"/>
                <a:sym typeface="Times New Roman"/>
              </a:rPr>
              <a:t> preprint arXiv:1312.4400</a:t>
            </a:r>
          </a:p>
        </p:txBody>
      </p:sp>
      <p:sp>
        <p:nvSpPr>
          <p:cNvPr id="16" name="TextBox 16"/>
          <p:cNvSpPr txBox="1"/>
          <p:nvPr/>
        </p:nvSpPr>
        <p:spPr>
          <a:xfrm>
            <a:off x="523431" y="2143477"/>
            <a:ext cx="5257800" cy="306559"/>
          </a:xfrm>
          <a:prstGeom prst="rect">
            <a:avLst/>
          </a:prstGeom>
        </p:spPr>
        <p:txBody>
          <a:bodyPr wrap="square" lIns="0" tIns="0" rIns="0" bIns="0" rtlCol="0" anchor="t">
            <a:spAutoFit/>
          </a:bodyPr>
          <a:lstStyle/>
          <a:p>
            <a:pPr algn="ctr">
              <a:lnSpc>
                <a:spcPts val="2631"/>
              </a:lnSpc>
              <a:spcBef>
                <a:spcPct val="0"/>
              </a:spcBef>
            </a:pPr>
            <a:r>
              <a:rPr lang="en-US" sz="1879" dirty="0">
                <a:solidFill>
                  <a:srgbClr val="000000"/>
                </a:solidFill>
                <a:latin typeface="Times New Roman"/>
                <a:ea typeface="Times New Roman"/>
                <a:cs typeface="Times New Roman"/>
                <a:sym typeface="Times New Roman"/>
              </a:rPr>
              <a:t>     ITU (2015) </a:t>
            </a:r>
            <a:r>
              <a:rPr lang="en-US" sz="1879" dirty="0" err="1">
                <a:solidFill>
                  <a:srgbClr val="000000"/>
                </a:solidFill>
                <a:latin typeface="Times New Roman"/>
                <a:ea typeface="Times New Roman"/>
                <a:cs typeface="Times New Roman"/>
                <a:sym typeface="Times New Roman"/>
              </a:rPr>
              <a:t>Ict</a:t>
            </a:r>
            <a:r>
              <a:rPr lang="en-US" sz="1879" dirty="0">
                <a:solidFill>
                  <a:srgbClr val="000000"/>
                </a:solidFill>
                <a:latin typeface="Times New Roman"/>
                <a:ea typeface="Times New Roman"/>
                <a:cs typeface="Times New Roman"/>
                <a:sym typeface="Times New Roman"/>
              </a:rPr>
              <a:t> facts and figures– the world in 2015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1012" y="298559"/>
            <a:ext cx="9238517" cy="7055329"/>
          </a:xfrm>
          <a:custGeom>
            <a:avLst/>
            <a:gdLst/>
            <a:ahLst/>
            <a:cxnLst/>
            <a:rect l="l" t="t" r="r" b="b"/>
            <a:pathLst>
              <a:path w="9238517" h="7055329">
                <a:moveTo>
                  <a:pt x="0" y="0"/>
                </a:moveTo>
                <a:lnTo>
                  <a:pt x="9238517" y="0"/>
                </a:lnTo>
                <a:lnTo>
                  <a:pt x="9238517" y="7055330"/>
                </a:lnTo>
                <a:lnTo>
                  <a:pt x="0" y="70553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605667" y="1478069"/>
            <a:ext cx="8093915" cy="5343411"/>
          </a:xfrm>
          <a:prstGeom prst="rect">
            <a:avLst/>
          </a:prstGeom>
        </p:spPr>
        <p:txBody>
          <a:bodyPr lIns="0" tIns="0" rIns="0" bIns="0" rtlCol="0" anchor="t">
            <a:spAutoFit/>
          </a:bodyPr>
          <a:lstStyle/>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Hinton, G.E.; Osindero, S.; Teh, Y.-W. A fast learning algorithm for deep belief nets. Neural Comput. 2006, 18, 1527–1554. </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[CrossRef] Heaton, J.; Polson, N.; Witte, J.H. Deep learning for finance: Deep portfolios. Appl. Stoch. Models Bus. Ind. 2017, 33, 3–12. [CrossRef]</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LeCun Y et al. (1989) Backpropagation applied to handwritten zip code recognition. Neural computation 1(4):541–551.</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He K, Zhang X, Ren S, Sun J (2015) Deep residual learning for image recognition. arXiv preprint arXiv:1512.03385.</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Simonyan, K.; Zisserman, A. Very deep convolutional networks for large-scale image recognition. arXiv 2014, arXiv:1409.1556.</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Zeiler MD, Fergus R (2014) Visualizing and understanding convolutional networks in Computer vision–ECCV 2014. (Springer), pp. 818–833.</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Ghoury, S., Sungur, C., and Durdu, A. Real-time diseases detection of grape and grape leaves using faster r-cnn and ssd mobilenet architectures. In International conference on advanced technologies, computer engineering and science (ICATCES 2019), pages 39–44, 2019.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96002" y="129935"/>
            <a:ext cx="9238517" cy="7055329"/>
          </a:xfrm>
          <a:custGeom>
            <a:avLst/>
            <a:gdLst/>
            <a:ahLst/>
            <a:cxnLst/>
            <a:rect l="l" t="t" r="r" b="b"/>
            <a:pathLst>
              <a:path w="9238517" h="7055329">
                <a:moveTo>
                  <a:pt x="0" y="0"/>
                </a:moveTo>
                <a:lnTo>
                  <a:pt x="9238516" y="0"/>
                </a:lnTo>
                <a:lnTo>
                  <a:pt x="9238516" y="7055330"/>
                </a:lnTo>
                <a:lnTo>
                  <a:pt x="0" y="70553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731520" y="1428254"/>
            <a:ext cx="8298426" cy="4676661"/>
          </a:xfrm>
          <a:prstGeom prst="rect">
            <a:avLst/>
          </a:prstGeom>
        </p:spPr>
        <p:txBody>
          <a:bodyPr lIns="0" tIns="0" rIns="0" bIns="0" rtlCol="0" anchor="t">
            <a:spAutoFit/>
          </a:bodyPr>
          <a:lstStyle/>
          <a:p>
            <a:pPr marL="405781" lvl="1" indent="-202890" algn="l">
              <a:lnSpc>
                <a:spcPts val="2631"/>
              </a:lnSpc>
              <a:buFont typeface="Arial"/>
              <a:buChar char="•"/>
            </a:pPr>
            <a:r>
              <a:rPr lang="en-US" sz="1879">
                <a:solidFill>
                  <a:srgbClr val="000000"/>
                </a:solidFill>
                <a:latin typeface="Times New Roman"/>
                <a:ea typeface="Times New Roman"/>
                <a:cs typeface="Times New Roman"/>
                <a:sym typeface="Times New Roman"/>
              </a:rPr>
              <a:t>Abdelmoamen Ahmed, A., &amp; Harshavardhan Reddy, G. (2021). A mobile-based system for detecting plant leaf diseases using deep learning.</a:t>
            </a:r>
          </a:p>
          <a:p>
            <a:pPr marL="405781" lvl="1" indent="-202890" algn="l">
              <a:lnSpc>
                <a:spcPts val="2631"/>
              </a:lnSpc>
              <a:buFont typeface="Arial"/>
              <a:buChar char="•"/>
            </a:pPr>
            <a:r>
              <a:rPr lang="en-US" sz="1879">
                <a:solidFill>
                  <a:srgbClr val="000000"/>
                </a:solidFill>
                <a:latin typeface="Times New Roman"/>
                <a:ea typeface="Times New Roman"/>
                <a:cs typeface="Times New Roman"/>
                <a:sym typeface="Times New Roman"/>
              </a:rPr>
              <a:t> AgriEngineering, 3(3), 478–493. https://doi.org/10.3390/ agriengineering3030032 Adhao, A.S. and Pawar, V.R. Machine learning regression technique for cotton leaf disease detection and controlling using iot 2017 International conference of Electronics, Communication and Aerospace Technology (ICECA), 2:449–454, 2017. </a:t>
            </a:r>
          </a:p>
          <a:p>
            <a:pPr marL="405781" lvl="1" indent="-202890" algn="l">
              <a:lnSpc>
                <a:spcPts val="2631"/>
              </a:lnSpc>
              <a:buFont typeface="Arial"/>
              <a:buChar char="•"/>
            </a:pPr>
            <a:r>
              <a:rPr lang="en-US" sz="1879">
                <a:solidFill>
                  <a:srgbClr val="000000"/>
                </a:solidFill>
                <a:latin typeface="Times New Roman"/>
                <a:ea typeface="Times New Roman"/>
                <a:cs typeface="Times New Roman"/>
                <a:sym typeface="Times New Roman"/>
              </a:rPr>
              <a:t>Agrios, G.N. (2005). Plant Pathology. Elsevier Science. </a:t>
            </a:r>
          </a:p>
          <a:p>
            <a:pPr marL="405781" lvl="1" indent="-202890" algn="l">
              <a:lnSpc>
                <a:spcPts val="2631"/>
              </a:lnSpc>
              <a:buFont typeface="Arial"/>
              <a:buChar char="•"/>
            </a:pPr>
            <a:r>
              <a:rPr lang="en-US" sz="1879">
                <a:solidFill>
                  <a:srgbClr val="000000"/>
                </a:solidFill>
                <a:latin typeface="Times New Roman"/>
                <a:ea typeface="Times New Roman"/>
                <a:cs typeface="Times New Roman"/>
                <a:sym typeface="Times New Roman"/>
              </a:rPr>
              <a:t>Amara, J., Bouaziz, B., &amp; Algergawy, A. (2017). A deep learning-based approach for banana leaf diseases classification. BTW.</a:t>
            </a:r>
          </a:p>
          <a:p>
            <a:pPr marL="405781" lvl="1" indent="-202890" algn="l">
              <a:lnSpc>
                <a:spcPts val="2631"/>
              </a:lnSpc>
              <a:spcBef>
                <a:spcPct val="0"/>
              </a:spcBef>
              <a:buFont typeface="Arial"/>
              <a:buChar char="•"/>
            </a:pPr>
            <a:r>
              <a:rPr lang="en-US" sz="1879">
                <a:solidFill>
                  <a:srgbClr val="000000"/>
                </a:solidFill>
                <a:latin typeface="Times New Roman"/>
                <a:ea typeface="Times New Roman"/>
                <a:cs typeface="Times New Roman"/>
                <a:sym typeface="Times New Roman"/>
              </a:rPr>
              <a:t> Chiu, Y.-C., Tsai, C.-Y., Ruan, M.-D., Shen, G.-Y., and Lee, T.-T. Mobilenet-ssdv2: An improved object detection model for embedded systems. In 2020 International conference on system science and engineering (ICSSE), pages 1–5. IEEE, 2020.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9267" y="2982211"/>
            <a:ext cx="7492479" cy="1466850"/>
          </a:xfrm>
          <a:custGeom>
            <a:avLst/>
            <a:gdLst/>
            <a:ahLst/>
            <a:cxnLst/>
            <a:rect l="l" t="t" r="r" b="b"/>
            <a:pathLst>
              <a:path w="7492479" h="1466850">
                <a:moveTo>
                  <a:pt x="0" y="0"/>
                </a:moveTo>
                <a:lnTo>
                  <a:pt x="7492480" y="0"/>
                </a:lnTo>
                <a:lnTo>
                  <a:pt x="7492480" y="1466850"/>
                </a:lnTo>
                <a:lnTo>
                  <a:pt x="0" y="14668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2667000" y="2951207"/>
            <a:ext cx="4827037" cy="1269643"/>
          </a:xfrm>
          <a:prstGeom prst="rect">
            <a:avLst/>
          </a:prstGeom>
        </p:spPr>
        <p:txBody>
          <a:bodyPr wrap="square" lIns="0" tIns="0" rIns="0" bIns="0" rtlCol="0" anchor="t">
            <a:spAutoFit/>
          </a:bodyPr>
          <a:lstStyle/>
          <a:p>
            <a:pPr algn="r">
              <a:lnSpc>
                <a:spcPts val="10752"/>
              </a:lnSpc>
            </a:pPr>
            <a:r>
              <a:rPr lang="en-US" sz="7680" b="1" dirty="0">
                <a:solidFill>
                  <a:srgbClr val="1F497D"/>
                </a:solidFill>
                <a:latin typeface="Times New Roman Bold"/>
                <a:ea typeface="Times New Roman Bold"/>
                <a:cs typeface="Times New Roman Bold"/>
                <a:sym typeface="Times New Roman Bold"/>
              </a:rPr>
              <a:t>Thank you</a:t>
            </a:r>
          </a:p>
        </p:txBody>
      </p:sp>
      <p:sp>
        <p:nvSpPr>
          <p:cNvPr id="4" name="TextBox 4"/>
          <p:cNvSpPr txBox="1"/>
          <p:nvPr/>
        </p:nvSpPr>
        <p:spPr>
          <a:xfrm>
            <a:off x="9076353" y="6844360"/>
            <a:ext cx="193157" cy="229333"/>
          </a:xfrm>
          <a:prstGeom prst="rect">
            <a:avLst/>
          </a:prstGeom>
        </p:spPr>
        <p:txBody>
          <a:bodyPr lIns="0" tIns="0" rIns="0" bIns="0" rtlCol="0" anchor="t">
            <a:spAutoFit/>
          </a:bodyPr>
          <a:lstStyle/>
          <a:p>
            <a:pPr algn="l">
              <a:lnSpc>
                <a:spcPts val="1791"/>
              </a:lnSpc>
            </a:pPr>
            <a:r>
              <a:rPr lang="en-US" sz="1279">
                <a:solidFill>
                  <a:srgbClr val="888888"/>
                </a:solidFill>
                <a:latin typeface="Times New Roman"/>
                <a:ea typeface="Times New Roman"/>
                <a:cs typeface="Times New Roman"/>
                <a:sym typeface="Times New Roman"/>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2411</Words>
  <Application>Microsoft Office PowerPoint</Application>
  <PresentationFormat>Custom</PresentationFormat>
  <Paragraphs>255</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Arimo</vt:lpstr>
      <vt:lpstr>Arial Bold</vt:lpstr>
      <vt:lpstr>Times New Roman</vt:lpstr>
      <vt:lpstr>Calibri</vt:lpstr>
      <vt:lpstr>Arial Italics</vt:lpstr>
      <vt:lpstr>Arimo Bold</vt:lpstr>
      <vt:lpstr>Arial</vt:lpstr>
      <vt:lpstr>Times New Roman Bold</vt:lpstr>
      <vt:lpstr>Office Theme</vt:lpstr>
      <vt:lpstr>PowerPoint Presentation</vt:lpstr>
      <vt:lpstr>PowerPoint Presentation</vt:lpstr>
      <vt:lpstr>PowerPoint Presentation</vt:lpstr>
      <vt:lpstr>PowerPoint Presentation</vt:lpstr>
      <vt:lpstr>PowerPoint Presentation</vt:lpstr>
      <vt:lpstr> </vt:lpstr>
      <vt:lpstr> 2.Literatutre Survey </vt:lpstr>
      <vt:lpstr> 2.Literatutre Survey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_spi.pdf</dc:title>
  <dc:creator>DELL</dc:creator>
  <cp:lastModifiedBy>Zoha Khan</cp:lastModifiedBy>
  <cp:revision>3</cp:revision>
  <dcterms:created xsi:type="dcterms:W3CDTF">2006-08-16T00:00:00Z</dcterms:created>
  <dcterms:modified xsi:type="dcterms:W3CDTF">2026-10-18T18:24:17Z</dcterms:modified>
  <dc:identifier>DAHYDDJhgmk</dc:identifier>
</cp:coreProperties>
</file>