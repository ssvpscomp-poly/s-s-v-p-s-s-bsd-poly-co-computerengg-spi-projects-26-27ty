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73" r:id="rId7"/>
    <p:sldId id="274" r:id="rId8"/>
    <p:sldId id="275" r:id="rId9"/>
    <p:sldId id="261" r:id="rId10"/>
    <p:sldId id="262" r:id="rId11"/>
    <p:sldId id="276" r:id="rId12"/>
    <p:sldId id="263" r:id="rId13"/>
    <p:sldId id="264" r:id="rId14"/>
    <p:sldId id="265" r:id="rId15"/>
    <p:sldId id="266" r:id="rId16"/>
    <p:sldId id="267" r:id="rId17"/>
    <p:sldId id="268" r:id="rId18"/>
    <p:sldId id="269" r:id="rId19"/>
    <p:sldId id="270" r:id="rId20"/>
    <p:sldId id="271" r:id="rId21"/>
    <p:sldId id="272"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077A5B-8C0D-40D8-8557-44EC33DBB8F6}">
  <a:tblStyle styleId="{98077A5B-8C0D-40D8-8557-44EC33DBB8F6}" styleName="Table_0">
    <a:wholeTbl>
      <a:tcTxStyle b="off" i="off">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Times New Roman"/>
          <a:ea typeface="Times New Roman"/>
          <a:cs typeface="Times New Roman"/>
        </a:font>
        <a:schemeClr val="lt1"/>
      </a:tcTxStyle>
      <a:tcStyle>
        <a:tcBdr/>
        <a:fill>
          <a:solidFill>
            <a:schemeClr val="accent1"/>
          </a:solidFill>
        </a:fill>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esh Patil" userId="7519999c35995793" providerId="LiveId" clId="{6763D38C-9D25-44DD-BBB3-BD63AE07E59A}"/>
    <pc:docChg chg="undo redo custSel addSld delSld modSld">
      <pc:chgData name="Ritesh Patil" userId="7519999c35995793" providerId="LiveId" clId="{6763D38C-9D25-44DD-BBB3-BD63AE07E59A}" dt="2026-10-28T07:54:52.284" v="882" actId="20577"/>
      <pc:docMkLst>
        <pc:docMk/>
      </pc:docMkLst>
      <pc:sldChg chg="modSp mod modTransition modShow">
        <pc:chgData name="Ritesh Patil" userId="7519999c35995793" providerId="LiveId" clId="{6763D38C-9D25-44DD-BBB3-BD63AE07E59A}" dt="2026-10-17T14:50:26.476" v="730"/>
        <pc:sldMkLst>
          <pc:docMk/>
          <pc:sldMk cId="0" sldId="256"/>
        </pc:sldMkLst>
        <pc:graphicFrameChg chg="mod modGraphic">
          <ac:chgData name="Ritesh Patil" userId="7519999c35995793" providerId="LiveId" clId="{6763D38C-9D25-44DD-BBB3-BD63AE07E59A}" dt="2026-10-17T12:36:21.871" v="723" actId="20577"/>
          <ac:graphicFrameMkLst>
            <pc:docMk/>
            <pc:sldMk cId="0" sldId="256"/>
            <ac:graphicFrameMk id="504" creationId="{00000000-0000-0000-0000-000000000000}"/>
          </ac:graphicFrameMkLst>
        </pc:graphicFrameChg>
        <pc:picChg chg="mod">
          <ac:chgData name="Ritesh Patil" userId="7519999c35995793" providerId="LiveId" clId="{6763D38C-9D25-44DD-BBB3-BD63AE07E59A}" dt="2026-10-13T15:41:02.646" v="147" actId="1076"/>
          <ac:picMkLst>
            <pc:docMk/>
            <pc:sldMk cId="0" sldId="256"/>
            <ac:picMk id="505" creationId="{00000000-0000-0000-0000-000000000000}"/>
          </ac:picMkLst>
        </pc:picChg>
      </pc:sldChg>
      <pc:sldChg chg="modSp mod modTransition">
        <pc:chgData name="Ritesh Patil" userId="7519999c35995793" providerId="LiveId" clId="{6763D38C-9D25-44DD-BBB3-BD63AE07E59A}" dt="2026-10-28T07:54:38.307" v="881" actId="20577"/>
        <pc:sldMkLst>
          <pc:docMk/>
          <pc:sldMk cId="0" sldId="257"/>
        </pc:sldMkLst>
        <pc:spChg chg="mod">
          <ac:chgData name="Ritesh Patil" userId="7519999c35995793" providerId="LiveId" clId="{6763D38C-9D25-44DD-BBB3-BD63AE07E59A}" dt="2026-10-28T07:54:38.307" v="881" actId="20577"/>
          <ac:spMkLst>
            <pc:docMk/>
            <pc:sldMk cId="0" sldId="257"/>
            <ac:spMk id="510" creationId="{00000000-0000-0000-0000-000000000000}"/>
          </ac:spMkLst>
        </pc:spChg>
      </pc:sldChg>
      <pc:sldChg chg="modSp mod modTransition">
        <pc:chgData name="Ritesh Patil" userId="7519999c35995793" providerId="LiveId" clId="{6763D38C-9D25-44DD-BBB3-BD63AE07E59A}" dt="2026-10-28T07:54:52.284" v="882" actId="20577"/>
        <pc:sldMkLst>
          <pc:docMk/>
          <pc:sldMk cId="0" sldId="258"/>
        </pc:sldMkLst>
        <pc:spChg chg="mod">
          <ac:chgData name="Ritesh Patil" userId="7519999c35995793" providerId="LiveId" clId="{6763D38C-9D25-44DD-BBB3-BD63AE07E59A}" dt="2026-10-28T07:54:52.284" v="882" actId="20577"/>
          <ac:spMkLst>
            <pc:docMk/>
            <pc:sldMk cId="0" sldId="258"/>
            <ac:spMk id="518" creationId="{00000000-0000-0000-0000-000000000000}"/>
          </ac:spMkLst>
        </pc:spChg>
      </pc:sldChg>
      <pc:sldChg chg="modSp mod modTransition">
        <pc:chgData name="Ritesh Patil" userId="7519999c35995793" providerId="LiveId" clId="{6763D38C-9D25-44DD-BBB3-BD63AE07E59A}" dt="2026-10-17T14:50:26.476" v="730"/>
        <pc:sldMkLst>
          <pc:docMk/>
          <pc:sldMk cId="0" sldId="259"/>
        </pc:sldMkLst>
        <pc:spChg chg="mod">
          <ac:chgData name="Ritesh Patil" userId="7519999c35995793" providerId="LiveId" clId="{6763D38C-9D25-44DD-BBB3-BD63AE07E59A}" dt="2026-10-13T15:50:33.558" v="187" actId="255"/>
          <ac:spMkLst>
            <pc:docMk/>
            <pc:sldMk cId="0" sldId="259"/>
            <ac:spMk id="525" creationId="{00000000-0000-0000-0000-000000000000}"/>
          </ac:spMkLst>
        </pc:spChg>
      </pc:sldChg>
      <pc:sldChg chg="addSp modSp mod">
        <pc:chgData name="Ritesh Patil" userId="7519999c35995793" providerId="LiveId" clId="{6763D38C-9D25-44DD-BBB3-BD63AE07E59A}" dt="2026-10-21T05:17:39.727" v="750" actId="1035"/>
        <pc:sldMkLst>
          <pc:docMk/>
          <pc:sldMk cId="0" sldId="260"/>
        </pc:sldMkLst>
        <pc:spChg chg="mod">
          <ac:chgData name="Ritesh Patil" userId="7519999c35995793" providerId="LiveId" clId="{6763D38C-9D25-44DD-BBB3-BD63AE07E59A}" dt="2026-10-16T15:59:48.981" v="343" actId="20577"/>
          <ac:spMkLst>
            <pc:docMk/>
            <pc:sldMk cId="0" sldId="260"/>
            <ac:spMk id="532" creationId="{00000000-0000-0000-0000-000000000000}"/>
          </ac:spMkLst>
        </pc:spChg>
        <pc:graphicFrameChg chg="add mod modGraphic">
          <ac:chgData name="Ritesh Patil" userId="7519999c35995793" providerId="LiveId" clId="{6763D38C-9D25-44DD-BBB3-BD63AE07E59A}" dt="2026-10-21T05:17:39.727" v="750" actId="1035"/>
          <ac:graphicFrameMkLst>
            <pc:docMk/>
            <pc:sldMk cId="0" sldId="260"/>
            <ac:graphicFrameMk id="4" creationId="{B1CB4A1D-3C70-3F30-1CD8-AF14F67E1FF5}"/>
          </ac:graphicFrameMkLst>
        </pc:graphicFrameChg>
      </pc:sldChg>
      <pc:sldChg chg="addSp modSp mod">
        <pc:chgData name="Ritesh Patil" userId="7519999c35995793" providerId="LiveId" clId="{6763D38C-9D25-44DD-BBB3-BD63AE07E59A}" dt="2026-10-13T15:59:34.440" v="265" actId="20577"/>
        <pc:sldMkLst>
          <pc:docMk/>
          <pc:sldMk cId="0" sldId="261"/>
        </pc:sldMkLst>
        <pc:spChg chg="add mod">
          <ac:chgData name="Ritesh Patil" userId="7519999c35995793" providerId="LiveId" clId="{6763D38C-9D25-44DD-BBB3-BD63AE07E59A}" dt="2026-10-13T15:54:56.988" v="204" actId="1076"/>
          <ac:spMkLst>
            <pc:docMk/>
            <pc:sldMk cId="0" sldId="261"/>
            <ac:spMk id="3" creationId="{7741DABD-E5FA-701E-62CD-14D68AFCAF82}"/>
          </ac:spMkLst>
        </pc:spChg>
        <pc:spChg chg="add mod">
          <ac:chgData name="Ritesh Patil" userId="7519999c35995793" providerId="LiveId" clId="{6763D38C-9D25-44DD-BBB3-BD63AE07E59A}" dt="2026-10-13T15:55:32.875" v="208" actId="1076"/>
          <ac:spMkLst>
            <pc:docMk/>
            <pc:sldMk cId="0" sldId="261"/>
            <ac:spMk id="6" creationId="{A7EAFF20-745C-2228-D740-5C6D7B23BBF8}"/>
          </ac:spMkLst>
        </pc:spChg>
        <pc:spChg chg="add mod">
          <ac:chgData name="Ritesh Patil" userId="7519999c35995793" providerId="LiveId" clId="{6763D38C-9D25-44DD-BBB3-BD63AE07E59A}" dt="2026-10-13T15:56:06.997" v="212" actId="1076"/>
          <ac:spMkLst>
            <pc:docMk/>
            <pc:sldMk cId="0" sldId="261"/>
            <ac:spMk id="9" creationId="{3EB0F842-6FAE-0A7F-58E6-11CA939327F8}"/>
          </ac:spMkLst>
        </pc:spChg>
        <pc:spChg chg="add mod">
          <ac:chgData name="Ritesh Patil" userId="7519999c35995793" providerId="LiveId" clId="{6763D38C-9D25-44DD-BBB3-BD63AE07E59A}" dt="2026-10-13T15:56:50.432" v="217" actId="1076"/>
          <ac:spMkLst>
            <pc:docMk/>
            <pc:sldMk cId="0" sldId="261"/>
            <ac:spMk id="12" creationId="{3539D172-A857-E0A4-F38B-7DF759F04A69}"/>
          </ac:spMkLst>
        </pc:spChg>
        <pc:spChg chg="mod">
          <ac:chgData name="Ritesh Patil" userId="7519999c35995793" providerId="LiveId" clId="{6763D38C-9D25-44DD-BBB3-BD63AE07E59A}" dt="2026-10-13T15:59:34.440" v="265" actId="20577"/>
          <ac:spMkLst>
            <pc:docMk/>
            <pc:sldMk cId="0" sldId="261"/>
            <ac:spMk id="539" creationId="{00000000-0000-0000-0000-000000000000}"/>
          </ac:spMkLst>
        </pc:spChg>
        <pc:cxnChg chg="add mod">
          <ac:chgData name="Ritesh Patil" userId="7519999c35995793" providerId="LiveId" clId="{6763D38C-9D25-44DD-BBB3-BD63AE07E59A}" dt="2026-10-13T15:55:16.711" v="206" actId="1076"/>
          <ac:cxnSpMkLst>
            <pc:docMk/>
            <pc:sldMk cId="0" sldId="261"/>
            <ac:cxnSpMk id="4" creationId="{063DAA6B-8C0C-B432-23FE-7DEB2BDEE2E3}"/>
          </ac:cxnSpMkLst>
        </pc:cxnChg>
        <pc:cxnChg chg="add mod">
          <ac:chgData name="Ritesh Patil" userId="7519999c35995793" providerId="LiveId" clId="{6763D38C-9D25-44DD-BBB3-BD63AE07E59A}" dt="2026-10-13T15:55:47.894" v="210" actId="1076"/>
          <ac:cxnSpMkLst>
            <pc:docMk/>
            <pc:sldMk cId="0" sldId="261"/>
            <ac:cxnSpMk id="7" creationId="{695AB58B-4048-B4DE-4737-759338482D61}"/>
          </ac:cxnSpMkLst>
        </pc:cxnChg>
        <pc:cxnChg chg="add mod">
          <ac:chgData name="Ritesh Patil" userId="7519999c35995793" providerId="LiveId" clId="{6763D38C-9D25-44DD-BBB3-BD63AE07E59A}" dt="2026-10-13T15:56:21.446" v="214" actId="1076"/>
          <ac:cxnSpMkLst>
            <pc:docMk/>
            <pc:sldMk cId="0" sldId="261"/>
            <ac:cxnSpMk id="10" creationId="{31E6229A-C24C-5CD7-BED9-B57026A8680A}"/>
          </ac:cxnSpMkLst>
        </pc:cxnChg>
      </pc:sldChg>
      <pc:sldChg chg="modSp mod">
        <pc:chgData name="Ritesh Patil" userId="7519999c35995793" providerId="LiveId" clId="{6763D38C-9D25-44DD-BBB3-BD63AE07E59A}" dt="2026-10-16T16:37:53.438" v="540" actId="1076"/>
        <pc:sldMkLst>
          <pc:docMk/>
          <pc:sldMk cId="0" sldId="262"/>
        </pc:sldMkLst>
        <pc:spChg chg="mod">
          <ac:chgData name="Ritesh Patil" userId="7519999c35995793" providerId="LiveId" clId="{6763D38C-9D25-44DD-BBB3-BD63AE07E59A}" dt="2026-10-16T16:37:53.438" v="540" actId="1076"/>
          <ac:spMkLst>
            <pc:docMk/>
            <pc:sldMk cId="0" sldId="262"/>
            <ac:spMk id="545" creationId="{00000000-0000-0000-0000-000000000000}"/>
          </ac:spMkLst>
        </pc:spChg>
        <pc:spChg chg="mod">
          <ac:chgData name="Ritesh Patil" userId="7519999c35995793" providerId="LiveId" clId="{6763D38C-9D25-44DD-BBB3-BD63AE07E59A}" dt="2026-10-16T16:37:40.813" v="537"/>
          <ac:spMkLst>
            <pc:docMk/>
            <pc:sldMk cId="0" sldId="262"/>
            <ac:spMk id="546" creationId="{00000000-0000-0000-0000-000000000000}"/>
          </ac:spMkLst>
        </pc:spChg>
      </pc:sldChg>
      <pc:sldChg chg="modSp mod">
        <pc:chgData name="Ritesh Patil" userId="7519999c35995793" providerId="LiveId" clId="{6763D38C-9D25-44DD-BBB3-BD63AE07E59A}" dt="2026-10-13T16:00:43.404" v="275" actId="12"/>
        <pc:sldMkLst>
          <pc:docMk/>
          <pc:sldMk cId="0" sldId="263"/>
        </pc:sldMkLst>
        <pc:spChg chg="mod">
          <ac:chgData name="Ritesh Patil" userId="7519999c35995793" providerId="LiveId" clId="{6763D38C-9D25-44DD-BBB3-BD63AE07E59A}" dt="2026-10-13T16:00:43.404" v="275" actId="12"/>
          <ac:spMkLst>
            <pc:docMk/>
            <pc:sldMk cId="0" sldId="263"/>
            <ac:spMk id="553" creationId="{00000000-0000-0000-0000-000000000000}"/>
          </ac:spMkLst>
        </pc:spChg>
      </pc:sldChg>
      <pc:sldChg chg="modSp mod">
        <pc:chgData name="Ritesh Patil" userId="7519999c35995793" providerId="LiveId" clId="{6763D38C-9D25-44DD-BBB3-BD63AE07E59A}" dt="2026-10-13T16:04:11.153" v="282" actId="27636"/>
        <pc:sldMkLst>
          <pc:docMk/>
          <pc:sldMk cId="0" sldId="264"/>
        </pc:sldMkLst>
        <pc:spChg chg="mod">
          <ac:chgData name="Ritesh Patil" userId="7519999c35995793" providerId="LiveId" clId="{6763D38C-9D25-44DD-BBB3-BD63AE07E59A}" dt="2026-10-13T16:04:11.153" v="282" actId="27636"/>
          <ac:spMkLst>
            <pc:docMk/>
            <pc:sldMk cId="0" sldId="264"/>
            <ac:spMk id="560" creationId="{00000000-0000-0000-0000-000000000000}"/>
          </ac:spMkLst>
        </pc:spChg>
      </pc:sldChg>
      <pc:sldChg chg="modSp mod">
        <pc:chgData name="Ritesh Patil" userId="7519999c35995793" providerId="LiveId" clId="{6763D38C-9D25-44DD-BBB3-BD63AE07E59A}" dt="2026-10-13T16:04:53.604" v="287" actId="2711"/>
        <pc:sldMkLst>
          <pc:docMk/>
          <pc:sldMk cId="0" sldId="265"/>
        </pc:sldMkLst>
        <pc:spChg chg="mod">
          <ac:chgData name="Ritesh Patil" userId="7519999c35995793" providerId="LiveId" clId="{6763D38C-9D25-44DD-BBB3-BD63AE07E59A}" dt="2026-10-13T16:01:47.005" v="277" actId="20577"/>
          <ac:spMkLst>
            <pc:docMk/>
            <pc:sldMk cId="0" sldId="265"/>
            <ac:spMk id="566" creationId="{00000000-0000-0000-0000-000000000000}"/>
          </ac:spMkLst>
        </pc:spChg>
        <pc:spChg chg="mod">
          <ac:chgData name="Ritesh Patil" userId="7519999c35995793" providerId="LiveId" clId="{6763D38C-9D25-44DD-BBB3-BD63AE07E59A}" dt="2026-10-13T16:04:53.604" v="287" actId="2711"/>
          <ac:spMkLst>
            <pc:docMk/>
            <pc:sldMk cId="0" sldId="265"/>
            <ac:spMk id="567" creationId="{00000000-0000-0000-0000-000000000000}"/>
          </ac:spMkLst>
        </pc:spChg>
      </pc:sldChg>
      <pc:sldChg chg="modSp mod">
        <pc:chgData name="Ritesh Patil" userId="7519999c35995793" providerId="LiveId" clId="{6763D38C-9D25-44DD-BBB3-BD63AE07E59A}" dt="2026-10-13T16:05:41.911" v="293" actId="27636"/>
        <pc:sldMkLst>
          <pc:docMk/>
          <pc:sldMk cId="0" sldId="266"/>
        </pc:sldMkLst>
        <pc:spChg chg="mod">
          <ac:chgData name="Ritesh Patil" userId="7519999c35995793" providerId="LiveId" clId="{6763D38C-9D25-44DD-BBB3-BD63AE07E59A}" dt="2026-10-13T16:05:11.960" v="288" actId="122"/>
          <ac:spMkLst>
            <pc:docMk/>
            <pc:sldMk cId="0" sldId="266"/>
            <ac:spMk id="573" creationId="{00000000-0000-0000-0000-000000000000}"/>
          </ac:spMkLst>
        </pc:spChg>
        <pc:spChg chg="mod">
          <ac:chgData name="Ritesh Patil" userId="7519999c35995793" providerId="LiveId" clId="{6763D38C-9D25-44DD-BBB3-BD63AE07E59A}" dt="2026-10-13T16:05:41.911" v="293" actId="27636"/>
          <ac:spMkLst>
            <pc:docMk/>
            <pc:sldMk cId="0" sldId="266"/>
            <ac:spMk id="574" creationId="{00000000-0000-0000-0000-000000000000}"/>
          </ac:spMkLst>
        </pc:spChg>
      </pc:sldChg>
      <pc:sldChg chg="modSp mod">
        <pc:chgData name="Ritesh Patil" userId="7519999c35995793" providerId="LiveId" clId="{6763D38C-9D25-44DD-BBB3-BD63AE07E59A}" dt="2026-10-13T16:07:20.716" v="297" actId="255"/>
        <pc:sldMkLst>
          <pc:docMk/>
          <pc:sldMk cId="0" sldId="267"/>
        </pc:sldMkLst>
        <pc:spChg chg="mod">
          <ac:chgData name="Ritesh Patil" userId="7519999c35995793" providerId="LiveId" clId="{6763D38C-9D25-44DD-BBB3-BD63AE07E59A}" dt="2026-10-13T16:05:54.008" v="294" actId="122"/>
          <ac:spMkLst>
            <pc:docMk/>
            <pc:sldMk cId="0" sldId="267"/>
            <ac:spMk id="580" creationId="{00000000-0000-0000-0000-000000000000}"/>
          </ac:spMkLst>
        </pc:spChg>
        <pc:spChg chg="mod">
          <ac:chgData name="Ritesh Patil" userId="7519999c35995793" providerId="LiveId" clId="{6763D38C-9D25-44DD-BBB3-BD63AE07E59A}" dt="2026-10-13T16:07:20.716" v="297" actId="255"/>
          <ac:spMkLst>
            <pc:docMk/>
            <pc:sldMk cId="0" sldId="267"/>
            <ac:spMk id="581" creationId="{00000000-0000-0000-0000-000000000000}"/>
          </ac:spMkLst>
        </pc:spChg>
      </pc:sldChg>
      <pc:sldChg chg="modSp mod">
        <pc:chgData name="Ritesh Patil" userId="7519999c35995793" providerId="LiveId" clId="{6763D38C-9D25-44DD-BBB3-BD63AE07E59A}" dt="2026-10-13T16:08:56.615" v="321" actId="20577"/>
        <pc:sldMkLst>
          <pc:docMk/>
          <pc:sldMk cId="0" sldId="268"/>
        </pc:sldMkLst>
        <pc:spChg chg="mod">
          <ac:chgData name="Ritesh Patil" userId="7519999c35995793" providerId="LiveId" clId="{6763D38C-9D25-44DD-BBB3-BD63AE07E59A}" dt="2026-10-13T16:07:40.263" v="298" actId="20577"/>
          <ac:spMkLst>
            <pc:docMk/>
            <pc:sldMk cId="0" sldId="268"/>
            <ac:spMk id="587" creationId="{00000000-0000-0000-0000-000000000000}"/>
          </ac:spMkLst>
        </pc:spChg>
        <pc:spChg chg="mod">
          <ac:chgData name="Ritesh Patil" userId="7519999c35995793" providerId="LiveId" clId="{6763D38C-9D25-44DD-BBB3-BD63AE07E59A}" dt="2026-10-13T16:08:56.615" v="321" actId="20577"/>
          <ac:spMkLst>
            <pc:docMk/>
            <pc:sldMk cId="0" sldId="268"/>
            <ac:spMk id="588" creationId="{00000000-0000-0000-0000-000000000000}"/>
          </ac:spMkLst>
        </pc:spChg>
      </pc:sldChg>
      <pc:sldChg chg="modSp mod">
        <pc:chgData name="Ritesh Patil" userId="7519999c35995793" providerId="LiveId" clId="{6763D38C-9D25-44DD-BBB3-BD63AE07E59A}" dt="2026-10-13T16:10:20.834" v="328" actId="27636"/>
        <pc:sldMkLst>
          <pc:docMk/>
          <pc:sldMk cId="0" sldId="269"/>
        </pc:sldMkLst>
        <pc:spChg chg="mod">
          <ac:chgData name="Ritesh Patil" userId="7519999c35995793" providerId="LiveId" clId="{6763D38C-9D25-44DD-BBB3-BD63AE07E59A}" dt="2026-10-13T16:09:11.901" v="322" actId="20577"/>
          <ac:spMkLst>
            <pc:docMk/>
            <pc:sldMk cId="0" sldId="269"/>
            <ac:spMk id="594" creationId="{00000000-0000-0000-0000-000000000000}"/>
          </ac:spMkLst>
        </pc:spChg>
        <pc:spChg chg="mod">
          <ac:chgData name="Ritesh Patil" userId="7519999c35995793" providerId="LiveId" clId="{6763D38C-9D25-44DD-BBB3-BD63AE07E59A}" dt="2026-10-13T16:10:20.834" v="328" actId="27636"/>
          <ac:spMkLst>
            <pc:docMk/>
            <pc:sldMk cId="0" sldId="269"/>
            <ac:spMk id="595" creationId="{00000000-0000-0000-0000-000000000000}"/>
          </ac:spMkLst>
        </pc:spChg>
      </pc:sldChg>
      <pc:sldChg chg="modSp mod">
        <pc:chgData name="Ritesh Patil" userId="7519999c35995793" providerId="LiveId" clId="{6763D38C-9D25-44DD-BBB3-BD63AE07E59A}" dt="2026-10-16T17:11:43.191" v="688"/>
        <pc:sldMkLst>
          <pc:docMk/>
          <pc:sldMk cId="0" sldId="270"/>
        </pc:sldMkLst>
        <pc:spChg chg="mod">
          <ac:chgData name="Ritesh Patil" userId="7519999c35995793" providerId="LiveId" clId="{6763D38C-9D25-44DD-BBB3-BD63AE07E59A}" dt="2026-10-16T17:11:43.191" v="688"/>
          <ac:spMkLst>
            <pc:docMk/>
            <pc:sldMk cId="0" sldId="270"/>
            <ac:spMk id="602" creationId="{00000000-0000-0000-0000-000000000000}"/>
          </ac:spMkLst>
        </pc:spChg>
      </pc:sldChg>
      <pc:sldChg chg="modSp mod">
        <pc:chgData name="Ritesh Patil" userId="7519999c35995793" providerId="LiveId" clId="{6763D38C-9D25-44DD-BBB3-BD63AE07E59A}" dt="2026-10-21T09:13:22.569" v="880" actId="20577"/>
        <pc:sldMkLst>
          <pc:docMk/>
          <pc:sldMk cId="0" sldId="271"/>
        </pc:sldMkLst>
        <pc:spChg chg="mod">
          <ac:chgData name="Ritesh Patil" userId="7519999c35995793" providerId="LiveId" clId="{6763D38C-9D25-44DD-BBB3-BD63AE07E59A}" dt="2026-10-21T09:13:22.569" v="880" actId="20577"/>
          <ac:spMkLst>
            <pc:docMk/>
            <pc:sldMk cId="0" sldId="271"/>
            <ac:spMk id="609" creationId="{00000000-0000-0000-0000-000000000000}"/>
          </ac:spMkLst>
        </pc:spChg>
      </pc:sldChg>
      <pc:sldChg chg="addSp modSp new mod">
        <pc:chgData name="Ritesh Patil" userId="7519999c35995793" providerId="LiveId" clId="{6763D38C-9D25-44DD-BBB3-BD63AE07E59A}" dt="2026-10-19T13:39:22.130" v="734" actId="207"/>
        <pc:sldMkLst>
          <pc:docMk/>
          <pc:sldMk cId="3389238182" sldId="273"/>
        </pc:sldMkLst>
        <pc:spChg chg="mod">
          <ac:chgData name="Ritesh Patil" userId="7519999c35995793" providerId="LiveId" clId="{6763D38C-9D25-44DD-BBB3-BD63AE07E59A}" dt="2026-10-16T16:07:14.576" v="464"/>
          <ac:spMkLst>
            <pc:docMk/>
            <pc:sldMk cId="3389238182" sldId="273"/>
            <ac:spMk id="2" creationId="{01BDCB76-1EED-29EA-391C-444B8E36003D}"/>
          </ac:spMkLst>
        </pc:spChg>
        <pc:spChg chg="mod">
          <ac:chgData name="Ritesh Patil" userId="7519999c35995793" providerId="LiveId" clId="{6763D38C-9D25-44DD-BBB3-BD63AE07E59A}" dt="2026-10-16T16:07:17.933" v="465" actId="5793"/>
          <ac:spMkLst>
            <pc:docMk/>
            <pc:sldMk cId="3389238182" sldId="273"/>
            <ac:spMk id="3" creationId="{AE3894FF-690F-E025-4290-488D4C5BE50B}"/>
          </ac:spMkLst>
        </pc:spChg>
        <pc:graphicFrameChg chg="add mod modGraphic">
          <ac:chgData name="Ritesh Patil" userId="7519999c35995793" providerId="LiveId" clId="{6763D38C-9D25-44DD-BBB3-BD63AE07E59A}" dt="2026-10-19T13:39:22.130" v="734" actId="207"/>
          <ac:graphicFrameMkLst>
            <pc:docMk/>
            <pc:sldMk cId="3389238182" sldId="273"/>
            <ac:graphicFrameMk id="5" creationId="{A0767609-2D44-1551-A8EB-A559D203173B}"/>
          </ac:graphicFrameMkLst>
        </pc:graphicFrameChg>
      </pc:sldChg>
      <pc:sldChg chg="addSp modSp new mod">
        <pc:chgData name="Ritesh Patil" userId="7519999c35995793" providerId="LiveId" clId="{6763D38C-9D25-44DD-BBB3-BD63AE07E59A}" dt="2026-10-19T13:39:32.617" v="735" actId="207"/>
        <pc:sldMkLst>
          <pc:docMk/>
          <pc:sldMk cId="2188353900" sldId="274"/>
        </pc:sldMkLst>
        <pc:spChg chg="mod">
          <ac:chgData name="Ritesh Patil" userId="7519999c35995793" providerId="LiveId" clId="{6763D38C-9D25-44DD-BBB3-BD63AE07E59A}" dt="2026-10-16T16:11:04.669" v="485"/>
          <ac:spMkLst>
            <pc:docMk/>
            <pc:sldMk cId="2188353900" sldId="274"/>
            <ac:spMk id="2" creationId="{C302CD45-8309-5E3D-93DB-EE5F2B1DFD4A}"/>
          </ac:spMkLst>
        </pc:spChg>
        <pc:spChg chg="mod">
          <ac:chgData name="Ritesh Patil" userId="7519999c35995793" providerId="LiveId" clId="{6763D38C-9D25-44DD-BBB3-BD63AE07E59A}" dt="2026-10-16T16:11:07.548" v="486" actId="5793"/>
          <ac:spMkLst>
            <pc:docMk/>
            <pc:sldMk cId="2188353900" sldId="274"/>
            <ac:spMk id="3" creationId="{B9D559BE-0FB5-384C-7EB3-59A59151D6EB}"/>
          </ac:spMkLst>
        </pc:spChg>
        <pc:graphicFrameChg chg="add mod modGraphic">
          <ac:chgData name="Ritesh Patil" userId="7519999c35995793" providerId="LiveId" clId="{6763D38C-9D25-44DD-BBB3-BD63AE07E59A}" dt="2026-10-19T13:39:32.617" v="735" actId="207"/>
          <ac:graphicFrameMkLst>
            <pc:docMk/>
            <pc:sldMk cId="2188353900" sldId="274"/>
            <ac:graphicFrameMk id="5" creationId="{488163E3-E4C8-22E5-87EE-35EC3FD43924}"/>
          </ac:graphicFrameMkLst>
        </pc:graphicFrameChg>
      </pc:sldChg>
      <pc:sldChg chg="addSp modSp new mod">
        <pc:chgData name="Ritesh Patil" userId="7519999c35995793" providerId="LiveId" clId="{6763D38C-9D25-44DD-BBB3-BD63AE07E59A}" dt="2026-10-19T13:39:49.941" v="737" actId="207"/>
        <pc:sldMkLst>
          <pc:docMk/>
          <pc:sldMk cId="4031081178" sldId="275"/>
        </pc:sldMkLst>
        <pc:spChg chg="mod">
          <ac:chgData name="Ritesh Patil" userId="7519999c35995793" providerId="LiveId" clId="{6763D38C-9D25-44DD-BBB3-BD63AE07E59A}" dt="2026-10-16T16:14:42.168" v="505"/>
          <ac:spMkLst>
            <pc:docMk/>
            <pc:sldMk cId="4031081178" sldId="275"/>
            <ac:spMk id="2" creationId="{CD0788E7-0F63-8658-808A-CF78237B08B3}"/>
          </ac:spMkLst>
        </pc:spChg>
        <pc:spChg chg="mod">
          <ac:chgData name="Ritesh Patil" userId="7519999c35995793" providerId="LiveId" clId="{6763D38C-9D25-44DD-BBB3-BD63AE07E59A}" dt="2026-10-16T16:14:45.114" v="506" actId="5793"/>
          <ac:spMkLst>
            <pc:docMk/>
            <pc:sldMk cId="4031081178" sldId="275"/>
            <ac:spMk id="3" creationId="{0F92426C-3506-8808-567B-C9F8F215750C}"/>
          </ac:spMkLst>
        </pc:spChg>
        <pc:graphicFrameChg chg="add mod modGraphic">
          <ac:chgData name="Ritesh Patil" userId="7519999c35995793" providerId="LiveId" clId="{6763D38C-9D25-44DD-BBB3-BD63AE07E59A}" dt="2026-10-19T13:39:49.941" v="737" actId="207"/>
          <ac:graphicFrameMkLst>
            <pc:docMk/>
            <pc:sldMk cId="4031081178" sldId="275"/>
            <ac:graphicFrameMk id="5" creationId="{579A9A14-F2C9-8A8C-8810-F12C5E2F8129}"/>
          </ac:graphicFrameMkLst>
        </pc:graphicFrameChg>
      </pc:sldChg>
      <pc:sldChg chg="modSp new mod">
        <pc:chgData name="Ritesh Patil" userId="7519999c35995793" providerId="LiveId" clId="{6763D38C-9D25-44DD-BBB3-BD63AE07E59A}" dt="2026-10-16T16:39:29.302" v="554"/>
        <pc:sldMkLst>
          <pc:docMk/>
          <pc:sldMk cId="2123355120" sldId="276"/>
        </pc:sldMkLst>
        <pc:spChg chg="mod">
          <ac:chgData name="Ritesh Patil" userId="7519999c35995793" providerId="LiveId" clId="{6763D38C-9D25-44DD-BBB3-BD63AE07E59A}" dt="2026-10-16T16:38:05.575" v="541"/>
          <ac:spMkLst>
            <pc:docMk/>
            <pc:sldMk cId="2123355120" sldId="276"/>
            <ac:spMk id="2" creationId="{DCD2E88A-E48A-C483-16E9-6300222AF332}"/>
          </ac:spMkLst>
        </pc:spChg>
        <pc:spChg chg="mod">
          <ac:chgData name="Ritesh Patil" userId="7519999c35995793" providerId="LiveId" clId="{6763D38C-9D25-44DD-BBB3-BD63AE07E59A}" dt="2026-10-16T16:39:29.302" v="554"/>
          <ac:spMkLst>
            <pc:docMk/>
            <pc:sldMk cId="2123355120" sldId="276"/>
            <ac:spMk id="3" creationId="{28542BEC-749E-261A-5A84-99E4F8F1E5B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cs.opencv.or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sumo.dlr.de/docs/?utm_source=chatgpt.com" TargetMode="External"/><Relationship Id="rId4" Type="http://schemas.openxmlformats.org/officeDocument/2006/relationships/hyperlink" Target="https://docs.python.org/3/?utm_source=chatgpt.com"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arxiv.org/abs/1905.04722"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arxiv.org/abs/1903.04527"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1239740162"/>
              </p:ext>
            </p:extLst>
          </p:nvPr>
        </p:nvGraphicFramePr>
        <p:xfrm>
          <a:off x="252237" y="546162"/>
          <a:ext cx="8639525" cy="5765675"/>
        </p:xfrm>
        <a:graphic>
          <a:graphicData uri="http://schemas.openxmlformats.org/drawingml/2006/table">
            <a:tbl>
              <a:tblPr firstRow="1" bandRow="1">
                <a:noFill/>
                <a:tableStyleId>{98077A5B-8C0D-40D8-8557-44EC33DBB8F6}</a:tableStyleId>
              </a:tblPr>
              <a:tblGrid>
                <a:gridCol w="1476725">
                  <a:extLst>
                    <a:ext uri="{9D8B030D-6E8A-4147-A177-3AD203B41FA5}">
                      <a16:colId xmlns:a16="http://schemas.microsoft.com/office/drawing/2014/main" val="20000"/>
                    </a:ext>
                  </a:extLst>
                </a:gridCol>
                <a:gridCol w="3520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25">
                  <a:extLst>
                    <a:ext uri="{9D8B030D-6E8A-4147-A177-3AD203B41FA5}">
                      <a16:colId xmlns:a16="http://schemas.microsoft.com/office/drawing/2014/main" val="20003"/>
                    </a:ext>
                  </a:extLst>
                </a:gridCol>
              </a:tblGrid>
              <a:tr h="1752600">
                <a:tc>
                  <a:txBody>
                    <a:bodyPr/>
                    <a:lstStyle/>
                    <a:p>
                      <a:pPr marL="0" marR="0" lvl="0" indent="0" algn="ctr" rtl="0">
                        <a:spcBef>
                          <a:spcPts val="0"/>
                        </a:spcBef>
                        <a:spcAft>
                          <a:spcPts val="0"/>
                        </a:spcAft>
                        <a:buNone/>
                      </a:pPr>
                      <a:endParaRPr sz="2200"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dirty="0">
                          <a:solidFill>
                            <a:schemeClr val="lt1"/>
                          </a:solidFill>
                        </a:rPr>
                        <a:t>S.S.V.P.S’s B. S. Deore Polytechnic, Dhule</a:t>
                      </a:r>
                      <a:endParaRPr sz="2800" u="none" strike="noStrike" cap="none" dirty="0">
                        <a:solidFill>
                          <a:schemeClr val="lt1"/>
                        </a:solidFill>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dirty="0">
                          <a:solidFill>
                            <a:schemeClr val="lt1"/>
                          </a:solidFill>
                        </a:rPr>
                        <a:t>Department of Computer Engineering</a:t>
                      </a:r>
                      <a:endParaRPr dirty="0"/>
                    </a:p>
                    <a:p>
                      <a:pPr marL="0" marR="0" lvl="0" indent="0" algn="ctr" rtl="0">
                        <a:spcBef>
                          <a:spcPts val="0"/>
                        </a:spcBef>
                        <a:spcAft>
                          <a:spcPts val="0"/>
                        </a:spcAft>
                        <a:buNone/>
                      </a:pPr>
                      <a:r>
                        <a:rPr lang="en-US" sz="3200" b="0" i="1" u="none" strike="noStrike" cap="none" dirty="0">
                          <a:solidFill>
                            <a:schemeClr val="lt1"/>
                          </a:solidFill>
                        </a:rPr>
                        <a:t>Academic Year : </a:t>
                      </a:r>
                      <a:r>
                        <a:rPr lang="en-US" sz="3200" b="0" i="1" dirty="0"/>
                        <a:t>2026-2027</a:t>
                      </a:r>
                      <a:endParaRPr sz="3200" b="0" i="1"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3225">
                <a:tc gridSpan="4">
                  <a:txBody>
                    <a:bodyPr/>
                    <a:lstStyle/>
                    <a:p>
                      <a:pPr marL="0" marR="0" lvl="0" indent="0" algn="ctr" rtl="0">
                        <a:spcBef>
                          <a:spcPts val="0"/>
                        </a:spcBef>
                        <a:spcAft>
                          <a:spcPts val="0"/>
                        </a:spcAft>
                        <a:buNone/>
                      </a:pPr>
                      <a:r>
                        <a:rPr lang="en-US" sz="2800" b="1" u="none" strike="noStrike" cap="none" dirty="0">
                          <a:solidFill>
                            <a:srgbClr val="002060"/>
                          </a:solidFill>
                          <a:latin typeface="Times New Roman"/>
                          <a:ea typeface="Times New Roman"/>
                          <a:cs typeface="Times New Roman"/>
                          <a:sym typeface="Times New Roman"/>
                        </a:rPr>
                        <a:t>SEMINAR AND PROJECT INITIATION COURSE</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88550">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dirty="0">
                          <a:solidFill>
                            <a:srgbClr val="FF0000"/>
                          </a:solidFill>
                        </a:rPr>
                        <a:t>Sem : CO 5 K</a:t>
                      </a:r>
                      <a:endParaRPr sz="2100" b="1" u="none" strike="noStrike" cap="none" dirty="0">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400" b="1" u="none" strike="noStrike" cap="none">
                          <a:solidFill>
                            <a:srgbClr val="002060"/>
                          </a:solidFill>
                          <a:latin typeface="Times New Roman"/>
                          <a:ea typeface="Times New Roman"/>
                          <a:cs typeface="Times New Roman"/>
                          <a:sym typeface="Times New Roman"/>
                        </a:rPr>
                        <a:t>SPI – 315003</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dirty="0">
                          <a:solidFill>
                            <a:srgbClr val="FF0000"/>
                          </a:solidFill>
                        </a:rPr>
                        <a:t>Date  : 17/10/2026</a:t>
                      </a:r>
                      <a:endParaRPr sz="2100" b="1" u="none" strike="noStrike" cap="none" dirty="0">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8550">
                <a:tc gridSpan="4">
                  <a:txBody>
                    <a:bodyPr/>
                    <a:lstStyle/>
                    <a:p>
                      <a:pPr marL="0" marR="0" lvl="0" indent="0" algn="l" rtl="0">
                        <a:spcBef>
                          <a:spcPts val="0"/>
                        </a:spcBef>
                        <a:spcAft>
                          <a:spcPts val="0"/>
                        </a:spcAft>
                        <a:buNone/>
                      </a:pPr>
                      <a:r>
                        <a:rPr lang="en-US" sz="2400" b="1" u="none" strike="noStrike" cap="none" dirty="0">
                          <a:solidFill>
                            <a:schemeClr val="dk2"/>
                          </a:solidFill>
                        </a:rPr>
                        <a:t>Topic : AI-Based Traffic Signal Optimizer</a:t>
                      </a:r>
                      <a:endParaRPr sz="2400" b="1" u="none" strike="noStrike" cap="none" dirty="0">
                        <a:solidFill>
                          <a:srgbClr val="0070C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88550">
                <a:tc gridSpan="2">
                  <a:txBody>
                    <a:bodyPr/>
                    <a:lstStyle/>
                    <a:p>
                      <a:pPr marL="0" marR="0" lvl="0" indent="0" algn="ctr" rtl="0">
                        <a:spcBef>
                          <a:spcPts val="0"/>
                        </a:spcBef>
                        <a:spcAft>
                          <a:spcPts val="0"/>
                        </a:spcAft>
                        <a:buNone/>
                      </a:pPr>
                      <a:r>
                        <a:rPr lang="en-US" sz="2400" b="1" u="none" strike="noStrike" cap="none" dirty="0"/>
                        <a:t>Roll No.</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400" b="1" u="none" strike="noStrike" cap="none" dirty="0"/>
                        <a:t>Name of Student</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488550">
                <a:tc gridSpan="2">
                  <a:txBody>
                    <a:bodyPr/>
                    <a:lstStyle/>
                    <a:p>
                      <a:pPr marL="0" marR="0" lvl="0" indent="0" algn="ctr" rtl="0">
                        <a:spcBef>
                          <a:spcPts val="0"/>
                        </a:spcBef>
                        <a:spcAft>
                          <a:spcPts val="0"/>
                        </a:spcAft>
                        <a:buNone/>
                      </a:pPr>
                      <a:r>
                        <a:rPr lang="en-IN" sz="2200" b="0" dirty="0">
                          <a:solidFill>
                            <a:schemeClr val="tx1"/>
                          </a:solidFill>
                        </a:rPr>
                        <a:t>69</a:t>
                      </a:r>
                      <a:endParaRPr sz="22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IN" sz="2200" dirty="0"/>
                        <a:t>Ritesh Pramod Patil</a:t>
                      </a:r>
                      <a:endParaRPr sz="22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488550">
                <a:tc gridSpan="2">
                  <a:txBody>
                    <a:bodyPr/>
                    <a:lstStyle/>
                    <a:p>
                      <a:pPr marL="0" marR="0" lvl="0" indent="0" algn="ctr" rtl="0">
                        <a:spcBef>
                          <a:spcPts val="0"/>
                        </a:spcBef>
                        <a:spcAft>
                          <a:spcPts val="0"/>
                        </a:spcAft>
                        <a:buNone/>
                      </a:pPr>
                      <a:r>
                        <a:rPr lang="en-IN" sz="2200" b="0" dirty="0">
                          <a:solidFill>
                            <a:schemeClr val="tx1"/>
                          </a:solidFill>
                        </a:rPr>
                        <a:t>71</a:t>
                      </a:r>
                      <a:endParaRPr sz="22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IN" sz="2200" dirty="0"/>
                        <a:t>Sahil Yogesh Patil</a:t>
                      </a:r>
                      <a:endParaRPr sz="22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488550">
                <a:tc gridSpan="2">
                  <a:txBody>
                    <a:bodyPr/>
                    <a:lstStyle/>
                    <a:p>
                      <a:pPr marL="0" marR="0" lvl="0" indent="0" algn="ctr" rtl="0">
                        <a:spcBef>
                          <a:spcPts val="0"/>
                        </a:spcBef>
                        <a:spcAft>
                          <a:spcPts val="0"/>
                        </a:spcAft>
                        <a:buNone/>
                      </a:pPr>
                      <a:r>
                        <a:rPr lang="en-IN" sz="2200" b="0" dirty="0">
                          <a:solidFill>
                            <a:schemeClr val="tx1"/>
                          </a:solidFill>
                        </a:rPr>
                        <a:t>93</a:t>
                      </a:r>
                      <a:endParaRPr sz="22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IN" sz="2200" b="0" dirty="0"/>
                        <a:t>Bhumika Prashant Sonawane </a:t>
                      </a:r>
                      <a:endParaRPr sz="22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r h="488550">
                <a:tc gridSpan="2">
                  <a:txBody>
                    <a:bodyPr/>
                    <a:lstStyle/>
                    <a:p>
                      <a:pPr marL="0" marR="0" lvl="0" indent="0" algn="ctr" rtl="0">
                        <a:spcBef>
                          <a:spcPts val="0"/>
                        </a:spcBef>
                        <a:spcAft>
                          <a:spcPts val="0"/>
                        </a:spcAft>
                        <a:buNone/>
                      </a:pPr>
                      <a:r>
                        <a:rPr lang="en-IN" sz="2200" b="0" dirty="0">
                          <a:solidFill>
                            <a:schemeClr val="tx1"/>
                          </a:solidFill>
                        </a:rPr>
                        <a:t>108</a:t>
                      </a:r>
                      <a:endParaRPr sz="22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200" dirty="0"/>
                        <a:t>Mansi kailas Wagh </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8"/>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51503" y="614988"/>
            <a:ext cx="1219200" cy="162723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4642"/>
    </mc:Choice>
    <mc:Fallback xmlns="">
      <p:transition spd="slow" advTm="464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514350" lvl="0" indent="-483870" algn="l" rtl="0">
              <a:spcBef>
                <a:spcPts val="496"/>
              </a:spcBef>
              <a:spcAft>
                <a:spcPts val="0"/>
              </a:spcAft>
              <a:buClr>
                <a:schemeClr val="dk1"/>
              </a:buClr>
              <a:buSzPct val="100000"/>
              <a:buChar char="•"/>
            </a:pPr>
            <a:r>
              <a:rPr lang="en-US" dirty="0"/>
              <a:t>Abstract </a:t>
            </a:r>
            <a:endParaRPr dirty="0"/>
          </a:p>
          <a:p>
            <a:pPr marL="514350" lvl="0" indent="-483870" algn="l" rtl="0">
              <a:spcBef>
                <a:spcPts val="496"/>
              </a:spcBef>
              <a:spcAft>
                <a:spcPts val="0"/>
              </a:spcAft>
              <a:buClr>
                <a:schemeClr val="dk1"/>
              </a:buClr>
              <a:buSzPct val="100000"/>
              <a:buFont typeface="Arial"/>
              <a:buAutoNum type="arabicPeriod"/>
            </a:pPr>
            <a:r>
              <a:rPr lang="en-US" dirty="0"/>
              <a:t>Introduction</a:t>
            </a:r>
            <a:endParaRPr dirty="0"/>
          </a:p>
          <a:p>
            <a:pPr marL="514350" lvl="0" indent="-483870" algn="l" rtl="0">
              <a:spcBef>
                <a:spcPts val="496"/>
              </a:spcBef>
              <a:spcAft>
                <a:spcPts val="0"/>
              </a:spcAft>
              <a:buClr>
                <a:schemeClr val="dk1"/>
              </a:buClr>
              <a:buSzPct val="100000"/>
              <a:buFont typeface="Arial"/>
              <a:buAutoNum type="arabicPeriod"/>
            </a:pPr>
            <a:r>
              <a:rPr lang="en-US" dirty="0"/>
              <a:t>Literature Review</a:t>
            </a:r>
            <a:endParaRPr dirty="0"/>
          </a:p>
          <a:p>
            <a:pPr marL="514350" lvl="0" indent="-483870" algn="l" rtl="0">
              <a:spcBef>
                <a:spcPts val="496"/>
              </a:spcBef>
              <a:spcAft>
                <a:spcPts val="0"/>
              </a:spcAft>
              <a:buClr>
                <a:schemeClr val="dk1"/>
              </a:buClr>
              <a:buSzPct val="100000"/>
              <a:buFont typeface="Arial"/>
              <a:buAutoNum type="arabicPeriod"/>
            </a:pPr>
            <a:r>
              <a:rPr lang="en-US" dirty="0"/>
              <a:t>Information to Seminar topic</a:t>
            </a:r>
            <a:endParaRPr dirty="0"/>
          </a:p>
          <a:p>
            <a:pPr marL="514350" lvl="0" indent="-483870" algn="l" rtl="0">
              <a:spcBef>
                <a:spcPts val="496"/>
              </a:spcBef>
              <a:spcAft>
                <a:spcPts val="0"/>
              </a:spcAft>
              <a:buClr>
                <a:schemeClr val="dk1"/>
              </a:buClr>
              <a:buSzPct val="100000"/>
              <a:buFont typeface="Arial"/>
              <a:buAutoNum type="arabicPeriod"/>
            </a:pPr>
            <a:r>
              <a:rPr lang="en-US" dirty="0"/>
              <a:t>Advantages and Disadvantages</a:t>
            </a:r>
            <a:endParaRPr dirty="0"/>
          </a:p>
          <a:p>
            <a:pPr marL="514350" lvl="0" indent="-483870" algn="l" rtl="0">
              <a:spcBef>
                <a:spcPts val="496"/>
              </a:spcBef>
              <a:spcAft>
                <a:spcPts val="0"/>
              </a:spcAft>
              <a:buClr>
                <a:schemeClr val="dk1"/>
              </a:buClr>
              <a:buSzPct val="100000"/>
              <a:buFont typeface="Arial"/>
              <a:buAutoNum type="arabicPeriod"/>
            </a:pPr>
            <a:r>
              <a:rPr lang="en-US" dirty="0"/>
              <a:t>Conclusion</a:t>
            </a:r>
            <a:endParaRPr dirty="0"/>
          </a:p>
          <a:p>
            <a:pPr marL="514350" lvl="0" indent="-483870" algn="l" rtl="0">
              <a:spcBef>
                <a:spcPts val="496"/>
              </a:spcBef>
              <a:spcAft>
                <a:spcPts val="0"/>
              </a:spcAft>
              <a:buClr>
                <a:schemeClr val="dk1"/>
              </a:buClr>
              <a:buSzPct val="100000"/>
              <a:buFont typeface="Arial"/>
              <a:buAutoNum type="arabicPeriod"/>
            </a:pPr>
            <a:r>
              <a:rPr lang="en-US" dirty="0"/>
              <a:t>Project Initiation : </a:t>
            </a:r>
            <a:endParaRPr dirty="0"/>
          </a:p>
          <a:p>
            <a:pPr marL="742950" lvl="0" indent="0" algn="l" rtl="0">
              <a:spcBef>
                <a:spcPts val="434"/>
              </a:spcBef>
              <a:spcAft>
                <a:spcPts val="0"/>
              </a:spcAft>
              <a:buNone/>
            </a:pPr>
            <a:r>
              <a:rPr lang="en-US" sz="2800" dirty="0"/>
              <a:t>6. 1 Description of problem statement.</a:t>
            </a:r>
            <a:endParaRPr sz="2800" dirty="0"/>
          </a:p>
          <a:p>
            <a:pPr marL="742950" lvl="0" indent="0" algn="l" rtl="0">
              <a:spcBef>
                <a:spcPts val="434"/>
              </a:spcBef>
              <a:spcAft>
                <a:spcPts val="0"/>
              </a:spcAft>
              <a:buNone/>
            </a:pPr>
            <a:r>
              <a:rPr lang="en-US" sz="2800" dirty="0"/>
              <a:t>6. 2 Scope and objectives.</a:t>
            </a:r>
            <a:endParaRPr sz="2800" dirty="0"/>
          </a:p>
          <a:p>
            <a:pPr marL="742950" lvl="0" indent="0" algn="l" rtl="0">
              <a:spcBef>
                <a:spcPts val="434"/>
              </a:spcBef>
              <a:spcAft>
                <a:spcPts val="0"/>
              </a:spcAft>
              <a:buNone/>
            </a:pPr>
            <a:r>
              <a:rPr lang="en-US" sz="2800" dirty="0"/>
              <a:t>6. 3 Stake holder</a:t>
            </a:r>
            <a:endParaRPr sz="2800" dirty="0"/>
          </a:p>
          <a:p>
            <a:pPr marL="742950" lvl="0" indent="0" algn="l" rtl="0">
              <a:spcBef>
                <a:spcPts val="434"/>
              </a:spcBef>
              <a:spcAft>
                <a:spcPts val="0"/>
              </a:spcAft>
              <a:buNone/>
            </a:pPr>
            <a:r>
              <a:rPr lang="en-US" sz="2800" dirty="0"/>
              <a:t>6. 4 seminar exsicussion  plan</a:t>
            </a:r>
            <a:endParaRPr sz="2800" dirty="0"/>
          </a:p>
          <a:p>
            <a:pPr marL="742950" lvl="0" indent="0" algn="l" rtl="0">
              <a:spcBef>
                <a:spcPts val="434"/>
              </a:spcBef>
              <a:spcAft>
                <a:spcPts val="0"/>
              </a:spcAft>
              <a:buNone/>
            </a:pPr>
            <a:r>
              <a:rPr lang="en-US" sz="2800" dirty="0"/>
              <a:t>6.5 Platform/ Equipment/ Resources identification.</a:t>
            </a:r>
            <a:endParaRPr sz="2800" dirty="0"/>
          </a:p>
          <a:p>
            <a:pPr marL="30480" lvl="0" indent="0" algn="l" rtl="0">
              <a:spcBef>
                <a:spcPts val="496"/>
              </a:spcBef>
              <a:spcAft>
                <a:spcPts val="0"/>
              </a:spcAft>
              <a:buClr>
                <a:schemeClr val="dk1"/>
              </a:buClr>
              <a:buSzPct val="100000"/>
              <a:buNone/>
            </a:pPr>
            <a:r>
              <a:rPr lang="en-US" dirty="0"/>
              <a:t>7.   Bibliography</a:t>
            </a:r>
            <a:endParaRPr dirty="0"/>
          </a:p>
          <a:p>
            <a:pPr marL="30480" lvl="0" indent="0" algn="l" rtl="0">
              <a:spcBef>
                <a:spcPts val="496"/>
              </a:spcBef>
              <a:spcAft>
                <a:spcPts val="0"/>
              </a:spcAft>
              <a:buClr>
                <a:schemeClr val="dk1"/>
              </a:buClr>
              <a:buSzPct val="100000"/>
              <a:buNone/>
            </a:pPr>
            <a:r>
              <a:rPr lang="en-US" dirty="0"/>
              <a:t>8.   References</a:t>
            </a:r>
            <a:endParaRPr dirty="0"/>
          </a:p>
          <a:p>
            <a:pPr marL="342900" lvl="0" indent="-185420" algn="l" rtl="0">
              <a:spcBef>
                <a:spcPts val="496"/>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Contents</a:t>
            </a:r>
            <a:endParaRP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1396"/>
    </mc:Choice>
    <mc:Fallback xmlns="">
      <p:transition spd="slow" advTm="139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Abstract</a:t>
            </a:r>
            <a:endParaRPr dirty="0"/>
          </a:p>
        </p:txBody>
      </p:sp>
      <p:sp>
        <p:nvSpPr>
          <p:cNvPr id="518" name="Google Shape;518;p15"/>
          <p:cNvSpPr txBox="1">
            <a:spLocks noGrp="1"/>
          </p:cNvSpPr>
          <p:nvPr>
            <p:ph type="body" idx="1"/>
          </p:nvPr>
        </p:nvSpPr>
        <p:spPr>
          <a:xfrm>
            <a:off x="457200" y="1229032"/>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139700" algn="just">
              <a:spcBef>
                <a:spcPts val="0"/>
              </a:spcBef>
              <a:buSzPts val="3200"/>
              <a:buNone/>
            </a:pPr>
            <a:r>
              <a:rPr lang="en-IN" sz="2200"/>
              <a:t>	This </a:t>
            </a:r>
            <a:r>
              <a:rPr lang="en-IN" sz="2200" dirty="0"/>
              <a:t>seminar proposes an AI-Based Traffic Signal Optimizer that uses camera or CCTV video feeds to estimate traffic density. Computer vision techniques identify and count vehicles in each lane, and the system recommends suitable green signal timings based on observed traffic conditions instead of relying only on fixed timers. The expected outcome is better utilization of green signal time and a possible reduction in unnecessary vehicle waiting time. The actual performance of the system must be evaluated through testing.</a:t>
            </a:r>
          </a:p>
          <a:p>
            <a:pPr marL="342900" indent="-139700" algn="just">
              <a:spcBef>
                <a:spcPts val="0"/>
              </a:spcBef>
              <a:buSzPts val="3200"/>
              <a:buNone/>
            </a:pPr>
            <a:endParaRPr sz="2200" dirty="0">
              <a:latin typeface="Times New Roman" panose="02020603050405020304" pitchFamily="18" charset="0"/>
              <a:cs typeface="Times New Roman" panose="02020603050405020304" pitchFamily="18" charset="0"/>
            </a:endParaRPr>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913"/>
    </mc:Choice>
    <mc:Fallback xmlns="">
      <p:transition spd="slow" advTm="91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1. Introduction</a:t>
            </a:r>
            <a:endParaRPr/>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Traffic congestion causes delays, fuel wastage, air pollution and stress for road users.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Many traffic lights use fixed timing, even when one road is crowded and another is nearly empty.</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AI and computer vision can analyse camera video and estimate the number of vehicles waiting in each lane.</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This seminar presents a proposed system that uses traffic density to support adaptive signal timing.</a:t>
            </a:r>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2156"/>
    </mc:Choice>
    <mc:Fallback xmlns="">
      <p:transition spd="slow" advTm="215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2. Literature Survey</a:t>
            </a:r>
            <a:endParaRPr dirty="0"/>
          </a:p>
        </p:txBody>
      </p:sp>
      <p:sp>
        <p:nvSpPr>
          <p:cNvPr id="532" name="Google Shape;532;p17"/>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graphicFrame>
        <p:nvGraphicFramePr>
          <p:cNvPr id="4" name="Table 3">
            <a:extLst>
              <a:ext uri="{FF2B5EF4-FFF2-40B4-BE49-F238E27FC236}">
                <a16:creationId xmlns:a16="http://schemas.microsoft.com/office/drawing/2014/main" id="{B1CB4A1D-3C70-3F30-1CD8-AF14F67E1FF5}"/>
              </a:ext>
            </a:extLst>
          </p:cNvPr>
          <p:cNvGraphicFramePr>
            <a:graphicFrameLocks noGrp="1"/>
          </p:cNvGraphicFramePr>
          <p:nvPr>
            <p:extLst>
              <p:ext uri="{D42A27DB-BD31-4B8C-83A1-F6EECF244321}">
                <p14:modId xmlns:p14="http://schemas.microsoft.com/office/powerpoint/2010/main" val="3048701547"/>
              </p:ext>
            </p:extLst>
          </p:nvPr>
        </p:nvGraphicFramePr>
        <p:xfrm>
          <a:off x="597596" y="1337187"/>
          <a:ext cx="7936803" cy="5112774"/>
        </p:xfrm>
        <a:graphic>
          <a:graphicData uri="http://schemas.openxmlformats.org/drawingml/2006/table">
            <a:tbl>
              <a:tblPr firstRow="1" firstCol="1" bandRow="1">
                <a:tableStyleId>{5940675A-B579-460E-94D1-54222C63F5DA}</a:tableStyleId>
              </a:tblPr>
              <a:tblGrid>
                <a:gridCol w="680694">
                  <a:extLst>
                    <a:ext uri="{9D8B030D-6E8A-4147-A177-3AD203B41FA5}">
                      <a16:colId xmlns:a16="http://schemas.microsoft.com/office/drawing/2014/main" val="1867925979"/>
                    </a:ext>
                  </a:extLst>
                </a:gridCol>
                <a:gridCol w="1847512">
                  <a:extLst>
                    <a:ext uri="{9D8B030D-6E8A-4147-A177-3AD203B41FA5}">
                      <a16:colId xmlns:a16="http://schemas.microsoft.com/office/drawing/2014/main" val="1631946360"/>
                    </a:ext>
                  </a:extLst>
                </a:gridCol>
                <a:gridCol w="1286602">
                  <a:extLst>
                    <a:ext uri="{9D8B030D-6E8A-4147-A177-3AD203B41FA5}">
                      <a16:colId xmlns:a16="http://schemas.microsoft.com/office/drawing/2014/main" val="182567847"/>
                    </a:ext>
                  </a:extLst>
                </a:gridCol>
                <a:gridCol w="1287413">
                  <a:extLst>
                    <a:ext uri="{9D8B030D-6E8A-4147-A177-3AD203B41FA5}">
                      <a16:colId xmlns:a16="http://schemas.microsoft.com/office/drawing/2014/main" val="1933890246"/>
                    </a:ext>
                  </a:extLst>
                </a:gridCol>
                <a:gridCol w="1362905">
                  <a:extLst>
                    <a:ext uri="{9D8B030D-6E8A-4147-A177-3AD203B41FA5}">
                      <a16:colId xmlns:a16="http://schemas.microsoft.com/office/drawing/2014/main" val="2524543823"/>
                    </a:ext>
                  </a:extLst>
                </a:gridCol>
                <a:gridCol w="1471677">
                  <a:extLst>
                    <a:ext uri="{9D8B030D-6E8A-4147-A177-3AD203B41FA5}">
                      <a16:colId xmlns:a16="http://schemas.microsoft.com/office/drawing/2014/main" val="2102520361"/>
                    </a:ext>
                  </a:extLst>
                </a:gridCol>
              </a:tblGrid>
              <a:tr h="734708">
                <a:tc>
                  <a:txBody>
                    <a:bodyPr/>
                    <a:lstStyle/>
                    <a:p>
                      <a:pPr marL="274320" indent="-274320" algn="ctr">
                        <a:spcAft>
                          <a:spcPts val="1200"/>
                        </a:spcAft>
                        <a:buNone/>
                      </a:pPr>
                      <a:r>
                        <a:rPr lang="en-IN" sz="1400" b="1" dirty="0">
                          <a:effectLst/>
                          <a:latin typeface="Times New Roman" panose="02020603050405020304" pitchFamily="18" charset="0"/>
                          <a:cs typeface="Times New Roman" panose="02020603050405020304" pitchFamily="18" charset="0"/>
                        </a:rPr>
                        <a:t>Sr.No.</a:t>
                      </a:r>
                      <a:endParaRPr lang="en-IN" sz="1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lgn="ctr">
                        <a:spcAft>
                          <a:spcPts val="1200"/>
                        </a:spcAft>
                        <a:buNone/>
                      </a:pPr>
                      <a:r>
                        <a:rPr lang="en-IN" sz="1400" b="1" dirty="0">
                          <a:effectLst/>
                          <a:latin typeface="Times New Roman" panose="02020603050405020304" pitchFamily="18" charset="0"/>
                          <a:cs typeface="Times New Roman" panose="02020603050405020304" pitchFamily="18" charset="0"/>
                        </a:rPr>
                        <a:t>Approach Type</a:t>
                      </a:r>
                      <a:endParaRPr lang="en-IN" sz="1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lgn="ctr">
                        <a:spcAft>
                          <a:spcPts val="1200"/>
                        </a:spcAft>
                        <a:buNone/>
                      </a:pPr>
                      <a:r>
                        <a:rPr lang="en-IN" sz="1400" b="1" dirty="0">
                          <a:effectLst/>
                          <a:latin typeface="Times New Roman" panose="02020603050405020304" pitchFamily="18" charset="0"/>
                          <a:cs typeface="Times New Roman" panose="02020603050405020304" pitchFamily="18" charset="0"/>
                        </a:rPr>
                        <a:t>Technologies Used</a:t>
                      </a:r>
                      <a:endParaRPr lang="en-IN" sz="1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lgn="ctr">
                        <a:spcAft>
                          <a:spcPts val="1200"/>
                        </a:spcAft>
                        <a:buNone/>
                      </a:pPr>
                      <a:r>
                        <a:rPr lang="en-IN" sz="1400" b="1" dirty="0">
                          <a:effectLst/>
                          <a:latin typeface="Times New Roman" panose="02020603050405020304" pitchFamily="18" charset="0"/>
                          <a:cs typeface="Times New Roman" panose="02020603050405020304" pitchFamily="18" charset="0"/>
                        </a:rPr>
                        <a:t>Dataset</a:t>
                      </a:r>
                      <a:endParaRPr lang="en-IN" sz="1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lgn="ctr">
                        <a:spcAft>
                          <a:spcPts val="1200"/>
                        </a:spcAft>
                        <a:buNone/>
                      </a:pPr>
                      <a:r>
                        <a:rPr lang="en-IN" sz="1400" b="1" dirty="0">
                          <a:effectLst/>
                          <a:latin typeface="Times New Roman" panose="02020603050405020304" pitchFamily="18" charset="0"/>
                          <a:cs typeface="Times New Roman" panose="02020603050405020304" pitchFamily="18" charset="0"/>
                        </a:rPr>
                        <a:t>Key Objective</a:t>
                      </a:r>
                      <a:endParaRPr lang="en-IN" sz="1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lgn="ctr">
                        <a:spcAft>
                          <a:spcPts val="1200"/>
                        </a:spcAft>
                        <a:buNone/>
                      </a:pPr>
                      <a:r>
                        <a:rPr lang="en-IN" sz="1400" b="1" dirty="0">
                          <a:effectLst/>
                          <a:latin typeface="Times New Roman" panose="02020603050405020304" pitchFamily="18" charset="0"/>
                          <a:cs typeface="Times New Roman" panose="02020603050405020304" pitchFamily="18" charset="0"/>
                        </a:rPr>
                        <a:t>Limitations</a:t>
                      </a:r>
                      <a:endParaRPr lang="en-IN" sz="1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extLst>
                  <a:ext uri="{0D108BD9-81ED-4DB2-BD59-A6C34878D82A}">
                    <a16:rowId xmlns:a16="http://schemas.microsoft.com/office/drawing/2014/main" val="1878444476"/>
                  </a:ext>
                </a:extLst>
              </a:tr>
              <a:tr h="1338957">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1</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274320" indent="-274320" algn="l">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IntelliLight — Wei et al. (2018)</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Reinforcement Learning, Deep Q-Network (DQN)</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SUMO simulated traffic scenarios</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Improve traffic-light decisions using real-time traffic states</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Depends on training quality and simulation accuracy</a:t>
                      </a:r>
                    </a:p>
                  </a:txBody>
                  <a:tcPr marL="68580" marR="68580" marT="0" marB="0"/>
                </a:tc>
                <a:extLst>
                  <a:ext uri="{0D108BD9-81ED-4DB2-BD59-A6C34878D82A}">
                    <a16:rowId xmlns:a16="http://schemas.microsoft.com/office/drawing/2014/main" val="376562832"/>
                  </a:ext>
                </a:extLst>
              </a:tr>
              <a:tr h="1324791">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2</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spcAft>
                          <a:spcPts val="1200"/>
                        </a:spcAft>
                        <a:buNone/>
                      </a:pPr>
                      <a:r>
                        <a:rPr lang="en-IN"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PressLight</a:t>
                      </a: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Wei et al. (2019)</a:t>
                      </a: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Reinforcement Learning, Max-Pressure Control</a:t>
                      </a: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Simulated traffic networks</a:t>
                      </a: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Reduce congestion by considering traffic pressure</a:t>
                      </a: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Needs reliable traffic-state information</a:t>
                      </a:r>
                    </a:p>
                  </a:txBody>
                  <a:tcPr marL="68580" marR="68580" marT="0" marB="0">
                    <a:solidFill>
                      <a:schemeClr val="bg2">
                        <a:lumMod val="20000"/>
                        <a:lumOff val="80000"/>
                      </a:schemeClr>
                    </a:solidFill>
                  </a:tcPr>
                </a:tc>
                <a:extLst>
                  <a:ext uri="{0D108BD9-81ED-4DB2-BD59-A6C34878D82A}">
                    <a16:rowId xmlns:a16="http://schemas.microsoft.com/office/drawing/2014/main" val="3062151086"/>
                  </a:ext>
                </a:extLst>
              </a:tr>
              <a:tr h="1714318">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3</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CoLight — Wei et al. (2019)</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Multi-Agent RL, Graph Attention Networks</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Large-scale simulated road networks</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Coordinate traffic signals across multiple intersections</a:t>
                      </a:r>
                    </a:p>
                  </a:txBody>
                  <a:tcPr marL="68580" marR="68580" marT="0" marB="0"/>
                </a:tc>
                <a:tc>
                  <a:txBody>
                    <a:bodyPr/>
                    <a:lstStyle/>
                    <a:p>
                      <a:pPr marL="274320" indent="-274320">
                        <a:spcAft>
                          <a:spcPts val="1200"/>
                        </a:spcAft>
                        <a:buNone/>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Coordination becomes complex in large networks</a:t>
                      </a:r>
                    </a:p>
                  </a:txBody>
                  <a:tcPr marL="68580" marR="68580" marT="0" marB="0"/>
                </a:tc>
                <a:extLst>
                  <a:ext uri="{0D108BD9-81ED-4DB2-BD59-A6C34878D82A}">
                    <a16:rowId xmlns:a16="http://schemas.microsoft.com/office/drawing/2014/main" val="57872776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CB76-1EED-29EA-391C-444B8E36003D}"/>
              </a:ext>
            </a:extLst>
          </p:cNvPr>
          <p:cNvSpPr>
            <a:spLocks noGrp="1"/>
          </p:cNvSpPr>
          <p:nvPr>
            <p:ph type="title"/>
          </p:nvPr>
        </p:nvSpPr>
        <p:spPr/>
        <p:txBody>
          <a:bodyPr/>
          <a:lstStyle/>
          <a:p>
            <a:r>
              <a:rPr lang="en-US" dirty="0"/>
              <a:t>2. Literature Survey</a:t>
            </a:r>
            <a:endParaRPr lang="en-IN" dirty="0"/>
          </a:p>
        </p:txBody>
      </p:sp>
      <p:sp>
        <p:nvSpPr>
          <p:cNvPr id="3" name="Text Placeholder 2">
            <a:extLst>
              <a:ext uri="{FF2B5EF4-FFF2-40B4-BE49-F238E27FC236}">
                <a16:creationId xmlns:a16="http://schemas.microsoft.com/office/drawing/2014/main" id="{AE3894FF-690F-E025-4290-488D4C5BE50B}"/>
              </a:ext>
            </a:extLst>
          </p:cNvPr>
          <p:cNvSpPr>
            <a:spLocks noGrp="1"/>
          </p:cNvSpPr>
          <p:nvPr>
            <p:ph type="body" idx="1"/>
          </p:nvPr>
        </p:nvSpPr>
        <p:spPr/>
        <p:txBody>
          <a:bodyPr/>
          <a:lstStyle/>
          <a:p>
            <a:pPr marL="114300" indent="0">
              <a:buNone/>
            </a:pPr>
            <a:endParaRPr lang="en-IN" dirty="0"/>
          </a:p>
        </p:txBody>
      </p:sp>
      <p:sp>
        <p:nvSpPr>
          <p:cNvPr id="4" name="Slide Number Placeholder 3">
            <a:extLst>
              <a:ext uri="{FF2B5EF4-FFF2-40B4-BE49-F238E27FC236}">
                <a16:creationId xmlns:a16="http://schemas.microsoft.com/office/drawing/2014/main" id="{F5FFD092-ADEF-91D9-73C2-60008E8D4E5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graphicFrame>
        <p:nvGraphicFramePr>
          <p:cNvPr id="5" name="Table 4">
            <a:extLst>
              <a:ext uri="{FF2B5EF4-FFF2-40B4-BE49-F238E27FC236}">
                <a16:creationId xmlns:a16="http://schemas.microsoft.com/office/drawing/2014/main" id="{A0767609-2D44-1551-A8EB-A559D203173B}"/>
              </a:ext>
            </a:extLst>
          </p:cNvPr>
          <p:cNvGraphicFramePr>
            <a:graphicFrameLocks noGrp="1"/>
          </p:cNvGraphicFramePr>
          <p:nvPr>
            <p:extLst>
              <p:ext uri="{D42A27DB-BD31-4B8C-83A1-F6EECF244321}">
                <p14:modId xmlns:p14="http://schemas.microsoft.com/office/powerpoint/2010/main" val="2530068824"/>
              </p:ext>
            </p:extLst>
          </p:nvPr>
        </p:nvGraphicFramePr>
        <p:xfrm>
          <a:off x="639097" y="1366684"/>
          <a:ext cx="7855974" cy="5063611"/>
        </p:xfrm>
        <a:graphic>
          <a:graphicData uri="http://schemas.openxmlformats.org/drawingml/2006/table">
            <a:tbl>
              <a:tblPr firstRow="1" firstCol="1" bandRow="1">
                <a:tableStyleId>{5940675A-B579-460E-94D1-54222C63F5DA}</a:tableStyleId>
              </a:tblPr>
              <a:tblGrid>
                <a:gridCol w="677017">
                  <a:extLst>
                    <a:ext uri="{9D8B030D-6E8A-4147-A177-3AD203B41FA5}">
                      <a16:colId xmlns:a16="http://schemas.microsoft.com/office/drawing/2014/main" val="1274360561"/>
                    </a:ext>
                  </a:extLst>
                </a:gridCol>
                <a:gridCol w="1827868">
                  <a:extLst>
                    <a:ext uri="{9D8B030D-6E8A-4147-A177-3AD203B41FA5}">
                      <a16:colId xmlns:a16="http://schemas.microsoft.com/office/drawing/2014/main" val="1065011122"/>
                    </a:ext>
                  </a:extLst>
                </a:gridCol>
                <a:gridCol w="1272922">
                  <a:extLst>
                    <a:ext uri="{9D8B030D-6E8A-4147-A177-3AD203B41FA5}">
                      <a16:colId xmlns:a16="http://schemas.microsoft.com/office/drawing/2014/main" val="4244562136"/>
                    </a:ext>
                  </a:extLst>
                </a:gridCol>
                <a:gridCol w="1273724">
                  <a:extLst>
                    <a:ext uri="{9D8B030D-6E8A-4147-A177-3AD203B41FA5}">
                      <a16:colId xmlns:a16="http://schemas.microsoft.com/office/drawing/2014/main" val="2659235793"/>
                    </a:ext>
                  </a:extLst>
                </a:gridCol>
                <a:gridCol w="1348414">
                  <a:extLst>
                    <a:ext uri="{9D8B030D-6E8A-4147-A177-3AD203B41FA5}">
                      <a16:colId xmlns:a16="http://schemas.microsoft.com/office/drawing/2014/main" val="4283272655"/>
                    </a:ext>
                  </a:extLst>
                </a:gridCol>
                <a:gridCol w="1456029">
                  <a:extLst>
                    <a:ext uri="{9D8B030D-6E8A-4147-A177-3AD203B41FA5}">
                      <a16:colId xmlns:a16="http://schemas.microsoft.com/office/drawing/2014/main" val="110071812"/>
                    </a:ext>
                  </a:extLst>
                </a:gridCol>
              </a:tblGrid>
              <a:tr h="1599035">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4</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FRAP — Zheng et al. (2019), Learning Phase Competition for Traffic Signal Control</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Phase Competition Model, Reinforcement Learning</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Traffic simulation scenarios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Select suitable signal phases based on competing traffic movements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Performance may vary under unfamiliar traffic patterns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230966579"/>
                  </a:ext>
                </a:extLst>
              </a:tr>
              <a:tr h="1599035">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5</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Chu et al. (2019), Multi-Agent Deep Reinforcement Learning for Large-Scale Traffic Signal Control</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a:effectLst/>
                          <a:latin typeface="Times New Roman" panose="02020603050405020304" pitchFamily="18" charset="0"/>
                          <a:cs typeface="Times New Roman" panose="02020603050405020304" pitchFamily="18" charset="0"/>
                        </a:rPr>
                        <a:t>Multi-Agent RL, Advantage Actor-Critic (A2C)</a:t>
                      </a:r>
                      <a:endParaRPr lang="en-IN"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a:effectLst/>
                          <a:latin typeface="Times New Roman" panose="02020603050405020304" pitchFamily="18" charset="0"/>
                          <a:cs typeface="Times New Roman" panose="02020603050405020304" pitchFamily="18" charset="0"/>
                        </a:rPr>
                        <a:t>Synthetic traffic grid and Monaco network simulations</a:t>
                      </a:r>
                      <a:endParaRPr lang="en-IN"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a:effectLst/>
                          <a:latin typeface="Times New Roman" panose="02020603050405020304" pitchFamily="18" charset="0"/>
                          <a:cs typeface="Times New Roman" panose="02020603050405020304" pitchFamily="18" charset="0"/>
                        </a:rPr>
                        <a:t>Improve scalable control of multiple intersections</a:t>
                      </a:r>
                      <a:endParaRPr lang="en-IN"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Limited local observations and coordination challenges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384055"/>
                  </a:ext>
                </a:extLst>
              </a:tr>
              <a:tr h="1865541">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6</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Cooperative Deep Q-Learning With Q-Value Transfer for Multi-Intersection Signal Control (2019)</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Deep Q-Learning, Multi-Agent RL</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Simulated multi-intersection traffic</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Improve cooperation and knowledge sharing between intersections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Training and knowledge transfer may be difficult across different networks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311572171"/>
                  </a:ext>
                </a:extLst>
              </a:tr>
            </a:tbl>
          </a:graphicData>
        </a:graphic>
      </p:graphicFrame>
    </p:spTree>
    <p:extLst>
      <p:ext uri="{BB962C8B-B14F-4D97-AF65-F5344CB8AC3E}">
        <p14:creationId xmlns:p14="http://schemas.microsoft.com/office/powerpoint/2010/main" val="3389238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2CD45-8309-5E3D-93DB-EE5F2B1DFD4A}"/>
              </a:ext>
            </a:extLst>
          </p:cNvPr>
          <p:cNvSpPr>
            <a:spLocks noGrp="1"/>
          </p:cNvSpPr>
          <p:nvPr>
            <p:ph type="title"/>
          </p:nvPr>
        </p:nvSpPr>
        <p:spPr/>
        <p:txBody>
          <a:bodyPr/>
          <a:lstStyle/>
          <a:p>
            <a:r>
              <a:rPr lang="en-US" dirty="0"/>
              <a:t>2. Literature Survey</a:t>
            </a:r>
            <a:endParaRPr lang="en-IN" dirty="0"/>
          </a:p>
        </p:txBody>
      </p:sp>
      <p:sp>
        <p:nvSpPr>
          <p:cNvPr id="3" name="Text Placeholder 2">
            <a:extLst>
              <a:ext uri="{FF2B5EF4-FFF2-40B4-BE49-F238E27FC236}">
                <a16:creationId xmlns:a16="http://schemas.microsoft.com/office/drawing/2014/main" id="{B9D559BE-0FB5-384C-7EB3-59A59151D6EB}"/>
              </a:ext>
            </a:extLst>
          </p:cNvPr>
          <p:cNvSpPr>
            <a:spLocks noGrp="1"/>
          </p:cNvSpPr>
          <p:nvPr>
            <p:ph type="body" idx="1"/>
          </p:nvPr>
        </p:nvSpPr>
        <p:spPr/>
        <p:txBody>
          <a:bodyPr/>
          <a:lstStyle/>
          <a:p>
            <a:pPr marL="114300" indent="0">
              <a:buNone/>
            </a:pPr>
            <a:endParaRPr lang="en-IN" dirty="0"/>
          </a:p>
        </p:txBody>
      </p:sp>
      <p:sp>
        <p:nvSpPr>
          <p:cNvPr id="4" name="Slide Number Placeholder 3">
            <a:extLst>
              <a:ext uri="{FF2B5EF4-FFF2-40B4-BE49-F238E27FC236}">
                <a16:creationId xmlns:a16="http://schemas.microsoft.com/office/drawing/2014/main" id="{273CBC36-DBF2-6287-A704-ED760594318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graphicFrame>
        <p:nvGraphicFramePr>
          <p:cNvPr id="5" name="Table 4">
            <a:extLst>
              <a:ext uri="{FF2B5EF4-FFF2-40B4-BE49-F238E27FC236}">
                <a16:creationId xmlns:a16="http://schemas.microsoft.com/office/drawing/2014/main" id="{488163E3-E4C8-22E5-87EE-35EC3FD43924}"/>
              </a:ext>
            </a:extLst>
          </p:cNvPr>
          <p:cNvGraphicFramePr>
            <a:graphicFrameLocks noGrp="1"/>
          </p:cNvGraphicFramePr>
          <p:nvPr>
            <p:extLst>
              <p:ext uri="{D42A27DB-BD31-4B8C-83A1-F6EECF244321}">
                <p14:modId xmlns:p14="http://schemas.microsoft.com/office/powerpoint/2010/main" val="2542182196"/>
              </p:ext>
            </p:extLst>
          </p:nvPr>
        </p:nvGraphicFramePr>
        <p:xfrm>
          <a:off x="599768" y="1347019"/>
          <a:ext cx="7954297" cy="5093110"/>
        </p:xfrm>
        <a:graphic>
          <a:graphicData uri="http://schemas.openxmlformats.org/drawingml/2006/table">
            <a:tbl>
              <a:tblPr firstRow="1" firstCol="1" bandRow="1">
                <a:tableStyleId>{5940675A-B579-460E-94D1-54222C63F5DA}</a:tableStyleId>
              </a:tblPr>
              <a:tblGrid>
                <a:gridCol w="685491">
                  <a:extLst>
                    <a:ext uri="{9D8B030D-6E8A-4147-A177-3AD203B41FA5}">
                      <a16:colId xmlns:a16="http://schemas.microsoft.com/office/drawing/2014/main" val="2295682748"/>
                    </a:ext>
                  </a:extLst>
                </a:gridCol>
                <a:gridCol w="1850744">
                  <a:extLst>
                    <a:ext uri="{9D8B030D-6E8A-4147-A177-3AD203B41FA5}">
                      <a16:colId xmlns:a16="http://schemas.microsoft.com/office/drawing/2014/main" val="1522727932"/>
                    </a:ext>
                  </a:extLst>
                </a:gridCol>
                <a:gridCol w="1288853">
                  <a:extLst>
                    <a:ext uri="{9D8B030D-6E8A-4147-A177-3AD203B41FA5}">
                      <a16:colId xmlns:a16="http://schemas.microsoft.com/office/drawing/2014/main" val="3247911407"/>
                    </a:ext>
                  </a:extLst>
                </a:gridCol>
                <a:gridCol w="1289666">
                  <a:extLst>
                    <a:ext uri="{9D8B030D-6E8A-4147-A177-3AD203B41FA5}">
                      <a16:colId xmlns:a16="http://schemas.microsoft.com/office/drawing/2014/main" val="2905701334"/>
                    </a:ext>
                  </a:extLst>
                </a:gridCol>
                <a:gridCol w="1365290">
                  <a:extLst>
                    <a:ext uri="{9D8B030D-6E8A-4147-A177-3AD203B41FA5}">
                      <a16:colId xmlns:a16="http://schemas.microsoft.com/office/drawing/2014/main" val="3976617001"/>
                    </a:ext>
                  </a:extLst>
                </a:gridCol>
                <a:gridCol w="1474253">
                  <a:extLst>
                    <a:ext uri="{9D8B030D-6E8A-4147-A177-3AD203B41FA5}">
                      <a16:colId xmlns:a16="http://schemas.microsoft.com/office/drawing/2014/main" val="4132844278"/>
                    </a:ext>
                  </a:extLst>
                </a:gridCol>
              </a:tblGrid>
              <a:tr h="1608351">
                <a:tc>
                  <a:txBody>
                    <a:bodyPr/>
                    <a:lstStyle/>
                    <a:p>
                      <a:pPr marL="274320" indent="-274320" algn="ctr">
                        <a:spcAft>
                          <a:spcPts val="1200"/>
                        </a:spcAft>
                        <a:buNone/>
                      </a:pPr>
                      <a:r>
                        <a:rPr lang="en-IN" sz="1400" dirty="0">
                          <a:effectLst/>
                        </a:rPr>
                        <a:t>7</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nchor="ctr">
                    <a:solidFill>
                      <a:schemeClr val="bg1"/>
                    </a:solidFill>
                  </a:tcPr>
                </a:tc>
                <a:tc>
                  <a:txBody>
                    <a:bodyPr/>
                    <a:lstStyle/>
                    <a:p>
                      <a:pPr marL="274320" indent="-274320">
                        <a:spcAft>
                          <a:spcPts val="1200"/>
                        </a:spcAft>
                        <a:buNone/>
                      </a:pPr>
                      <a:r>
                        <a:rPr lang="en-IN" sz="1400" dirty="0">
                          <a:effectLst/>
                        </a:rPr>
                        <a:t>Rasheed et al. (2020), Deep Reinforcement Learning for Traffic Signal Control: A Review</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Deep Reinforcement Learning, neural networks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Published research studies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Review DRL methods, simulators, and challenges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Findings depend on the studies and evaluation methods reviewed</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extLst>
                  <a:ext uri="{0D108BD9-81ED-4DB2-BD59-A6C34878D82A}">
                    <a16:rowId xmlns:a16="http://schemas.microsoft.com/office/drawing/2014/main" val="426576356"/>
                  </a:ext>
                </a:extLst>
              </a:tr>
              <a:tr h="1608351">
                <a:tc>
                  <a:txBody>
                    <a:bodyPr/>
                    <a:lstStyle/>
                    <a:p>
                      <a:pPr marL="274320" indent="-274320" algn="ctr">
                        <a:spcAft>
                          <a:spcPts val="1200"/>
                        </a:spcAft>
                        <a:buNone/>
                      </a:pPr>
                      <a:r>
                        <a:rPr lang="en-IN" sz="1400" dirty="0">
                          <a:effectLst/>
                        </a:rPr>
                        <a:t>8</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nchor="ctr">
                    <a:solidFill>
                      <a:schemeClr val="bg2">
                        <a:lumMod val="20000"/>
                        <a:lumOff val="80000"/>
                      </a:schemeClr>
                    </a:solidFill>
                  </a:tcPr>
                </a:tc>
                <a:tc>
                  <a:txBody>
                    <a:bodyPr/>
                    <a:lstStyle/>
                    <a:p>
                      <a:pPr marL="274320" indent="-274320">
                        <a:spcAft>
                          <a:spcPts val="1200"/>
                        </a:spcAft>
                        <a:buNone/>
                      </a:pPr>
                      <a:r>
                        <a:rPr lang="en-IN" sz="1400" dirty="0">
                          <a:effectLst/>
                        </a:rPr>
                        <a:t>Miletic et al. (2020), Application of Deep Reinforcement Learning in Traffic Signal Control</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rPr>
                        <a:t>Deep RL, Deep Neural Networks, traffic-data analysis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rPr>
                        <a:t>Open traffic data and published studies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rPr>
                        <a:t>Examine DRL methods and the importance of open traffic data</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rPr>
                        <a:t>Data availability and quality can limit real-world adoption</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3248099782"/>
                  </a:ext>
                </a:extLst>
              </a:tr>
              <a:tr h="1876408">
                <a:tc>
                  <a:txBody>
                    <a:bodyPr/>
                    <a:lstStyle/>
                    <a:p>
                      <a:pPr marL="274320" indent="-274320" algn="ctr">
                        <a:spcAft>
                          <a:spcPts val="1200"/>
                        </a:spcAft>
                        <a:buNone/>
                      </a:pPr>
                      <a:r>
                        <a:rPr lang="en-IN" sz="1400" dirty="0">
                          <a:effectLst/>
                        </a:rPr>
                        <a:t>9</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nchor="ctr">
                    <a:solidFill>
                      <a:schemeClr val="bg1"/>
                    </a:solidFill>
                  </a:tcPr>
                </a:tc>
                <a:tc>
                  <a:txBody>
                    <a:bodyPr/>
                    <a:lstStyle/>
                    <a:p>
                      <a:pPr marL="274320" indent="-274320">
                        <a:spcAft>
                          <a:spcPts val="1200"/>
                        </a:spcAft>
                        <a:buNone/>
                      </a:pPr>
                      <a:r>
                        <a:rPr lang="en-IN" sz="1400" dirty="0">
                          <a:effectLst/>
                        </a:rPr>
                        <a:t>Qadri et al. (2020), State-of-Art Review of Traffic Signal Control Methods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Optimization, computational intelligence, microsimulation</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Published studies and reviewed simulation methods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Compare signal-timing optimization approaches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tc>
                  <a:txBody>
                    <a:bodyPr/>
                    <a:lstStyle/>
                    <a:p>
                      <a:pPr marL="274320" indent="-274320">
                        <a:spcAft>
                          <a:spcPts val="1200"/>
                        </a:spcAft>
                        <a:buNone/>
                      </a:pPr>
                      <a:r>
                        <a:rPr lang="en-IN" sz="1400" dirty="0">
                          <a:effectLst/>
                        </a:rPr>
                        <a:t>Different methods may perform differently across traffic conditions</a:t>
                      </a:r>
                      <a:endParaRPr lang="en-IN" sz="1400" dirty="0">
                        <a:solidFill>
                          <a:srgbClr val="000000"/>
                        </a:solidFill>
                        <a:effectLst/>
                        <a:latin typeface="Times New Roman" panose="02020603050405020304" pitchFamily="18" charset="0"/>
                        <a:ea typeface="Calibri" panose="020F0502020204030204" pitchFamily="34" charset="0"/>
                      </a:endParaRPr>
                    </a:p>
                  </a:txBody>
                  <a:tcPr marL="68580" marR="68580" marT="0" marB="0">
                    <a:solidFill>
                      <a:schemeClr val="bg1"/>
                    </a:solidFill>
                  </a:tcPr>
                </a:tc>
                <a:extLst>
                  <a:ext uri="{0D108BD9-81ED-4DB2-BD59-A6C34878D82A}">
                    <a16:rowId xmlns:a16="http://schemas.microsoft.com/office/drawing/2014/main" val="3942664231"/>
                  </a:ext>
                </a:extLst>
              </a:tr>
            </a:tbl>
          </a:graphicData>
        </a:graphic>
      </p:graphicFrame>
    </p:spTree>
    <p:extLst>
      <p:ext uri="{BB962C8B-B14F-4D97-AF65-F5344CB8AC3E}">
        <p14:creationId xmlns:p14="http://schemas.microsoft.com/office/powerpoint/2010/main" val="2188353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788E7-0F63-8658-808A-CF78237B08B3}"/>
              </a:ext>
            </a:extLst>
          </p:cNvPr>
          <p:cNvSpPr>
            <a:spLocks noGrp="1"/>
          </p:cNvSpPr>
          <p:nvPr>
            <p:ph type="title"/>
          </p:nvPr>
        </p:nvSpPr>
        <p:spPr/>
        <p:txBody>
          <a:bodyPr/>
          <a:lstStyle/>
          <a:p>
            <a:r>
              <a:rPr lang="en-US" dirty="0"/>
              <a:t>2. Literature Survey</a:t>
            </a:r>
            <a:endParaRPr lang="en-IN" dirty="0"/>
          </a:p>
        </p:txBody>
      </p:sp>
      <p:sp>
        <p:nvSpPr>
          <p:cNvPr id="3" name="Text Placeholder 2">
            <a:extLst>
              <a:ext uri="{FF2B5EF4-FFF2-40B4-BE49-F238E27FC236}">
                <a16:creationId xmlns:a16="http://schemas.microsoft.com/office/drawing/2014/main" id="{0F92426C-3506-8808-567B-C9F8F215750C}"/>
              </a:ext>
            </a:extLst>
          </p:cNvPr>
          <p:cNvSpPr>
            <a:spLocks noGrp="1"/>
          </p:cNvSpPr>
          <p:nvPr>
            <p:ph type="body" idx="1"/>
          </p:nvPr>
        </p:nvSpPr>
        <p:spPr/>
        <p:txBody>
          <a:bodyPr/>
          <a:lstStyle/>
          <a:p>
            <a:pPr marL="114300" indent="0">
              <a:buNone/>
            </a:pPr>
            <a:endParaRPr lang="en-IN" dirty="0"/>
          </a:p>
        </p:txBody>
      </p:sp>
      <p:sp>
        <p:nvSpPr>
          <p:cNvPr id="4" name="Slide Number Placeholder 3">
            <a:extLst>
              <a:ext uri="{FF2B5EF4-FFF2-40B4-BE49-F238E27FC236}">
                <a16:creationId xmlns:a16="http://schemas.microsoft.com/office/drawing/2014/main" id="{C9D51456-C0F9-F9DA-1D73-4C25C379B21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graphicFrame>
        <p:nvGraphicFramePr>
          <p:cNvPr id="5" name="Table 4">
            <a:extLst>
              <a:ext uri="{FF2B5EF4-FFF2-40B4-BE49-F238E27FC236}">
                <a16:creationId xmlns:a16="http://schemas.microsoft.com/office/drawing/2014/main" id="{579A9A14-F2C9-8A8C-8810-F12C5E2F8129}"/>
              </a:ext>
            </a:extLst>
          </p:cNvPr>
          <p:cNvGraphicFramePr>
            <a:graphicFrameLocks noGrp="1"/>
          </p:cNvGraphicFramePr>
          <p:nvPr>
            <p:extLst>
              <p:ext uri="{D42A27DB-BD31-4B8C-83A1-F6EECF244321}">
                <p14:modId xmlns:p14="http://schemas.microsoft.com/office/powerpoint/2010/main" val="678154871"/>
              </p:ext>
            </p:extLst>
          </p:nvPr>
        </p:nvGraphicFramePr>
        <p:xfrm>
          <a:off x="609600" y="1337187"/>
          <a:ext cx="7973962" cy="5114050"/>
        </p:xfrm>
        <a:graphic>
          <a:graphicData uri="http://schemas.openxmlformats.org/drawingml/2006/table">
            <a:tbl>
              <a:tblPr firstRow="1" firstCol="1" bandRow="1">
                <a:tableStyleId>{5940675A-B579-460E-94D1-54222C63F5DA}</a:tableStyleId>
              </a:tblPr>
              <a:tblGrid>
                <a:gridCol w="687186">
                  <a:extLst>
                    <a:ext uri="{9D8B030D-6E8A-4147-A177-3AD203B41FA5}">
                      <a16:colId xmlns:a16="http://schemas.microsoft.com/office/drawing/2014/main" val="3788811528"/>
                    </a:ext>
                  </a:extLst>
                </a:gridCol>
                <a:gridCol w="1855320">
                  <a:extLst>
                    <a:ext uri="{9D8B030D-6E8A-4147-A177-3AD203B41FA5}">
                      <a16:colId xmlns:a16="http://schemas.microsoft.com/office/drawing/2014/main" val="2490840750"/>
                    </a:ext>
                  </a:extLst>
                </a:gridCol>
                <a:gridCol w="1292039">
                  <a:extLst>
                    <a:ext uri="{9D8B030D-6E8A-4147-A177-3AD203B41FA5}">
                      <a16:colId xmlns:a16="http://schemas.microsoft.com/office/drawing/2014/main" val="1730149176"/>
                    </a:ext>
                  </a:extLst>
                </a:gridCol>
                <a:gridCol w="1292855">
                  <a:extLst>
                    <a:ext uri="{9D8B030D-6E8A-4147-A177-3AD203B41FA5}">
                      <a16:colId xmlns:a16="http://schemas.microsoft.com/office/drawing/2014/main" val="1704223798"/>
                    </a:ext>
                  </a:extLst>
                </a:gridCol>
                <a:gridCol w="1368665">
                  <a:extLst>
                    <a:ext uri="{9D8B030D-6E8A-4147-A177-3AD203B41FA5}">
                      <a16:colId xmlns:a16="http://schemas.microsoft.com/office/drawing/2014/main" val="4244051679"/>
                    </a:ext>
                  </a:extLst>
                </a:gridCol>
                <a:gridCol w="1477897">
                  <a:extLst>
                    <a:ext uri="{9D8B030D-6E8A-4147-A177-3AD203B41FA5}">
                      <a16:colId xmlns:a16="http://schemas.microsoft.com/office/drawing/2014/main" val="3654000805"/>
                    </a:ext>
                  </a:extLst>
                </a:gridCol>
              </a:tblGrid>
              <a:tr h="1482412">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10</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Eom and Kim (2020), The Traffic Signal Control Problem for Intersections: A Review</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Traffic-control algorithms, optimization, simulation</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Previously published intersection-control studies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Review signal-control problems, methods, and evaluation practices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Practical constraints and complex traffic conditions remain challenging</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968283817"/>
                  </a:ext>
                </a:extLst>
              </a:tr>
              <a:tr h="2036548">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11</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Wang et al. (2021), Adaptive Traffic Signal Control for Large-Scale Scenario with Cooperative Group-Based Multi-Agent Reinforcement Learning</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Multi-Agent RL, cooperative learning, SUMO</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Synthetic network, Monaco and Harbin traffic simulations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a:effectLst/>
                          <a:latin typeface="Times New Roman" panose="02020603050405020304" pitchFamily="18" charset="0"/>
                          <a:cs typeface="Times New Roman" panose="02020603050405020304" pitchFamily="18" charset="0"/>
                        </a:rPr>
                        <a:t>Coordinate signals and improve congestion management in large networks</a:t>
                      </a:r>
                      <a:endParaRPr lang="en-IN"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Requires effective coordination and substantial training</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7524400"/>
                  </a:ext>
                </a:extLst>
              </a:tr>
              <a:tr h="1583982">
                <a:tc>
                  <a:txBody>
                    <a:bodyPr/>
                    <a:lstStyle/>
                    <a:p>
                      <a:pPr marL="274320" indent="-274320" algn="ctr">
                        <a:spcAft>
                          <a:spcPts val="1200"/>
                        </a:spcAft>
                        <a:buNone/>
                      </a:pPr>
                      <a:r>
                        <a:rPr lang="en-IN" sz="1400" dirty="0">
                          <a:effectLst/>
                          <a:latin typeface="Times New Roman" panose="02020603050405020304" pitchFamily="18" charset="0"/>
                          <a:cs typeface="Times New Roman" panose="02020603050405020304" pitchFamily="18" charset="0"/>
                        </a:rPr>
                        <a:t>12</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bg2">
                        <a:lumMod val="20000"/>
                        <a:lumOff val="80000"/>
                      </a:schemeClr>
                    </a:solidFill>
                  </a:tcPr>
                </a:tc>
                <a:tc>
                  <a:txBody>
                    <a:bodyPr/>
                    <a:lstStyle/>
                    <a:p>
                      <a:pPr marL="274320" indent="-274320" algn="l">
                        <a:spcAft>
                          <a:spcPts val="1200"/>
                        </a:spcAft>
                        <a:buNone/>
                      </a:pPr>
                      <a:r>
                        <a:rPr lang="en-IN" sz="1400" dirty="0" err="1">
                          <a:effectLst/>
                          <a:latin typeface="Times New Roman" panose="02020603050405020304" pitchFamily="18" charset="0"/>
                          <a:cs typeface="Times New Roman" panose="02020603050405020304" pitchFamily="18" charset="0"/>
                        </a:rPr>
                        <a:t>Noaeen</a:t>
                      </a:r>
                      <a:r>
                        <a:rPr lang="en-IN" sz="1400" dirty="0">
                          <a:effectLst/>
                          <a:latin typeface="Times New Roman" panose="02020603050405020304" pitchFamily="18" charset="0"/>
                          <a:cs typeface="Times New Roman" panose="02020603050405020304" pitchFamily="18" charset="0"/>
                        </a:rPr>
                        <a:t> et al. (2022), Reinforcement Learning in Urban Network Traffic Signal Control: A Systematic Literature Review</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Reinforcement Learning, multi-agent traffic control</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160 reviewed research articles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Analyze RL methods and research gaps in urban traffic networks</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tc>
                  <a:txBody>
                    <a:bodyPr/>
                    <a:lstStyle/>
                    <a:p>
                      <a:pPr marL="274320" indent="-274320">
                        <a:spcAft>
                          <a:spcPts val="1200"/>
                        </a:spcAft>
                        <a:buNone/>
                      </a:pPr>
                      <a:r>
                        <a:rPr lang="en-IN" sz="1400" dirty="0">
                          <a:effectLst/>
                          <a:latin typeface="Times New Roman" panose="02020603050405020304" pitchFamily="18" charset="0"/>
                          <a:cs typeface="Times New Roman" panose="02020603050405020304" pitchFamily="18" charset="0"/>
                        </a:rPr>
                        <a:t>Different evaluation setups make comparisons difficult</a:t>
                      </a:r>
                      <a:endPar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1913559627"/>
                  </a:ext>
                </a:extLst>
              </a:tr>
            </a:tbl>
          </a:graphicData>
        </a:graphic>
      </p:graphicFrame>
    </p:spTree>
    <p:extLst>
      <p:ext uri="{BB962C8B-B14F-4D97-AF65-F5344CB8AC3E}">
        <p14:creationId xmlns:p14="http://schemas.microsoft.com/office/powerpoint/2010/main" val="403108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3. Information to seminar topic</a:t>
            </a:r>
            <a:endParaRP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Video input: receive a CCTV stream or recorded road video.</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Vehicle detection: use a computer-vision model such as YOLO          to detect vehicles.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Density estimation: count vehicles or estimate queue length for each lane.</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Timing decision: give more green time to lanes with higher traffic, within safe minimum and maximum limits.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Signal output: display the suggested phase/timer in a prototype; real signal control requires authorized hardware and safety validation.</a:t>
            </a:r>
          </a:p>
          <a:p>
            <a:pPr marL="342900" lvl="0" indent="-139700" algn="l" rtl="0">
              <a:spcBef>
                <a:spcPts val="0"/>
              </a:spcBef>
              <a:spcAft>
                <a:spcPts val="0"/>
              </a:spcAft>
              <a:buClr>
                <a:schemeClr val="dk1"/>
              </a:buClr>
              <a:buSzPts val="3200"/>
              <a:buNone/>
            </a:pPr>
            <a:r>
              <a:rPr lang="en-IN" sz="2200" dirty="0">
                <a:latin typeface="Times New Roman" panose="02020603050405020304" pitchFamily="18" charset="0"/>
                <a:cs typeface="Times New Roman" panose="02020603050405020304" pitchFamily="18" charset="0"/>
              </a:rPr>
              <a:t>	 </a:t>
            </a:r>
            <a:endParaRPr sz="2200" dirty="0">
              <a:latin typeface="Times New Roman" panose="02020603050405020304" pitchFamily="18" charset="0"/>
              <a:cs typeface="Times New Roman" panose="02020603050405020304" pitchFamily="18" charset="0"/>
            </a:endParaRP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
        <p:nvSpPr>
          <p:cNvPr id="3" name="Rounded Rectangle 540">
            <a:extLst>
              <a:ext uri="{FF2B5EF4-FFF2-40B4-BE49-F238E27FC236}">
                <a16:creationId xmlns:a16="http://schemas.microsoft.com/office/drawing/2014/main" id="{7741DABD-E5FA-701E-62CD-14D68AFCAF82}"/>
              </a:ext>
            </a:extLst>
          </p:cNvPr>
          <p:cNvSpPr/>
          <p:nvPr/>
        </p:nvSpPr>
        <p:spPr>
          <a:xfrm>
            <a:off x="643521" y="5461328"/>
            <a:ext cx="1645920" cy="658368"/>
          </a:xfrm>
          <a:prstGeom prst="roundRect">
            <a:avLst/>
          </a:prstGeom>
          <a:solidFill>
            <a:srgbClr val="EBF4FA"/>
          </a:solidFill>
          <a:ln>
            <a:solidFill>
              <a:srgbClr val="236F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dirty="0">
                <a:solidFill>
                  <a:srgbClr val="122F56"/>
                </a:solidFill>
                <a:latin typeface="Aptos"/>
              </a:rPr>
              <a:t>CCTV / Video</a:t>
            </a:r>
          </a:p>
        </p:txBody>
      </p:sp>
      <p:cxnSp>
        <p:nvCxnSpPr>
          <p:cNvPr id="4" name="Connector 544">
            <a:extLst>
              <a:ext uri="{FF2B5EF4-FFF2-40B4-BE49-F238E27FC236}">
                <a16:creationId xmlns:a16="http://schemas.microsoft.com/office/drawing/2014/main" id="{063DAA6B-8C0C-B432-23FE-7DEB2BDEE2E3}"/>
              </a:ext>
            </a:extLst>
          </p:cNvPr>
          <p:cNvCxnSpPr/>
          <p:nvPr/>
        </p:nvCxnSpPr>
        <p:spPr>
          <a:xfrm>
            <a:off x="2289441" y="5779991"/>
            <a:ext cx="246888" cy="0"/>
          </a:xfrm>
          <a:prstGeom prst="line">
            <a:avLst/>
          </a:prstGeom>
          <a:ln w="25400">
            <a:solidFill>
              <a:srgbClr val="008E99"/>
            </a:solidFill>
          </a:ln>
        </p:spPr>
        <p:style>
          <a:lnRef idx="2">
            <a:schemeClr val="accent1"/>
          </a:lnRef>
          <a:fillRef idx="0">
            <a:schemeClr val="accent1"/>
          </a:fillRef>
          <a:effectRef idx="1">
            <a:schemeClr val="accent1"/>
          </a:effectRef>
          <a:fontRef idx="minor">
            <a:schemeClr val="tx1"/>
          </a:fontRef>
        </p:style>
      </p:cxnSp>
      <p:sp>
        <p:nvSpPr>
          <p:cNvPr id="6" name="Rounded Rectangle 541">
            <a:extLst>
              <a:ext uri="{FF2B5EF4-FFF2-40B4-BE49-F238E27FC236}">
                <a16:creationId xmlns:a16="http://schemas.microsoft.com/office/drawing/2014/main" id="{A7EAFF20-745C-2228-D740-5C6D7B23BBF8}"/>
              </a:ext>
            </a:extLst>
          </p:cNvPr>
          <p:cNvSpPr/>
          <p:nvPr/>
        </p:nvSpPr>
        <p:spPr>
          <a:xfrm>
            <a:off x="2536329" y="5450807"/>
            <a:ext cx="1645920" cy="658368"/>
          </a:xfrm>
          <a:prstGeom prst="roundRect">
            <a:avLst/>
          </a:prstGeom>
          <a:solidFill>
            <a:srgbClr val="EBF4FA"/>
          </a:solidFill>
          <a:ln>
            <a:solidFill>
              <a:srgbClr val="236F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22F56"/>
                </a:solidFill>
                <a:latin typeface="Aptos"/>
              </a:rPr>
              <a:t>Vehicle Detection</a:t>
            </a:r>
          </a:p>
        </p:txBody>
      </p:sp>
      <p:cxnSp>
        <p:nvCxnSpPr>
          <p:cNvPr id="7" name="Connector 544">
            <a:extLst>
              <a:ext uri="{FF2B5EF4-FFF2-40B4-BE49-F238E27FC236}">
                <a16:creationId xmlns:a16="http://schemas.microsoft.com/office/drawing/2014/main" id="{695AB58B-4048-B4DE-4737-759338482D61}"/>
              </a:ext>
            </a:extLst>
          </p:cNvPr>
          <p:cNvCxnSpPr/>
          <p:nvPr/>
        </p:nvCxnSpPr>
        <p:spPr>
          <a:xfrm>
            <a:off x="4182249" y="5790512"/>
            <a:ext cx="246888" cy="0"/>
          </a:xfrm>
          <a:prstGeom prst="line">
            <a:avLst/>
          </a:prstGeom>
          <a:ln w="25400">
            <a:solidFill>
              <a:srgbClr val="008E99"/>
            </a:solidFill>
          </a:ln>
        </p:spPr>
        <p:style>
          <a:lnRef idx="2">
            <a:schemeClr val="accent1"/>
          </a:lnRef>
          <a:fillRef idx="0">
            <a:schemeClr val="accent1"/>
          </a:fillRef>
          <a:effectRef idx="1">
            <a:schemeClr val="accent1"/>
          </a:effectRef>
          <a:fontRef idx="minor">
            <a:schemeClr val="tx1"/>
          </a:fontRef>
        </p:style>
      </p:cxnSp>
      <p:sp>
        <p:nvSpPr>
          <p:cNvPr id="9" name="Rounded Rectangle 542">
            <a:extLst>
              <a:ext uri="{FF2B5EF4-FFF2-40B4-BE49-F238E27FC236}">
                <a16:creationId xmlns:a16="http://schemas.microsoft.com/office/drawing/2014/main" id="{3EB0F842-6FAE-0A7F-58E6-11CA939327F8}"/>
              </a:ext>
            </a:extLst>
          </p:cNvPr>
          <p:cNvSpPr/>
          <p:nvPr/>
        </p:nvSpPr>
        <p:spPr>
          <a:xfrm>
            <a:off x="4429137" y="5461328"/>
            <a:ext cx="1508760" cy="658368"/>
          </a:xfrm>
          <a:prstGeom prst="roundRect">
            <a:avLst/>
          </a:prstGeom>
          <a:solidFill>
            <a:srgbClr val="EBF4FA"/>
          </a:solidFill>
          <a:ln>
            <a:solidFill>
              <a:srgbClr val="236F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dirty="0">
                <a:solidFill>
                  <a:srgbClr val="122F56"/>
                </a:solidFill>
                <a:latin typeface="Aptos"/>
              </a:rPr>
              <a:t>Density Count</a:t>
            </a:r>
          </a:p>
        </p:txBody>
      </p:sp>
      <p:cxnSp>
        <p:nvCxnSpPr>
          <p:cNvPr id="10" name="Connector 544">
            <a:extLst>
              <a:ext uri="{FF2B5EF4-FFF2-40B4-BE49-F238E27FC236}">
                <a16:creationId xmlns:a16="http://schemas.microsoft.com/office/drawing/2014/main" id="{31E6229A-C24C-5CD7-BED9-B57026A8680A}"/>
              </a:ext>
            </a:extLst>
          </p:cNvPr>
          <p:cNvCxnSpPr/>
          <p:nvPr/>
        </p:nvCxnSpPr>
        <p:spPr>
          <a:xfrm>
            <a:off x="5937897" y="5790512"/>
            <a:ext cx="246888" cy="0"/>
          </a:xfrm>
          <a:prstGeom prst="line">
            <a:avLst/>
          </a:prstGeom>
          <a:ln w="25400">
            <a:solidFill>
              <a:srgbClr val="008E99"/>
            </a:solidFill>
          </a:ln>
        </p:spPr>
        <p:style>
          <a:lnRef idx="2">
            <a:schemeClr val="accent1"/>
          </a:lnRef>
          <a:fillRef idx="0">
            <a:schemeClr val="accent1"/>
          </a:fillRef>
          <a:effectRef idx="1">
            <a:schemeClr val="accent1"/>
          </a:effectRef>
          <a:fontRef idx="minor">
            <a:schemeClr val="tx1"/>
          </a:fontRef>
        </p:style>
      </p:cxnSp>
      <p:sp>
        <p:nvSpPr>
          <p:cNvPr id="12" name="Rounded Rectangle 543">
            <a:extLst>
              <a:ext uri="{FF2B5EF4-FFF2-40B4-BE49-F238E27FC236}">
                <a16:creationId xmlns:a16="http://schemas.microsoft.com/office/drawing/2014/main" id="{3539D172-A857-E0A4-F38B-7DF759F04A69}"/>
              </a:ext>
            </a:extLst>
          </p:cNvPr>
          <p:cNvSpPr/>
          <p:nvPr/>
        </p:nvSpPr>
        <p:spPr>
          <a:xfrm>
            <a:off x="6184785" y="5461328"/>
            <a:ext cx="2148840" cy="658368"/>
          </a:xfrm>
          <a:prstGeom prst="roundRect">
            <a:avLst/>
          </a:prstGeom>
          <a:solidFill>
            <a:srgbClr val="EBF4FA"/>
          </a:solidFill>
          <a:ln>
            <a:solidFill>
              <a:srgbClr val="236FB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dirty="0">
                <a:solidFill>
                  <a:srgbClr val="122F56"/>
                </a:solidFill>
                <a:latin typeface="Aptos"/>
              </a:rPr>
              <a:t>Suggested Signal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4. Advantages / Disadvantages</a:t>
            </a:r>
            <a:endParaRPr dirty="0"/>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indent="-139700">
              <a:spcBef>
                <a:spcPts val="0"/>
              </a:spcBef>
              <a:buSzPts val="3200"/>
              <a:buNone/>
            </a:pPr>
            <a:r>
              <a:rPr lang="en-US" sz="2200" b="1" dirty="0"/>
              <a:t>Advantages:</a:t>
            </a:r>
          </a:p>
          <a:p>
            <a:pPr lvl="0"/>
            <a:r>
              <a:rPr lang="en-IN" sz="2400" dirty="0"/>
              <a:t>Adaptive Signal Timing: Adjusts green-light duration based on traffic demand.</a:t>
            </a:r>
          </a:p>
          <a:p>
            <a:pPr lvl="0"/>
            <a:r>
              <a:rPr lang="en-IN" sz="2400" dirty="0"/>
              <a:t>Reduced Waiting Time: May reduce unnecessary vehicle waiting.</a:t>
            </a:r>
          </a:p>
          <a:p>
            <a:pPr lvl="0"/>
            <a:r>
              <a:rPr lang="en-IN" sz="2400" dirty="0"/>
              <a:t>Improved Traffic Flow: Helps vehicles move efficiently through intersections.</a:t>
            </a:r>
          </a:p>
          <a:p>
            <a:pPr lvl="0"/>
            <a:r>
              <a:rPr lang="en-IN" sz="2400" dirty="0"/>
              <a:t>Traffic Monitoring: Tracks vehicle counts and queue lengths using cameras or sensors.</a:t>
            </a:r>
          </a:p>
          <a:p>
            <a:pPr lvl="0"/>
            <a:r>
              <a:rPr lang="en-IN" sz="2400" dirty="0"/>
              <a:t>Multiple Intersection Support: Coordinates nearby traffic signals for better traffic flow.</a:t>
            </a:r>
          </a:p>
          <a:p>
            <a:pPr marL="342900" indent="-139700">
              <a:spcBef>
                <a:spcPts val="0"/>
              </a:spcBef>
              <a:buSzPts val="3200"/>
              <a:buNone/>
            </a:pPr>
            <a:endParaRPr lang="en-IN" sz="2200" dirty="0"/>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2E88A-E48A-C483-16E9-6300222AF332}"/>
              </a:ext>
            </a:extLst>
          </p:cNvPr>
          <p:cNvSpPr>
            <a:spLocks noGrp="1"/>
          </p:cNvSpPr>
          <p:nvPr>
            <p:ph type="title"/>
          </p:nvPr>
        </p:nvSpPr>
        <p:spPr/>
        <p:txBody>
          <a:bodyPr/>
          <a:lstStyle/>
          <a:p>
            <a:r>
              <a:rPr lang="en-US" dirty="0"/>
              <a:t>4. Advantages / Disadvantages</a:t>
            </a:r>
            <a:endParaRPr lang="en-IN" dirty="0"/>
          </a:p>
        </p:txBody>
      </p:sp>
      <p:sp>
        <p:nvSpPr>
          <p:cNvPr id="3" name="Text Placeholder 2">
            <a:extLst>
              <a:ext uri="{FF2B5EF4-FFF2-40B4-BE49-F238E27FC236}">
                <a16:creationId xmlns:a16="http://schemas.microsoft.com/office/drawing/2014/main" id="{28542BEC-749E-261A-5A84-99E4F8F1E5B5}"/>
              </a:ext>
            </a:extLst>
          </p:cNvPr>
          <p:cNvSpPr>
            <a:spLocks noGrp="1"/>
          </p:cNvSpPr>
          <p:nvPr>
            <p:ph type="body" idx="1"/>
          </p:nvPr>
        </p:nvSpPr>
        <p:spPr/>
        <p:txBody>
          <a:bodyPr/>
          <a:lstStyle/>
          <a:p>
            <a:pPr marL="114300" indent="0">
              <a:buNone/>
            </a:pPr>
            <a:r>
              <a:rPr lang="en-US" sz="2200" b="1" dirty="0"/>
              <a:t>Disadvantages:</a:t>
            </a:r>
          </a:p>
          <a:p>
            <a:pPr lvl="0"/>
            <a:r>
              <a:rPr lang="en-IN" sz="2400" dirty="0"/>
              <a:t>High Cost: Cameras, hardware, and installation are expensive.</a:t>
            </a:r>
          </a:p>
          <a:p>
            <a:pPr lvl="0"/>
            <a:r>
              <a:rPr lang="en-IN" sz="2400" dirty="0"/>
              <a:t>Poor Data Quality: Bad images or sensor failures affect accuracy.</a:t>
            </a:r>
          </a:p>
          <a:p>
            <a:pPr lvl="0"/>
            <a:r>
              <a:rPr lang="en-IN" sz="2400" dirty="0"/>
              <a:t>High Computing Needs: AI algorithms require processing power.</a:t>
            </a:r>
          </a:p>
          <a:p>
            <a:pPr lvl="0"/>
            <a:r>
              <a:rPr lang="en-IN" sz="2400" dirty="0"/>
              <a:t>Complex Implementation: Integration with existing systems is difficult.</a:t>
            </a:r>
          </a:p>
          <a:p>
            <a:pPr lvl="0"/>
            <a:r>
              <a:rPr lang="en-IN" sz="2400" dirty="0"/>
              <a:t>Safety Risks: Incorrect signal decisions may cause unsafe conditions.</a:t>
            </a:r>
          </a:p>
          <a:p>
            <a:pPr marL="114300" indent="0">
              <a:buNone/>
            </a:pPr>
            <a:endParaRPr lang="en-IN" sz="2200" dirty="0"/>
          </a:p>
          <a:p>
            <a:pPr marL="114300" indent="0">
              <a:buNone/>
            </a:pPr>
            <a:endParaRPr lang="en-IN" dirty="0"/>
          </a:p>
        </p:txBody>
      </p:sp>
      <p:sp>
        <p:nvSpPr>
          <p:cNvPr id="4" name="Slide Number Placeholder 3">
            <a:extLst>
              <a:ext uri="{FF2B5EF4-FFF2-40B4-BE49-F238E27FC236}">
                <a16:creationId xmlns:a16="http://schemas.microsoft.com/office/drawing/2014/main" id="{885DD210-4B07-91B8-106B-37D07698D0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12335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5. Conclusion</a:t>
            </a:r>
            <a:endParaRP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spcAft>
                <a:spcPts val="700"/>
              </a:spcAft>
              <a:buFont typeface="Arial" panose="020B0604020202020204" pitchFamily="34" charset="0"/>
              <a:buChar char="•"/>
            </a:pPr>
            <a:r>
              <a:rPr lang="en-US" sz="2200" dirty="0">
                <a:solidFill>
                  <a:srgbClr val="28303A"/>
                </a:solidFill>
                <a:latin typeface="Times New Roman" panose="02020603050405020304" pitchFamily="18" charset="0"/>
                <a:cs typeface="Times New Roman" panose="02020603050405020304" pitchFamily="18" charset="0"/>
              </a:rPr>
              <a:t>Fixed-time signals may not respond well to changing traffic density.</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AI-based video analysis can estimate vehicle counts and support adaptive signal timing.</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The proposed system combines CCTV/video input, vehicle detection and a timing-decision module.</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Future work: test with varied videos, measure waiting time, and validate safety before any real-road deployment.</a:t>
            </a:r>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6. Project Initiation</a:t>
            </a:r>
            <a:endParaRPr/>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The project will be developed as a prototype for studying adaptive traffic signal timing.</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Input: sample CCTV/road video.</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Processing: Python with OpenCV and a vehicle-detection model such as YOLO.</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Output: lane-wise vehicle counts and a suggested green-time allocation.</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Initial testing will use recorded videos or simulation, not direct control of public traffic lights.</a:t>
            </a:r>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2060"/>
              </a:buClr>
              <a:buSzPct val="100000"/>
              <a:buFont typeface="Arial"/>
              <a:buNone/>
            </a:pPr>
            <a:br>
              <a:rPr lang="en-US" sz="3600" dirty="0"/>
            </a:br>
            <a:r>
              <a:rPr lang="en-US" sz="3600" dirty="0"/>
              <a:t>6. 1 Description of problem statement. identification.</a:t>
            </a:r>
            <a:endParaRPr sz="3600" dirty="0"/>
          </a:p>
          <a:p>
            <a:pPr marL="0" lvl="0" indent="0" algn="ctr" rtl="0">
              <a:spcBef>
                <a:spcPts val="0"/>
              </a:spcBef>
              <a:spcAft>
                <a:spcPts val="0"/>
              </a:spcAft>
              <a:buClr>
                <a:srgbClr val="002060"/>
              </a:buClr>
              <a:buSzPct val="100000"/>
              <a:buFont typeface="Arial"/>
              <a:buNone/>
            </a:pPr>
            <a:endParaRPr sz="3600" dirty="0"/>
          </a:p>
        </p:txBody>
      </p:sp>
      <p:sp>
        <p:nvSpPr>
          <p:cNvPr id="567" name="Google Shape;567;p22"/>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Traditional fixed-time traffic signals provide preset green time to each road.</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Traffic volume changes by time and direction, so fixed timing may waste green time on an empty lane.</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Long queues can cause delay, fuel consumption and extra emissions.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Problem to address: how can video-based vehicle-density estimation help recommend more suitable signal timing?</a:t>
            </a:r>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l" rtl="0">
              <a:spcBef>
                <a:spcPts val="0"/>
              </a:spcBef>
              <a:spcAft>
                <a:spcPts val="0"/>
              </a:spcAft>
              <a:buClr>
                <a:srgbClr val="002060"/>
              </a:buClr>
              <a:buSzPct val="100000"/>
              <a:buFont typeface="Arial"/>
              <a:buNone/>
            </a:pPr>
            <a:endParaRPr sz="3600" dirty="0"/>
          </a:p>
          <a:p>
            <a:pPr marL="0" lvl="0" indent="0" rtl="0">
              <a:spcBef>
                <a:spcPts val="0"/>
              </a:spcBef>
              <a:spcAft>
                <a:spcPts val="0"/>
              </a:spcAft>
              <a:buClr>
                <a:srgbClr val="002060"/>
              </a:buClr>
              <a:buSzPct val="100000"/>
              <a:buFont typeface="Arial"/>
              <a:buNone/>
            </a:pPr>
            <a:r>
              <a:rPr lang="en-US" sz="3600" dirty="0"/>
              <a:t>6. 2 Scope and objectives.</a:t>
            </a:r>
            <a:endParaRPr sz="3600" dirty="0"/>
          </a:p>
          <a:p>
            <a:pPr marL="0" lvl="0" indent="0" algn="l" rtl="0">
              <a:spcBef>
                <a:spcPts val="0"/>
              </a:spcBef>
              <a:spcAft>
                <a:spcPts val="0"/>
              </a:spcAft>
              <a:buClr>
                <a:srgbClr val="002060"/>
              </a:buClr>
              <a:buSzPct val="100000"/>
              <a:buFont typeface="Arial"/>
              <a:buNone/>
            </a:pPr>
            <a:endParaRPr sz="3600" dirty="0"/>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114300" indent="0">
              <a:buNone/>
            </a:pPr>
            <a:r>
              <a:rPr lang="en-IN" sz="2200" b="1" dirty="0"/>
              <a:t>Scope</a:t>
            </a:r>
          </a:p>
          <a:p>
            <a:pPr lvl="0"/>
            <a:r>
              <a:rPr lang="en-IN" sz="2200" dirty="0"/>
              <a:t>Develop a prototype for one intersection using CCTV/video.</a:t>
            </a:r>
          </a:p>
          <a:p>
            <a:pPr lvl="0"/>
            <a:r>
              <a:rPr lang="en-IN" sz="2200" dirty="0"/>
              <a:t>Detect and count vehicles using AI.</a:t>
            </a:r>
          </a:p>
          <a:p>
            <a:pPr lvl="0"/>
            <a:r>
              <a:rPr lang="en-IN" sz="2200" dirty="0"/>
              <a:t>Estimate traffic density and queue length.</a:t>
            </a:r>
          </a:p>
          <a:p>
            <a:pPr lvl="0"/>
            <a:r>
              <a:rPr lang="en-IN" sz="2200" dirty="0"/>
              <a:t>Suggest green timing and evaluate system accuracy.</a:t>
            </a:r>
          </a:p>
          <a:p>
            <a:pPr marL="114300" indent="0">
              <a:buNone/>
            </a:pPr>
            <a:endParaRPr lang="en-IN" sz="2200" b="1" dirty="0"/>
          </a:p>
          <a:p>
            <a:pPr marL="114300" indent="0">
              <a:buNone/>
            </a:pPr>
            <a:r>
              <a:rPr lang="en-IN" sz="2200" b="1" dirty="0"/>
              <a:t>Objectives</a:t>
            </a:r>
          </a:p>
          <a:p>
            <a:pPr lvl="0"/>
            <a:r>
              <a:rPr lang="en-IN" sz="2200" dirty="0"/>
              <a:t>Analyze traffic using AI and video input.</a:t>
            </a:r>
          </a:p>
          <a:p>
            <a:pPr lvl="0"/>
            <a:r>
              <a:rPr lang="en-IN" sz="2200" dirty="0"/>
              <a:t>Reduce waiting time and improve traffic flow.</a:t>
            </a:r>
          </a:p>
          <a:p>
            <a:pPr lvl="0"/>
            <a:r>
              <a:rPr lang="en-IN" sz="2200" dirty="0"/>
              <a:t>Allocate green time based on traffic density.</a:t>
            </a:r>
          </a:p>
          <a:p>
            <a:pPr lvl="0"/>
            <a:r>
              <a:rPr lang="en-IN" sz="2200" dirty="0"/>
              <a:t>Evaluate performance using recorded traffic videos.</a:t>
            </a:r>
          </a:p>
          <a:p>
            <a:pPr marL="114300" indent="0">
              <a:buNone/>
            </a:pPr>
            <a:endParaRPr lang="en-IN" sz="2400" b="1" dirty="0"/>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rtl="0">
              <a:spcBef>
                <a:spcPts val="0"/>
              </a:spcBef>
              <a:spcAft>
                <a:spcPts val="0"/>
              </a:spcAft>
              <a:buClr>
                <a:srgbClr val="002060"/>
              </a:buClr>
              <a:buSzPts val="3600"/>
              <a:buFont typeface="Arial"/>
              <a:buNone/>
            </a:pPr>
            <a:r>
              <a:rPr lang="en-US" sz="3600" dirty="0"/>
              <a:t>6. 3 Stake holder</a:t>
            </a:r>
            <a:endParaRPr sz="3600" dirty="0"/>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Road users: drivers, passengers, pedestrians and cyclists.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Traffic police and traffic-management authorities.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Municipal corporation / road and transport departments.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Software developers and project team.</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College guide and evaluators.</a:t>
            </a:r>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br>
              <a:rPr lang="en-US" sz="3200" dirty="0"/>
            </a:br>
            <a:r>
              <a:rPr lang="en-US" sz="3200" dirty="0"/>
              <a:t>6. 4 seminar exsicussion  plan</a:t>
            </a:r>
            <a:endParaRPr sz="3200" dirty="0"/>
          </a:p>
          <a:p>
            <a:pPr marL="0" lvl="0" indent="0" algn="ctr" rtl="0">
              <a:spcBef>
                <a:spcPts val="0"/>
              </a:spcBef>
              <a:spcAft>
                <a:spcPts val="0"/>
              </a:spcAft>
              <a:buClr>
                <a:srgbClr val="002060"/>
              </a:buClr>
              <a:buSzPts val="3200"/>
              <a:buFont typeface="Arial"/>
              <a:buNone/>
            </a:pPr>
            <a:endParaRPr sz="3200" dirty="0"/>
          </a:p>
        </p:txBody>
      </p:sp>
      <p:sp>
        <p:nvSpPr>
          <p:cNvPr id="588" name="Google Shape;588;p2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Introduce the traffic congestion problem.</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Explain existing fixed-time signals and their limitations.</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Present the proposed architecture and working flow.</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Discuss advantages, limitations, privacy and safety.</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Explain the project scope, tools and evaluation plan.</a:t>
            </a:r>
          </a:p>
          <a:p>
            <a:pPr>
              <a:spcAft>
                <a:spcPts val="700"/>
              </a:spcAft>
            </a:pPr>
            <a:r>
              <a:rPr lang="en-US" sz="2200" dirty="0">
                <a:solidFill>
                  <a:srgbClr val="28303A"/>
                </a:solidFill>
                <a:latin typeface="Times New Roman" panose="02020603050405020304" pitchFamily="18" charset="0"/>
                <a:cs typeface="Times New Roman" panose="02020603050405020304" pitchFamily="18" charset="0"/>
              </a:rPr>
              <a:t>Conclude with questions and feedback.</a:t>
            </a:r>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br>
              <a:rPr lang="en-US" sz="3200" dirty="0"/>
            </a:br>
            <a:r>
              <a:rPr lang="en-US" sz="3200" dirty="0"/>
              <a:t>6.5 Platform/ Equipment/ Resources</a:t>
            </a:r>
            <a:endParaRPr sz="3200" dirty="0"/>
          </a:p>
          <a:p>
            <a:pPr marL="0" lvl="0" indent="0" algn="ctr" rtl="0">
              <a:spcBef>
                <a:spcPts val="0"/>
              </a:spcBef>
              <a:spcAft>
                <a:spcPts val="0"/>
              </a:spcAft>
              <a:buClr>
                <a:srgbClr val="002060"/>
              </a:buClr>
              <a:buSzPts val="3200"/>
              <a:buFont typeface="Arial"/>
              <a:buNone/>
            </a:pPr>
            <a:endParaRPr sz="3200" dirty="0"/>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114300" indent="0">
              <a:buNone/>
            </a:pPr>
            <a:r>
              <a:rPr lang="en-IN" sz="2200" b="1" dirty="0"/>
              <a:t>Platform</a:t>
            </a:r>
          </a:p>
          <a:p>
            <a:pPr lvl="0"/>
            <a:r>
              <a:rPr lang="en-IN" sz="2200" dirty="0"/>
              <a:t>Programming Language: Python</a:t>
            </a:r>
          </a:p>
          <a:p>
            <a:pPr lvl="0"/>
            <a:r>
              <a:rPr lang="en-IN" sz="2200" dirty="0"/>
              <a:t>Computer Vision: OpenCV and YOLO</a:t>
            </a:r>
          </a:p>
          <a:p>
            <a:pPr lvl="0"/>
            <a:r>
              <a:rPr lang="en-IN" sz="2200" dirty="0"/>
              <a:t>Software: Python environment and code editor</a:t>
            </a:r>
          </a:p>
          <a:p>
            <a:pPr marL="114300" indent="0">
              <a:buNone/>
            </a:pPr>
            <a:r>
              <a:rPr lang="en-IN" sz="2200" b="1" dirty="0"/>
              <a:t>Equipment</a:t>
            </a:r>
          </a:p>
          <a:p>
            <a:pPr lvl="0"/>
            <a:r>
              <a:rPr lang="en-IN" sz="2200" dirty="0"/>
              <a:t>Laptop / PC</a:t>
            </a:r>
          </a:p>
          <a:p>
            <a:pPr lvl="0"/>
            <a:r>
              <a:rPr lang="en-IN" sz="2200" dirty="0"/>
              <a:t>Sample traffic videos</a:t>
            </a:r>
          </a:p>
          <a:p>
            <a:pPr lvl="0"/>
            <a:r>
              <a:rPr lang="en-IN" sz="2200" dirty="0"/>
              <a:t>CCTV camera with permission</a:t>
            </a:r>
          </a:p>
          <a:p>
            <a:pPr marL="114300" indent="0">
              <a:buNone/>
            </a:pPr>
            <a:r>
              <a:rPr lang="en-IN" sz="2200" b="1" dirty="0"/>
              <a:t>Resources</a:t>
            </a:r>
          </a:p>
          <a:p>
            <a:pPr lvl="0"/>
            <a:r>
              <a:rPr lang="en-IN" sz="2200" dirty="0"/>
              <a:t>Research papers and documentation</a:t>
            </a:r>
          </a:p>
          <a:p>
            <a:pPr lvl="0"/>
            <a:r>
              <a:rPr lang="en-IN" sz="2200" dirty="0"/>
              <a:t>Traffic video datasets</a:t>
            </a:r>
          </a:p>
          <a:p>
            <a:pPr lvl="0"/>
            <a:r>
              <a:rPr lang="en-IN" sz="2200" dirty="0"/>
              <a:t>Testing metrics</a:t>
            </a:r>
          </a:p>
          <a:p>
            <a:pPr lvl="0"/>
            <a:r>
              <a:rPr lang="en-IN" sz="2200" dirty="0"/>
              <a:t>Optional traffic simulator (SUMO)</a:t>
            </a:r>
          </a:p>
          <a:p>
            <a:pPr marL="342900" lvl="0" indent="-139700" algn="l" rtl="0">
              <a:spcBef>
                <a:spcPts val="0"/>
              </a:spcBef>
              <a:spcAft>
                <a:spcPts val="0"/>
              </a:spcAft>
              <a:buClr>
                <a:schemeClr val="dk1"/>
              </a:buClr>
              <a:buSzPts val="3200"/>
              <a:buNone/>
            </a:pPr>
            <a:endParaRPr sz="2200" dirty="0">
              <a:latin typeface="Times New Roman" panose="02020603050405020304" pitchFamily="18" charset="0"/>
              <a:cs typeface="Times New Roman" panose="02020603050405020304" pitchFamily="18" charset="0"/>
            </a:endParaRPr>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Bibliography</a:t>
            </a:r>
            <a:endParaRPr dirty="0"/>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114300" indent="0">
              <a:buNone/>
            </a:pPr>
            <a:r>
              <a:rPr lang="en-IN" sz="2200" b="1" dirty="0"/>
              <a:t>Books</a:t>
            </a:r>
          </a:p>
          <a:p>
            <a:pPr lvl="0"/>
            <a:r>
              <a:rPr lang="en-IN" sz="2200" dirty="0"/>
              <a:t>Stuart Russell and Peter Norvig, Artificial Intelligence: A Modern Approach.</a:t>
            </a:r>
          </a:p>
          <a:p>
            <a:pPr lvl="0"/>
            <a:r>
              <a:rPr lang="en-IN" sz="2200" dirty="0"/>
              <a:t>Richard </a:t>
            </a:r>
            <a:r>
              <a:rPr lang="en-IN" sz="2200" dirty="0" err="1"/>
              <a:t>Szeliski</a:t>
            </a:r>
            <a:r>
              <a:rPr lang="en-IN" sz="2200" dirty="0"/>
              <a:t>, Computer Vision: Algorithms and Applications.</a:t>
            </a:r>
          </a:p>
          <a:p>
            <a:pPr lvl="0"/>
            <a:r>
              <a:rPr lang="en-IN" sz="2200" dirty="0"/>
              <a:t>Nils J. Nilsson, Artificial Intelligence: A New Synthesis.</a:t>
            </a:r>
          </a:p>
          <a:p>
            <a:pPr marL="114300" indent="0">
              <a:buNone/>
            </a:pPr>
            <a:r>
              <a:rPr lang="en-IN" sz="2200" b="1" dirty="0"/>
              <a:t>Websites </a:t>
            </a:r>
          </a:p>
          <a:p>
            <a:r>
              <a:rPr lang="en-IN" sz="2200" dirty="0"/>
              <a:t>OpenCV Documentation — </a:t>
            </a:r>
            <a:r>
              <a:rPr lang="en-IN" sz="2200" dirty="0">
                <a:hlinkClick r:id="rId3"/>
              </a:rPr>
              <a:t>https://docs.opencv.org/</a:t>
            </a:r>
            <a:r>
              <a:rPr lang="en-IN" sz="2200" dirty="0"/>
              <a:t> </a:t>
            </a:r>
          </a:p>
          <a:p>
            <a:r>
              <a:rPr lang="en-IN" sz="2200" dirty="0"/>
              <a:t>Python Documentation — </a:t>
            </a:r>
            <a:r>
              <a:rPr lang="en-IN" sz="2200" dirty="0">
                <a:hlinkClick r:id="rId4"/>
              </a:rPr>
              <a:t>https://docs.python.org/3/</a:t>
            </a:r>
            <a:r>
              <a:rPr lang="en-IN" sz="2200" dirty="0"/>
              <a:t> </a:t>
            </a:r>
          </a:p>
          <a:p>
            <a:r>
              <a:rPr lang="en-IN" sz="2200" dirty="0"/>
              <a:t>SUMO Documentation — </a:t>
            </a:r>
            <a:r>
              <a:rPr lang="en-IN" sz="2200" dirty="0">
                <a:hlinkClick r:id="rId5"/>
              </a:rPr>
              <a:t>https://sumo.dlr.de/docs/</a:t>
            </a:r>
            <a:endParaRPr lang="en-IN" sz="2200" dirty="0"/>
          </a:p>
          <a:p>
            <a:pPr marL="0" indent="0">
              <a:spcBef>
                <a:spcPts val="700"/>
              </a:spcBef>
              <a:buSzPts val="3500"/>
              <a:buNone/>
            </a:pPr>
            <a:br>
              <a:rPr lang="en-IN" sz="2400" dirty="0"/>
            </a:br>
            <a:endParaRPr sz="2200" dirty="0"/>
          </a:p>
          <a:p>
            <a:pPr marL="342900" lvl="0" indent="-13970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References</a:t>
            </a:r>
            <a:endParaRPr/>
          </a:p>
        </p:txBody>
      </p:sp>
      <p:sp>
        <p:nvSpPr>
          <p:cNvPr id="609" name="Google Shape;609;p2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IN" sz="1800" dirty="0"/>
              <a:t>H. Wei et al., “</a:t>
            </a:r>
            <a:r>
              <a:rPr lang="en-IN" sz="1800" dirty="0" err="1"/>
              <a:t>IntelliLight</a:t>
            </a:r>
            <a:r>
              <a:rPr lang="en-IN" sz="1800" dirty="0"/>
              <a:t>,” ACM SIGKDD, 2018. </a:t>
            </a:r>
            <a:r>
              <a:rPr lang="en-IN" sz="1800" dirty="0" err="1"/>
              <a:t>doi</a:t>
            </a:r>
            <a:r>
              <a:rPr lang="en-IN" sz="1800" dirty="0"/>
              <a:t>: 10.1145/3219819.3220096.</a:t>
            </a:r>
          </a:p>
          <a:p>
            <a:r>
              <a:rPr lang="en-IN" sz="1800" dirty="0"/>
              <a:t>H. Wei et al., “</a:t>
            </a:r>
            <a:r>
              <a:rPr lang="en-IN" sz="1800" dirty="0" err="1"/>
              <a:t>PressLight</a:t>
            </a:r>
            <a:r>
              <a:rPr lang="en-IN" sz="1800" dirty="0"/>
              <a:t>,” ACM SIGKDD, 2019. </a:t>
            </a:r>
            <a:r>
              <a:rPr lang="en-IN" sz="1800" dirty="0" err="1"/>
              <a:t>doi</a:t>
            </a:r>
            <a:r>
              <a:rPr lang="en-IN" sz="1800" dirty="0"/>
              <a:t>: 10.1145/3292500.3330949.</a:t>
            </a:r>
          </a:p>
          <a:p>
            <a:r>
              <a:rPr lang="en-IN" sz="1800" dirty="0"/>
              <a:t>H. Wei et al., “</a:t>
            </a:r>
            <a:r>
              <a:rPr lang="en-IN" sz="1800" dirty="0" err="1"/>
              <a:t>CoLight</a:t>
            </a:r>
            <a:r>
              <a:rPr lang="en-IN" sz="1800" dirty="0"/>
              <a:t>,” ACM CIKM, 2019. </a:t>
            </a:r>
            <a:r>
              <a:rPr lang="en-IN" sz="1800" dirty="0" err="1"/>
              <a:t>doi</a:t>
            </a:r>
            <a:r>
              <a:rPr lang="en-IN" sz="1800" dirty="0"/>
              <a:t>: 10.1145/3357384.3357902.</a:t>
            </a:r>
          </a:p>
          <a:p>
            <a:r>
              <a:rPr lang="en-IN" sz="1800" dirty="0"/>
              <a:t>G. Zheng et al., “Learning Phase Competition for Traffic Signal Control,” 2019. </a:t>
            </a:r>
            <a:r>
              <a:rPr lang="en-IN" sz="1800" dirty="0">
                <a:hlinkClick r:id="rId3"/>
              </a:rPr>
              <a:t>https://arxiv.org/abs/1905.04722</a:t>
            </a:r>
            <a:endParaRPr lang="en-IN" sz="1800" dirty="0"/>
          </a:p>
          <a:p>
            <a:r>
              <a:rPr lang="en-IN" sz="1800" dirty="0"/>
              <a:t>T. Chu et al., “Multi-Agent Deep Reinforcement Learning for Traffic Signal Control,” 2019. </a:t>
            </a:r>
            <a:r>
              <a:rPr lang="en-IN" sz="1800" dirty="0">
                <a:hlinkClick r:id="rId4"/>
              </a:rPr>
              <a:t>https://arxiv.org/abs/1903.04527</a:t>
            </a:r>
            <a:endParaRPr lang="en-IN" sz="1800" dirty="0"/>
          </a:p>
          <a:p>
            <a:r>
              <a:rPr lang="en-IN" sz="1800" dirty="0"/>
              <a:t>F. Rasheed et al., “Deep Reinforcement Learning for Traffic Signal Control: A Review,” IEEE Access, 2020.</a:t>
            </a:r>
          </a:p>
          <a:p>
            <a:r>
              <a:rPr lang="en-IN" sz="1800" dirty="0"/>
              <a:t>M. Eom and B.-I. Kim, “Traffic Signal Control: A Review,” 2020. </a:t>
            </a:r>
            <a:r>
              <a:rPr lang="en-IN" sz="1800" dirty="0" err="1"/>
              <a:t>doi</a:t>
            </a:r>
            <a:r>
              <a:rPr lang="en-IN" sz="1800" dirty="0"/>
              <a:t>: 10.1186/s12544-020-00440-8.</a:t>
            </a:r>
          </a:p>
          <a:p>
            <a:r>
              <a:rPr lang="en-IN" sz="1800" dirty="0"/>
              <a:t>M. </a:t>
            </a:r>
            <a:r>
              <a:rPr lang="en-IN" sz="1800" dirty="0" err="1"/>
              <a:t>Noaeen</a:t>
            </a:r>
            <a:r>
              <a:rPr lang="en-IN" sz="1800" dirty="0"/>
              <a:t> et al., “Reinforcement Learning in Urban Traffic Signal Control,” 2022. </a:t>
            </a:r>
            <a:r>
              <a:rPr lang="en-IN" sz="1800" dirty="0" err="1"/>
              <a:t>doi</a:t>
            </a:r>
            <a:r>
              <a:rPr lang="en-IN" sz="1800" dirty="0"/>
              <a:t>: 10.1016/j.eswa.2022.116830.</a:t>
            </a:r>
          </a:p>
          <a:p>
            <a:pPr marL="342900" lvl="0" indent="-139700" algn="l" rtl="0">
              <a:spcBef>
                <a:spcPts val="0"/>
              </a:spcBef>
              <a:spcAft>
                <a:spcPts val="0"/>
              </a:spcAft>
              <a:buClr>
                <a:schemeClr val="dk1"/>
              </a:buClr>
              <a:buSzPts val="3200"/>
              <a:buNone/>
            </a:pPr>
            <a:endParaRPr sz="1200" dirty="0"/>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a:solidFill>
                  <a:srgbClr val="262626"/>
                </a:solidFill>
                <a:latin typeface="Times New Roman"/>
                <a:ea typeface="Times New Roman"/>
                <a:cs typeface="Times New Roman"/>
                <a:sym typeface="Times New Roman"/>
              </a:rPr>
              <a:t>Thank you</a:t>
            </a:r>
            <a:endParaRP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TotalTime>
  <Words>1741</Words>
  <Application>Microsoft Office PowerPoint</Application>
  <PresentationFormat>On-screen Show (4:3)</PresentationFormat>
  <Paragraphs>245</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Calibri</vt:lpstr>
      <vt:lpstr>Times New Roman</vt:lpstr>
      <vt:lpstr>Office Theme</vt:lpstr>
      <vt:lpstr>PowerPoint Presentation</vt:lpstr>
      <vt:lpstr>Contents</vt:lpstr>
      <vt:lpstr>Abstract</vt:lpstr>
      <vt:lpstr>1. Introduction</vt:lpstr>
      <vt:lpstr>2. Literature Survey</vt:lpstr>
      <vt:lpstr>2. Literature Survey</vt:lpstr>
      <vt:lpstr>2. Literature Survey</vt:lpstr>
      <vt:lpstr>2. Literature Survey</vt:lpstr>
      <vt:lpstr>3. Information to seminar topic</vt:lpstr>
      <vt:lpstr>4. Advantages / Disadvantages</vt:lpstr>
      <vt:lpstr>4. Advantages / Disadvantages</vt:lpstr>
      <vt:lpstr>5. Conclusion</vt:lpstr>
      <vt:lpstr>6. Project Initiation</vt:lpstr>
      <vt:lpstr> 6. 1 Description of problem statement. identification. </vt:lpstr>
      <vt:lpstr> 6. 2 Scope and objectives. </vt:lpstr>
      <vt:lpstr>6. 3 Stake holder</vt:lpstr>
      <vt:lpstr> 6. 4 seminar exsicussion  plan </vt:lpstr>
      <vt:lpstr> 6.5 Platform/ Equipment/ Resources </vt:lpstr>
      <vt:lpstr>Bibliography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Ritesh Patil</dc:creator>
  <cp:lastModifiedBy>Ritesh Patil</cp:lastModifiedBy>
  <cp:revision>4</cp:revision>
  <dcterms:modified xsi:type="dcterms:W3CDTF">2026-10-28T07:55:01Z</dcterms:modified>
</cp:coreProperties>
</file>